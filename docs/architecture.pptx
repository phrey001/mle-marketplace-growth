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6"/>
  </p:notesMasterIdLst>
  <p:sldIdLst>
    <p:sldId id="256" r:id="rId2"/>
    <p:sldId id="271" r:id="rId3"/>
    <p:sldId id="257" r:id="rId4"/>
    <p:sldId id="258" r:id="rId5"/>
    <p:sldId id="260" r:id="rId6"/>
    <p:sldId id="262" r:id="rId7"/>
    <p:sldId id="272" r:id="rId8"/>
    <p:sldId id="273" r:id="rId9"/>
    <p:sldId id="268" r:id="rId10"/>
    <p:sldId id="270" r:id="rId11"/>
    <p:sldId id="269" r:id="rId12"/>
    <p:sldId id="264" r:id="rId13"/>
    <p:sldId id="267" r:id="rId14"/>
    <p:sldId id="26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72"/>
            <p14:sldId id="273"/>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033" autoAdjust="0"/>
    <p:restoredTop sz="96247" autoAdjust="0"/>
  </p:normalViewPr>
  <p:slideViewPr>
    <p:cSldViewPr snapToGrid="0">
      <p:cViewPr>
        <p:scale>
          <a:sx n="100" d="100"/>
          <a:sy n="100" d="100"/>
        </p:scale>
        <p:origin x="72" y="-33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17/3/2026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A15D-D326-87C3-966C-A831E1CF1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AF84C-4276-DE21-71C5-E9112E7960A1}"/>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08F4067-2632-431B-B461-AA036F2E9B5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6C296233-C269-8ADF-BF76-89D22567E938}"/>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2151076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E4782-4853-D71F-15FA-5DC9EA9EE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AFA24E-E602-BD18-5A1A-C2C16CBB40FD}"/>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C7343E49-AD27-93DA-AABD-A552B1A3F21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0160B945-F7A6-EDAC-2495-59ACFD24AAF6}"/>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1098472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10</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backtest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11</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14</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75624" y="2999351"/>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540735"/>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a:p>
              <a:pPr marL="0" lvl="1" defTabSz="444500">
                <a:lnSpc>
                  <a:spcPct val="90000"/>
                </a:lnSpc>
                <a:spcBef>
                  <a:spcPct val="0"/>
                </a:spcBef>
                <a:spcAft>
                  <a:spcPct val="15000"/>
                </a:spcAft>
              </a:pPr>
              <a:r>
                <a:rPr lang="en-SG" sz="1400" i="1" dirty="0"/>
                <a:t>(Used for Both Offline Backtesting and Serving)</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(Random baseline)</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040163"/>
            <a:ext cx="3420296" cy="1477328"/>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using the </a:t>
            </a:r>
            <a:r>
              <a:rPr lang="en-SG" sz="1000" b="1" i="1" dirty="0"/>
              <a:t>same budgets for each policy </a:t>
            </a:r>
            <a:r>
              <a:rPr lang="en-SG" sz="1000" i="1" dirty="0"/>
              <a:t>to ensure fair comparison</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68294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440588"/>
            <a:ext cx="1890884" cy="2092881"/>
          </a:xfrm>
          <a:prstGeom prst="rect">
            <a:avLst/>
          </a:prstGeom>
          <a:noFill/>
        </p:spPr>
        <p:txBody>
          <a:bodyPr wrap="square">
            <a:spAutoFit/>
          </a:bodyPr>
          <a:lstStyle/>
          <a:p>
            <a:pPr lvl="0"/>
            <a:r>
              <a:rPr lang="en-SG" sz="1000" b="1" dirty="0"/>
              <a:t>Purchase Propensity Model (logistic/xgboost + calibration)</a:t>
            </a:r>
            <a:br>
              <a:rPr lang="en-SG" sz="1000" b="1" dirty="0"/>
            </a:br>
            <a:r>
              <a:rPr lang="en-SG" sz="1000" b="1" dirty="0"/>
              <a:t>Primary metric: </a:t>
            </a:r>
            <a:r>
              <a:rPr lang="en-SG" sz="1000" dirty="0"/>
              <a:t>PR-AUC (purchase positive-class targeting)</a:t>
            </a:r>
          </a:p>
          <a:p>
            <a:pPr lvl="0"/>
            <a:r>
              <a:rPr lang="en-SG" sz="1000" b="1" dirty="0"/>
              <a:t>Guardrails:</a:t>
            </a:r>
            <a:r>
              <a:rPr lang="en-SG" sz="1000" dirty="0"/>
              <a:t> </a:t>
            </a:r>
          </a:p>
          <a:p>
            <a:pPr lvl="0"/>
            <a:r>
              <a:rPr lang="en-SG" sz="1000" dirty="0"/>
              <a:t>ROC-AUC | Top-decile lift | Brier | ECE</a:t>
            </a:r>
          </a:p>
          <a:p>
            <a:pPr lvl="0"/>
            <a:endParaRPr lang="en-SG" sz="1000" dirty="0"/>
          </a:p>
          <a:p>
            <a:pPr lvl="0"/>
            <a:r>
              <a:rPr lang="en-SG" sz="1000" b="1" dirty="0"/>
              <a:t>Revenue Prediction Model (xgboost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900" b="1" kern="1200" dirty="0"/>
                <a:t>Compare Model &amp; Assumptions (Freeze After </a:t>
              </a:r>
              <a:r>
                <a:rPr lang="en-SG" sz="900" b="1" dirty="0"/>
                <a:t>V</a:t>
              </a:r>
              <a:r>
                <a:rPr lang="en-SG" sz="900" b="1" kern="1200" dirty="0"/>
                <a:t>alidation)</a:t>
              </a:r>
            </a:p>
            <a:p>
              <a:pPr marL="285750" lvl="1" indent="-285750" algn="l" defTabSz="711200">
                <a:spcBef>
                  <a:spcPct val="0"/>
                </a:spcBef>
                <a:spcAft>
                  <a:spcPts val="600"/>
                </a:spcAft>
                <a:buFont typeface="Wingdings" panose="05000000000000000000" pitchFamily="2" charset="2"/>
                <a:buChar char="Ø"/>
              </a:pPr>
              <a:r>
                <a:rPr lang="en-SG" sz="900" b="1" dirty="0"/>
                <a:t>Propensity: logistic/xgboost </a:t>
              </a:r>
              <a:r>
                <a:rPr lang="en-SG" sz="900" dirty="0"/>
                <a:t>with different windows</a:t>
              </a:r>
            </a:p>
            <a:p>
              <a:pPr marL="285750" lvl="1" indent="-285750" algn="l" defTabSz="711200">
                <a:spcBef>
                  <a:spcPct val="0"/>
                </a:spcBef>
                <a:spcAft>
                  <a:spcPts val="600"/>
                </a:spcAft>
                <a:buFont typeface="Wingdings" panose="05000000000000000000" pitchFamily="2" charset="2"/>
                <a:buChar char="Ø"/>
              </a:pPr>
              <a:r>
                <a:rPr lang="en-SG" sz="900" b="1" dirty="0"/>
                <a:t>Prediction window </a:t>
              </a:r>
              <a:r>
                <a:rPr lang="en-SG" sz="9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900" b="1" i="1" dirty="0"/>
                <a:t>Feature lookback window </a:t>
              </a:r>
              <a:r>
                <a:rPr lang="en-SG" sz="900" i="1" dirty="0"/>
                <a:t>validate with model evaluation metrics (long term 60d/90d/120d + always include short-term 30d)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2329892" cy="369332"/>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6058953" y="3687356"/>
            <a:ext cx="1138118" cy="707886"/>
          </a:xfrm>
          <a:prstGeom prst="rect">
            <a:avLst/>
          </a:prstGeom>
          <a:noFill/>
        </p:spPr>
        <p:txBody>
          <a:bodyPr wrap="square">
            <a:spAutoFit/>
          </a:bodyPr>
          <a:lstStyle/>
          <a:p>
            <a:pPr lvl="0"/>
            <a:r>
              <a:rPr lang="en-SG" sz="1000" b="1" dirty="0"/>
              <a:t>Frozen models and windows after model validation</a:t>
            </a:r>
            <a:endParaRPr lang="en-SG" sz="1000" dirty="0"/>
          </a:p>
        </p:txBody>
      </p:sp>
      <p:sp>
        <p:nvSpPr>
          <p:cNvPr id="11" name="TextBox 10">
            <a:extLst>
              <a:ext uri="{FF2B5EF4-FFF2-40B4-BE49-F238E27FC236}">
                <a16:creationId xmlns:a16="http://schemas.microsoft.com/office/drawing/2014/main" id="{BA566144-1FB7-4A81-3DF3-1B59707D835B}"/>
              </a:ext>
            </a:extLst>
          </p:cNvPr>
          <p:cNvSpPr txBox="1"/>
          <p:nvPr/>
        </p:nvSpPr>
        <p:spPr>
          <a:xfrm>
            <a:off x="7373739" y="3687356"/>
            <a:ext cx="1138118" cy="553998"/>
          </a:xfrm>
          <a:prstGeom prst="rect">
            <a:avLst/>
          </a:prstGeom>
          <a:noFill/>
        </p:spPr>
        <p:txBody>
          <a:bodyPr wrap="square">
            <a:spAutoFit/>
          </a:bodyPr>
          <a:lstStyle/>
          <a:p>
            <a:pPr lvl="0"/>
            <a:r>
              <a:rPr lang="en-SG" sz="1000" b="1" dirty="0"/>
              <a:t>Test: refit model on train + val data</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9316981" y="916125"/>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852822" y="2758462"/>
            <a:ext cx="1443828" cy="5078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1334986"/>
            <a:ext cx="2770628" cy="1015663"/>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800" b="1" u="sng" dirty="0">
                <a:solidFill>
                  <a:schemeClr val="tx1"/>
                </a:solidFill>
              </a:rPr>
              <a:t>Experimental Models</a:t>
            </a:r>
            <a:endParaRPr lang="en-SG" sz="800" b="1" dirty="0">
              <a:solidFill>
                <a:schemeClr val="tx1"/>
              </a:solidFill>
            </a:endParaRPr>
          </a:p>
          <a:p>
            <a:pPr marL="171450" indent="-171450">
              <a:buFont typeface="Wingdings" panose="05000000000000000000" pitchFamily="2" charset="2"/>
              <a:buChar char="Ø"/>
            </a:pPr>
            <a:r>
              <a:rPr lang="en-SG" sz="800" b="1" dirty="0">
                <a:solidFill>
                  <a:schemeClr val="tx1"/>
                </a:solidFill>
              </a:rPr>
              <a:t>Popularity</a:t>
            </a:r>
            <a:r>
              <a:rPr lang="en-SG" sz="800" dirty="0">
                <a:solidFill>
                  <a:schemeClr val="tx1"/>
                </a:solidFill>
              </a:rPr>
              <a:t>: recommends globally most-bought items.</a:t>
            </a:r>
          </a:p>
          <a:p>
            <a:pPr marL="171450" indent="-171450">
              <a:buFont typeface="Wingdings" panose="05000000000000000000" pitchFamily="2" charset="2"/>
              <a:buChar char="Ø"/>
            </a:pPr>
            <a:r>
              <a:rPr lang="en-SG" sz="800" b="1" dirty="0">
                <a:solidFill>
                  <a:schemeClr val="tx1"/>
                </a:solidFill>
              </a:rPr>
              <a:t>MF: </a:t>
            </a:r>
            <a:r>
              <a:rPr lang="en-SG" sz="800" dirty="0">
                <a:solidFill>
                  <a:schemeClr val="tx1"/>
                </a:solidFill>
              </a:rPr>
              <a:t>Matrix factorization (TruncatedSVD) on user-item interactions.</a:t>
            </a:r>
          </a:p>
          <a:p>
            <a:pPr marL="171450" indent="-171450">
              <a:buFont typeface="Wingdings" panose="05000000000000000000" pitchFamily="2" charset="2"/>
              <a:buChar char="Ø"/>
            </a:pPr>
            <a:r>
              <a:rPr lang="en-SG" sz="800" b="1" dirty="0">
                <a:solidFill>
                  <a:schemeClr val="tx1"/>
                </a:solidFill>
              </a:rPr>
              <a:t>Two-Tower (ML-default): </a:t>
            </a:r>
            <a:r>
              <a:rPr lang="en-SG" sz="8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57783" y="5962650"/>
            <a:ext cx="2757615" cy="736844"/>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900" b="1" dirty="0">
                <a:solidFill>
                  <a:schemeClr val="tx1"/>
                </a:solidFill>
              </a:rPr>
              <a:t>Out-of-scope: </a:t>
            </a:r>
          </a:p>
          <a:p>
            <a:pPr marL="171450" indent="-171450">
              <a:buFont typeface="Wingdings" panose="05000000000000000000" pitchFamily="2" charset="2"/>
              <a:buChar char="Ø"/>
            </a:pPr>
            <a:r>
              <a:rPr lang="en-SG" sz="900" b="1" dirty="0">
                <a:solidFill>
                  <a:schemeClr val="tx1"/>
                </a:solidFill>
              </a:rPr>
              <a:t>Stage 2 Re-ranking </a:t>
            </a:r>
            <a:r>
              <a:rPr lang="en-SG" sz="900" dirty="0">
                <a:solidFill>
                  <a:schemeClr val="tx1"/>
                </a:solidFill>
              </a:rPr>
              <a:t>to improve recall</a:t>
            </a:r>
          </a:p>
          <a:p>
            <a:pPr marL="171450" indent="-171450">
              <a:buFont typeface="Wingdings" panose="05000000000000000000" pitchFamily="2" charset="2"/>
              <a:buChar char="Ø"/>
            </a:pPr>
            <a:r>
              <a:rPr lang="en-SG" sz="900" b="1" dirty="0">
                <a:solidFill>
                  <a:schemeClr val="tx1"/>
                </a:solidFill>
              </a:rPr>
              <a:t>Recommender feature store keeps only the latest canonical build (no experiment tracking);</a:t>
            </a:r>
            <a:r>
              <a:rPr lang="en-SG" sz="900" dirty="0">
                <a:solidFill>
                  <a:schemeClr val="tx1"/>
                </a:solidFill>
              </a:rPr>
              <a:t> reruns overwrite prior outputs.</a:t>
            </a:r>
          </a:p>
        </p:txBody>
      </p:sp>
      <p:sp>
        <p:nvSpPr>
          <p:cNvPr id="22" name="Rectangle 21">
            <a:extLst>
              <a:ext uri="{FF2B5EF4-FFF2-40B4-BE49-F238E27FC236}">
                <a16:creationId xmlns:a16="http://schemas.microsoft.com/office/drawing/2014/main" id="{4AD1588E-2502-031D-D41D-94791FAC1C39}"/>
              </a:ext>
            </a:extLst>
          </p:cNvPr>
          <p:cNvSpPr/>
          <p:nvPr/>
        </p:nvSpPr>
        <p:spPr>
          <a:xfrm>
            <a:off x="1" y="0"/>
            <a:ext cx="6096000" cy="476639"/>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 Also to rerun pipeline/artifacts to see if appendix key results and analysis reports need refresh</a:t>
            </a:r>
          </a:p>
          <a:p>
            <a:r>
              <a:rPr lang="en-SG" sz="1000" dirty="0">
                <a:solidFill>
                  <a:srgbClr val="FF0000"/>
                </a:solidFill>
              </a:rPr>
              <a:t>- Consider add a technical slide on how ANN works </a:t>
            </a:r>
          </a:p>
        </p:txBody>
      </p:sp>
      <p:sp>
        <p:nvSpPr>
          <p:cNvPr id="26" name="TextBox 25">
            <a:extLst>
              <a:ext uri="{FF2B5EF4-FFF2-40B4-BE49-F238E27FC236}">
                <a16:creationId xmlns:a16="http://schemas.microsoft.com/office/drawing/2014/main" id="{27773BAC-060F-E40E-4DE7-EDE1C61292DD}"/>
              </a:ext>
            </a:extLst>
          </p:cNvPr>
          <p:cNvSpPr txBox="1"/>
          <p:nvPr/>
        </p:nvSpPr>
        <p:spPr>
          <a:xfrm>
            <a:off x="255522" y="2400306"/>
            <a:ext cx="2759876" cy="2800767"/>
          </a:xfrm>
          <a:prstGeom prst="rect">
            <a:avLst/>
          </a:prstGeom>
          <a:solidFill>
            <a:schemeClr val="accent6">
              <a:lumMod val="20000"/>
              <a:lumOff val="80000"/>
            </a:schemeClr>
          </a:solidFill>
        </p:spPr>
        <p:txBody>
          <a:bodyPr wrap="square">
            <a:spAutoFit/>
          </a:bodyPr>
          <a:lstStyle/>
          <a:p>
            <a:r>
              <a:rPr lang="en-SG" sz="800" b="1" i="1" dirty="0"/>
              <a:t>Interaction Signal:</a:t>
            </a:r>
            <a:endParaRPr lang="en-SG" sz="800" i="1" dirty="0"/>
          </a:p>
          <a:p>
            <a:pPr marL="171450" indent="-171450">
              <a:buFont typeface="Wingdings" panose="05000000000000000000" pitchFamily="2" charset="2"/>
              <a:buChar char="Ø"/>
            </a:pPr>
            <a:r>
              <a:rPr lang="en-SG" sz="800" b="1" i="1" dirty="0"/>
              <a:t>Experimental Models</a:t>
            </a:r>
            <a:r>
              <a:rPr lang="en-SG" sz="800" i="1" dirty="0"/>
              <a:t> use </a:t>
            </a:r>
            <a:r>
              <a:rPr lang="en-SG" sz="800" b="1" i="1" dirty="0"/>
              <a:t>binary user–item interactions </a:t>
            </a:r>
            <a:r>
              <a:rPr lang="en-SG" sz="800" dirty="0"/>
              <a:t>—</a:t>
            </a:r>
            <a:r>
              <a:rPr lang="en-SG" sz="800" i="1" dirty="0"/>
              <a:t> each </a:t>
            </a:r>
            <a:r>
              <a:rPr lang="en-SG" sz="800" b="1" i="1" dirty="0"/>
              <a:t>(user, item)</a:t>
            </a:r>
            <a:r>
              <a:rPr lang="en-SG" sz="800" i="1" dirty="0"/>
              <a:t> pair counted once (duplicates collapsed; quantity ignored)</a:t>
            </a:r>
          </a:p>
          <a:p>
            <a:pPr marL="171450" indent="-171450">
              <a:buFont typeface="Wingdings" panose="05000000000000000000" pitchFamily="2" charset="2"/>
              <a:buChar char="Ø"/>
            </a:pPr>
            <a:r>
              <a:rPr lang="en-SG" sz="800" i="1" dirty="0"/>
              <a:t>This is the </a:t>
            </a:r>
            <a:r>
              <a:rPr lang="en-SG" sz="800" b="1" i="1" dirty="0"/>
              <a:t>standard implicit-feedback baseline</a:t>
            </a:r>
            <a:r>
              <a:rPr lang="en-SG" sz="800" i="1" dirty="0"/>
              <a:t> used in many recommender systems</a:t>
            </a:r>
          </a:p>
          <a:p>
            <a:pPr marL="171450" indent="-171450">
              <a:buFont typeface="Wingdings" panose="05000000000000000000" pitchFamily="2" charset="2"/>
              <a:buChar char="Ø"/>
            </a:pPr>
            <a:r>
              <a:rPr lang="en-SG" sz="800" b="1" i="1" dirty="0"/>
              <a:t>Model-specific transformations</a:t>
            </a:r>
            <a:r>
              <a:rPr lang="en-SG" sz="800" i="1" dirty="0"/>
              <a:t> are then applied to the interaction signals:</a:t>
            </a:r>
          </a:p>
          <a:p>
            <a:pPr marL="628650" lvl="1" indent="-171450">
              <a:buFont typeface="Wingdings" panose="05000000000000000000" pitchFamily="2" charset="2"/>
              <a:buChar char="Ø"/>
            </a:pPr>
            <a:r>
              <a:rPr lang="en-SG" sz="800" b="1" i="1" dirty="0"/>
              <a:t>Popularity: </a:t>
            </a:r>
            <a:r>
              <a:rPr lang="en-SG" sz="800" i="1" dirty="0"/>
              <a:t>log-scaled counts of unique users interacting with item</a:t>
            </a:r>
          </a:p>
          <a:p>
            <a:pPr marL="628650" lvl="1" indent="-171450">
              <a:buFont typeface="Wingdings" panose="05000000000000000000" pitchFamily="2" charset="2"/>
              <a:buChar char="Ø"/>
            </a:pPr>
            <a:r>
              <a:rPr lang="en-SG" sz="800" b="1" i="1" dirty="0"/>
              <a:t>MF:</a:t>
            </a:r>
            <a:r>
              <a:rPr lang="en-SG" sz="800" i="1" dirty="0"/>
              <a:t> TF-IDF weighted interaction matrix</a:t>
            </a:r>
          </a:p>
          <a:p>
            <a:pPr marL="628650" lvl="1" indent="-171450">
              <a:buFont typeface="Wingdings" panose="05000000000000000000" pitchFamily="2" charset="2"/>
              <a:buChar char="Ø"/>
            </a:pPr>
            <a:r>
              <a:rPr lang="en-SG" sz="800" b="1" i="1" dirty="0"/>
              <a:t>Two-tower: </a:t>
            </a:r>
            <a:r>
              <a:rPr lang="en-SG" sz="800" i="1" dirty="0"/>
              <a:t>uses binary pairs directly</a:t>
            </a:r>
            <a:endParaRPr lang="en-SG" sz="800" b="1" i="1" dirty="0"/>
          </a:p>
          <a:p>
            <a:r>
              <a:rPr lang="en-SG" sz="800" b="1" i="1" dirty="0"/>
              <a:t>Out-of-scope (Dataset-specific)</a:t>
            </a:r>
            <a:r>
              <a:rPr lang="en-SG" sz="800" i="1" dirty="0"/>
              <a:t>: Dataset retains </a:t>
            </a:r>
            <a:r>
              <a:rPr lang="en-SG" sz="800" b="1" i="1" dirty="0"/>
              <a:t>purchase quantity</a:t>
            </a:r>
            <a:r>
              <a:rPr lang="en-SG" sz="800" i="1" dirty="0"/>
              <a:t> for potential extensions</a:t>
            </a:r>
          </a:p>
          <a:p>
            <a:pPr marL="171450" indent="-171450">
              <a:buFont typeface="Wingdings" panose="05000000000000000000" pitchFamily="2" charset="2"/>
              <a:buChar char="Ø"/>
            </a:pPr>
            <a:r>
              <a:rPr lang="en-SG" sz="800" b="1" i="1" dirty="0"/>
              <a:t>count-weighted interactions </a:t>
            </a:r>
            <a:r>
              <a:rPr lang="en-SG" sz="800" dirty="0"/>
              <a:t>—</a:t>
            </a:r>
            <a:r>
              <a:rPr lang="en-SG" sz="800" b="1" i="1" dirty="0"/>
              <a:t>  </a:t>
            </a:r>
            <a:r>
              <a:rPr lang="en-SG" sz="800" i="1" dirty="0"/>
              <a:t>repeated interactions increase signal strength (retain repeated user-item interaction; no deduplication, quantity used)</a:t>
            </a:r>
          </a:p>
          <a:p>
            <a:pPr marL="171450" indent="-171450">
              <a:buFont typeface="Wingdings" panose="05000000000000000000" pitchFamily="2" charset="2"/>
              <a:buChar char="Ø"/>
            </a:pPr>
            <a:r>
              <a:rPr lang="en-SG" sz="800" b="1" i="1" dirty="0"/>
              <a:t>log-scaled interaction strength </a:t>
            </a:r>
            <a:r>
              <a:rPr lang="en-SG" sz="800" dirty="0"/>
              <a:t>—</a:t>
            </a:r>
            <a:r>
              <a:rPr lang="en-SG" sz="800" b="1" i="1" dirty="0"/>
              <a:t>  </a:t>
            </a:r>
            <a:r>
              <a:rPr lang="en-SG" sz="800" i="1" dirty="0"/>
              <a:t>reduces the impact of extreme purchase quantities</a:t>
            </a:r>
          </a:p>
          <a:p>
            <a:pPr marL="171450" indent="-171450">
              <a:buFont typeface="Wingdings" panose="05000000000000000000" pitchFamily="2" charset="2"/>
              <a:buChar char="Ø"/>
            </a:pPr>
            <a:r>
              <a:rPr lang="en-SG" sz="800" b="1" i="1" dirty="0"/>
              <a:t>revenue-aware recommendation </a:t>
            </a:r>
            <a:r>
              <a:rPr lang="en-SG" sz="800" dirty="0"/>
              <a:t>—</a:t>
            </a:r>
            <a:r>
              <a:rPr lang="en-SG" sz="800" b="1" i="1" dirty="0"/>
              <a:t> </a:t>
            </a:r>
            <a:r>
              <a:rPr lang="en-SG" sz="800" i="1" dirty="0"/>
              <a:t>prioritizes high-value transactions</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0"/>
            <a:ext cx="3085269" cy="5119519"/>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(Example Profile: 30d prediction window, 90d feature lookback window)</a:t>
            </a:r>
          </a:p>
          <a:p>
            <a:pPr marL="0" indent="0">
              <a:buNone/>
            </a:pPr>
            <a:r>
              <a:rPr lang="en-SG" sz="900" b="1" dirty="0"/>
              <a:t>Example features/profile (30d prediction/90d lookback):</a:t>
            </a:r>
          </a:p>
          <a:p>
            <a:pPr>
              <a:spcBef>
                <a:spcPts val="0"/>
              </a:spcBef>
              <a:buFont typeface="Wingdings" panose="05000000000000000000" pitchFamily="2" charset="2"/>
              <a:buChar char="Ø"/>
            </a:pPr>
            <a:r>
              <a:rPr lang="en-SG" sz="900" dirty="0"/>
              <a:t>recency_days</a:t>
            </a:r>
          </a:p>
          <a:p>
            <a:pPr>
              <a:spcBef>
                <a:spcPts val="0"/>
              </a:spcBef>
              <a:buFont typeface="Wingdings" panose="05000000000000000000" pitchFamily="2" charset="2"/>
              <a:buChar char="Ø"/>
            </a:pPr>
            <a:r>
              <a:rPr lang="en-SG" sz="900" dirty="0"/>
              <a:t>frequency_30d </a:t>
            </a:r>
            <a:r>
              <a:rPr lang="en-SG" sz="900" b="1" i="1" dirty="0"/>
              <a:t>(Note 1)</a:t>
            </a:r>
          </a:p>
          <a:p>
            <a:pPr>
              <a:spcBef>
                <a:spcPts val="0"/>
              </a:spcBef>
              <a:buFont typeface="Wingdings" panose="05000000000000000000" pitchFamily="2" charset="2"/>
              <a:buChar char="Ø"/>
            </a:pPr>
            <a:r>
              <a:rPr lang="en-SG" sz="900" dirty="0"/>
              <a:t>monetary_30d</a:t>
            </a:r>
            <a:r>
              <a:rPr lang="en-SG" sz="900" b="1" i="1" dirty="0"/>
              <a:t> (Note 1)</a:t>
            </a:r>
            <a:endParaRPr lang="en-SG" sz="900" b="1" dirty="0"/>
          </a:p>
          <a:p>
            <a:pPr>
              <a:spcBef>
                <a:spcPts val="0"/>
              </a:spcBef>
              <a:buFont typeface="Wingdings" panose="05000000000000000000" pitchFamily="2" charset="2"/>
              <a:buChar char="Ø"/>
            </a:pPr>
            <a:r>
              <a:rPr lang="en-SG" sz="900" dirty="0"/>
              <a:t>frequency_90d</a:t>
            </a:r>
            <a:r>
              <a:rPr lang="en-SG" sz="900" b="1" i="1" dirty="0"/>
              <a:t> (Note 2)</a:t>
            </a:r>
            <a:endParaRPr lang="en-SG" sz="900" b="1" dirty="0"/>
          </a:p>
          <a:p>
            <a:pPr>
              <a:spcBef>
                <a:spcPts val="0"/>
              </a:spcBef>
              <a:buFont typeface="Wingdings" panose="05000000000000000000" pitchFamily="2" charset="2"/>
              <a:buChar char="Ø"/>
            </a:pPr>
            <a:r>
              <a:rPr lang="en-SG" sz="900" dirty="0"/>
              <a:t>monetary_90d capped</a:t>
            </a:r>
            <a:r>
              <a:rPr lang="en-SG" sz="900" i="1" dirty="0"/>
              <a:t> </a:t>
            </a:r>
            <a:r>
              <a:rPr lang="en-SG" sz="900" b="1" i="1" dirty="0"/>
              <a:t>(Note 2,3)</a:t>
            </a:r>
            <a:endParaRPr lang="en-SG" sz="900" b="1" i="1" baseline="30000" dirty="0"/>
          </a:p>
          <a:p>
            <a:pPr>
              <a:spcBef>
                <a:spcPts val="0"/>
              </a:spcBef>
              <a:buFont typeface="Wingdings" panose="05000000000000000000" pitchFamily="2" charset="2"/>
              <a:buChar char="Ø"/>
            </a:pPr>
            <a:r>
              <a:rPr lang="en-SG" sz="900" dirty="0"/>
              <a:t>avg_basket_value_90d </a:t>
            </a:r>
            <a:r>
              <a:rPr lang="en-SG" sz="900" b="1" i="1" dirty="0"/>
              <a:t>(Note 2)</a:t>
            </a:r>
            <a:endParaRPr lang="en-SG" sz="900" b="1" dirty="0"/>
          </a:p>
          <a:p>
            <a:pPr>
              <a:spcBef>
                <a:spcPts val="0"/>
              </a:spcBef>
              <a:buFont typeface="Wingdings" panose="05000000000000000000" pitchFamily="2" charset="2"/>
              <a:buChar char="Ø"/>
            </a:pPr>
            <a:r>
              <a:rPr lang="en-SG" sz="900" dirty="0"/>
              <a:t>country</a:t>
            </a:r>
          </a:p>
          <a:p>
            <a:pPr>
              <a:spcBef>
                <a:spcPts val="0"/>
              </a:spcBef>
              <a:buFont typeface="Wingdings" panose="05000000000000000000" pitchFamily="2" charset="2"/>
              <a:buChar char="Ø"/>
            </a:pPr>
            <a:r>
              <a:rPr lang="en-SG" sz="900" dirty="0"/>
              <a:t>label_net_revenue_30d </a:t>
            </a:r>
            <a:r>
              <a:rPr lang="en-SG" sz="900" b="1" i="1" dirty="0"/>
              <a:t>(Note 5)</a:t>
            </a:r>
            <a:endParaRPr lang="en-SG" sz="900" dirty="0"/>
          </a:p>
          <a:p>
            <a:pPr>
              <a:spcBef>
                <a:spcPts val="0"/>
              </a:spcBef>
              <a:buFont typeface="Wingdings" panose="05000000000000000000" pitchFamily="2" charset="2"/>
              <a:buChar char="Ø"/>
            </a:pPr>
            <a:r>
              <a:rPr lang="en-SG" sz="900" dirty="0"/>
              <a:t>label_purchase_30d </a:t>
            </a:r>
            <a:r>
              <a:rPr lang="en-SG" sz="900" b="1" i="1" dirty="0"/>
              <a:t>(Note 5)</a:t>
            </a:r>
          </a:p>
          <a:p>
            <a:pPr marL="0" indent="0">
              <a:buNone/>
            </a:pPr>
            <a:r>
              <a:rPr lang="en-SG" sz="900" b="1" i="1" dirty="0"/>
              <a:t>Note 1: 30d short-term lookback windows (frequency_30d, monetary_30d) – Always include</a:t>
            </a:r>
            <a:endParaRPr lang="en-SG" sz="900" b="1" dirty="0"/>
          </a:p>
          <a:p>
            <a:pPr marL="0" indent="0">
              <a:buNone/>
            </a:pPr>
            <a:r>
              <a:rPr lang="en-SG" sz="900" b="1" dirty="0"/>
              <a:t>Note 2: Longer-term feature lookback window days (frequency, monetary) - Include depending on lookback window config (e.g. 90d)</a:t>
            </a:r>
            <a:endParaRPr lang="en-SG" sz="900" dirty="0"/>
          </a:p>
          <a:p>
            <a:pPr marL="0" indent="0">
              <a:spcBef>
                <a:spcPts val="0"/>
              </a:spcBef>
              <a:buNone/>
            </a:pPr>
            <a:endParaRPr lang="en-SG" sz="900" b="1" i="1" dirty="0"/>
          </a:p>
          <a:p>
            <a:pPr marL="0" indent="0">
              <a:spcBef>
                <a:spcPts val="0"/>
              </a:spcBef>
              <a:buNone/>
            </a:pPr>
            <a:r>
              <a:rPr lang="en-SG" sz="900" b="1" i="1" dirty="0"/>
              <a:t>Note 3: Cap longer-term monetary lookback by excluding outliers during training/serving to reduce skew to fit model towards majority of users.</a:t>
            </a:r>
          </a:p>
          <a:p>
            <a:pPr marL="0" indent="0">
              <a:spcBef>
                <a:spcPts val="0"/>
              </a:spcBef>
              <a:buNone/>
            </a:pPr>
            <a:endParaRPr lang="en-SG" sz="900" b="1" i="1" dirty="0"/>
          </a:p>
          <a:p>
            <a:pPr marL="0" indent="0">
              <a:spcBef>
                <a:spcPts val="0"/>
              </a:spcBef>
              <a:buNone/>
            </a:pPr>
            <a:r>
              <a:rPr lang="en-SG" sz="900" b="1" i="1" dirty="0"/>
              <a:t>Note 4: Skip 30‑day average basket size because most users have too few purchases in 30 days for a stable average. </a:t>
            </a:r>
            <a:r>
              <a:rPr lang="en-SG" sz="900" i="1" dirty="0"/>
              <a:t>Still keep 30‑day counts and spend totals because even small activity in the last 30d is a useful signal.</a:t>
            </a:r>
          </a:p>
          <a:p>
            <a:pPr marL="0" indent="0">
              <a:spcBef>
                <a:spcPts val="0"/>
              </a:spcBef>
              <a:buNone/>
            </a:pPr>
            <a:endParaRPr lang="en-SG" sz="900" i="1" dirty="0"/>
          </a:p>
          <a:p>
            <a:pPr marL="0" indent="0">
              <a:spcBef>
                <a:spcPts val="0"/>
              </a:spcBef>
              <a:buNone/>
            </a:pPr>
            <a:r>
              <a:rPr lang="en-SG" sz="900" b="1" i="1" dirty="0"/>
              <a:t>Note 5: label_* features – Include depending on prediction window config</a:t>
            </a:r>
            <a:endParaRPr lang="en-SG" sz="900" i="1" dirty="0"/>
          </a:p>
          <a:p>
            <a:pPr marL="0" indent="0">
              <a:spcBef>
                <a:spcPts val="0"/>
              </a:spcBef>
              <a:buNone/>
            </a:pPr>
            <a:endParaRPr lang="en-SG" sz="900" b="1"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511951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900" b="1" dirty="0"/>
              <a:t>Example feature-lookback features extract</a:t>
            </a:r>
            <a:r>
              <a:rPr lang="en-SG" sz="900" dirty="0"/>
              <a:t> </a:t>
            </a:r>
            <a:r>
              <a:rPr lang="en-SG" sz="900" b="1" dirty="0"/>
              <a:t>(with 30d prediction window)</a:t>
            </a:r>
            <a:r>
              <a:rPr lang="en-SG" sz="900" dirty="0"/>
              <a:t>:</a:t>
            </a:r>
          </a:p>
          <a:p>
            <a:pPr>
              <a:buFont typeface="Wingdings" panose="05000000000000000000" pitchFamily="2" charset="2"/>
              <a:buChar char="Ø"/>
            </a:pPr>
            <a:r>
              <a:rPr lang="en-SG" sz="900" b="1" dirty="0"/>
              <a:t>60d lookback profile: </a:t>
            </a:r>
            <a:r>
              <a:rPr lang="en-SG" sz="900" dirty="0"/>
              <a:t>frequency_60d, monetary_60d capped, avg_basket_value_60d, label_net_revenue_30d, label_purchase_30d </a:t>
            </a:r>
          </a:p>
          <a:p>
            <a:pPr>
              <a:buFont typeface="Wingdings" panose="05000000000000000000" pitchFamily="2" charset="2"/>
              <a:buChar char="Ø"/>
            </a:pPr>
            <a:r>
              <a:rPr lang="en-SG" sz="900" b="1" dirty="0"/>
              <a:t>90d lookback profile: </a:t>
            </a:r>
            <a:r>
              <a:rPr lang="en-SG" sz="900" dirty="0"/>
              <a:t>frequency_90d, monetary_90d capped, avg_basket_value_90d, label_net_revenue_30d, label_purchase_30d</a:t>
            </a:r>
          </a:p>
          <a:p>
            <a:pPr>
              <a:buFont typeface="Wingdings" panose="05000000000000000000" pitchFamily="2" charset="2"/>
              <a:buChar char="Ø"/>
            </a:pPr>
            <a:r>
              <a:rPr lang="en-SG" sz="900" b="1" dirty="0"/>
              <a:t>120d lookback profile:</a:t>
            </a:r>
            <a:r>
              <a:rPr lang="en-SG" sz="900" dirty="0"/>
              <a:t> frequency_120d, monetary_120d capped, avg_basket_value_120d, label_net_revenue_30d, label_purchase_30d</a:t>
            </a:r>
          </a:p>
          <a:p>
            <a:pPr marL="0" indent="0">
              <a:buNone/>
            </a:pPr>
            <a:r>
              <a:rPr lang="en-SG" sz="1000" dirty="0"/>
              <a:t>Then it compares model validation metrics (PR-AUC, ROC-AUC, lift, Brier, ECE) across these profiles.</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59784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 </a:t>
            </a:r>
            <a:br>
              <a:rPr lang="en-SG" sz="1000" dirty="0"/>
            </a:br>
            <a:r>
              <a:rPr lang="en-SG" sz="1000" i="1" dirty="0"/>
              <a:t>(top decile positive rate / base positive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70440" y="5370629"/>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178E2-0624-3086-5239-62EA00A2B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285F1-D9A9-A989-A868-FFA69A9DCB8F}"/>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B185BD4-6B9A-B0AC-98CD-AA6EFB14E76E}"/>
                  </a:ext>
                </a:extLst>
              </p:cNvPr>
              <p:cNvSpPr txBox="1"/>
              <p:nvPr/>
            </p:nvSpPr>
            <p:spPr>
              <a:xfrm>
                <a:off x="351026" y="2196072"/>
                <a:ext cx="3253674" cy="4566956"/>
              </a:xfrm>
              <a:prstGeom prst="rect">
                <a:avLst/>
              </a:prstGeom>
              <a:solidFill>
                <a:schemeClr val="accent6">
                  <a:lumMod val="20000"/>
                  <a:lumOff val="80000"/>
                </a:schemeClr>
              </a:solidFill>
            </p:spPr>
            <p:txBody>
              <a:bodyPr wrap="square">
                <a:spAutoFit/>
              </a:bodyPr>
              <a:lstStyle/>
              <a:p>
                <a:r>
                  <a:rPr lang="en-SG" sz="1000" b="1" u="sng" dirty="0"/>
                  <a:t>Inputs</a:t>
                </a:r>
                <a:endParaRPr lang="en-SG" sz="1000" b="1" i="1" u="sng" dirty="0">
                  <a:latin typeface="Cambria Math" panose="02040503050406030204" pitchFamily="18" charset="0"/>
                </a:endParaRPr>
              </a:p>
              <a:p>
                <a:pPr marL="171450" indent="-171450">
                  <a:buFont typeface="Wingdings" panose="05000000000000000000" pitchFamily="2" charset="2"/>
                  <a:buChar char="Ø"/>
                </a:pPr>
                <a:r>
                  <a:rPr lang="en-SG" sz="1000" dirty="0"/>
                  <a:t>User feature snapshot (as_of_date)</a:t>
                </a:r>
              </a:p>
              <a:p>
                <a:pPr marL="171450" indent="-171450">
                  <a:buFont typeface="Wingdings" panose="05000000000000000000" pitchFamily="2" charset="2"/>
                  <a:buChar char="Ø"/>
                </a:pPr>
                <a:r>
                  <a:rPr lang="en-SG" sz="1000" dirty="0"/>
                  <a:t>Frozen model artifacts</a:t>
                </a:r>
              </a:p>
              <a:p>
                <a:pPr marL="171450" indent="-171450">
                  <a:buFont typeface="Wingdings" panose="05000000000000000000" pitchFamily="2" charset="2"/>
                  <a:buChar char="Ø"/>
                </a:pPr>
                <a:endParaRPr lang="en-SG" sz="1000" dirty="0"/>
              </a:p>
              <a:p>
                <a:r>
                  <a:rPr lang="en-SG" sz="1000" b="1" u="sng" dirty="0"/>
                  <a:t>Steps</a:t>
                </a:r>
                <a:endParaRPr lang="en-SG" sz="1000" b="1" i="1" u="sng" dirty="0">
                  <a:latin typeface="Cambria Math" panose="02040503050406030204" pitchFamily="18" charset="0"/>
                </a:endParaRPr>
              </a:p>
              <a:p>
                <a:r>
                  <a:rPr lang="en-SG" sz="1000" b="1" dirty="0"/>
                  <a:t>1. Load trained models</a:t>
                </a:r>
                <a:endParaRPr lang="en-SG" sz="1000" dirty="0"/>
              </a:p>
              <a:p>
                <a:pPr marL="171450" indent="-171450">
                  <a:buFont typeface="Wingdings" panose="05000000000000000000" pitchFamily="2" charset="2"/>
                  <a:buChar char="Ø"/>
                </a:pPr>
                <a:r>
                  <a:rPr lang="en-SG" sz="1000" dirty="0"/>
                  <a:t>Propensity model</a:t>
                </a:r>
              </a:p>
              <a:p>
                <a:pPr marL="171450" indent="-171450">
                  <a:buFont typeface="Wingdings" panose="05000000000000000000" pitchFamily="2" charset="2"/>
                  <a:buChar char="Ø"/>
                </a:pPr>
                <a:r>
                  <a:rPr lang="en-SG" sz="1000" dirty="0"/>
                  <a:t>Revenue model</a:t>
                </a:r>
              </a:p>
              <a:p>
                <a:endParaRPr lang="en-SG" sz="1000" b="1" dirty="0"/>
              </a:p>
              <a:p>
                <a:r>
                  <a:rPr lang="en-SG" sz="1000" dirty="0"/>
                  <a:t>Let  </a:t>
                </a:r>
                <a14:m>
                  <m:oMath xmlns:m="http://schemas.openxmlformats.org/officeDocument/2006/math">
                    <m:r>
                      <a:rPr lang="en-SG" sz="1000" b="1" i="1" dirty="0">
                        <a:latin typeface="Cambria Math" panose="02040503050406030204" pitchFamily="18" charset="0"/>
                      </a:rPr>
                      <m:t>𝒙</m:t>
                    </m:r>
                    <m:r>
                      <a:rPr lang="en-SG" sz="1000" b="1" i="1" dirty="0">
                        <a:latin typeface="Cambria Math" panose="02040503050406030204" pitchFamily="18" charset="0"/>
                      </a:rPr>
                      <m:t>=</m:t>
                    </m:r>
                    <m:r>
                      <a:rPr lang="en-SG" sz="1000" b="1" i="1" dirty="0">
                        <a:latin typeface="Cambria Math" panose="02040503050406030204" pitchFamily="18" charset="0"/>
                      </a:rPr>
                      <m:t>𝒖𝒔𝒆𝒓</m:t>
                    </m:r>
                    <m:r>
                      <a:rPr lang="en-SG" sz="1000" b="1" i="1" dirty="0">
                        <a:latin typeface="Cambria Math" panose="02040503050406030204" pitchFamily="18" charset="0"/>
                      </a:rPr>
                      <m:t> </m:t>
                    </m:r>
                    <m:r>
                      <a:rPr lang="en-SG" sz="1000" b="1" i="1" dirty="0">
                        <a:latin typeface="Cambria Math" panose="02040503050406030204" pitchFamily="18" charset="0"/>
                      </a:rPr>
                      <m:t>𝒇𝒆𝒂𝒕𝒖𝒓𝒆𝒔</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𝒊𝒏𝒄𝒍𝒖𝒅𝒊𝒏𝒈</m:t>
                    </m:r>
                    <m:r>
                      <a:rPr lang="en-SG" sz="1000" b="1" i="1" dirty="0" smtClean="0">
                        <a:latin typeface="Cambria Math" panose="02040503050406030204" pitchFamily="18" charset="0"/>
                      </a:rPr>
                      <m:t> </m:t>
                    </m:r>
                    <m:r>
                      <a:rPr lang="en-SG" sz="1000" b="1" i="1" dirty="0" smtClean="0">
                        <a:latin typeface="Cambria Math" panose="02040503050406030204" pitchFamily="18" charset="0"/>
                      </a:rPr>
                      <m:t>𝑹𝑭𝑴</m:t>
                    </m:r>
                    <m:r>
                      <a:rPr lang="en-SG" sz="1000" b="1" i="1" dirty="0" smtClean="0">
                        <a:latin typeface="Cambria Math" panose="02040503050406030204" pitchFamily="18" charset="0"/>
                      </a:rPr>
                      <m:t>+</m:t>
                    </m:r>
                    <m:r>
                      <a:rPr lang="en-SG" sz="1000" b="1" i="1" dirty="0" smtClean="0">
                        <a:latin typeface="Cambria Math" panose="02040503050406030204" pitchFamily="18" charset="0"/>
                      </a:rPr>
                      <m:t>𝒄𝒐𝒖𝒏𝒕𝒓𝒚</m:t>
                    </m:r>
                  </m:oMath>
                </a14:m>
                <a:endParaRPr lang="en-SG" sz="1000" b="1" dirty="0"/>
              </a:p>
              <a:p>
                <a:endParaRPr lang="en-SG" sz="1000" b="1" dirty="0"/>
              </a:p>
              <a:p>
                <a:r>
                  <a:rPr lang="en-SG" sz="1000" b="1" dirty="0"/>
                  <a:t>2. Predict purchase probability (Propensity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𝑝</m:t>
                      </m:r>
                      <m:r>
                        <a:rPr lang="en-SG" sz="1000" i="1" dirty="0">
                          <a:latin typeface="Cambria Math" panose="02040503050406030204" pitchFamily="18" charset="0"/>
                        </a:rPr>
                        <m:t>= </m:t>
                      </m:r>
                      <m:r>
                        <a:rPr lang="en-SG" sz="1000" i="1" dirty="0">
                          <a:latin typeface="Cambria Math" panose="02040503050406030204" pitchFamily="18" charset="0"/>
                        </a:rPr>
                        <m:t>𝑃</m:t>
                      </m:r>
                      <m:r>
                        <a:rPr lang="en-SG" sz="1000" i="1" dirty="0">
                          <a:latin typeface="Cambria Math" panose="02040503050406030204" pitchFamily="18" charset="0"/>
                        </a:rPr>
                        <m:t>(</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Calibrated (see next slide)</a:t>
                </a:r>
                <a:endParaRPr lang="en-SG" sz="1000" dirty="0"/>
              </a:p>
              <a:p>
                <a:endParaRPr lang="en-SG" sz="1000" dirty="0"/>
              </a:p>
              <a:p>
                <a:r>
                  <a:rPr lang="en-SG" sz="1000" b="1" dirty="0"/>
                  <a:t>3. Predict expected revenue if purchase occurs (Revenue Prediction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𝑟</m:t>
                      </m:r>
                      <m:r>
                        <a:rPr lang="en-SG" sz="1000" i="1" dirty="0">
                          <a:latin typeface="Cambria Math" panose="02040503050406030204" pitchFamily="18" charset="0"/>
                        </a:rPr>
                        <m:t> = </m:t>
                      </m:r>
                      <m:r>
                        <a:rPr lang="en-SG" sz="1000" i="1" dirty="0">
                          <a:latin typeface="Cambria Math" panose="02040503050406030204" pitchFamily="18" charset="0"/>
                        </a:rPr>
                        <m:t>𝐸</m:t>
                      </m:r>
                      <m:d>
                        <m:dPr>
                          <m:endChr m:val="|"/>
                          <m:ctrlPr>
                            <a:rPr lang="en-SG" sz="1000" i="1" dirty="0">
                              <a:latin typeface="Cambria Math" panose="02040503050406030204" pitchFamily="18" charset="0"/>
                            </a:rPr>
                          </m:ctrlPr>
                        </m:dPr>
                        <m:e>
                          <m:r>
                            <a:rPr lang="en-SG" sz="1000" i="1" dirty="0">
                              <a:latin typeface="Cambria Math" panose="02040503050406030204" pitchFamily="18" charset="0"/>
                            </a:rPr>
                            <m:t>𝑟𝑒𝑣𝑒𝑛𝑢𝑒</m:t>
                          </m:r>
                          <m:r>
                            <a:rPr lang="en-SG" sz="1000" i="1" dirty="0">
                              <a:latin typeface="Cambria Math" panose="02040503050406030204" pitchFamily="18" charset="0"/>
                            </a:rPr>
                            <m:t> </m:t>
                          </m:r>
                        </m:e>
                      </m:d>
                      <m:r>
                        <a:rPr lang="en-SG" sz="1000" i="1" dirty="0">
                          <a:latin typeface="Cambria Math" panose="02040503050406030204" pitchFamily="18" charset="0"/>
                        </a:rPr>
                        <m:t> </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XGBoost (Regression)</a:t>
                </a:r>
              </a:p>
              <a:p>
                <a:pPr marL="171450" indent="-171450">
                  <a:buFont typeface="Wingdings" panose="05000000000000000000" pitchFamily="2" charset="2"/>
                  <a:buChar char="Ø"/>
                </a:pPr>
                <a:r>
                  <a:rPr lang="en-SG" sz="1000" i="1" dirty="0"/>
                  <a:t>Fallback</a:t>
                </a:r>
                <a:r>
                  <a:rPr lang="en-SG" sz="1000" b="1" i="1" dirty="0"/>
                  <a:t> </a:t>
                </a:r>
                <a:r>
                  <a:rPr lang="en-SG" sz="1000" i="1" dirty="0"/>
                  <a:t>mean revenue if insufficient data (rare in practice)</a:t>
                </a:r>
                <a:endParaRPr lang="en-SG" sz="1000" dirty="0"/>
              </a:p>
              <a:p>
                <a:endParaRPr lang="en-SG" sz="1000" b="1" dirty="0"/>
              </a:p>
              <a:p>
                <a:r>
                  <a:rPr lang="en-SG" sz="1000" b="1" dirty="0"/>
                  <a:t>4. Compute expected value</a:t>
                </a:r>
                <a:br>
                  <a:rPr lang="en-SG" sz="1000" b="1" dirty="0"/>
                </a:br>
                <a:r>
                  <a:rPr lang="en-SG" sz="1000" b="1" dirty="0"/>
                  <a:t>(For user-level ranking during policy evaluation)</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𝐸𝑉</m:t>
                      </m:r>
                      <m:r>
                        <a:rPr lang="en-SG" sz="1000" i="1" dirty="0">
                          <a:latin typeface="Cambria Math" panose="02040503050406030204" pitchFamily="18" charset="0"/>
                        </a:rPr>
                        <m:t>=</m:t>
                      </m:r>
                      <m:r>
                        <a:rPr lang="en-SG" sz="1000" i="1" dirty="0">
                          <a:latin typeface="Cambria Math" panose="02040503050406030204" pitchFamily="18" charset="0"/>
                        </a:rPr>
                        <m:t>𝑝</m:t>
                      </m:r>
                      <m:r>
                        <a:rPr lang="en-SG" sz="1000" i="1" dirty="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ea typeface="Cambria Math" panose="02040503050406030204" pitchFamily="18" charset="0"/>
                        </a:rPr>
                        <m:t>𝑟</m:t>
                      </m:r>
                    </m:oMath>
                  </m:oMathPara>
                </a14:m>
                <a:endParaRPr lang="en-SG" sz="1000" dirty="0"/>
              </a:p>
              <a:p>
                <a:endParaRPr lang="en-SG" sz="1000" dirty="0"/>
              </a:p>
              <a:p>
                <a:r>
                  <a:rPr lang="en-SG" sz="1000" b="1" dirty="0"/>
                  <a:t>5. Output user-level scores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m:t>
                      </m:r>
                      <m:r>
                        <a:rPr lang="en-SG" sz="1000" i="1" dirty="0">
                          <a:latin typeface="Cambria Math" panose="02040503050406030204" pitchFamily="18" charset="0"/>
                        </a:rPr>
                        <m:t>𝑢𝑠𝑒𝑟</m:t>
                      </m:r>
                      <m:r>
                        <a:rPr lang="en-SG" sz="1000" i="1" dirty="0">
                          <a:latin typeface="Cambria Math" panose="02040503050406030204" pitchFamily="18" charset="0"/>
                        </a:rPr>
                        <m:t>, </m:t>
                      </m:r>
                      <m:r>
                        <a:rPr lang="en-SG" sz="1000" i="1" dirty="0">
                          <a:latin typeface="Cambria Math" panose="02040503050406030204" pitchFamily="18" charset="0"/>
                        </a:rPr>
                        <m:t>𝑝𝑟𝑜𝑝𝑒𝑛𝑠𝑖𝑡𝑦</m:t>
                      </m:r>
                      <m:r>
                        <a:rPr lang="en-SG" sz="1000" i="1" dirty="0">
                          <a:latin typeface="Cambria Math" panose="02040503050406030204" pitchFamily="18" charset="0"/>
                        </a:rPr>
                        <m:t>, </m:t>
                      </m:r>
                      <m:r>
                        <a:rPr lang="en-SG" sz="1000" i="1" dirty="0">
                          <a:latin typeface="Cambria Math" panose="02040503050406030204" pitchFamily="18" charset="0"/>
                        </a:rPr>
                        <m:t>𝑟𝑒𝑣𝑒𝑛𝑢</m:t>
                      </m:r>
                      <m:sSub>
                        <m:sSubPr>
                          <m:ctrlPr>
                            <a:rPr lang="en-SG" sz="1000" i="1" dirty="0">
                              <a:latin typeface="Cambria Math" panose="02040503050406030204" pitchFamily="18" charset="0"/>
                            </a:rPr>
                          </m:ctrlPr>
                        </m:sSubPr>
                        <m:e>
                          <m:r>
                            <a:rPr lang="en-SG" sz="1000" i="1" dirty="0">
                              <a:latin typeface="Cambria Math" panose="02040503050406030204" pitchFamily="18" charset="0"/>
                            </a:rPr>
                            <m:t>𝑒</m:t>
                          </m:r>
                        </m:e>
                        <m:sub>
                          <m:r>
                            <a:rPr lang="en-SG" sz="1000" i="1" dirty="0">
                              <a:latin typeface="Cambria Math" panose="02040503050406030204" pitchFamily="18" charset="0"/>
                            </a:rPr>
                            <m:t>𝑝𝑟𝑒𝑑</m:t>
                          </m:r>
                        </m:sub>
                      </m:sSub>
                      <m:r>
                        <a:rPr lang="en-SG" sz="1000" i="1" dirty="0">
                          <a:latin typeface="Cambria Math" panose="02040503050406030204" pitchFamily="18" charset="0"/>
                        </a:rPr>
                        <m:t>, </m:t>
                      </m:r>
                      <m:r>
                        <a:rPr lang="en-SG" sz="1000" i="1" dirty="0">
                          <a:latin typeface="Cambria Math" panose="02040503050406030204" pitchFamily="18" charset="0"/>
                        </a:rPr>
                        <m:t>𝐸𝑉</m:t>
                      </m:r>
                      <m:r>
                        <a:rPr lang="en-SG" sz="1000" i="1" dirty="0">
                          <a:latin typeface="Cambria Math" panose="02040503050406030204" pitchFamily="18" charset="0"/>
                        </a:rPr>
                        <m:t>)</m:t>
                      </m:r>
                    </m:oMath>
                  </m:oMathPara>
                </a14:m>
                <a:endParaRPr lang="en-SG" sz="1000" dirty="0"/>
              </a:p>
            </p:txBody>
          </p:sp>
        </mc:Choice>
        <mc:Fallback xmlns="">
          <p:sp>
            <p:nvSpPr>
              <p:cNvPr id="6" name="TextBox 5">
                <a:extLst>
                  <a:ext uri="{FF2B5EF4-FFF2-40B4-BE49-F238E27FC236}">
                    <a16:creationId xmlns:a16="http://schemas.microsoft.com/office/drawing/2014/main" id="{1B185BD4-6B9A-B0AC-98CD-AA6EFB14E76E}"/>
                  </a:ext>
                </a:extLst>
              </p:cNvPr>
              <p:cNvSpPr txBox="1">
                <a:spLocks noRot="1" noChangeAspect="1" noMove="1" noResize="1" noEditPoints="1" noAdjustHandles="1" noChangeArrowheads="1" noChangeShapeType="1" noTextEdit="1"/>
              </p:cNvSpPr>
              <p:nvPr/>
            </p:nvSpPr>
            <p:spPr>
              <a:xfrm>
                <a:off x="351026" y="2196072"/>
                <a:ext cx="3253674" cy="4566956"/>
              </a:xfrm>
              <a:prstGeom prst="rect">
                <a:avLst/>
              </a:prstGeom>
              <a:blipFill>
                <a:blip r:embed="rId3"/>
                <a:stretch>
                  <a:fillRect/>
                </a:stretch>
              </a:blipFill>
            </p:spPr>
            <p:txBody>
              <a:bodyPr/>
              <a:lstStyle/>
              <a:p>
                <a:r>
                  <a:rPr lang="en-SG">
                    <a:noFill/>
                  </a:rPr>
                  <a:t> </a:t>
                </a:r>
              </a:p>
            </p:txBody>
          </p:sp>
        </mc:Fallback>
      </mc:AlternateContent>
      <p:sp>
        <p:nvSpPr>
          <p:cNvPr id="8" name="TextBox 7">
            <a:extLst>
              <a:ext uri="{FF2B5EF4-FFF2-40B4-BE49-F238E27FC236}">
                <a16:creationId xmlns:a16="http://schemas.microsoft.com/office/drawing/2014/main" id="{083685E0-BA58-CD2A-C1E6-B9A92EE2D78F}"/>
              </a:ext>
            </a:extLst>
          </p:cNvPr>
          <p:cNvSpPr txBox="1"/>
          <p:nvPr/>
        </p:nvSpPr>
        <p:spPr>
          <a:xfrm>
            <a:off x="421951" y="1791279"/>
            <a:ext cx="3111824" cy="461665"/>
          </a:xfrm>
          <a:prstGeom prst="rect">
            <a:avLst/>
          </a:prstGeom>
          <a:noFill/>
        </p:spPr>
        <p:txBody>
          <a:bodyPr wrap="square">
            <a:spAutoFit/>
          </a:bodyPr>
          <a:lstStyle/>
          <a:p>
            <a:r>
              <a:rPr lang="en-SG" sz="1200" b="1" dirty="0"/>
              <a:t>Policy A (Default ML-driven targeting): Target top ranked by Expected Value</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E1585F-6840-E688-8CB5-6F430CA47693}"/>
                  </a:ext>
                </a:extLst>
              </p:cNvPr>
              <p:cNvSpPr txBox="1"/>
              <p:nvPr/>
            </p:nvSpPr>
            <p:spPr>
              <a:xfrm>
                <a:off x="8279424" y="2196072"/>
                <a:ext cx="3805750" cy="3526030"/>
              </a:xfrm>
              <a:prstGeom prst="rect">
                <a:avLst/>
              </a:prstGeom>
              <a:solidFill>
                <a:schemeClr val="accent6">
                  <a:lumMod val="20000"/>
                  <a:lumOff val="80000"/>
                </a:schemeClr>
              </a:solidFill>
            </p:spPr>
            <p:txBody>
              <a:bodyPr wrap="square">
                <a:spAutoFit/>
              </a:bodyPr>
              <a:lstStyle/>
              <a:p>
                <a:r>
                  <a:rPr lang="en-SG" sz="1000" b="1" u="sng" dirty="0"/>
                  <a:t>Formula</a:t>
                </a:r>
              </a:p>
              <a:p>
                <a:pPr/>
                <a14:m>
                  <m:oMathPara xmlns:m="http://schemas.openxmlformats.org/officeDocument/2006/math">
                    <m:oMathParaPr>
                      <m:jc m:val="centerGroup"/>
                    </m:oMathParaPr>
                    <m:oMath xmlns:m="http://schemas.openxmlformats.org/officeDocument/2006/math">
                      <m:r>
                        <a:rPr lang="en-SG" sz="1000" b="0" i="1" dirty="0" smtClean="0">
                          <a:latin typeface="Cambria Math" panose="02040503050406030204" pitchFamily="18" charset="0"/>
                        </a:rPr>
                        <m:t>𝑠𝑐𝑜𝑟𝑒</m:t>
                      </m:r>
                      <m:r>
                        <a:rPr lang="en-SG" sz="1000" i="1" dirty="0">
                          <a:latin typeface="Cambria Math" panose="02040503050406030204" pitchFamily="18" charset="0"/>
                        </a:rPr>
                        <m:t>=</m:t>
                      </m:r>
                      <m:r>
                        <a:rPr lang="en-SG" sz="1000" b="0" i="1" dirty="0" smtClean="0">
                          <a:latin typeface="Cambria Math" panose="02040503050406030204" pitchFamily="18" charset="0"/>
                        </a:rPr>
                        <m:t>h𝑒𝑢𝑟𝑖𝑠𝑡𝑖𝑐</m:t>
                      </m:r>
                      <m:d>
                        <m:dPr>
                          <m:ctrlPr>
                            <a:rPr lang="en-SG" sz="1000" b="0" i="1" dirty="0" smtClean="0">
                              <a:latin typeface="Cambria Math" panose="02040503050406030204" pitchFamily="18" charset="0"/>
                            </a:rPr>
                          </m:ctrlPr>
                        </m:dPr>
                        <m:e>
                          <m:r>
                            <a:rPr lang="en-SG" sz="1000" b="0" i="1" dirty="0" smtClean="0">
                              <a:latin typeface="Cambria Math" panose="02040503050406030204" pitchFamily="18" charset="0"/>
                            </a:rPr>
                            <m:t>𝑅</m:t>
                          </m:r>
                          <m:r>
                            <a:rPr lang="en-SG" sz="1000" b="0" i="1" dirty="0" smtClean="0">
                              <a:latin typeface="Cambria Math" panose="02040503050406030204" pitchFamily="18" charset="0"/>
                            </a:rPr>
                            <m:t>, </m:t>
                          </m:r>
                          <m:r>
                            <a:rPr lang="en-SG" sz="1000" b="0" i="1" dirty="0" smtClean="0">
                              <a:latin typeface="Cambria Math" panose="02040503050406030204" pitchFamily="18" charset="0"/>
                            </a:rPr>
                            <m:t>𝐹</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𝑀</m:t>
                          </m:r>
                        </m:e>
                      </m:d>
                    </m:oMath>
                  </m:oMathPara>
                </a14:m>
                <a:endParaRPr lang="en-SG" sz="1000" b="0" dirty="0"/>
              </a:p>
              <a:p>
                <a:pPr/>
                <a14:m>
                  <m:oMathPara xmlns:m="http://schemas.openxmlformats.org/officeDocument/2006/math">
                    <m:oMathParaPr>
                      <m:jc m:val="centerGroup"/>
                    </m:oMathParaPr>
                    <m:oMath xmlns:m="http://schemas.openxmlformats.org/officeDocument/2006/math">
                      <m:r>
                        <a:rPr lang="en-SG" sz="1000" i="1" dirty="0" smtClean="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rPr>
                        <m:t>𝑟𝑓𝑚</m:t>
                      </m:r>
                      <m:r>
                        <a:rPr lang="en-SG" sz="1000" b="0" i="1" dirty="0" smtClean="0">
                          <a:latin typeface="Cambria Math" panose="02040503050406030204" pitchFamily="18" charset="0"/>
                        </a:rPr>
                        <m:t> </m:t>
                      </m:r>
                      <m:r>
                        <a:rPr lang="en-SG" sz="1000" i="1" dirty="0">
                          <a:latin typeface="Cambria Math" panose="02040503050406030204" pitchFamily="18" charset="0"/>
                        </a:rPr>
                        <m:t>𝑝𝑜𝑙𝑖𝑐𝑦</m:t>
                      </m:r>
                      <m:r>
                        <a:rPr lang="en-SG" sz="1000" b="0" i="1" dirty="0" smtClean="0">
                          <a:latin typeface="Cambria Math" panose="02040503050406030204" pitchFamily="18" charset="0"/>
                        </a:rPr>
                        <m:t> </m:t>
                      </m:r>
                      <m:r>
                        <a:rPr lang="en-SG" sz="1000" i="1" dirty="0">
                          <a:latin typeface="Cambria Math" panose="02040503050406030204" pitchFamily="18" charset="0"/>
                        </a:rPr>
                        <m:t>𝑠𝑐𝑜𝑟𝑒</m:t>
                      </m:r>
                      <m:r>
                        <a:rPr lang="en-SG" sz="1000" i="1" dirty="0">
                          <a:latin typeface="Cambria Math" panose="02040503050406030204" pitchFamily="18" charset="0"/>
                        </a:rPr>
                        <m:t>= </m:t>
                      </m:r>
                      <m:f>
                        <m:fPr>
                          <m:ctrlPr>
                            <a:rPr lang="en-SG" sz="1000" b="0" i="1" dirty="0" smtClean="0">
                              <a:latin typeface="Cambria Math" panose="02040503050406030204" pitchFamily="18" charset="0"/>
                            </a:rPr>
                          </m:ctrlPr>
                        </m:fPr>
                        <m:num>
                          <m:r>
                            <a:rPr lang="en-SG" sz="1000" b="0" i="1" dirty="0" smtClean="0">
                              <a:latin typeface="Cambria Math" panose="02040503050406030204" pitchFamily="18" charset="0"/>
                            </a:rPr>
                            <m:t>1</m:t>
                          </m:r>
                        </m:num>
                        <m:den>
                          <m:r>
                            <a:rPr lang="en-SG" sz="1000" b="0" i="1" dirty="0" smtClean="0">
                              <a:latin typeface="Cambria Math" panose="02040503050406030204" pitchFamily="18" charset="0"/>
                            </a:rPr>
                            <m:t>1+</m:t>
                          </m:r>
                          <m:r>
                            <a:rPr lang="en-SG" sz="1000" b="0" i="1" dirty="0" smtClean="0">
                              <a:latin typeface="Cambria Math" panose="02040503050406030204" pitchFamily="18" charset="0"/>
                            </a:rPr>
                            <m:t>𝑟</m:t>
                          </m:r>
                        </m:den>
                      </m:f>
                      <m:r>
                        <a:rPr lang="en-SG" sz="1000" b="0" i="1" dirty="0" smtClean="0">
                          <a:latin typeface="Cambria Math" panose="02040503050406030204" pitchFamily="18" charset="0"/>
                        </a:rPr>
                        <m:t>+0.5</m:t>
                      </m:r>
                      <m:r>
                        <a:rPr lang="en-SG" sz="1000" b="0" i="1" dirty="0" smtClean="0">
                          <a:latin typeface="Cambria Math" panose="02040503050406030204" pitchFamily="18" charset="0"/>
                        </a:rPr>
                        <m:t>𝑓</m:t>
                      </m:r>
                      <m:r>
                        <a:rPr lang="en-SG" sz="1000" b="0" i="1" dirty="0" smtClean="0">
                          <a:latin typeface="Cambria Math" panose="02040503050406030204" pitchFamily="18" charset="0"/>
                        </a:rPr>
                        <m:t>+0.01</m:t>
                      </m:r>
                      <m:r>
                        <a:rPr lang="en-SG" sz="1000" b="0" i="1" dirty="0" smtClean="0">
                          <a:latin typeface="Cambria Math" panose="02040503050406030204" pitchFamily="18" charset="0"/>
                        </a:rPr>
                        <m:t>𝑚</m:t>
                      </m:r>
                    </m:oMath>
                  </m:oMathPara>
                </a14:m>
                <a:endParaRPr lang="en-SG" sz="1000" dirty="0"/>
              </a:p>
              <a:p>
                <a:r>
                  <a:rPr lang="en-SG" sz="1000" b="1" dirty="0"/>
                  <a:t>Where:</a:t>
                </a:r>
              </a:p>
              <a:p>
                <a:pPr algn="ctr"/>
                <a14:m>
                  <m:oMathPara xmlns:m="http://schemas.openxmlformats.org/officeDocument/2006/math">
                    <m:oMathParaPr>
                      <m:jc m:val="left"/>
                    </m:oMathParaPr>
                    <m:oMath xmlns:m="http://schemas.openxmlformats.org/officeDocument/2006/math">
                      <m:r>
                        <a:rPr lang="en-SG" sz="1000" b="1" i="1" dirty="0">
                          <a:latin typeface="Cambria Math" panose="02040503050406030204" pitchFamily="18" charset="0"/>
                        </a:rPr>
                        <m:t>𝒓</m:t>
                      </m:r>
                      <m:r>
                        <a:rPr lang="en-SG" sz="1000" b="1" i="1" dirty="0" smtClean="0">
                          <a:latin typeface="Cambria Math" panose="02040503050406030204" pitchFamily="18" charset="0"/>
                        </a:rPr>
                        <m:t>:</m:t>
                      </m:r>
                      <m:r>
                        <a:rPr lang="en-SG" sz="1000" b="0" i="1" dirty="0" smtClean="0">
                          <a:latin typeface="Cambria Math" panose="02040503050406030204" pitchFamily="18" charset="0"/>
                        </a:rPr>
                        <m:t>𝑟𝑒𝑐𝑒𝑛𝑐𝑦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𝒇</m:t>
                      </m:r>
                      <m:r>
                        <a:rPr lang="en-SG" sz="1000" b="1" i="1" dirty="0">
                          <a:latin typeface="Cambria Math" panose="02040503050406030204" pitchFamily="18" charset="0"/>
                        </a:rPr>
                        <m:t>:</m:t>
                      </m:r>
                      <m:r>
                        <a:rPr lang="en-SG" sz="1000" b="0" i="1" dirty="0" smtClean="0">
                          <a:latin typeface="Cambria Math" panose="02040503050406030204" pitchFamily="18" charset="0"/>
                        </a:rPr>
                        <m:t>𝑓𝑟𝑒𝑞𝑢𝑒𝑛𝑐𝑦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𝒎</m:t>
                      </m:r>
                      <m:r>
                        <a:rPr lang="en-SG" sz="1000" b="1" i="1" dirty="0">
                          <a:latin typeface="Cambria Math" panose="02040503050406030204" pitchFamily="18" charset="0"/>
                        </a:rPr>
                        <m:t>:</m:t>
                      </m:r>
                      <m:r>
                        <a:rPr lang="en-SG" sz="1000" b="0" i="1" dirty="0" smtClean="0">
                          <a:latin typeface="Cambria Math" panose="02040503050406030204" pitchFamily="18" charset="0"/>
                        </a:rPr>
                        <m:t>𝑚𝑜𝑛𝑒𝑡𝑎𝑟𝑦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𝑎𝑚𝑜𝑢𝑛𝑡</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𝑜𝑣𝑒𝑟</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𝒍𝒐𝒐𝒌𝒃𝒂𝒄𝒌</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𝒅𝒂𝒚𝒔</m:t>
                      </m:r>
                      <m:r>
                        <a:rPr lang="en-SG" sz="1000" b="1" i="1" dirty="0" smtClean="0">
                          <a:latin typeface="Cambria Math" panose="02040503050406030204" pitchFamily="18" charset="0"/>
                        </a:rPr>
                        <m:t>:</m:t>
                      </m:r>
                    </m:oMath>
                  </m:oMathPara>
                </a14:m>
                <a:endParaRPr lang="en-SG" sz="1000" b="1" i="1" dirty="0">
                  <a:latin typeface="Cambria Math" panose="02040503050406030204" pitchFamily="18" charset="0"/>
                </a:endParaRPr>
              </a:p>
              <a:p>
                <a:pPr marL="171450" indent="-171450">
                  <a:buFont typeface="Wingdings" panose="05000000000000000000" pitchFamily="2" charset="2"/>
                  <a:buChar char="Ø"/>
                </a:pPr>
                <a:r>
                  <a:rPr lang="en-SG" sz="1000" b="0" dirty="0"/>
                  <a:t>If window sensitivity experiments, try 60d|90d|120d</a:t>
                </a:r>
              </a:p>
              <a:p>
                <a:pPr marL="171450" indent="-171450">
                  <a:buFont typeface="Wingdings" panose="05000000000000000000" pitchFamily="2" charset="2"/>
                  <a:buChar char="Ø"/>
                </a:pPr>
                <a:r>
                  <a:rPr lang="en-SG" sz="1000" b="0" dirty="0"/>
                  <a:t>Else, use fr</a:t>
                </a:r>
                <a:r>
                  <a:rPr lang="en-SG" sz="1000" dirty="0"/>
                  <a:t>ozen lookback</a:t>
                </a:r>
                <a:endParaRPr lang="en-SG" sz="1000" b="0" dirty="0"/>
              </a:p>
              <a:p>
                <a:endParaRPr lang="en-SG" sz="1000" dirty="0"/>
              </a:p>
              <a:p>
                <a:r>
                  <a:rPr lang="en-SG" sz="1000" b="1" dirty="0"/>
                  <a:t>Parameter factors trade-off:</a:t>
                </a:r>
              </a:p>
              <a:p>
                <a:pPr marL="171450" indent="-171450">
                  <a:buFont typeface="Wingdings" panose="05000000000000000000" pitchFamily="2" charset="2"/>
                  <a:buChar char="Ø"/>
                </a:pPr>
                <a:r>
                  <a:rPr lang="en-SG" sz="1000" b="1" dirty="0"/>
                  <a:t>Recency </a:t>
                </a:r>
                <a:r>
                  <a:rPr lang="en-SG" sz="1000" dirty="0"/>
                  <a:t>decay non-linearly </a:t>
                </a:r>
                <a14:m>
                  <m:oMath xmlns:m="http://schemas.openxmlformats.org/officeDocument/2006/math">
                    <m:f>
                      <m:fPr>
                        <m:ctrlPr>
                          <a:rPr lang="en-SG" sz="1000" i="1" dirty="0">
                            <a:latin typeface="Cambria Math" panose="02040503050406030204" pitchFamily="18" charset="0"/>
                          </a:rPr>
                        </m:ctrlPr>
                      </m:fPr>
                      <m:num>
                        <m:r>
                          <a:rPr lang="en-SG" sz="1000" i="1" dirty="0">
                            <a:latin typeface="Cambria Math" panose="02040503050406030204" pitchFamily="18" charset="0"/>
                          </a:rPr>
                          <m:t>1</m:t>
                        </m:r>
                      </m:num>
                      <m:den>
                        <m:r>
                          <a:rPr lang="en-SG" sz="1000" i="1" dirty="0">
                            <a:latin typeface="Cambria Math" panose="02040503050406030204" pitchFamily="18" charset="0"/>
                          </a:rPr>
                          <m:t>1+</m:t>
                        </m:r>
                        <m:r>
                          <a:rPr lang="en-SG" sz="1000" i="1" dirty="0">
                            <a:latin typeface="Cambria Math" panose="02040503050406030204" pitchFamily="18" charset="0"/>
                          </a:rPr>
                          <m:t>𝑟</m:t>
                        </m:r>
                      </m:den>
                    </m:f>
                  </m:oMath>
                </a14:m>
                <a:endParaRPr lang="en-SG" sz="1000" dirty="0"/>
              </a:p>
              <a:p>
                <a:pPr marL="171450" indent="-171450">
                  <a:buFont typeface="Wingdings" panose="05000000000000000000" pitchFamily="2" charset="2"/>
                  <a:buChar char="Ø"/>
                </a:pPr>
                <a:r>
                  <a:rPr lang="en-SG" sz="1000" dirty="0"/>
                  <a:t>Medium weight (0,5) to </a:t>
                </a:r>
                <a:r>
                  <a:rPr lang="en-SG" sz="1000" b="1" dirty="0"/>
                  <a:t>frequency</a:t>
                </a:r>
              </a:p>
              <a:p>
                <a:pPr marL="171450" indent="-171450">
                  <a:buFont typeface="Wingdings" panose="05000000000000000000" pitchFamily="2" charset="2"/>
                  <a:buChar char="Ø"/>
                </a:pPr>
                <a:r>
                  <a:rPr lang="en-SG" sz="1000" dirty="0"/>
                  <a:t>Low weight (0.01) to </a:t>
                </a:r>
                <a:r>
                  <a:rPr lang="en-SG" sz="1000" b="1" dirty="0"/>
                  <a:t>monetary</a:t>
                </a:r>
                <a:r>
                  <a:rPr lang="en-SG" sz="1000" dirty="0"/>
                  <a:t> so outliers skew don’t dominate</a:t>
                </a:r>
                <a:endParaRPr lang="en-SG" sz="1000" b="1" dirty="0"/>
              </a:p>
              <a:p>
                <a:endParaRPr lang="en-SG" sz="1000" dirty="0"/>
              </a:p>
              <a:p>
                <a:r>
                  <a:rPr lang="en-SG" sz="1000" b="1" dirty="0"/>
                  <a:t>Score increase from below:</a:t>
                </a:r>
              </a:p>
              <a:p>
                <a:pPr marL="171450" indent="-171450">
                  <a:buFont typeface="Wingdings" panose="05000000000000000000" pitchFamily="2" charset="2"/>
                  <a:buChar char="Ø"/>
                </a:pPr>
                <a:r>
                  <a:rPr lang="en-SG" sz="1000" dirty="0"/>
                  <a:t>higher frequency</a:t>
                </a:r>
              </a:p>
              <a:p>
                <a:pPr marL="171450" indent="-171450">
                  <a:buFont typeface="Wingdings" panose="05000000000000000000" pitchFamily="2" charset="2"/>
                  <a:buChar char="Ø"/>
                </a:pPr>
                <a:r>
                  <a:rPr lang="en-SG" sz="1000" dirty="0"/>
                  <a:t>higher monetary</a:t>
                </a:r>
              </a:p>
              <a:p>
                <a:pPr marL="171450" indent="-171450">
                  <a:buFont typeface="Wingdings" panose="05000000000000000000" pitchFamily="2" charset="2"/>
                  <a:buChar char="Ø"/>
                </a:pPr>
                <a:r>
                  <a:rPr lang="en-SG" sz="1000" dirty="0"/>
                  <a:t>more recent purchase</a:t>
                </a:r>
              </a:p>
            </p:txBody>
          </p:sp>
        </mc:Choice>
        <mc:Fallback xmlns="">
          <p:sp>
            <p:nvSpPr>
              <p:cNvPr id="9" name="TextBox 8">
                <a:extLst>
                  <a:ext uri="{FF2B5EF4-FFF2-40B4-BE49-F238E27FC236}">
                    <a16:creationId xmlns:a16="http://schemas.microsoft.com/office/drawing/2014/main" id="{ECE1585F-6840-E688-8CB5-6F430CA47693}"/>
                  </a:ext>
                </a:extLst>
              </p:cNvPr>
              <p:cNvSpPr txBox="1">
                <a:spLocks noRot="1" noChangeAspect="1" noMove="1" noResize="1" noEditPoints="1" noAdjustHandles="1" noChangeArrowheads="1" noChangeShapeType="1" noTextEdit="1"/>
              </p:cNvSpPr>
              <p:nvPr/>
            </p:nvSpPr>
            <p:spPr>
              <a:xfrm>
                <a:off x="8279424" y="2196072"/>
                <a:ext cx="3805750" cy="3526030"/>
              </a:xfrm>
              <a:prstGeom prst="rect">
                <a:avLst/>
              </a:prstGeom>
              <a:blipFill>
                <a:blip r:embed="rId4"/>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AA60F309-69BF-F0CE-C414-B6A261D3ECF5}"/>
              </a:ext>
            </a:extLst>
          </p:cNvPr>
          <p:cNvSpPr txBox="1"/>
          <p:nvPr/>
        </p:nvSpPr>
        <p:spPr>
          <a:xfrm>
            <a:off x="8208499" y="1791279"/>
            <a:ext cx="3253673" cy="461665"/>
          </a:xfrm>
          <a:prstGeom prst="rect">
            <a:avLst/>
          </a:prstGeom>
          <a:noFill/>
        </p:spPr>
        <p:txBody>
          <a:bodyPr wrap="square">
            <a:spAutoFit/>
          </a:bodyPr>
          <a:lstStyle/>
          <a:p>
            <a:r>
              <a:rPr lang="en-SG" sz="1200" b="1" dirty="0"/>
              <a:t>Policy C (Business heuristic baseline): Target top ranked RFM users</a:t>
            </a:r>
          </a:p>
        </p:txBody>
      </p:sp>
      <p:sp>
        <p:nvSpPr>
          <p:cNvPr id="13" name="TextBox 12">
            <a:extLst>
              <a:ext uri="{FF2B5EF4-FFF2-40B4-BE49-F238E27FC236}">
                <a16:creationId xmlns:a16="http://schemas.microsoft.com/office/drawing/2014/main" id="{0101EFF1-185C-C568-2FF6-25BC2612F650}"/>
              </a:ext>
            </a:extLst>
          </p:cNvPr>
          <p:cNvSpPr txBox="1"/>
          <p:nvPr/>
        </p:nvSpPr>
        <p:spPr>
          <a:xfrm>
            <a:off x="3876675" y="1940472"/>
            <a:ext cx="3590926" cy="276999"/>
          </a:xfrm>
          <a:prstGeom prst="rect">
            <a:avLst/>
          </a:prstGeom>
          <a:noFill/>
        </p:spPr>
        <p:txBody>
          <a:bodyPr wrap="square">
            <a:spAutoFit/>
          </a:bodyPr>
          <a:lstStyle/>
          <a:p>
            <a:r>
              <a:rPr lang="en-SG" sz="1200" b="1" dirty="0"/>
              <a:t>Policy B (Random baseline)</a:t>
            </a:r>
          </a:p>
        </p:txBody>
      </p:sp>
      <p:sp>
        <p:nvSpPr>
          <p:cNvPr id="14" name="TextBox 13">
            <a:extLst>
              <a:ext uri="{FF2B5EF4-FFF2-40B4-BE49-F238E27FC236}">
                <a16:creationId xmlns:a16="http://schemas.microsoft.com/office/drawing/2014/main" id="{7BA4785F-139C-5735-94ED-0C468472C5CC}"/>
              </a:ext>
            </a:extLst>
          </p:cNvPr>
          <p:cNvSpPr txBox="1"/>
          <p:nvPr/>
        </p:nvSpPr>
        <p:spPr>
          <a:xfrm>
            <a:off x="3947600" y="2196072"/>
            <a:ext cx="4189974" cy="861774"/>
          </a:xfrm>
          <a:prstGeom prst="rect">
            <a:avLst/>
          </a:prstGeom>
          <a:solidFill>
            <a:schemeClr val="accent6">
              <a:lumMod val="20000"/>
              <a:lumOff val="80000"/>
            </a:schemeClr>
          </a:solidFill>
        </p:spPr>
        <p:txBody>
          <a:bodyPr wrap="square">
            <a:spAutoFit/>
          </a:bodyPr>
          <a:lstStyle/>
          <a:p>
            <a:r>
              <a:rPr lang="en-SG" sz="1000" b="1" u="sng" dirty="0"/>
              <a:t>Formula</a:t>
            </a:r>
            <a:endParaRPr lang="en-SG" sz="1000" b="1" dirty="0"/>
          </a:p>
          <a:p>
            <a:r>
              <a:rPr lang="en-SG" sz="1000" b="1" dirty="0"/>
              <a:t>Deterministic pseudo-random: </a:t>
            </a:r>
          </a:p>
          <a:p>
            <a:r>
              <a:rPr lang="en-SG" sz="1000" b="1" dirty="0"/>
              <a:t>score = Hash to [0,1] by (user id, as_of_date. "policy_random")</a:t>
            </a:r>
          </a:p>
          <a:p>
            <a:endParaRPr lang="en-SG" sz="1000" b="1" dirty="0"/>
          </a:p>
          <a:p>
            <a:r>
              <a:rPr lang="en-SG" sz="1000" b="1" dirty="0"/>
              <a:t>Purpose: </a:t>
            </a:r>
            <a:r>
              <a:rPr lang="en-SG" sz="1000" dirty="0"/>
              <a:t>Sanity baseline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A6A739C-D42C-722B-F8D5-AA4046CE4E8A}"/>
                  </a:ext>
                </a:extLst>
              </p:cNvPr>
              <p:cNvSpPr txBox="1"/>
              <p:nvPr/>
            </p:nvSpPr>
            <p:spPr>
              <a:xfrm>
                <a:off x="3912577" y="3635921"/>
                <a:ext cx="3178499" cy="646331"/>
              </a:xfrm>
              <a:prstGeom prst="rect">
                <a:avLst/>
              </a:prstGeom>
              <a:solidFill>
                <a:schemeClr val="accent2">
                  <a:lumMod val="20000"/>
                  <a:lumOff val="80000"/>
                </a:schemeClr>
              </a:solidFill>
            </p:spPr>
            <p:txBody>
              <a:bodyPr wrap="square">
                <a:spAutoFit/>
              </a:bodyPr>
              <a:lstStyle/>
              <a:p>
                <a:r>
                  <a:rPr lang="en-SG" sz="1200" b="1" dirty="0"/>
                  <a:t>Decision Rule (shared across policies): </a:t>
                </a:r>
                <a:r>
                  <a:rPr lang="en-SG" sz="1200" dirty="0"/>
                  <a:t>Rank users by policy score </a:t>
                </a:r>
                <a14:m>
                  <m:oMath xmlns:m="http://schemas.openxmlformats.org/officeDocument/2006/math">
                    <m:r>
                      <a:rPr lang="en-SG" sz="1200" b="0" i="1" dirty="0">
                        <a:latin typeface="Cambria Math" panose="02040503050406030204" pitchFamily="18" charset="0"/>
                        <a:ea typeface="Cambria Math" panose="02040503050406030204" pitchFamily="18" charset="0"/>
                      </a:rPr>
                      <m:t>→</m:t>
                    </m:r>
                  </m:oMath>
                </a14:m>
                <a:r>
                  <a:rPr lang="en-SG" sz="1200" dirty="0"/>
                  <a:t> Select Top K users under budget constraint</a:t>
                </a:r>
              </a:p>
            </p:txBody>
          </p:sp>
        </mc:Choice>
        <mc:Fallback xmlns="">
          <p:sp>
            <p:nvSpPr>
              <p:cNvPr id="16" name="TextBox 15">
                <a:extLst>
                  <a:ext uri="{FF2B5EF4-FFF2-40B4-BE49-F238E27FC236}">
                    <a16:creationId xmlns:a16="http://schemas.microsoft.com/office/drawing/2014/main" id="{BA6A739C-D42C-722B-F8D5-AA4046CE4E8A}"/>
                  </a:ext>
                </a:extLst>
              </p:cNvPr>
              <p:cNvSpPr txBox="1">
                <a:spLocks noRot="1" noChangeAspect="1" noMove="1" noResize="1" noEditPoints="1" noAdjustHandles="1" noChangeArrowheads="1" noChangeShapeType="1" noTextEdit="1"/>
              </p:cNvSpPr>
              <p:nvPr/>
            </p:nvSpPr>
            <p:spPr>
              <a:xfrm>
                <a:off x="3912577" y="3635921"/>
                <a:ext cx="3178499" cy="646331"/>
              </a:xfrm>
              <a:prstGeom prst="rect">
                <a:avLst/>
              </a:prstGeom>
              <a:blipFill>
                <a:blip r:embed="rId5"/>
                <a:stretch>
                  <a:fillRect l="-192" b="-6604"/>
                </a:stretch>
              </a:blipFill>
            </p:spPr>
            <p:txBody>
              <a:bodyPr/>
              <a:lstStyle/>
              <a:p>
                <a:r>
                  <a:rPr lang="en-SG">
                    <a:noFill/>
                  </a:rPr>
                  <a:t> </a:t>
                </a:r>
              </a:p>
            </p:txBody>
          </p:sp>
        </mc:Fallback>
      </mc:AlternateContent>
    </p:spTree>
    <p:extLst>
      <p:ext uri="{BB962C8B-B14F-4D97-AF65-F5344CB8AC3E}">
        <p14:creationId xmlns:p14="http://schemas.microsoft.com/office/powerpoint/2010/main" val="1851388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4CE1A-222A-95DE-E490-5A401FAB90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77EF3C-681F-A540-DA08-BF462DB9E50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p:sp>
        <p:nvSpPr>
          <p:cNvPr id="3" name="TextBox 2">
            <a:extLst>
              <a:ext uri="{FF2B5EF4-FFF2-40B4-BE49-F238E27FC236}">
                <a16:creationId xmlns:a16="http://schemas.microsoft.com/office/drawing/2014/main" id="{45BD69C9-2101-6D92-3E7B-BDBDF1B1D291}"/>
              </a:ext>
            </a:extLst>
          </p:cNvPr>
          <p:cNvSpPr txBox="1"/>
          <p:nvPr/>
        </p:nvSpPr>
        <p:spPr>
          <a:xfrm>
            <a:off x="1502879" y="1905000"/>
            <a:ext cx="5450581" cy="4862870"/>
          </a:xfrm>
          <a:prstGeom prst="rect">
            <a:avLst/>
          </a:prstGeom>
          <a:solidFill>
            <a:schemeClr val="accent6">
              <a:lumMod val="20000"/>
              <a:lumOff val="80000"/>
            </a:schemeClr>
          </a:solidFill>
        </p:spPr>
        <p:txBody>
          <a:bodyPr wrap="square">
            <a:spAutoFit/>
          </a:bodyPr>
          <a:lstStyle/>
          <a:p>
            <a:r>
              <a:rPr lang="en-SG" sz="1000" dirty="0"/>
              <a:t>    </a:t>
            </a:r>
            <a:r>
              <a:rPr lang="en-SG" sz="1000" b="1" dirty="0"/>
              <a:t>Note: </a:t>
            </a:r>
            <a:r>
              <a:rPr lang="en-SG" sz="1000" dirty="0"/>
              <a:t>Calibration is important because the predicted probability is used</a:t>
            </a:r>
          </a:p>
          <a:p>
            <a:r>
              <a:rPr lang="en-SG" sz="1000" dirty="0"/>
              <a:t>    directly in expected-value ranking downstream.</a:t>
            </a:r>
            <a:br>
              <a:rPr lang="en-SG" sz="1000" dirty="0"/>
            </a:br>
            <a:endParaRPr lang="en-SG" sz="1000" dirty="0"/>
          </a:p>
          <a:p>
            <a:r>
              <a:rPr lang="en-SG" sz="1000" dirty="0"/>
              <a:t>    </a:t>
            </a:r>
            <a:r>
              <a:rPr lang="en-SG" sz="1000" b="1" dirty="0"/>
              <a:t>Calibration:</a:t>
            </a:r>
          </a:p>
          <a:p>
            <a:r>
              <a:rPr lang="en-SG" sz="1000" dirty="0"/>
              <a:t>        Classification models often output probabilities that are poorly calibrated</a:t>
            </a:r>
          </a:p>
          <a:p>
            <a:r>
              <a:rPr lang="en-SG" sz="1000" dirty="0"/>
              <a:t>        (e.g., a predicted 0.8 probability may only correspond to ~0.6 actual event</a:t>
            </a:r>
          </a:p>
          <a:p>
            <a:r>
              <a:rPr lang="en-SG" sz="1000" dirty="0"/>
              <a:t>        frequency). Calibration adjusts these predicted probabilities so they better</a:t>
            </a:r>
          </a:p>
          <a:p>
            <a:r>
              <a:rPr lang="en-SG" sz="1000" dirty="0"/>
              <a:t>        reflect true outcome frequencies.</a:t>
            </a:r>
          </a:p>
          <a:p>
            <a:endParaRPr lang="en-SG" sz="1000" dirty="0"/>
          </a:p>
          <a:p>
            <a:r>
              <a:rPr lang="en-SG" sz="1000" dirty="0"/>
              <a:t>        This implementation uses Platt scaling via</a:t>
            </a:r>
          </a:p>
          <a:p>
            <a:r>
              <a:rPr lang="en-SG" sz="1000" dirty="0"/>
              <a:t>        `CalibratedClassifierCV(method="sigmoid", cv=3)`.</a:t>
            </a:r>
            <a:br>
              <a:rPr lang="en-SG" sz="1000" dirty="0"/>
            </a:br>
            <a:endParaRPr lang="en-SG" sz="1000" dirty="0"/>
          </a:p>
          <a:p>
            <a:r>
              <a:rPr lang="en-SG" sz="1000" dirty="0"/>
              <a:t>        </a:t>
            </a:r>
            <a:r>
              <a:rPr lang="en-SG" sz="1000" b="1" dirty="0"/>
              <a:t>Internally:</a:t>
            </a:r>
          </a:p>
          <a:p>
            <a:r>
              <a:rPr lang="en-SG" sz="1000" dirty="0"/>
              <a:t>            1) Split (X_fit, y_fit) into 3 folds</a:t>
            </a:r>
          </a:p>
          <a:p>
            <a:r>
              <a:rPr lang="en-SG" sz="1000" dirty="0"/>
              <a:t>            2) Train the base model on 2 folds</a:t>
            </a:r>
          </a:p>
          <a:p>
            <a:r>
              <a:rPr lang="en-SG" sz="1000" dirty="0"/>
              <a:t>            3) Predict probabilities on the held-out fold</a:t>
            </a:r>
          </a:p>
          <a:p>
            <a:r>
              <a:rPr lang="en-SG" sz="1000" dirty="0"/>
              <a:t>            4) Collect out-of-fold predictions</a:t>
            </a:r>
          </a:p>
          <a:p>
            <a:r>
              <a:rPr lang="en-SG" sz="1000" dirty="0"/>
              <a:t>            5) Fit a sigmoid mapping that adjusts the model's pre-calibrated predicted </a:t>
            </a:r>
          </a:p>
          <a:p>
            <a:r>
              <a:rPr lang="en-SG" sz="1000" dirty="0"/>
              <a:t>                probabilities to calibrated probabilities</a:t>
            </a:r>
          </a:p>
          <a:p>
            <a:endParaRPr lang="en-SG" sz="1000" dirty="0"/>
          </a:p>
          <a:p>
            <a:r>
              <a:rPr lang="en-SG" sz="1000" dirty="0"/>
              <a:t>    </a:t>
            </a:r>
            <a:r>
              <a:rPr lang="en-SG" sz="1000" b="1" dirty="0"/>
              <a:t>Temporal caveat:</a:t>
            </a:r>
          </a:p>
          <a:p>
            <a:r>
              <a:rPr lang="en-SG" sz="1000" dirty="0"/>
              <a:t>        The 3-fold CV used inside `CalibratedClassifierCV` ignores temporal ordering</a:t>
            </a:r>
          </a:p>
          <a:p>
            <a:r>
              <a:rPr lang="en-SG" sz="1000" dirty="0"/>
              <a:t>        and may mix rows from different snapshot timestamps within (X_fit, y_fit).</a:t>
            </a:r>
            <a:br>
              <a:rPr lang="en-SG" sz="1000" dirty="0"/>
            </a:br>
            <a:endParaRPr lang="en-SG" sz="1000" dirty="0"/>
          </a:p>
          <a:p>
            <a:r>
              <a:rPr lang="en-SG" sz="1000" dirty="0"/>
              <a:t>        The leakage impact is limited because it occurs only within the training partition</a:t>
            </a:r>
          </a:p>
          <a:p>
            <a:r>
              <a:rPr lang="en-SG" sz="1000" dirty="0"/>
              <a:t>        and does not affect downstream validation or test evaluation:</a:t>
            </a:r>
          </a:p>
          <a:p>
            <a:r>
              <a:rPr lang="en-SG" sz="1000" dirty="0"/>
              <a:t>        a) Calibration only adjusts the model's pre-calibrated predicted probabilities.</a:t>
            </a:r>
          </a:p>
          <a:p>
            <a:r>
              <a:rPr lang="en-SG" sz="1000" dirty="0"/>
              <a:t>        b) The temporal mixing arises from the CV folds used to generate</a:t>
            </a:r>
          </a:p>
          <a:p>
            <a:r>
              <a:rPr lang="en-SG" sz="1000" dirty="0"/>
              <a:t>           out-of-fold predictions.</a:t>
            </a:r>
          </a:p>
          <a:p>
            <a:r>
              <a:rPr lang="en-SG" sz="1000" dirty="0"/>
              <a:t>        c) True model evaluation (validation/test) still respects the</a:t>
            </a:r>
          </a:p>
          <a:p>
            <a:r>
              <a:rPr lang="en-SG" sz="1000" dirty="0"/>
              <a:t>           temporal split and therefore remains leakage-free.</a:t>
            </a:r>
          </a:p>
        </p:txBody>
      </p:sp>
    </p:spTree>
    <p:extLst>
      <p:ext uri="{BB962C8B-B14F-4D97-AF65-F5344CB8AC3E}">
        <p14:creationId xmlns:p14="http://schemas.microsoft.com/office/powerpoint/2010/main" val="33843275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384995"/>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1017029578"/>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1432.0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471.5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+960.5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-12.3</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956.0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323.1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+632.9</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+6.7</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3856167075"/>
              </p:ext>
            </p:extLst>
          </p:nvPr>
        </p:nvGraphicFramePr>
        <p:xfrm>
          <a:off x="207644" y="2768144"/>
          <a:ext cx="6826174" cy="1584959"/>
        </p:xfrm>
        <a:graphic>
          <a:graphicData uri="http://schemas.openxmlformats.org/drawingml/2006/table">
            <a:tbl>
              <a:tblPr firstRow="1" bandRow="1">
                <a:tableStyleId>{5C22544A-7EE6-4342-B048-85BDC9FD1C3A}</a:tableStyleId>
              </a:tblPr>
              <a:tblGrid>
                <a:gridCol w="1362394">
                  <a:extLst>
                    <a:ext uri="{9D8B030D-6E8A-4147-A177-3AD203B41FA5}">
                      <a16:colId xmlns:a16="http://schemas.microsoft.com/office/drawing/2014/main" val="1578905552"/>
                    </a:ext>
                  </a:extLst>
                </a:gridCol>
                <a:gridCol w="1092756">
                  <a:extLst>
                    <a:ext uri="{9D8B030D-6E8A-4147-A177-3AD203B41FA5}">
                      <a16:colId xmlns:a16="http://schemas.microsoft.com/office/drawing/2014/main" val="2062257706"/>
                    </a:ext>
                  </a:extLst>
                </a:gridCol>
                <a:gridCol w="1092756">
                  <a:extLst>
                    <a:ext uri="{9D8B030D-6E8A-4147-A177-3AD203B41FA5}">
                      <a16:colId xmlns:a16="http://schemas.microsoft.com/office/drawing/2014/main" val="1376440620"/>
                    </a:ext>
                  </a:extLst>
                </a:gridCol>
                <a:gridCol w="1092756">
                  <a:extLst>
                    <a:ext uri="{9D8B030D-6E8A-4147-A177-3AD203B41FA5}">
                      <a16:colId xmlns:a16="http://schemas.microsoft.com/office/drawing/2014/main" val="4154908257"/>
                    </a:ext>
                  </a:extLst>
                </a:gridCol>
                <a:gridCol w="1092756">
                  <a:extLst>
                    <a:ext uri="{9D8B030D-6E8A-4147-A177-3AD203B41FA5}">
                      <a16:colId xmlns:a16="http://schemas.microsoft.com/office/drawing/2014/main" val="1626176295"/>
                    </a:ext>
                  </a:extLst>
                </a:gridCol>
                <a:gridCol w="1092756">
                  <a:extLst>
                    <a:ext uri="{9D8B030D-6E8A-4147-A177-3AD203B41FA5}">
                      <a16:colId xmlns:a16="http://schemas.microsoft.com/office/drawing/2014/main" val="3684245219"/>
                    </a:ext>
                  </a:extLst>
                </a:gridCol>
              </a:tblGrid>
              <a:tr h="607006">
                <a:tc>
                  <a:txBody>
                    <a:bodyPr/>
                    <a:lstStyle/>
                    <a:p>
                      <a:r>
                        <a:rPr lang="en-SG" sz="1000" u="sng" dirty="0"/>
                        <a:t>Propensity Model</a:t>
                      </a:r>
                      <a:r>
                        <a:rPr lang="en-SG" sz="1000" dirty="0"/>
                        <a:t> 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269780">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1.75</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26978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2.52</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438393">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although </a:t>
            </a:r>
            <a:r>
              <a:rPr lang="en-SG" sz="1000" b="1" dirty="0"/>
              <a:t>ranking (PR-AUC) and calibration (ECE) declined</a:t>
            </a:r>
            <a:r>
              <a:rPr lang="en-SG" sz="1000" dirty="0"/>
              <a:t>.</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4253195766"/>
              </p:ext>
            </p:extLst>
          </p:nvPr>
        </p:nvGraphicFramePr>
        <p:xfrm>
          <a:off x="7256704" y="2768145"/>
          <a:ext cx="4727652" cy="1584960"/>
        </p:xfrm>
        <a:graphic>
          <a:graphicData uri="http://schemas.openxmlformats.org/drawingml/2006/table">
            <a:tbl>
              <a:tblPr firstRow="1" bandRow="1">
                <a:tableStyleId>{5C22544A-7EE6-4342-B048-85BDC9FD1C3A}</a:tableStyleId>
              </a:tblPr>
              <a:tblGrid>
                <a:gridCol w="1424574">
                  <a:extLst>
                    <a:ext uri="{9D8B030D-6E8A-4147-A177-3AD203B41FA5}">
                      <a16:colId xmlns:a16="http://schemas.microsoft.com/office/drawing/2014/main" val="2444121692"/>
                    </a:ext>
                  </a:extLst>
                </a:gridCol>
                <a:gridCol w="1101026">
                  <a:extLst>
                    <a:ext uri="{9D8B030D-6E8A-4147-A177-3AD203B41FA5}">
                      <a16:colId xmlns:a16="http://schemas.microsoft.com/office/drawing/2014/main" val="1796582741"/>
                    </a:ext>
                  </a:extLst>
                </a:gridCol>
                <a:gridCol w="1101026">
                  <a:extLst>
                    <a:ext uri="{9D8B030D-6E8A-4147-A177-3AD203B41FA5}">
                      <a16:colId xmlns:a16="http://schemas.microsoft.com/office/drawing/2014/main" val="3043283912"/>
                    </a:ext>
                  </a:extLst>
                </a:gridCol>
                <a:gridCol w="1101026">
                  <a:extLst>
                    <a:ext uri="{9D8B030D-6E8A-4147-A177-3AD203B41FA5}">
                      <a16:colId xmlns:a16="http://schemas.microsoft.com/office/drawing/2014/main" val="2318209426"/>
                    </a:ext>
                  </a:extLst>
                </a:gridCol>
              </a:tblGrid>
              <a:tr h="548640">
                <a:tc>
                  <a:txBody>
                    <a:bodyPr/>
                    <a:lstStyle/>
                    <a:p>
                      <a:r>
                        <a:rPr lang="en-SG" sz="1000" u="sng" dirty="0"/>
                        <a:t>Revenue Prediction Model</a:t>
                      </a:r>
                    </a:p>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2019</a:t>
                      </a:r>
                    </a:p>
                  </a:txBody>
                  <a:tcPr/>
                </a:tc>
                <a:tc>
                  <a:txBody>
                    <a:bodyPr/>
                    <a:lstStyle/>
                    <a:p>
                      <a:r>
                        <a:rPr lang="en-SG" sz="1000" b="1" dirty="0"/>
                        <a:t>692</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2873</a:t>
                      </a:r>
                    </a:p>
                  </a:txBody>
                  <a:tcPr/>
                </a:tc>
                <a:tc>
                  <a:txBody>
                    <a:bodyPr/>
                    <a:lstStyle/>
                    <a:p>
                      <a:r>
                        <a:rPr lang="en-SG" sz="1000" b="0" dirty="0"/>
                        <a:t>801</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118247528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1D7EC224-8D80-A7FE-79C2-55BC8616EB70}"/>
                  </a:ext>
                </a:extLst>
              </p:cNvPr>
              <p:cNvSpPr txBox="1"/>
              <p:nvPr/>
            </p:nvSpPr>
            <p:spPr>
              <a:xfrm>
                <a:off x="2731908" y="1828917"/>
                <a:ext cx="2354444" cy="2308324"/>
              </a:xfrm>
              <a:prstGeom prst="rect">
                <a:avLst/>
              </a:prstGeom>
              <a:solidFill>
                <a:schemeClr val="accent6">
                  <a:lumMod val="20000"/>
                  <a:lumOff val="80000"/>
                </a:schemeClr>
              </a:solidFill>
            </p:spPr>
            <p:txBody>
              <a:bodyPr wrap="square">
                <a:spAutoFit/>
              </a:bodyPr>
              <a:lstStyle/>
              <a:p>
                <a:r>
                  <a:rPr lang="en-SG" sz="900" b="1" u="sng" dirty="0"/>
                  <a:t>Popularity</a:t>
                </a:r>
                <a:endParaRPr lang="en-SG" sz="900" b="1" i="1" u="sng" dirty="0">
                  <a:latin typeface="Cambria Math" panose="02040503050406030204" pitchFamily="18" charset="0"/>
                </a:endParaRPr>
              </a:p>
              <a:p>
                <a:r>
                  <a:rPr lang="en-SG" sz="900" b="1" dirty="0"/>
                  <a:t>Core Idea</a:t>
                </a:r>
              </a:p>
              <a:p>
                <a:r>
                  <a:rPr lang="en-SG" sz="900" dirty="0"/>
                  <a:t>Global ranking based on item frequency.</a:t>
                </a:r>
                <a:endParaRPr lang="en-SG" sz="900" b="1" i="1" u="sng" dirty="0">
                  <a:latin typeface="Cambria Math" panose="02040503050406030204" pitchFamily="18" charset="0"/>
                </a:endParaRP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i="1">
                          <a:latin typeface="Cambria Math" panose="02040503050406030204" pitchFamily="18" charset="0"/>
                        </a:rPr>
                        <m:t>𝑠𝑐𝑜𝑟𝑒</m:t>
                      </m:r>
                      <m:r>
                        <a:rPr lang="en-SG" sz="900" i="1">
                          <a:latin typeface="Cambria Math" panose="02040503050406030204" pitchFamily="18" charset="0"/>
                        </a:rPr>
                        <m:t>(</m:t>
                      </m:r>
                      <m:r>
                        <a:rPr lang="en-SG" sz="900" i="1">
                          <a:latin typeface="Cambria Math" panose="02040503050406030204" pitchFamily="18" charset="0"/>
                        </a:rPr>
                        <m:t>𝑖</m:t>
                      </m:r>
                      <m:r>
                        <a:rPr lang="en-SG" sz="900" i="1">
                          <a:latin typeface="Cambria Math" panose="02040503050406030204" pitchFamily="18" charset="0"/>
                        </a:rPr>
                        <m:t>)=</m:t>
                      </m:r>
                      <m:r>
                        <a:rPr lang="en-SG" sz="900" i="1">
                          <a:latin typeface="Cambria Math" panose="02040503050406030204" pitchFamily="18" charset="0"/>
                        </a:rPr>
                        <m:t>𝑙𝑜𝑔</m:t>
                      </m:r>
                      <m:r>
                        <a:rPr lang="en-SG" sz="900" i="1">
                          <a:latin typeface="Cambria Math" panose="02040503050406030204" pitchFamily="18" charset="0"/>
                        </a:rPr>
                        <m:t>(1+</m:t>
                      </m:r>
                      <m:sSub>
                        <m:sSubPr>
                          <m:ctrlPr>
                            <a:rPr lang="en-SG" sz="900" i="1">
                              <a:latin typeface="Cambria Math" panose="02040503050406030204" pitchFamily="18" charset="0"/>
                            </a:rPr>
                          </m:ctrlPr>
                        </m:sSubPr>
                        <m:e>
                          <m:r>
                            <a:rPr lang="en-SG" sz="900" i="1">
                              <a:latin typeface="Cambria Math" panose="02040503050406030204" pitchFamily="18" charset="0"/>
                            </a:rPr>
                            <m:t>𝑖𝑛𝑡𝑒𝑟𝑎𝑐𝑡𝑖𝑜𝑛</m:t>
                          </m:r>
                          <m:r>
                            <a:rPr lang="en-SG" sz="900" i="1">
                              <a:latin typeface="Cambria Math" panose="02040503050406030204" pitchFamily="18" charset="0"/>
                            </a:rPr>
                            <m:t>_</m:t>
                          </m:r>
                          <m:r>
                            <a:rPr lang="en-SG" sz="900" i="1">
                              <a:latin typeface="Cambria Math" panose="02040503050406030204" pitchFamily="18" charset="0"/>
                            </a:rPr>
                            <m:t>𝑐𝑜𝑢𝑛𝑡</m:t>
                          </m:r>
                        </m:e>
                        <m:sub>
                          <m:r>
                            <a:rPr lang="en-SG" sz="900" i="1">
                              <a:latin typeface="Cambria Math" panose="02040503050406030204" pitchFamily="18" charset="0"/>
                            </a:rPr>
                            <m:t>𝑖</m:t>
                          </m:r>
                        </m:sub>
                      </m:sSub>
                      <m:r>
                        <a:rPr lang="en-SG" sz="900" i="1">
                          <a:latin typeface="Cambria Math" panose="02040503050406030204" pitchFamily="18" charset="0"/>
                        </a:rPr>
                        <m:t>​)</m:t>
                      </m:r>
                    </m:oMath>
                  </m:oMathPara>
                </a14:m>
                <a:endParaRPr lang="en-SG" sz="900" b="1" dirty="0"/>
              </a:p>
              <a:p>
                <a:endParaRPr lang="en-SG" sz="900" dirty="0"/>
              </a:p>
              <a:p>
                <a:r>
                  <a:rPr lang="en-SG" sz="900" b="1" dirty="0"/>
                  <a:t>What This Means</a:t>
                </a:r>
              </a:p>
              <a:p>
                <a:r>
                  <a:rPr lang="en-SG" sz="900" dirty="0"/>
                  <a:t>Item popularity global ranking based on number of users interacting with item</a:t>
                </a:r>
              </a:p>
              <a:p>
                <a:endParaRPr lang="en-SG" sz="900" b="1" dirty="0"/>
              </a:p>
              <a:p>
                <a:r>
                  <a:rPr lang="en-SG" sz="900" b="1" dirty="0"/>
                  <a:t>Key Limitation</a:t>
                </a:r>
              </a:p>
              <a:p>
                <a:r>
                  <a:rPr lang="en-SG" sz="900" dirty="0"/>
                  <a:t>No personalization (global ranking only).</a:t>
                </a:r>
              </a:p>
            </p:txBody>
          </p:sp>
        </mc:Choice>
        <mc:Fallback>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1908" y="1828917"/>
                <a:ext cx="2354444" cy="2308324"/>
              </a:xfrm>
              <a:prstGeom prst="rect">
                <a:avLst/>
              </a:prstGeom>
              <a:blipFill>
                <a:blip r:embed="rId2"/>
                <a:stretch>
                  <a:fillRect b="-264"/>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2576122122"/>
              </p:ext>
            </p:extLst>
          </p:nvPr>
        </p:nvGraphicFramePr>
        <p:xfrm>
          <a:off x="233313" y="4665857"/>
          <a:ext cx="4853039" cy="1965960"/>
        </p:xfrm>
        <a:graphic>
          <a:graphicData uri="http://schemas.openxmlformats.org/drawingml/2006/table">
            <a:tbl>
              <a:tblPr firstRow="1" bandRow="1">
                <a:tableStyleId>{5C22544A-7EE6-4342-B048-85BDC9FD1C3A}</a:tableStyleId>
              </a:tblPr>
              <a:tblGrid>
                <a:gridCol w="1369646">
                  <a:extLst>
                    <a:ext uri="{9D8B030D-6E8A-4147-A177-3AD203B41FA5}">
                      <a16:colId xmlns:a16="http://schemas.microsoft.com/office/drawing/2014/main" val="4060743706"/>
                    </a:ext>
                  </a:extLst>
                </a:gridCol>
                <a:gridCol w="1369646">
                  <a:extLst>
                    <a:ext uri="{9D8B030D-6E8A-4147-A177-3AD203B41FA5}">
                      <a16:colId xmlns:a16="http://schemas.microsoft.com/office/drawing/2014/main" val="515727559"/>
                    </a:ext>
                  </a:extLst>
                </a:gridCol>
                <a:gridCol w="2113747">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rgbClr val="FF0000"/>
                          </a:solidFill>
                          <a:effectLst/>
                          <a:uLnTx/>
                          <a:uFillTx/>
                          <a:latin typeface="+mn-lt"/>
                          <a:ea typeface="+mn-ea"/>
                          <a:cs typeface="+mn-cs"/>
                        </a:rPr>
                        <a:t>X</a:t>
                      </a:r>
                      <a:endParaRPr kumimoji="0" lang="en-SG" sz="9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rgbClr val="FF0000"/>
                          </a:solidFill>
                          <a:effectLst/>
                          <a:uLnTx/>
                          <a:uFillTx/>
                          <a:latin typeface="+mn-lt"/>
                          <a:ea typeface="+mn-ea"/>
                          <a:cs typeface="+mn-cs"/>
                        </a:rPr>
                        <a:t>X</a:t>
                      </a:r>
                      <a:endParaRPr kumimoji="0" lang="en-SG" sz="9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87EB407-9A19-5C20-3542-FAC00F9F2D80}"/>
                  </a:ext>
                </a:extLst>
              </p:cNvPr>
              <p:cNvSpPr txBox="1"/>
              <p:nvPr/>
            </p:nvSpPr>
            <p:spPr>
              <a:xfrm>
                <a:off x="5313185" y="1844040"/>
                <a:ext cx="3299554" cy="4108817"/>
              </a:xfrm>
              <a:prstGeom prst="rect">
                <a:avLst/>
              </a:prstGeom>
              <a:solidFill>
                <a:schemeClr val="accent6">
                  <a:lumMod val="20000"/>
                  <a:lumOff val="80000"/>
                </a:schemeClr>
              </a:solidFill>
            </p:spPr>
            <p:txBody>
              <a:bodyPr wrap="square">
                <a:spAutoFit/>
              </a:bodyPr>
              <a:lstStyle/>
              <a:p>
                <a:r>
                  <a:rPr lang="en-SG" sz="900" b="1" u="sng" dirty="0"/>
                  <a:t>Matrix Factorization (MF); Latent Collaborative Filtering (CF)</a:t>
                </a:r>
              </a:p>
              <a:p>
                <a:endParaRPr lang="en-SG" sz="900" b="1" i="1" u="sng" dirty="0">
                  <a:latin typeface="Cambria Math" panose="02040503050406030204" pitchFamily="18" charset="0"/>
                </a:endParaRPr>
              </a:p>
              <a:p>
                <a:r>
                  <a:rPr lang="en-SG" sz="900" b="1" dirty="0"/>
                  <a:t>Core Idea</a:t>
                </a:r>
              </a:p>
              <a:p>
                <a:r>
                  <a:rPr lang="en-SG" sz="900" dirty="0"/>
                  <a:t>Factorize sparse interaction matrix:</a:t>
                </a:r>
              </a:p>
              <a:p>
                <a:pPr/>
                <a14:m>
                  <m:oMathPara xmlns:m="http://schemas.openxmlformats.org/officeDocument/2006/math">
                    <m:oMathParaPr>
                      <m:jc m:val="centerGroup"/>
                    </m:oMathParaPr>
                    <m:oMath xmlns:m="http://schemas.openxmlformats.org/officeDocument/2006/math">
                      <m:r>
                        <a:rPr lang="en-SG" sz="900" b="0" i="1" smtClean="0">
                          <a:latin typeface="Cambria Math" panose="02040503050406030204" pitchFamily="18" charset="0"/>
                        </a:rPr>
                        <m:t>𝑅</m:t>
                      </m:r>
                      <m:r>
                        <a:rPr lang="en-SG" sz="900" i="1" smtClean="0">
                          <a:latin typeface="Cambria Math" panose="02040503050406030204" pitchFamily="18" charset="0"/>
                          <a:ea typeface="Cambria Math" panose="02040503050406030204" pitchFamily="18" charset="0"/>
                        </a:rPr>
                        <m:t>≈</m:t>
                      </m:r>
                      <m:r>
                        <a:rPr lang="en-SG" sz="900" b="0" i="1" smtClean="0">
                          <a:latin typeface="Cambria Math" panose="02040503050406030204" pitchFamily="18" charset="0"/>
                        </a:rPr>
                        <m:t>𝑈</m:t>
                      </m:r>
                      <m:sSup>
                        <m:sSupPr>
                          <m:ctrlPr>
                            <a:rPr lang="en-SG" sz="900" b="0" i="1" smtClean="0">
                              <a:latin typeface="Cambria Math" panose="02040503050406030204" pitchFamily="18" charset="0"/>
                            </a:rPr>
                          </m:ctrlPr>
                        </m:sSupPr>
                        <m:e>
                          <m:r>
                            <a:rPr lang="en-SG" sz="900" b="0" i="1" smtClean="0">
                              <a:latin typeface="Cambria Math" panose="02040503050406030204" pitchFamily="18" charset="0"/>
                            </a:rPr>
                            <m:t>𝑉</m:t>
                          </m:r>
                        </m:e>
                        <m:sup>
                          <m:r>
                            <a:rPr lang="en-SG" sz="900" b="0" i="1" smtClean="0">
                              <a:latin typeface="Cambria Math" panose="02040503050406030204" pitchFamily="18" charset="0"/>
                            </a:rPr>
                            <m:t>𝑇</m:t>
                          </m:r>
                        </m:sup>
                      </m:sSup>
                    </m:oMath>
                  </m:oMathPara>
                </a14:m>
                <a:endParaRPr lang="en-SG" sz="900" b="1" dirty="0"/>
              </a:p>
              <a:p>
                <a14:m>
                  <m:oMath xmlns:m="http://schemas.openxmlformats.org/officeDocument/2006/math">
                    <m:sSub>
                      <m:sSubPr>
                        <m:ctrlPr>
                          <a:rPr lang="en-SG" sz="900" b="1" i="1" smtClean="0">
                            <a:latin typeface="Cambria Math" panose="02040503050406030204" pitchFamily="18" charset="0"/>
                          </a:rPr>
                        </m:ctrlPr>
                      </m:sSubPr>
                      <m:e>
                        <m:r>
                          <a:rPr lang="en-SG" sz="900" b="1" i="1" smtClean="0">
                            <a:latin typeface="Cambria Math" panose="02040503050406030204" pitchFamily="18" charset="0"/>
                          </a:rPr>
                          <m:t>𝑼</m:t>
                        </m:r>
                      </m:e>
                      <m:sub>
                        <m:r>
                          <a:rPr lang="en-SG" sz="900" b="1" i="1" smtClean="0">
                            <a:latin typeface="Cambria Math" panose="02040503050406030204" pitchFamily="18" charset="0"/>
                          </a:rPr>
                          <m:t>𝑼</m:t>
                        </m:r>
                      </m:sub>
                    </m:sSub>
                    <m:r>
                      <a:rPr lang="en-SG" sz="900" b="1" i="1" smtClean="0">
                        <a:latin typeface="Cambria Math" panose="02040503050406030204" pitchFamily="18" charset="0"/>
                      </a:rPr>
                      <m:t>:</m:t>
                    </m:r>
                    <m:r>
                      <a:rPr lang="en-SG" sz="900" b="0" i="1" smtClean="0">
                        <a:latin typeface="Cambria Math" panose="02040503050406030204" pitchFamily="18" charset="0"/>
                      </a:rPr>
                      <m:t>𝑢𝑠𝑒𝑟</m:t>
                    </m:r>
                    <m:r>
                      <a:rPr lang="en-SG" sz="900" b="0" i="1" smtClean="0">
                        <a:latin typeface="Cambria Math" panose="02040503050406030204" pitchFamily="18" charset="0"/>
                      </a:rPr>
                      <m:t> </m:t>
                    </m:r>
                    <m:r>
                      <a:rPr lang="en-SG" sz="900" b="0" i="1" smtClean="0">
                        <a:latin typeface="Cambria Math" panose="02040503050406030204" pitchFamily="18" charset="0"/>
                      </a:rPr>
                      <m:t>𝑙𝑎𝑡𝑒𝑛𝑡</m:t>
                    </m:r>
                    <m:r>
                      <a:rPr lang="en-SG" sz="900" b="0" i="1" smtClean="0">
                        <a:latin typeface="Cambria Math" panose="02040503050406030204" pitchFamily="18" charset="0"/>
                      </a:rPr>
                      <m:t> </m:t>
                    </m:r>
                    <m:r>
                      <a:rPr lang="en-SG" sz="900" b="0" i="1" smtClean="0">
                        <a:latin typeface="Cambria Math" panose="02040503050406030204" pitchFamily="18" charset="0"/>
                      </a:rPr>
                      <m:t>𝑣𝑒𝑐𝑡𝑜𝑟</m:t>
                    </m:r>
                    <m:r>
                      <m:rPr>
                        <m:nor/>
                      </m:rPr>
                      <a:rPr lang="en-SG" sz="900" i="1" dirty="0">
                        <a:latin typeface="Cambria Math" panose="02040503050406030204" pitchFamily="18" charset="0"/>
                      </a:rPr>
                      <m:t>(</m:t>
                    </m:r>
                    <m:r>
                      <m:rPr>
                        <m:nor/>
                      </m:rPr>
                      <a:rPr lang="en-SG" sz="900" i="1" dirty="0">
                        <a:latin typeface="Cambria Math" panose="02040503050406030204" pitchFamily="18" charset="0"/>
                      </a:rPr>
                      <m:t>embeddings</m:t>
                    </m:r>
                    <m:r>
                      <m:rPr>
                        <m:nor/>
                      </m:rPr>
                      <a:rPr lang="en-SG" sz="900" i="1" dirty="0">
                        <a:latin typeface="Cambria Math" panose="02040503050406030204" pitchFamily="18" charset="0"/>
                      </a:rPr>
                      <m:t>)</m:t>
                    </m:r>
                  </m:oMath>
                </a14:m>
                <a:r>
                  <a:rPr lang="en-SG" sz="9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900" b="1" i="1">
                              <a:latin typeface="Cambria Math" panose="02040503050406030204" pitchFamily="18" charset="0"/>
                            </a:rPr>
                          </m:ctrlPr>
                        </m:sSubPr>
                        <m:e>
                          <m:r>
                            <a:rPr lang="en-SG" sz="900" b="1" i="1" smtClean="0">
                              <a:latin typeface="Cambria Math" panose="02040503050406030204" pitchFamily="18" charset="0"/>
                            </a:rPr>
                            <m:t>𝑽</m:t>
                          </m:r>
                        </m:e>
                        <m:sub>
                          <m:r>
                            <a:rPr lang="en-SG" sz="900" b="1" i="1">
                              <a:latin typeface="Cambria Math" panose="02040503050406030204" pitchFamily="18" charset="0"/>
                            </a:rPr>
                            <m:t>𝑼</m:t>
                          </m:r>
                        </m:sub>
                      </m:sSub>
                      <m:r>
                        <a:rPr lang="en-SG" sz="900" b="1" i="1">
                          <a:latin typeface="Cambria Math" panose="02040503050406030204" pitchFamily="18" charset="0"/>
                        </a:rPr>
                        <m:t>:</m:t>
                      </m:r>
                      <m:r>
                        <a:rPr lang="en-SG" sz="900" b="0" i="1" smtClean="0">
                          <a:latin typeface="Cambria Math" panose="02040503050406030204" pitchFamily="18" charset="0"/>
                        </a:rPr>
                        <m:t>𝑖𝑡𝑒𝑚</m:t>
                      </m:r>
                      <m:r>
                        <a:rPr lang="en-SG" sz="900" i="1">
                          <a:latin typeface="Cambria Math" panose="02040503050406030204" pitchFamily="18" charset="0"/>
                        </a:rPr>
                        <m:t> </m:t>
                      </m:r>
                      <m:r>
                        <a:rPr lang="en-SG" sz="900" i="1">
                          <a:latin typeface="Cambria Math" panose="02040503050406030204" pitchFamily="18" charset="0"/>
                        </a:rPr>
                        <m:t>𝑙𝑎𝑡𝑒𝑛𝑡</m:t>
                      </m:r>
                      <m:r>
                        <a:rPr lang="en-SG" sz="900" i="1">
                          <a:latin typeface="Cambria Math" panose="02040503050406030204" pitchFamily="18" charset="0"/>
                        </a:rPr>
                        <m:t> </m:t>
                      </m:r>
                      <m:r>
                        <a:rPr lang="en-SG" sz="900" i="1">
                          <a:latin typeface="Cambria Math" panose="02040503050406030204" pitchFamily="18" charset="0"/>
                        </a:rPr>
                        <m:t>𝑣𝑒𝑐𝑡𝑜𝑟</m:t>
                      </m:r>
                      <m:r>
                        <m:rPr>
                          <m:nor/>
                        </m:rPr>
                        <a:rPr lang="en-SG" sz="900" i="1" dirty="0">
                          <a:latin typeface="Cambria Math" panose="02040503050406030204" pitchFamily="18" charset="0"/>
                        </a:rPr>
                        <m:t>(</m:t>
                      </m:r>
                      <m:r>
                        <m:rPr>
                          <m:nor/>
                        </m:rPr>
                        <a:rPr lang="en-SG" sz="900" i="1" dirty="0">
                          <a:latin typeface="Cambria Math" panose="02040503050406030204" pitchFamily="18" charset="0"/>
                        </a:rPr>
                        <m:t>embeddings</m:t>
                      </m:r>
                      <m:r>
                        <m:rPr>
                          <m:nor/>
                        </m:rPr>
                        <a:rPr lang="en-SG" sz="900" i="1" dirty="0">
                          <a:latin typeface="Cambria Math" panose="02040503050406030204" pitchFamily="18" charset="0"/>
                        </a:rPr>
                        <m:t>); (</m:t>
                      </m:r>
                      <m:r>
                        <m:rPr>
                          <m:nor/>
                        </m:rPr>
                        <a:rPr lang="en-SG" sz="900" b="0" i="1" dirty="0" smtClean="0">
                          <a:latin typeface="Cambria Math" panose="02040503050406030204" pitchFamily="18" charset="0"/>
                        </a:rPr>
                        <m:t>items</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x</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k</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shape</m:t>
                      </m:r>
                    </m:oMath>
                  </m:oMathPara>
                </a14:m>
                <a:endParaRPr lang="en-SG" sz="900" i="1" dirty="0">
                  <a:latin typeface="Cambria Math" panose="02040503050406030204" pitchFamily="18" charset="0"/>
                </a:endParaRPr>
              </a:p>
              <a:p>
                <a14:m>
                  <m:oMath xmlns:m="http://schemas.openxmlformats.org/officeDocument/2006/math">
                    <m:r>
                      <a:rPr lang="en-SG" sz="900" b="1" i="1" smtClean="0">
                        <a:latin typeface="Cambria Math" panose="02040503050406030204" pitchFamily="18" charset="0"/>
                      </a:rPr>
                      <m:t>𝑹</m:t>
                    </m:r>
                    <m:r>
                      <a:rPr lang="en-SG" sz="900" b="1" i="1">
                        <a:latin typeface="Cambria Math" panose="02040503050406030204" pitchFamily="18" charset="0"/>
                      </a:rPr>
                      <m:t>:</m:t>
                    </m:r>
                  </m:oMath>
                </a14:m>
                <a:r>
                  <a:rPr lang="en-SG" sz="9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𝒌</m:t>
                      </m:r>
                      <m:r>
                        <a:rPr lang="en-SG" sz="900" b="1" i="1">
                          <a:latin typeface="Cambria Math" panose="02040503050406030204" pitchFamily="18" charset="0"/>
                        </a:rPr>
                        <m:t>:</m:t>
                      </m:r>
                      <m:r>
                        <a:rPr lang="en-SG" sz="900" b="0" i="1" smtClean="0">
                          <a:latin typeface="Cambria Math" panose="02040503050406030204" pitchFamily="18" charset="0"/>
                        </a:rPr>
                        <m:t>𝑒𝑚𝑏𝑒𝑑𝑑𝑖𝑛𝑔</m:t>
                      </m:r>
                      <m:r>
                        <a:rPr lang="en-SG" sz="900" b="0" i="1" smtClean="0">
                          <a:latin typeface="Cambria Math" panose="02040503050406030204" pitchFamily="18" charset="0"/>
                        </a:rPr>
                        <m:t> </m:t>
                      </m:r>
                      <m:r>
                        <a:rPr lang="en-SG" sz="900" b="0" i="1" smtClean="0">
                          <a:latin typeface="Cambria Math" panose="02040503050406030204" pitchFamily="18" charset="0"/>
                        </a:rPr>
                        <m:t>𝑠𝑖𝑧𝑒</m:t>
                      </m:r>
                    </m:oMath>
                  </m:oMathPara>
                </a14:m>
                <a:endParaRPr lang="en-SG" sz="900" dirty="0"/>
              </a:p>
              <a:p>
                <a:endParaRPr lang="en-SG" sz="900" dirty="0"/>
              </a:p>
              <a:p>
                <a:r>
                  <a:rPr lang="en-SG" sz="900" dirty="0"/>
                  <a:t>Implemented via TruncatedSVD (computes top-k singular vectors for low-rank approximation). Full-rank = min(#users, #items); MF constraints rank to k </a:t>
                </a:r>
                <a14:m>
                  <m:oMath xmlns:m="http://schemas.openxmlformats.org/officeDocument/2006/math">
                    <m:r>
                      <a:rPr lang="en-SG" sz="900" i="1" smtClean="0">
                        <a:latin typeface="Cambria Math" panose="02040503050406030204" pitchFamily="18" charset="0"/>
                        <a:ea typeface="Cambria Math" panose="02040503050406030204" pitchFamily="18" charset="0"/>
                      </a:rPr>
                      <m:t>≪</m:t>
                    </m:r>
                  </m:oMath>
                </a14:m>
                <a:r>
                  <a:rPr lang="en-SG" sz="900" dirty="0"/>
                  <a:t> full rank.</a:t>
                </a: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i="1">
                          <a:latin typeface="Cambria Math" panose="02040503050406030204" pitchFamily="18" charset="0"/>
                        </a:rPr>
                        <m:t>𝑠𝑐𝑜𝑟𝑒</m:t>
                      </m:r>
                      <m:r>
                        <a:rPr lang="en-SG" sz="900" i="1">
                          <a:latin typeface="Cambria Math" panose="02040503050406030204" pitchFamily="18" charset="0"/>
                        </a:rPr>
                        <m:t>(</m:t>
                      </m:r>
                      <m:r>
                        <a:rPr lang="en-SG" sz="900" b="0" i="1" smtClean="0">
                          <a:latin typeface="Cambria Math" panose="02040503050406030204" pitchFamily="18" charset="0"/>
                        </a:rPr>
                        <m:t>𝑢</m:t>
                      </m:r>
                      <m:r>
                        <a:rPr lang="en-SG" sz="900" b="0" i="1" smtClean="0">
                          <a:latin typeface="Cambria Math" panose="02040503050406030204" pitchFamily="18" charset="0"/>
                        </a:rPr>
                        <m:t>, </m:t>
                      </m:r>
                      <m:r>
                        <a:rPr lang="en-SG" sz="900" i="1">
                          <a:latin typeface="Cambria Math" panose="02040503050406030204" pitchFamily="18" charset="0"/>
                        </a:rPr>
                        <m:t>𝑖</m:t>
                      </m:r>
                      <m:r>
                        <a:rPr lang="en-SG" sz="900" i="1">
                          <a:latin typeface="Cambria Math" panose="02040503050406030204" pitchFamily="18" charset="0"/>
                        </a:rPr>
                        <m:t>)=</m:t>
                      </m:r>
                      <m:sSub>
                        <m:sSubPr>
                          <m:ctrlPr>
                            <a:rPr lang="en-SG" sz="900" i="1" smtClean="0">
                              <a:latin typeface="Cambria Math" panose="02040503050406030204" pitchFamily="18" charset="0"/>
                            </a:rPr>
                          </m:ctrlPr>
                        </m:sSubPr>
                        <m:e>
                          <m:r>
                            <a:rPr lang="en-SG" sz="900" b="0" i="1" smtClean="0">
                              <a:latin typeface="Cambria Math" panose="02040503050406030204" pitchFamily="18" charset="0"/>
                            </a:rPr>
                            <m:t>𝑈</m:t>
                          </m:r>
                        </m:e>
                        <m:sub>
                          <m:r>
                            <a:rPr lang="en-SG" sz="900" b="0" i="1" smtClean="0">
                              <a:latin typeface="Cambria Math" panose="02040503050406030204" pitchFamily="18" charset="0"/>
                            </a:rPr>
                            <m:t>𝑢</m:t>
                          </m:r>
                        </m:sub>
                      </m:sSub>
                      <m:r>
                        <a:rPr lang="en-SG" sz="900" i="1" smtClean="0">
                          <a:latin typeface="Cambria Math" panose="02040503050406030204" pitchFamily="18" charset="0"/>
                          <a:ea typeface="Cambria Math" panose="02040503050406030204" pitchFamily="18" charset="0"/>
                        </a:rPr>
                        <m:t>∙</m:t>
                      </m:r>
                      <m:sSub>
                        <m:sSubPr>
                          <m:ctrlPr>
                            <a:rPr lang="en-SG" sz="900" i="1">
                              <a:latin typeface="Cambria Math" panose="02040503050406030204" pitchFamily="18" charset="0"/>
                            </a:rPr>
                          </m:ctrlPr>
                        </m:sSubPr>
                        <m:e>
                          <m:r>
                            <a:rPr lang="en-SG" sz="900" b="0" i="1" smtClean="0">
                              <a:latin typeface="Cambria Math" panose="02040503050406030204" pitchFamily="18" charset="0"/>
                            </a:rPr>
                            <m:t>𝑉</m:t>
                          </m:r>
                        </m:e>
                        <m:sub>
                          <m:r>
                            <a:rPr lang="en-SG" sz="900" b="0" i="1" smtClean="0">
                              <a:latin typeface="Cambria Math" panose="02040503050406030204" pitchFamily="18" charset="0"/>
                            </a:rPr>
                            <m:t>𝑖</m:t>
                          </m:r>
                        </m:sub>
                      </m:sSub>
                    </m:oMath>
                  </m:oMathPara>
                </a14:m>
                <a:endParaRPr lang="en-SG" sz="900" b="1" dirty="0"/>
              </a:p>
              <a:p>
                <a:endParaRPr lang="en-SG" sz="900" dirty="0"/>
              </a:p>
              <a:p>
                <a:r>
                  <a:rPr lang="en-SG" sz="900" b="1" dirty="0"/>
                  <a:t>What This Means</a:t>
                </a:r>
              </a:p>
              <a:p>
                <a:pPr marL="171450" indent="-171450">
                  <a:buFont typeface="Wingdings" panose="05000000000000000000" pitchFamily="2" charset="2"/>
                  <a:buChar char="Ø"/>
                </a:pPr>
                <a:r>
                  <a:rPr lang="en-SG" sz="900" dirty="0"/>
                  <a:t>Personalized ranking</a:t>
                </a:r>
              </a:p>
              <a:p>
                <a:pPr marL="171450" indent="-171450">
                  <a:buFont typeface="Wingdings" panose="05000000000000000000" pitchFamily="2" charset="2"/>
                  <a:buChar char="Ø"/>
                </a:pPr>
                <a:r>
                  <a:rPr lang="en-SG" sz="900" dirty="0"/>
                  <a:t>Based on shared latent factors</a:t>
                </a:r>
              </a:p>
              <a:p>
                <a:pPr marL="171450" indent="-171450">
                  <a:buFont typeface="Wingdings" panose="05000000000000000000" pitchFamily="2" charset="2"/>
                  <a:buChar char="Ø"/>
                </a:pPr>
                <a:r>
                  <a:rPr lang="en-SG" sz="900" dirty="0"/>
                  <a:t>Learned from co-interaction</a:t>
                </a:r>
                <a:endParaRPr lang="en-SG" sz="900" b="1" dirty="0"/>
              </a:p>
              <a:p>
                <a:endParaRPr lang="en-SG" sz="900" b="1" dirty="0"/>
              </a:p>
              <a:p>
                <a:r>
                  <a:rPr lang="en-SG" sz="900" b="1" dirty="0"/>
                  <a:t>Key Limitation</a:t>
                </a:r>
              </a:p>
              <a:p>
                <a:r>
                  <a:rPr lang="en-SG" sz="900" dirty="0"/>
                  <a:t>Assumes linear low-rank structure which has limited expressiveness vs neural models </a:t>
                </a:r>
                <a:r>
                  <a:rPr lang="en-SG" sz="900" b="1" dirty="0"/>
                  <a:t>(but can be a strength because it is a stable low-complexity model with less noise when compared to neural training).</a:t>
                </a:r>
              </a:p>
              <a:p>
                <a:endParaRPr lang="en-SG" sz="900" b="1" dirty="0"/>
              </a:p>
            </p:txBody>
          </p:sp>
        </mc:Choice>
        <mc:Fallback>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5313185" y="1844040"/>
                <a:ext cx="3299554" cy="4108817"/>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E46001F-9023-0651-BB03-40CAF7BCAC84}"/>
                  </a:ext>
                </a:extLst>
              </p:cNvPr>
              <p:cNvSpPr txBox="1"/>
              <p:nvPr/>
            </p:nvSpPr>
            <p:spPr>
              <a:xfrm>
                <a:off x="8705850" y="1844040"/>
                <a:ext cx="3400424" cy="4004558"/>
              </a:xfrm>
              <a:prstGeom prst="rect">
                <a:avLst/>
              </a:prstGeom>
              <a:solidFill>
                <a:schemeClr val="accent6">
                  <a:lumMod val="20000"/>
                  <a:lumOff val="80000"/>
                </a:schemeClr>
              </a:solidFill>
            </p:spPr>
            <p:txBody>
              <a:bodyPr wrap="square">
                <a:spAutoFit/>
              </a:bodyPr>
              <a:lstStyle/>
              <a:p>
                <a:r>
                  <a:rPr lang="en-SG" sz="900" b="1" u="sng" dirty="0"/>
                  <a:t>Two-Tower Neural Retrieval</a:t>
                </a:r>
              </a:p>
              <a:p>
                <a:endParaRPr lang="en-SG" sz="900" b="1" i="1" u="sng" dirty="0">
                  <a:latin typeface="Cambria Math" panose="02040503050406030204" pitchFamily="18" charset="0"/>
                </a:endParaRPr>
              </a:p>
              <a:p>
                <a:r>
                  <a:rPr lang="en-SG" sz="900" b="1" dirty="0"/>
                  <a:t>Core Idea</a:t>
                </a:r>
              </a:p>
              <a:p>
                <a:r>
                  <a:rPr lang="en-SG" sz="900" dirty="0"/>
                  <a:t>Generalizes MF with learned neural parameterization.</a:t>
                </a:r>
              </a:p>
              <a:p>
                <a:endParaRPr lang="en-SG" sz="900" b="1" dirty="0"/>
              </a:p>
              <a:p>
                <a:r>
                  <a:rPr lang="en-SG" sz="900" dirty="0"/>
                  <a:t>Learn embeddings via supervised contrastive training (User Tower, Item Tower).</a:t>
                </a: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i="1">
                          <a:latin typeface="Cambria Math" panose="02040503050406030204" pitchFamily="18" charset="0"/>
                        </a:rPr>
                        <m:t>𝑙𝑜𝑔𝑖𝑡</m:t>
                      </m:r>
                      <m:r>
                        <a:rPr lang="en-SG" sz="900" i="1">
                          <a:latin typeface="Cambria Math" panose="02040503050406030204" pitchFamily="18" charset="0"/>
                        </a:rPr>
                        <m:t> </m:t>
                      </m:r>
                      <m:r>
                        <a:rPr lang="en-SG" sz="900" i="1">
                          <a:latin typeface="Cambria Math" panose="02040503050406030204" pitchFamily="18" charset="0"/>
                        </a:rPr>
                        <m:t>𝑠𝑐𝑜𝑟𝑒</m:t>
                      </m:r>
                      <m:d>
                        <m:dPr>
                          <m:ctrlPr>
                            <a:rPr lang="en-SG" sz="900" i="1">
                              <a:latin typeface="Cambria Math" panose="02040503050406030204" pitchFamily="18" charset="0"/>
                            </a:rPr>
                          </m:ctrlPr>
                        </m:dPr>
                        <m:e>
                          <m:r>
                            <a:rPr lang="en-SG" sz="900" b="0" i="1" smtClean="0">
                              <a:latin typeface="Cambria Math" panose="02040503050406030204" pitchFamily="18" charset="0"/>
                            </a:rPr>
                            <m:t>𝑢</m:t>
                          </m:r>
                          <m:r>
                            <a:rPr lang="en-SG" sz="900" b="0" i="1" smtClean="0">
                              <a:latin typeface="Cambria Math" panose="02040503050406030204" pitchFamily="18" charset="0"/>
                            </a:rPr>
                            <m:t>,</m:t>
                          </m:r>
                          <m:r>
                            <a:rPr lang="en-SG" sz="900" b="0" i="1" smtClean="0">
                              <a:latin typeface="Cambria Math" panose="02040503050406030204" pitchFamily="18" charset="0"/>
                            </a:rPr>
                            <m:t>𝑖</m:t>
                          </m:r>
                        </m:e>
                      </m:d>
                      <m:r>
                        <a:rPr lang="en-SG" sz="900" i="1">
                          <a:latin typeface="Cambria Math" panose="02040503050406030204" pitchFamily="18" charset="0"/>
                        </a:rPr>
                        <m:t>=</m:t>
                      </m:r>
                      <m:acc>
                        <m:accPr>
                          <m:chr m:val="̂"/>
                          <m:ctrlPr>
                            <a:rPr lang="en-SG" sz="900" i="1">
                              <a:latin typeface="Cambria Math" panose="02040503050406030204" pitchFamily="18" charset="0"/>
                            </a:rPr>
                          </m:ctrlPr>
                        </m:accPr>
                        <m:e>
                          <m:r>
                            <a:rPr lang="en-SG" sz="900" i="1">
                              <a:latin typeface="Cambria Math" panose="02040503050406030204" pitchFamily="18" charset="0"/>
                            </a:rPr>
                            <m:t>𝑢</m:t>
                          </m:r>
                        </m:e>
                      </m:acc>
                      <m:r>
                        <a:rPr lang="en-SG" sz="900" i="1">
                          <a:latin typeface="Cambria Math" panose="02040503050406030204" pitchFamily="18" charset="0"/>
                          <a:ea typeface="Cambria Math" panose="02040503050406030204" pitchFamily="18" charset="0"/>
                        </a:rPr>
                        <m:t>⋅</m:t>
                      </m:r>
                      <m:acc>
                        <m:accPr>
                          <m:chr m:val="̂"/>
                          <m:ctrlPr>
                            <a:rPr lang="en-SG" sz="900" i="1">
                              <a:latin typeface="Cambria Math" panose="02040503050406030204" pitchFamily="18" charset="0"/>
                            </a:rPr>
                          </m:ctrlPr>
                        </m:accPr>
                        <m:e>
                          <m:r>
                            <a:rPr lang="en-SG" sz="900" i="1">
                              <a:latin typeface="Cambria Math" panose="02040503050406030204" pitchFamily="18" charset="0"/>
                            </a:rPr>
                            <m:t>𝑣</m:t>
                          </m:r>
                        </m:e>
                      </m:acc>
                    </m:oMath>
                  </m:oMathPara>
                </a14:m>
                <a:endParaRPr lang="en-SG" sz="9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𝒍𝒐𝒈𝒊𝒕</m:t>
                      </m:r>
                      <m:r>
                        <a:rPr lang="en-SG" sz="900" b="1" i="1" smtClean="0">
                          <a:latin typeface="Cambria Math" panose="02040503050406030204" pitchFamily="18" charset="0"/>
                        </a:rPr>
                        <m:t> </m:t>
                      </m:r>
                      <m:r>
                        <a:rPr lang="en-SG" sz="900" b="1" i="1" smtClean="0">
                          <a:latin typeface="Cambria Math" panose="02040503050406030204" pitchFamily="18" charset="0"/>
                        </a:rPr>
                        <m:t>𝒔𝒄𝒐𝒓𝒆</m:t>
                      </m:r>
                      <m:r>
                        <a:rPr lang="en-SG" sz="900" b="1" i="1" smtClean="0">
                          <a:latin typeface="Cambria Math" panose="02040503050406030204" pitchFamily="18" charset="0"/>
                        </a:rPr>
                        <m:t>:</m:t>
                      </m:r>
                      <m:r>
                        <a:rPr lang="en-SG" sz="900" i="1">
                          <a:latin typeface="Cambria Math" panose="02040503050406030204" pitchFamily="18" charset="0"/>
                        </a:rPr>
                        <m:t>𝐿</m:t>
                      </m:r>
                      <m:r>
                        <a:rPr lang="en-SG" sz="900" i="1">
                          <a:latin typeface="Cambria Math" panose="02040503050406030204" pitchFamily="18" charset="0"/>
                        </a:rPr>
                        <m:t>2−</m:t>
                      </m:r>
                      <m:r>
                        <a:rPr lang="en-SG" sz="900" i="1">
                          <a:latin typeface="Cambria Math" panose="02040503050406030204" pitchFamily="18" charset="0"/>
                        </a:rPr>
                        <m:t>𝑛𝑜𝑟𝑚𝑎𝑙𝑖𝑧𝑒𝑑</m:t>
                      </m:r>
                      <m:r>
                        <a:rPr lang="en-SG" sz="900" i="1">
                          <a:latin typeface="Cambria Math" panose="02040503050406030204" pitchFamily="18" charset="0"/>
                        </a:rPr>
                        <m:t> </m:t>
                      </m:r>
                      <m:r>
                        <a:rPr lang="en-SG" sz="900" i="1">
                          <a:latin typeface="Cambria Math" panose="02040503050406030204" pitchFamily="18" charset="0"/>
                        </a:rPr>
                        <m:t>𝑐𝑜𝑠𝑖𝑛𝑒</m:t>
                      </m:r>
                      <m:r>
                        <a:rPr lang="en-SG" sz="900" i="1">
                          <a:latin typeface="Cambria Math" panose="02040503050406030204" pitchFamily="18" charset="0"/>
                        </a:rPr>
                        <m:t>−</m:t>
                      </m:r>
                      <m:r>
                        <a:rPr lang="en-SG" sz="900" i="1">
                          <a:latin typeface="Cambria Math" panose="02040503050406030204" pitchFamily="18" charset="0"/>
                        </a:rPr>
                        <m:t>𝑠𝑡𝑦𝑙𝑒</m:t>
                      </m:r>
                      <m:r>
                        <a:rPr lang="en-SG" sz="900" i="1">
                          <a:latin typeface="Cambria Math" panose="02040503050406030204" pitchFamily="18" charset="0"/>
                        </a:rPr>
                        <m:t> </m:t>
                      </m:r>
                      <m:r>
                        <a:rPr lang="en-SG" sz="900" i="1">
                          <a:latin typeface="Cambria Math" panose="02040503050406030204" pitchFamily="18" charset="0"/>
                        </a:rPr>
                        <m:t>𝑑𝑜𝑡</m:t>
                      </m:r>
                      <m:r>
                        <a:rPr lang="en-SG" sz="900" i="1">
                          <a:latin typeface="Cambria Math" panose="02040503050406030204" pitchFamily="18" charset="0"/>
                        </a:rPr>
                        <m:t> </m:t>
                      </m:r>
                      <m:r>
                        <a:rPr lang="en-SG" sz="900" i="1">
                          <a:latin typeface="Cambria Math" panose="02040503050406030204" pitchFamily="18" charset="0"/>
                        </a:rPr>
                        <m:t>𝑝𝑟𝑜𝑑𝑢𝑐𝑡</m:t>
                      </m:r>
                    </m:oMath>
                  </m:oMathPara>
                </a14:m>
                <a:endParaRPr lang="en-SG" sz="900" i="1" dirty="0">
                  <a:latin typeface="Cambria Math" panose="02040503050406030204" pitchFamily="18" charset="0"/>
                </a:endParaRPr>
              </a:p>
              <a:p>
                <a:endParaRPr lang="en-SG" sz="9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b="1" i="1" smtClean="0">
                          <a:latin typeface="Cambria Math" panose="02040503050406030204" pitchFamily="18" charset="0"/>
                        </a:rPr>
                        <m:t>𝑻𝒓𝒂𝒊𝒏𝒊𝒏𝒈</m:t>
                      </m:r>
                      <m:r>
                        <a:rPr lang="en-SG" sz="900" b="1" i="1" smtClean="0">
                          <a:latin typeface="Cambria Math" panose="02040503050406030204" pitchFamily="18" charset="0"/>
                        </a:rPr>
                        <m:t> </m:t>
                      </m:r>
                      <m:r>
                        <a:rPr lang="en-SG" sz="900" b="1" i="1" smtClean="0">
                          <a:latin typeface="Cambria Math" panose="02040503050406030204" pitchFamily="18" charset="0"/>
                        </a:rPr>
                        <m:t>𝒐𝒏𝒍𝒚</m:t>
                      </m:r>
                      <m:r>
                        <a:rPr lang="en-SG" sz="900" b="1" i="1" smtClean="0">
                          <a:latin typeface="Cambria Math" panose="02040503050406030204" pitchFamily="18" charset="0"/>
                        </a:rPr>
                        <m:t>: </m:t>
                      </m:r>
                      <m:r>
                        <a:rPr lang="en-SG" sz="900" b="0" i="1" smtClean="0">
                          <a:latin typeface="Cambria Math" panose="02040503050406030204" pitchFamily="18" charset="0"/>
                        </a:rPr>
                        <m:t>𝑠𝑜𝑓𝑡𝑚𝑎𝑥</m:t>
                      </m:r>
                      <m:d>
                        <m:dPr>
                          <m:ctrlPr>
                            <a:rPr lang="en-SG" sz="900" b="0" i="1" smtClean="0">
                              <a:latin typeface="Cambria Math" panose="02040503050406030204" pitchFamily="18" charset="0"/>
                            </a:rPr>
                          </m:ctrlPr>
                        </m:dPr>
                        <m:e>
                          <m:f>
                            <m:fPr>
                              <m:ctrlPr>
                                <a:rPr lang="en-SG" sz="900" b="0" i="1" smtClean="0">
                                  <a:latin typeface="Cambria Math" panose="02040503050406030204" pitchFamily="18" charset="0"/>
                                </a:rPr>
                              </m:ctrlPr>
                            </m:fPr>
                            <m:num>
                              <m:r>
                                <a:rPr lang="en-SG" sz="900" b="0" i="1" smtClean="0">
                                  <a:latin typeface="Cambria Math" panose="02040503050406030204" pitchFamily="18" charset="0"/>
                                </a:rPr>
                                <m:t>𝑙𝑜𝑔𝑖𝑡𝑠</m:t>
                              </m:r>
                            </m:num>
                            <m:den>
                              <m:r>
                                <a:rPr lang="en-SG" sz="900" b="0" i="1" smtClean="0">
                                  <a:latin typeface="Cambria Math" panose="02040503050406030204" pitchFamily="18" charset="0"/>
                                </a:rPr>
                                <m:t>𝑇</m:t>
                              </m:r>
                            </m:den>
                          </m:f>
                        </m:e>
                      </m:d>
                    </m:oMath>
                  </m:oMathPara>
                </a14:m>
                <a:endParaRPr lang="en-SG" sz="900" dirty="0"/>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𝒍𝒐𝒈𝒊𝒕𝒔</m:t>
                      </m:r>
                      <m:r>
                        <a:rPr lang="en-SG" sz="900" b="1" i="1" smtClean="0">
                          <a:latin typeface="Cambria Math" panose="02040503050406030204" pitchFamily="18" charset="0"/>
                        </a:rPr>
                        <m:t>:</m:t>
                      </m:r>
                      <m:r>
                        <a:rPr lang="en-SG" sz="900" i="1">
                          <a:latin typeface="Cambria Math" panose="02040503050406030204" pitchFamily="18" charset="0"/>
                        </a:rPr>
                        <m:t>𝑝𝑜𝑠𝑖𝑡𝑖𝑣𝑒</m:t>
                      </m:r>
                      <m:r>
                        <a:rPr lang="en-SG" sz="900" i="1">
                          <a:latin typeface="Cambria Math" panose="02040503050406030204" pitchFamily="18" charset="0"/>
                        </a:rPr>
                        <m:t> </m:t>
                      </m:r>
                      <m:r>
                        <a:rPr lang="en-SG" sz="900" i="1">
                          <a:latin typeface="Cambria Math" panose="02040503050406030204" pitchFamily="18" charset="0"/>
                        </a:rPr>
                        <m:t>𝑎𝑛𝑑</m:t>
                      </m:r>
                      <m:r>
                        <a:rPr lang="en-SG" sz="900" i="1">
                          <a:latin typeface="Cambria Math" panose="02040503050406030204" pitchFamily="18" charset="0"/>
                        </a:rPr>
                        <m:t> </m:t>
                      </m:r>
                      <m:r>
                        <a:rPr lang="en-SG" sz="900" i="1">
                          <a:latin typeface="Cambria Math" panose="02040503050406030204" pitchFamily="18" charset="0"/>
                        </a:rPr>
                        <m:t>𝑛𝑒𝑔𝑎𝑡𝑖𝑣𝑒</m:t>
                      </m:r>
                      <m:r>
                        <a:rPr lang="en-SG" sz="900" i="1">
                          <a:latin typeface="Cambria Math" panose="02040503050406030204" pitchFamily="18" charset="0"/>
                        </a:rPr>
                        <m:t> </m:t>
                      </m:r>
                      <m:r>
                        <a:rPr lang="en-SG" sz="900" i="1">
                          <a:latin typeface="Cambria Math" panose="02040503050406030204" pitchFamily="18" charset="0"/>
                        </a:rPr>
                        <m:t>𝑙𝑜𝑔𝑖𝑡𝑠</m:t>
                      </m:r>
                      <m:r>
                        <a:rPr lang="en-SG" sz="900" i="1">
                          <a:latin typeface="Cambria Math" panose="02040503050406030204" pitchFamily="18" charset="0"/>
                        </a:rPr>
                        <m:t> (</m:t>
                      </m:r>
                      <m:r>
                        <a:rPr lang="en-SG" sz="900" i="1">
                          <a:latin typeface="Cambria Math" panose="02040503050406030204" pitchFamily="18" charset="0"/>
                        </a:rPr>
                        <m:t>𝑖𝑛</m:t>
                      </m:r>
                      <m:r>
                        <a:rPr lang="en-SG" sz="900" i="1">
                          <a:latin typeface="Cambria Math" panose="02040503050406030204" pitchFamily="18" charset="0"/>
                        </a:rPr>
                        <m:t>−</m:t>
                      </m:r>
                      <m:r>
                        <a:rPr lang="en-SG" sz="900" i="1">
                          <a:latin typeface="Cambria Math" panose="02040503050406030204" pitchFamily="18" charset="0"/>
                        </a:rPr>
                        <m:t>𝑏𝑎𝑡𝑐h</m:t>
                      </m:r>
                      <m:r>
                        <a:rPr lang="en-SG" sz="900" i="1">
                          <a:latin typeface="Cambria Math" panose="02040503050406030204" pitchFamily="18" charset="0"/>
                        </a:rPr>
                        <m:t> + </m:t>
                      </m:r>
                      <m:r>
                        <a:rPr lang="en-SG" sz="900" i="1">
                          <a:latin typeface="Cambria Math" panose="02040503050406030204" pitchFamily="18" charset="0"/>
                        </a:rPr>
                        <m:t>𝑠𝑎𝑚𝑝𝑙𝑒𝑑</m:t>
                      </m:r>
                      <m:r>
                        <a:rPr lang="en-SG" sz="900" i="1">
                          <a:latin typeface="Cambria Math" panose="02040503050406030204" pitchFamily="18" charset="0"/>
                        </a:rPr>
                        <m:t>)</m:t>
                      </m:r>
                    </m:oMath>
                  </m:oMathPara>
                </a14:m>
                <a:endParaRPr lang="en-SG" sz="900" i="1" dirty="0">
                  <a:latin typeface="Cambria Math" panose="02040503050406030204" pitchFamily="18" charset="0"/>
                </a:endParaRPr>
              </a:p>
              <a:p>
                <a:endParaRPr lang="en-SG" sz="900" dirty="0"/>
              </a:p>
              <a:p>
                <a:r>
                  <a:rPr lang="en-SG" sz="900" b="1" dirty="0"/>
                  <a:t>Optimization during training: </a:t>
                </a:r>
                <a:r>
                  <a:rPr lang="en-SG" sz="900" dirty="0"/>
                  <a:t>Mini-batch gradient descent on contrastive cross-entropy loss; maximize relative score separation between positive (u, i) pairs and negatives.</a:t>
                </a:r>
              </a:p>
              <a:p>
                <a:endParaRPr lang="en-SG" sz="900" dirty="0"/>
              </a:p>
              <a:p>
                <a:r>
                  <a:rPr lang="en-SG" sz="900" b="1" dirty="0"/>
                  <a:t>What This Means</a:t>
                </a:r>
                <a:endParaRPr lang="en-SG" sz="900" dirty="0"/>
              </a:p>
              <a:p>
                <a:pPr marL="171450" indent="-171450">
                  <a:buFont typeface="Wingdings" panose="05000000000000000000" pitchFamily="2" charset="2"/>
                  <a:buChar char="Ø"/>
                </a:pPr>
                <a:r>
                  <a:rPr lang="en-SG" sz="900" b="1" dirty="0"/>
                  <a:t>Generalizes MF with flexible parameterization and scalable training.</a:t>
                </a:r>
              </a:p>
              <a:p>
                <a:endParaRPr lang="en-SG" sz="900" b="1" dirty="0"/>
              </a:p>
              <a:p>
                <a:r>
                  <a:rPr lang="en-SG" sz="900" b="1" dirty="0"/>
                  <a:t>Key Limitation</a:t>
                </a:r>
              </a:p>
              <a:p>
                <a:r>
                  <a:rPr lang="en-SG" sz="900" dirty="0"/>
                  <a:t>May underperform classical MF especially on limited datasets due to higher optimization complexity in neural training.</a:t>
                </a:r>
              </a:p>
            </p:txBody>
          </p:sp>
        </mc:Choice>
        <mc:Fallback>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705850" y="1844040"/>
                <a:ext cx="3400424" cy="4004558"/>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FD39FC1-E7FE-0653-7013-031429C5330E}"/>
                  </a:ext>
                </a:extLst>
              </p:cNvPr>
              <p:cNvSpPr txBox="1"/>
              <p:nvPr/>
            </p:nvSpPr>
            <p:spPr>
              <a:xfrm>
                <a:off x="221590" y="1844040"/>
                <a:ext cx="2283485" cy="2308324"/>
              </a:xfrm>
              <a:prstGeom prst="rect">
                <a:avLst/>
              </a:prstGeom>
              <a:solidFill>
                <a:schemeClr val="accent6">
                  <a:lumMod val="20000"/>
                  <a:lumOff val="80000"/>
                </a:schemeClr>
              </a:solidFill>
            </p:spPr>
            <p:txBody>
              <a:bodyPr wrap="square">
                <a:spAutoFit/>
              </a:bodyPr>
              <a:lstStyle/>
              <a:p>
                <a:r>
                  <a:rPr lang="en-SG" sz="900" b="1" u="sng" dirty="0"/>
                  <a:t>Random Baseline (Null Model)</a:t>
                </a:r>
              </a:p>
              <a:p>
                <a:endParaRPr lang="en-SG" sz="900" b="1" i="1" u="sng" dirty="0">
                  <a:latin typeface="Cambria Math" panose="02040503050406030204" pitchFamily="18" charset="0"/>
                </a:endParaRPr>
              </a:p>
              <a:p>
                <a:r>
                  <a:rPr lang="en-SG" sz="900" b="1" dirty="0"/>
                  <a:t>Core Idea</a:t>
                </a:r>
              </a:p>
              <a:p>
                <a:r>
                  <a:rPr lang="en-SG" sz="900" dirty="0"/>
                  <a:t>Random uniform scoring for any user-item pairing.</a:t>
                </a:r>
                <a:endParaRPr lang="en-SG" sz="900" b="1" i="1" u="sng" dirty="0">
                  <a:latin typeface="Cambria Math" panose="02040503050406030204" pitchFamily="18" charset="0"/>
                </a:endParaRP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i="1">
                          <a:latin typeface="Cambria Math" panose="02040503050406030204" pitchFamily="18" charset="0"/>
                        </a:rPr>
                        <m:t>𝑠𝑐𝑜𝑟𝑒</m:t>
                      </m:r>
                      <m:d>
                        <m:dPr>
                          <m:ctrlPr>
                            <a:rPr lang="en-SG" sz="900" i="1">
                              <a:latin typeface="Cambria Math" panose="02040503050406030204" pitchFamily="18" charset="0"/>
                            </a:rPr>
                          </m:ctrlPr>
                        </m:dPr>
                        <m:e>
                          <m:r>
                            <a:rPr lang="en-SG" sz="900" b="0" i="1" smtClean="0">
                              <a:latin typeface="Cambria Math" panose="02040503050406030204" pitchFamily="18" charset="0"/>
                            </a:rPr>
                            <m:t>𝑢</m:t>
                          </m:r>
                          <m:r>
                            <a:rPr lang="en-SG" sz="900" b="0" i="1" smtClean="0">
                              <a:latin typeface="Cambria Math" panose="02040503050406030204" pitchFamily="18" charset="0"/>
                            </a:rPr>
                            <m:t>,</m:t>
                          </m:r>
                          <m:r>
                            <a:rPr lang="en-SG" sz="900" b="0" i="1" smtClean="0">
                              <a:latin typeface="Cambria Math" panose="02040503050406030204" pitchFamily="18" charset="0"/>
                            </a:rPr>
                            <m:t>𝑖</m:t>
                          </m:r>
                        </m:e>
                      </m:d>
                      <m:r>
                        <a:rPr lang="en-SG" sz="900" b="0" i="1" smtClean="0">
                          <a:latin typeface="Cambria Math" panose="02040503050406030204" pitchFamily="18" charset="0"/>
                        </a:rPr>
                        <m:t> ~ </m:t>
                      </m:r>
                      <m:r>
                        <a:rPr lang="en-SG" sz="900" b="0" i="1" smtClean="0">
                          <a:latin typeface="Cambria Math" panose="02040503050406030204" pitchFamily="18" charset="0"/>
                        </a:rPr>
                        <m:t>𝑈𝑛𝑖𝑓𝑜𝑟𝑚</m:t>
                      </m:r>
                      <m:r>
                        <a:rPr lang="en-SG" sz="900" b="0" i="1" smtClean="0">
                          <a:latin typeface="Cambria Math" panose="02040503050406030204" pitchFamily="18" charset="0"/>
                        </a:rPr>
                        <m:t>(0.1)</m:t>
                      </m:r>
                    </m:oMath>
                  </m:oMathPara>
                </a14:m>
                <a:endParaRPr lang="en-SG" sz="900" b="1" dirty="0"/>
              </a:p>
              <a:p>
                <a:endParaRPr lang="en-SG" sz="900" dirty="0"/>
              </a:p>
              <a:p>
                <a:r>
                  <a:rPr lang="en-SG" sz="900" b="1" dirty="0"/>
                  <a:t>What This Means</a:t>
                </a:r>
              </a:p>
              <a:p>
                <a:pPr marL="171450" indent="-171450">
                  <a:buFont typeface="Wingdings" panose="05000000000000000000" pitchFamily="2" charset="2"/>
                  <a:buChar char="Ø"/>
                </a:pPr>
                <a:r>
                  <a:rPr lang="en-SG" sz="900" dirty="0"/>
                  <a:t>Zero-information No-preference model</a:t>
                </a:r>
              </a:p>
              <a:p>
                <a:pPr marL="171450" indent="-171450">
                  <a:buFont typeface="Wingdings" panose="05000000000000000000" pitchFamily="2" charset="2"/>
                  <a:buChar char="Ø"/>
                </a:pPr>
                <a:r>
                  <a:rPr lang="en-SG" sz="900" dirty="0"/>
                  <a:t>Establish theoretical floor</a:t>
                </a:r>
              </a:p>
              <a:p>
                <a:pPr marL="171450" indent="-171450">
                  <a:buFont typeface="Wingdings" panose="05000000000000000000" pitchFamily="2" charset="2"/>
                  <a:buChar char="Ø"/>
                </a:pPr>
                <a:endParaRPr lang="en-SG" sz="900" dirty="0"/>
              </a:p>
              <a:p>
                <a:pPr marL="171450" indent="-171450">
                  <a:buFont typeface="Wingdings" panose="05000000000000000000" pitchFamily="2" charset="2"/>
                  <a:buChar char="Ø"/>
                </a:pPr>
                <a:endParaRPr lang="en-SG" sz="900" dirty="0"/>
              </a:p>
              <a:p>
                <a:pPr marL="171450" indent="-171450">
                  <a:buFont typeface="Wingdings" panose="05000000000000000000" pitchFamily="2" charset="2"/>
                  <a:buChar char="Ø"/>
                </a:pPr>
                <a:endParaRPr lang="en-SG" sz="900" dirty="0"/>
              </a:p>
            </p:txBody>
          </p:sp>
        </mc:Choice>
        <mc:Fallback>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221590" y="1844040"/>
                <a:ext cx="2283485" cy="2308324"/>
              </a:xfrm>
              <a:prstGeom prst="rect">
                <a:avLst/>
              </a:prstGeom>
              <a:blipFill>
                <a:blip r:embed="rId5"/>
                <a:stretch>
                  <a:fillRect/>
                </a:stretch>
              </a:blipFill>
            </p:spPr>
            <p:txBody>
              <a:bodyPr/>
              <a:lstStyle/>
              <a:p>
                <a:r>
                  <a:rPr lang="en-SG">
                    <a:noFill/>
                  </a:rPr>
                  <a:t> </a:t>
                </a:r>
              </a:p>
            </p:txBody>
          </p:sp>
        </mc:Fallback>
      </mc:AlternateContent>
      <p:sp>
        <p:nvSpPr>
          <p:cNvPr id="4" name="TextBox 3">
            <a:extLst>
              <a:ext uri="{FF2B5EF4-FFF2-40B4-BE49-F238E27FC236}">
                <a16:creationId xmlns:a16="http://schemas.microsoft.com/office/drawing/2014/main" id="{D6548B2C-3A51-CB66-763A-93FECFB6C5A0}"/>
              </a:ext>
            </a:extLst>
          </p:cNvPr>
          <p:cNvSpPr txBox="1"/>
          <p:nvPr/>
        </p:nvSpPr>
        <p:spPr>
          <a:xfrm>
            <a:off x="233313" y="4180746"/>
            <a:ext cx="4853039" cy="507831"/>
          </a:xfrm>
          <a:prstGeom prst="rect">
            <a:avLst/>
          </a:prstGeom>
          <a:solidFill>
            <a:schemeClr val="accent6">
              <a:lumMod val="20000"/>
              <a:lumOff val="80000"/>
            </a:schemeClr>
          </a:solidFill>
        </p:spPr>
        <p:txBody>
          <a:bodyPr wrap="square">
            <a:spAutoFit/>
          </a:bodyPr>
          <a:lstStyle/>
          <a:p>
            <a:r>
              <a:rPr lang="en-SG" sz="900" dirty="0"/>
              <a:t>Experiment models are trained on </a:t>
            </a:r>
            <a:r>
              <a:rPr lang="en-SG" sz="900" b="1" dirty="0"/>
              <a:t>weights from binary interaction signals with model-specific transformations </a:t>
            </a:r>
            <a:r>
              <a:rPr lang="en-SG" sz="900" dirty="0"/>
              <a:t>applied (see </a:t>
            </a:r>
            <a:r>
              <a:rPr lang="en-SG" sz="900" b="1" dirty="0"/>
              <a:t>Interaction Signal</a:t>
            </a:r>
            <a:r>
              <a:rPr lang="en-SG" sz="900" dirty="0"/>
              <a:t> in </a:t>
            </a:r>
            <a:r>
              <a:rPr lang="en-SG" sz="900" b="1" dirty="0"/>
              <a:t>Architecture / Model &amp; Evaluation Design </a:t>
            </a:r>
            <a:r>
              <a:rPr lang="en-SG" sz="900" dirty="0"/>
              <a:t>slides)</a:t>
            </a:r>
          </a:p>
        </p:txBody>
      </p:sp>
    </p:spTree>
    <p:extLst>
      <p:ext uri="{BB962C8B-B14F-4D97-AF65-F5344CB8AC3E}">
        <p14:creationId xmlns:p14="http://schemas.microsoft.com/office/powerpoint/2010/main" val="1431262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b="1"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91110620"/>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0.056</a:t>
                      </a:r>
                    </a:p>
                  </a:txBody>
                  <a:tcPr/>
                </a:tc>
                <a:tc>
                  <a:txBody>
                    <a:bodyPr/>
                    <a:lstStyle/>
                    <a:p>
                      <a:r>
                        <a:rPr lang="en-SG" sz="1200" dirty="0"/>
                        <a:t>0.067</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0.125</a:t>
                      </a:r>
                    </a:p>
                  </a:txBody>
                  <a:tcPr/>
                </a:tc>
                <a:tc>
                  <a:txBody>
                    <a:bodyPr/>
                    <a:lstStyle/>
                    <a:p>
                      <a:r>
                        <a:rPr lang="en-SG" sz="1200" b="1" dirty="0"/>
                        <a:t>0.096</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0.100</a:t>
                      </a:r>
                    </a:p>
                  </a:txBody>
                  <a:tcPr/>
                </a:tc>
                <a:tc>
                  <a:txBody>
                    <a:bodyPr/>
                    <a:lstStyle/>
                    <a:p>
                      <a:r>
                        <a:rPr lang="en-SG" sz="1200" dirty="0"/>
                        <a:t>0.073</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relevant items retrieved in top-K search</a:t>
                </a:r>
              </a:p>
              <a:p>
                <a:pPr marL="171450" indent="-171450">
                  <a:buFont typeface="Wingdings" panose="05000000000000000000" pitchFamily="2" charset="2"/>
                  <a:buChar char="Ø"/>
                </a:pPr>
                <a:r>
                  <a:rPr lang="en-SG" sz="1200" b="1" dirty="0"/>
                  <a:t>NDCG@K (Item Relevance): </a:t>
                </a:r>
                <a:r>
                  <a:rPr lang="en-SG" sz="1200" dirty="0"/>
                  <a:t>position-aware ranking quality metric in top-K search</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search</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4687</TotalTime>
  <Words>4066</Words>
  <Application>Microsoft Office PowerPoint</Application>
  <PresentationFormat>Widescreen</PresentationFormat>
  <Paragraphs>572</Paragraphs>
  <Slides>14</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Policy Scoring Mechanics)</vt:lpstr>
      <vt:lpstr>Purchase Propensity Engine (Appendix – Policy Scoring Mechanics)</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1260</cp:revision>
  <dcterms:created xsi:type="dcterms:W3CDTF">2026-02-22T04:36:36Z</dcterms:created>
  <dcterms:modified xsi:type="dcterms:W3CDTF">2026-03-17T08:41:33Z</dcterms:modified>
</cp:coreProperties>
</file>