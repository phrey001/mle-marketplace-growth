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4"/>
  </p:notesMasterIdLst>
  <p:sldIdLst>
    <p:sldId id="256" r:id="rId2"/>
    <p:sldId id="271" r:id="rId3"/>
    <p:sldId id="257" r:id="rId4"/>
    <p:sldId id="258" r:id="rId5"/>
    <p:sldId id="260" r:id="rId6"/>
    <p:sldId id="262" r:id="rId7"/>
    <p:sldId id="268" r:id="rId8"/>
    <p:sldId id="270" r:id="rId9"/>
    <p:sldId id="269" r:id="rId10"/>
    <p:sldId id="264" r:id="rId11"/>
    <p:sldId id="267" r:id="rId12"/>
    <p:sldId id="263"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859" autoAdjust="0"/>
    <p:restoredTop sz="96247" autoAdjust="0"/>
  </p:normalViewPr>
  <p:slideViewPr>
    <p:cSldViewPr snapToGrid="0">
      <p:cViewPr>
        <p:scale>
          <a:sx n="100" d="100"/>
          <a:sy n="100" d="100"/>
        </p:scale>
        <p:origin x="72"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212510" y="0"/>
          <a:ext cx="2223161" cy="222316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286541" y="74186"/>
          <a:ext cx="2074876" cy="2074788"/>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SG" sz="2900" kern="1200" dirty="0"/>
            <a:t>Feature Store</a:t>
          </a:r>
        </a:p>
      </dsp:txBody>
      <dsp:txXfrm>
        <a:off x="583111" y="370585"/>
        <a:ext cx="1482182" cy="1481991"/>
      </dsp:txXfrm>
    </dsp:sp>
    <dsp:sp modelId="{4A4F7823-EAE9-46C3-ABC1-34D954A204CF}">
      <dsp:nvSpPr>
        <dsp:cNvPr id="0" name=""/>
        <dsp:cNvSpPr/>
      </dsp:nvSpPr>
      <dsp:spPr>
        <a:xfrm>
          <a:off x="286541" y="2289686"/>
          <a:ext cx="2074876" cy="11932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90000"/>
            </a:lnSpc>
            <a:spcBef>
              <a:spcPct val="0"/>
            </a:spcBef>
            <a:spcAft>
              <a:spcPct val="150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90000"/>
            </a:lnSpc>
            <a:spcBef>
              <a:spcPct val="0"/>
            </a:spcBef>
            <a:spcAft>
              <a:spcPct val="15000"/>
            </a:spcAft>
            <a:buChar char="•"/>
          </a:pPr>
          <a:r>
            <a:rPr lang="en-SG" sz="1100" kern="1200" dirty="0"/>
            <a:t>Shared Feature Engineering Layer (bronze/silver)</a:t>
          </a:r>
        </a:p>
      </dsp:txBody>
      <dsp:txXfrm>
        <a:off x="286541" y="2289686"/>
        <a:ext cx="2074876" cy="1193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4/3/2026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a:t>
            </a:r>
            <a:r>
              <a:rPr lang="en-SG" b="1" dirty="0" err="1"/>
              <a:t>backtest</a:t>
            </a:r>
            <a:r>
              <a:rPr lang="en-SG" b="1" dirty="0"/>
              <a: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12</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3/4/2026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292428003"/>
              </p:ext>
            </p:extLst>
          </p:nvPr>
        </p:nvGraphicFramePr>
        <p:xfrm>
          <a:off x="998593" y="2176465"/>
          <a:ext cx="2648182" cy="3482942"/>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476821" y="2815155"/>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393400"/>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212935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477328"/>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Model &amp; Assumptions (Freeze After </a:t>
              </a:r>
              <a:r>
                <a:rPr lang="en-SG" sz="1000" b="1" dirty="0"/>
                <a:t>V</a:t>
              </a:r>
              <a:r>
                <a:rPr lang="en-SG" sz="1000" b="1" kern="1200" dirty="0"/>
                <a:t>alidation)</a:t>
              </a:r>
            </a:p>
            <a:p>
              <a:pPr marL="285750" lvl="1" indent="-285750" algn="l" defTabSz="711200">
                <a:spcBef>
                  <a:spcPct val="0"/>
                </a:spcBef>
                <a:spcAft>
                  <a:spcPts val="600"/>
                </a:spcAft>
                <a:buFont typeface="Wingdings" panose="05000000000000000000" pitchFamily="2" charset="2"/>
                <a:buChar char="Ø"/>
              </a:pPr>
              <a:r>
                <a:rPr lang="en-SG" sz="1000" b="1" dirty="0"/>
                <a:t>logistic/xgboost </a:t>
              </a:r>
              <a:r>
                <a:rPr lang="en-SG" sz="1000" dirty="0"/>
                <a:t>with different windows</a:t>
              </a:r>
            </a:p>
            <a:p>
              <a:pPr marL="285750" lvl="1" indent="-285750" algn="l" defTabSz="711200">
                <a:spcBef>
                  <a:spcPct val="0"/>
                </a:spcBef>
                <a:spcAft>
                  <a:spcPts val="600"/>
                </a:spcAft>
                <a:buFont typeface="Wingdings" panose="05000000000000000000" pitchFamily="2" charset="2"/>
                <a:buChar char="Ø"/>
              </a:pPr>
              <a:r>
                <a:rPr lang="en-SG" sz="1000" b="1" dirty="0"/>
                <a:t>Prediction window </a:t>
              </a:r>
              <a:r>
                <a:rPr lang="en-SG" sz="10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1000" b="1" i="1" dirty="0"/>
                <a:t>Feature lookback window </a:t>
              </a:r>
              <a:r>
                <a:rPr lang="en-SG" sz="1000" i="1" dirty="0"/>
                <a:t>validate with model evaluation metrics (60d/90d/120d)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7364738" y="3687356"/>
            <a:ext cx="1138118" cy="553998"/>
          </a:xfrm>
          <a:prstGeom prst="rect">
            <a:avLst/>
          </a:prstGeom>
          <a:noFill/>
        </p:spPr>
        <p:txBody>
          <a:bodyPr wrap="square">
            <a:spAutoFit/>
          </a:bodyPr>
          <a:lstStyle/>
          <a:p>
            <a:pPr lvl="0"/>
            <a:r>
              <a:rPr lang="en-SG" sz="1000" b="1" dirty="0"/>
              <a:t>Frozen models and windows after validation</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1"/>
            <a:ext cx="3085269" cy="4812422"/>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(Profile: 30d prediction window, 90d feature lookback window)</a:t>
            </a:r>
          </a:p>
          <a:p>
            <a:pPr>
              <a:buFont typeface="Wingdings" panose="05000000000000000000" pitchFamily="2" charset="2"/>
              <a:buChar char="Ø"/>
            </a:pPr>
            <a:r>
              <a:rPr lang="en-SG" sz="1000" dirty="0"/>
              <a:t>Both models by default trains on features including RMF of _30d and _90d for prediction window defaults 30d and feature lookback window defaults 90d. </a:t>
            </a:r>
          </a:p>
          <a:p>
            <a:pPr>
              <a:buFont typeface="Wingdings" panose="05000000000000000000" pitchFamily="2" charset="2"/>
              <a:buChar char="Ø"/>
            </a:pPr>
            <a:r>
              <a:rPr lang="en-SG" sz="1000" dirty="0"/>
              <a:t>Other RMF days features are ignored for model training even if they are in feature store for windows sensitivity analysis</a:t>
            </a:r>
            <a:endParaRPr lang="en-SG" sz="1000" b="1" dirty="0"/>
          </a:p>
          <a:p>
            <a:pPr>
              <a:buFont typeface="Wingdings" panose="05000000000000000000" pitchFamily="2" charset="2"/>
              <a:buChar char="Ø"/>
            </a:pPr>
            <a:r>
              <a:rPr lang="en-SG" sz="1000" dirty="0"/>
              <a:t>recency_days</a:t>
            </a:r>
          </a:p>
          <a:p>
            <a:pPr>
              <a:buFont typeface="Wingdings" panose="05000000000000000000" pitchFamily="2" charset="2"/>
              <a:buChar char="Ø"/>
            </a:pPr>
            <a:r>
              <a:rPr lang="en-SG" sz="1000" dirty="0"/>
              <a:t>frequency_30d</a:t>
            </a:r>
          </a:p>
          <a:p>
            <a:pPr>
              <a:buFont typeface="Wingdings" panose="05000000000000000000" pitchFamily="2" charset="2"/>
              <a:buChar char="Ø"/>
            </a:pPr>
            <a:r>
              <a:rPr lang="en-SG" sz="1000" dirty="0"/>
              <a:t>frequency_90d</a:t>
            </a:r>
          </a:p>
          <a:p>
            <a:pPr>
              <a:buFont typeface="Wingdings" panose="05000000000000000000" pitchFamily="2" charset="2"/>
              <a:buChar char="Ø"/>
            </a:pPr>
            <a:r>
              <a:rPr lang="en-SG" sz="1000" dirty="0"/>
              <a:t>monetary_30d</a:t>
            </a:r>
          </a:p>
          <a:p>
            <a:pPr>
              <a:buFont typeface="Wingdings" panose="05000000000000000000" pitchFamily="2" charset="2"/>
              <a:buChar char="Ø"/>
            </a:pPr>
            <a:r>
              <a:rPr lang="en-SG" sz="1000" dirty="0"/>
              <a:t>monetary_90d (capped by spend_cap_quantile)</a:t>
            </a:r>
          </a:p>
          <a:p>
            <a:pPr>
              <a:buFont typeface="Wingdings" panose="05000000000000000000" pitchFamily="2" charset="2"/>
              <a:buChar char="Ø"/>
            </a:pPr>
            <a:r>
              <a:rPr lang="en-SG" sz="1000" dirty="0"/>
              <a:t>avg_basket_value_90d</a:t>
            </a:r>
          </a:p>
          <a:p>
            <a:pPr>
              <a:buFont typeface="Wingdings" panose="05000000000000000000" pitchFamily="2" charset="2"/>
              <a:buChar char="Ø"/>
            </a:pPr>
            <a:r>
              <a:rPr lang="en-SG" sz="1000" dirty="0"/>
              <a:t>country</a:t>
            </a:r>
          </a:p>
          <a:p>
            <a:endParaRPr lang="en-SG" sz="1000" dirty="0"/>
          </a:p>
          <a:p>
            <a:pPr marL="0" indent="0">
              <a:buNone/>
            </a:pPr>
            <a:endParaRPr lang="en-SG" sz="1000"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4814747"/>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1000" dirty="0"/>
              <a:t>For feature-lookback test (with 30d prediction window), it uses:</a:t>
            </a:r>
          </a:p>
          <a:p>
            <a:pPr>
              <a:buFont typeface="Wingdings" panose="05000000000000000000" pitchFamily="2" charset="2"/>
              <a:buChar char="Ø"/>
            </a:pPr>
            <a:r>
              <a:rPr lang="en-SG" sz="1000" b="1" dirty="0"/>
              <a:t>60d lookback profile: </a:t>
            </a:r>
            <a:r>
              <a:rPr lang="en-SG" sz="1000" dirty="0"/>
              <a:t>frequency_60d, monetary_60d, avg_basket_value_60d</a:t>
            </a:r>
          </a:p>
          <a:p>
            <a:pPr>
              <a:buFont typeface="Wingdings" panose="05000000000000000000" pitchFamily="2" charset="2"/>
              <a:buChar char="Ø"/>
            </a:pPr>
            <a:r>
              <a:rPr lang="en-SG" sz="1000" b="1" dirty="0"/>
              <a:t>90d lookback profile: </a:t>
            </a:r>
            <a:r>
              <a:rPr lang="en-SG" sz="1000" dirty="0"/>
              <a:t>frequency_90d, monetary_90d, avg_basket_value_90d</a:t>
            </a:r>
          </a:p>
          <a:p>
            <a:pPr>
              <a:buFont typeface="Wingdings" panose="05000000000000000000" pitchFamily="2" charset="2"/>
              <a:buChar char="Ø"/>
            </a:pPr>
            <a:r>
              <a:rPr lang="en-SG" sz="1000" b="1" dirty="0"/>
              <a:t>120d lookback profile:</a:t>
            </a:r>
            <a:r>
              <a:rPr lang="en-SG" sz="1000" dirty="0"/>
              <a:t> frequency_120d, monetary_120d, avg_basket_value_120d</a:t>
            </a:r>
          </a:p>
          <a:p>
            <a:pPr marL="0" indent="0">
              <a:buNone/>
            </a:pPr>
            <a:r>
              <a:rPr lang="en-SG" sz="1000" dirty="0"/>
              <a:t>Then it compares model validation metrics (PR-AUC, ROC-AUC, lift, Brier, ECE) across these profiles.</a:t>
            </a:r>
          </a:p>
          <a:p>
            <a:pPr marL="0" indent="0">
              <a:buNone/>
            </a:pPr>
            <a:r>
              <a:rPr lang="en-SG" sz="1000" dirty="0"/>
              <a:t>So 60d/120d are used as alternative feature windows for comparison experiments, which is not in the default (90d) serving/train path.</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42639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80754" y="5267324"/>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200329"/>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374500705"/>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1429.7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+923.9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-14.6</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949.5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+641.8</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1561173177"/>
              </p:ext>
            </p:extLst>
          </p:nvPr>
        </p:nvGraphicFramePr>
        <p:xfrm>
          <a:off x="207645" y="2768145"/>
          <a:ext cx="5408380" cy="1432560"/>
        </p:xfrm>
        <a:graphic>
          <a:graphicData uri="http://schemas.openxmlformats.org/drawingml/2006/table">
            <a:tbl>
              <a:tblPr firstRow="1" bandRow="1">
                <a:tableStyleId>{5C22544A-7EE6-4342-B048-85BDC9FD1C3A}</a:tableStyleId>
              </a:tblPr>
              <a:tblGrid>
                <a:gridCol w="1079425">
                  <a:extLst>
                    <a:ext uri="{9D8B030D-6E8A-4147-A177-3AD203B41FA5}">
                      <a16:colId xmlns:a16="http://schemas.microsoft.com/office/drawing/2014/main" val="1578905552"/>
                    </a:ext>
                  </a:extLst>
                </a:gridCol>
                <a:gridCol w="865791">
                  <a:extLst>
                    <a:ext uri="{9D8B030D-6E8A-4147-A177-3AD203B41FA5}">
                      <a16:colId xmlns:a16="http://schemas.microsoft.com/office/drawing/2014/main" val="2062257706"/>
                    </a:ext>
                  </a:extLst>
                </a:gridCol>
                <a:gridCol w="865791">
                  <a:extLst>
                    <a:ext uri="{9D8B030D-6E8A-4147-A177-3AD203B41FA5}">
                      <a16:colId xmlns:a16="http://schemas.microsoft.com/office/drawing/2014/main" val="1376440620"/>
                    </a:ext>
                  </a:extLst>
                </a:gridCol>
                <a:gridCol w="865791">
                  <a:extLst>
                    <a:ext uri="{9D8B030D-6E8A-4147-A177-3AD203B41FA5}">
                      <a16:colId xmlns:a16="http://schemas.microsoft.com/office/drawing/2014/main" val="4154908257"/>
                    </a:ext>
                  </a:extLst>
                </a:gridCol>
                <a:gridCol w="865791">
                  <a:extLst>
                    <a:ext uri="{9D8B030D-6E8A-4147-A177-3AD203B41FA5}">
                      <a16:colId xmlns:a16="http://schemas.microsoft.com/office/drawing/2014/main" val="1626176295"/>
                    </a:ext>
                  </a:extLst>
                </a:gridCol>
                <a:gridCol w="865791">
                  <a:extLst>
                    <a:ext uri="{9D8B030D-6E8A-4147-A177-3AD203B41FA5}">
                      <a16:colId xmlns:a16="http://schemas.microsoft.com/office/drawing/2014/main" val="3684245219"/>
                    </a:ext>
                  </a:extLst>
                </a:gridCol>
              </a:tblGrid>
              <a:tr h="182365">
                <a:tc>
                  <a:txBody>
                    <a:bodyPr/>
                    <a:lstStyle/>
                    <a:p>
                      <a:r>
                        <a:rPr lang="en-SG" sz="1000" dirty="0"/>
                        <a:t>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147899">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1.77</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2.53</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even though overall ranking quality slightly declined.</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3730988895"/>
              </p:ext>
            </p:extLst>
          </p:nvPr>
        </p:nvGraphicFramePr>
        <p:xfrm>
          <a:off x="5696036" y="2768145"/>
          <a:ext cx="3541507" cy="1432560"/>
        </p:xfrm>
        <a:graphic>
          <a:graphicData uri="http://schemas.openxmlformats.org/drawingml/2006/table">
            <a:tbl>
              <a:tblPr firstRow="1" bandRow="1">
                <a:tableStyleId>{5C22544A-7EE6-4342-B048-85BDC9FD1C3A}</a:tableStyleId>
              </a:tblPr>
              <a:tblGrid>
                <a:gridCol w="1067155">
                  <a:extLst>
                    <a:ext uri="{9D8B030D-6E8A-4147-A177-3AD203B41FA5}">
                      <a16:colId xmlns:a16="http://schemas.microsoft.com/office/drawing/2014/main" val="2444121692"/>
                    </a:ext>
                  </a:extLst>
                </a:gridCol>
                <a:gridCol w="824784">
                  <a:extLst>
                    <a:ext uri="{9D8B030D-6E8A-4147-A177-3AD203B41FA5}">
                      <a16:colId xmlns:a16="http://schemas.microsoft.com/office/drawing/2014/main" val="1796582741"/>
                    </a:ext>
                  </a:extLst>
                </a:gridCol>
                <a:gridCol w="824784">
                  <a:extLst>
                    <a:ext uri="{9D8B030D-6E8A-4147-A177-3AD203B41FA5}">
                      <a16:colId xmlns:a16="http://schemas.microsoft.com/office/drawing/2014/main" val="3043283912"/>
                    </a:ext>
                  </a:extLst>
                </a:gridCol>
                <a:gridCol w="824784">
                  <a:extLst>
                    <a:ext uri="{9D8B030D-6E8A-4147-A177-3AD203B41FA5}">
                      <a16:colId xmlns:a16="http://schemas.microsoft.com/office/drawing/2014/main" val="2318209426"/>
                    </a:ext>
                  </a:extLst>
                </a:gridCol>
              </a:tblGrid>
              <a:tr h="548640">
                <a:tc>
                  <a:txBody>
                    <a:bodyPr/>
                    <a:lstStyle/>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2252</a:t>
                      </a:r>
                    </a:p>
                  </a:txBody>
                  <a:tcPr/>
                </a:tc>
                <a:tc>
                  <a:txBody>
                    <a:bodyPr/>
                    <a:lstStyle/>
                    <a:p>
                      <a:r>
                        <a:rPr lang="en-SG" sz="1000" b="1" dirty="0"/>
                        <a:t>704</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2850</a:t>
                      </a:r>
                    </a:p>
                  </a:txBody>
                  <a:tcPr/>
                </a:tc>
                <a:tc>
                  <a:txBody>
                    <a:bodyPr/>
                    <a:lstStyle/>
                    <a:p>
                      <a:r>
                        <a:rPr lang="en-SG" sz="1000" b="0" dirty="0"/>
                        <a:t>798</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2285</TotalTime>
  <Words>3019</Words>
  <Application>Microsoft Office PowerPoint</Application>
  <PresentationFormat>Widescreen</PresentationFormat>
  <Paragraphs>460</Paragraphs>
  <Slides>12</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1049</cp:revision>
  <dcterms:created xsi:type="dcterms:W3CDTF">2026-02-22T04:36:36Z</dcterms:created>
  <dcterms:modified xsi:type="dcterms:W3CDTF">2026-03-04T07:25:34Z</dcterms:modified>
</cp:coreProperties>
</file>