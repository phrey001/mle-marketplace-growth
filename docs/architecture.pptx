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3" r:id="rId1"/>
  </p:sldMasterIdLst>
  <p:notesMasterIdLst>
    <p:notesMasterId r:id="rId7"/>
  </p:notesMasterIdLst>
  <p:sldIdLst>
    <p:sldId id="256" r:id="rId2"/>
    <p:sldId id="257" r:id="rId3"/>
    <p:sldId id="258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17C3D5E-C80A-43A9-9E6D-B27078164170}">
          <p14:sldIdLst>
            <p14:sldId id="256"/>
            <p14:sldId id="257"/>
            <p14:sldId id="258"/>
            <p14:sldId id="262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3010"/>
    <a:srgbClr val="D1DDB0"/>
    <a:srgbClr val="F9CFC3"/>
    <a:srgbClr val="FAE5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9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mashlyn/online-retail-ii-uci/data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mashlyn/online-retail-ii-uci/data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521F9F-9853-4760-AF04-01C8BE6DE7C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0B5B70DB-C372-486F-A52D-26714D56BF44}">
      <dgm:prSet custT="1"/>
      <dgm:spPr/>
      <dgm:t>
        <a:bodyPr/>
        <a:lstStyle/>
        <a:p>
          <a:r>
            <a:rPr lang="en-SG" sz="1400" b="1" dirty="0"/>
            <a:t>Purchase Propensity Engine</a:t>
          </a:r>
        </a:p>
      </dgm:t>
    </dgm:pt>
    <dgm:pt modelId="{4E51C9B7-F398-4309-9C2C-8766F2A1A0CB}" type="parTrans" cxnId="{E347CFAC-3B84-4812-981F-A0AC75794A76}">
      <dgm:prSet/>
      <dgm:spPr/>
      <dgm:t>
        <a:bodyPr/>
        <a:lstStyle/>
        <a:p>
          <a:endParaRPr lang="en-SG"/>
        </a:p>
      </dgm:t>
    </dgm:pt>
    <dgm:pt modelId="{DC3CC174-F385-4928-94AE-004F8649AC5E}" type="sibTrans" cxnId="{E347CFAC-3B84-4812-981F-A0AC75794A76}">
      <dgm:prSet/>
      <dgm:spPr/>
      <dgm:t>
        <a:bodyPr/>
        <a:lstStyle/>
        <a:p>
          <a:endParaRPr lang="en-SG" dirty="0"/>
        </a:p>
      </dgm:t>
    </dgm:pt>
    <dgm:pt modelId="{BE1CF92B-E233-45F0-86C5-16F51FF2EC39}">
      <dgm:prSet custT="1"/>
      <dgm:spPr/>
      <dgm:t>
        <a:bodyPr/>
        <a:lstStyle/>
        <a:p>
          <a:r>
            <a:rPr lang="en-SG" sz="1200" dirty="0"/>
            <a:t>Training Pipeline (Offline): Purchase Propensity Modelling</a:t>
          </a:r>
        </a:p>
      </dgm:t>
    </dgm:pt>
    <dgm:pt modelId="{CADBA3B3-0E95-46E3-BD45-554A451764AE}" type="parTrans" cxnId="{7FE6A1F6-0295-4FF9-BD45-AA6601A252D0}">
      <dgm:prSet/>
      <dgm:spPr/>
      <dgm:t>
        <a:bodyPr/>
        <a:lstStyle/>
        <a:p>
          <a:endParaRPr lang="en-SG"/>
        </a:p>
      </dgm:t>
    </dgm:pt>
    <dgm:pt modelId="{C7B67B06-F568-4F00-A990-2D3E2833329B}" type="sibTrans" cxnId="{7FE6A1F6-0295-4FF9-BD45-AA6601A252D0}">
      <dgm:prSet/>
      <dgm:spPr/>
      <dgm:t>
        <a:bodyPr/>
        <a:lstStyle/>
        <a:p>
          <a:endParaRPr lang="en-SG"/>
        </a:p>
      </dgm:t>
    </dgm:pt>
    <dgm:pt modelId="{37544A0C-6DF7-435C-8FA1-8FE37503C07D}">
      <dgm:prSet custT="1"/>
      <dgm:spPr/>
      <dgm:t>
        <a:bodyPr/>
        <a:lstStyle/>
        <a:p>
          <a:r>
            <a:rPr lang="en-SG" sz="1200" dirty="0"/>
            <a:t>Serving (Policy) Pipeline: Incentive Allocation (Budget-Constrained)</a:t>
          </a:r>
        </a:p>
      </dgm:t>
    </dgm:pt>
    <dgm:pt modelId="{2CBBC2EE-E3DE-4291-8BDA-AA06740B4FF3}" type="parTrans" cxnId="{6CBE368C-0516-4D4C-AC0F-A6C3E8765701}">
      <dgm:prSet/>
      <dgm:spPr/>
      <dgm:t>
        <a:bodyPr/>
        <a:lstStyle/>
        <a:p>
          <a:endParaRPr lang="en-SG"/>
        </a:p>
      </dgm:t>
    </dgm:pt>
    <dgm:pt modelId="{3E5B9DB5-F3DE-4990-8BEC-F02849DC7160}" type="sibTrans" cxnId="{6CBE368C-0516-4D4C-AC0F-A6C3E8765701}">
      <dgm:prSet/>
      <dgm:spPr/>
      <dgm:t>
        <a:bodyPr/>
        <a:lstStyle/>
        <a:p>
          <a:endParaRPr lang="en-SG"/>
        </a:p>
      </dgm:t>
    </dgm:pt>
    <dgm:pt modelId="{4D17E48B-816F-4E22-9171-D7C3EC19B9C9}">
      <dgm:prSet custT="1"/>
      <dgm:spPr/>
      <dgm:t>
        <a:bodyPr/>
        <a:lstStyle/>
        <a:p>
          <a:r>
            <a:rPr lang="en-SG" sz="1400" b="1" dirty="0"/>
            <a:t>Offline Policy Evaluation</a:t>
          </a:r>
        </a:p>
      </dgm:t>
    </dgm:pt>
    <dgm:pt modelId="{A9EDF49D-A50F-40C5-992A-42017C32CDE9}" type="parTrans" cxnId="{ABE68EB5-A8CC-4A22-A064-1512AFC20EDC}">
      <dgm:prSet/>
      <dgm:spPr/>
      <dgm:t>
        <a:bodyPr/>
        <a:lstStyle/>
        <a:p>
          <a:endParaRPr lang="en-SG"/>
        </a:p>
      </dgm:t>
    </dgm:pt>
    <dgm:pt modelId="{99CF6B85-1B61-459F-A041-5EDD9A2A19E3}" type="sibTrans" cxnId="{ABE68EB5-A8CC-4A22-A064-1512AFC20EDC}">
      <dgm:prSet/>
      <dgm:spPr/>
      <dgm:t>
        <a:bodyPr/>
        <a:lstStyle/>
        <a:p>
          <a:endParaRPr lang="en-SG"/>
        </a:p>
      </dgm:t>
    </dgm:pt>
    <dgm:pt modelId="{7FD1DD7D-D91A-40F2-B4BD-D732FA71855B}">
      <dgm:prSet custT="1"/>
      <dgm:spPr/>
      <dgm:t>
        <a:bodyPr/>
        <a:lstStyle/>
        <a:p>
          <a:r>
            <a:rPr lang="en-SG" sz="1200" dirty="0"/>
            <a:t>Compare Incentive Allocation Policies</a:t>
          </a:r>
        </a:p>
      </dgm:t>
    </dgm:pt>
    <dgm:pt modelId="{20AA30AA-C341-41F7-89B2-1FBC197D229B}" type="parTrans" cxnId="{54D08DBC-3883-4625-A47A-83064D9BDEF2}">
      <dgm:prSet/>
      <dgm:spPr/>
      <dgm:t>
        <a:bodyPr/>
        <a:lstStyle/>
        <a:p>
          <a:endParaRPr lang="en-SG"/>
        </a:p>
      </dgm:t>
    </dgm:pt>
    <dgm:pt modelId="{CEB451CE-E251-4E61-AB34-F6AD802F600D}" type="sibTrans" cxnId="{54D08DBC-3883-4625-A47A-83064D9BDEF2}">
      <dgm:prSet/>
      <dgm:spPr/>
      <dgm:t>
        <a:bodyPr/>
        <a:lstStyle/>
        <a:p>
          <a:endParaRPr lang="en-SG"/>
        </a:p>
      </dgm:t>
    </dgm:pt>
    <dgm:pt modelId="{7C0ADEE1-848F-48CD-9293-0F35786E087E}">
      <dgm:prSet custT="1"/>
      <dgm:spPr/>
      <dgm:t>
        <a:bodyPr/>
        <a:lstStyle/>
        <a:p>
          <a:r>
            <a:rPr lang="en-SG" sz="1200" dirty="0"/>
            <a:t>Compare Assumptions (Freeze After Validation)</a:t>
          </a:r>
        </a:p>
      </dgm:t>
    </dgm:pt>
    <dgm:pt modelId="{54AE1557-8FB0-4B8D-B47D-318B8DD94951}" type="parTrans" cxnId="{E19760E5-1D2A-49EC-92AC-07AFD6E1560E}">
      <dgm:prSet/>
      <dgm:spPr/>
      <dgm:t>
        <a:bodyPr/>
        <a:lstStyle/>
        <a:p>
          <a:endParaRPr lang="en-SG"/>
        </a:p>
      </dgm:t>
    </dgm:pt>
    <dgm:pt modelId="{26AA21C8-1DBE-4D12-B1C0-A1DBA074E1BE}" type="sibTrans" cxnId="{E19760E5-1D2A-49EC-92AC-07AFD6E1560E}">
      <dgm:prSet/>
      <dgm:spPr/>
      <dgm:t>
        <a:bodyPr/>
        <a:lstStyle/>
        <a:p>
          <a:endParaRPr lang="en-SG"/>
        </a:p>
      </dgm:t>
    </dgm:pt>
    <dgm:pt modelId="{6F18769F-A45C-47E8-9743-8DD15455B2C9}" type="pres">
      <dgm:prSet presAssocID="{A7521F9F-9853-4760-AF04-01C8BE6DE7CA}" presName="Name0" presStyleCnt="0">
        <dgm:presLayoutVars>
          <dgm:dir/>
          <dgm:resizeHandles val="exact"/>
        </dgm:presLayoutVars>
      </dgm:prSet>
      <dgm:spPr/>
    </dgm:pt>
    <dgm:pt modelId="{A984A37F-DEE6-432F-A851-EC63949E182D}" type="pres">
      <dgm:prSet presAssocID="{0B5B70DB-C372-486F-A52D-26714D56BF44}" presName="node" presStyleLbl="node1" presStyleIdx="0" presStyleCnt="2" custLinFactNeighborX="-1181" custLinFactNeighborY="-992">
        <dgm:presLayoutVars>
          <dgm:bulletEnabled val="1"/>
        </dgm:presLayoutVars>
      </dgm:prSet>
      <dgm:spPr/>
    </dgm:pt>
    <dgm:pt modelId="{71F89AA5-3D26-438B-9C21-64A60B7CAFE1}" type="pres">
      <dgm:prSet presAssocID="{DC3CC174-F385-4928-94AE-004F8649AC5E}" presName="sibTrans" presStyleLbl="sibTrans2D1" presStyleIdx="0" presStyleCnt="1"/>
      <dgm:spPr/>
    </dgm:pt>
    <dgm:pt modelId="{C844A1A0-E988-420F-9877-1860DF89A1EB}" type="pres">
      <dgm:prSet presAssocID="{DC3CC174-F385-4928-94AE-004F8649AC5E}" presName="connectorText" presStyleLbl="sibTrans2D1" presStyleIdx="0" presStyleCnt="1"/>
      <dgm:spPr/>
    </dgm:pt>
    <dgm:pt modelId="{74BCB0AC-6184-4BC5-9259-9B38484EB0BD}" type="pres">
      <dgm:prSet presAssocID="{4D17E48B-816F-4E22-9171-D7C3EC19B9C9}" presName="node" presStyleLbl="node1" presStyleIdx="1" presStyleCnt="2" custLinFactNeighborX="117" custLinFactNeighborY="-2057">
        <dgm:presLayoutVars>
          <dgm:bulletEnabled val="1"/>
        </dgm:presLayoutVars>
      </dgm:prSet>
      <dgm:spPr/>
    </dgm:pt>
  </dgm:ptLst>
  <dgm:cxnLst>
    <dgm:cxn modelId="{1CA98203-558B-45E4-A7A1-F48A422AE458}" type="presOf" srcId="{4D17E48B-816F-4E22-9171-D7C3EC19B9C9}" destId="{74BCB0AC-6184-4BC5-9259-9B38484EB0BD}" srcOrd="0" destOrd="0" presId="urn:microsoft.com/office/officeart/2005/8/layout/process1"/>
    <dgm:cxn modelId="{6A489771-EB21-4FDB-966A-938C12D56F1B}" type="presOf" srcId="{BE1CF92B-E233-45F0-86C5-16F51FF2EC39}" destId="{A984A37F-DEE6-432F-A851-EC63949E182D}" srcOrd="0" destOrd="1" presId="urn:microsoft.com/office/officeart/2005/8/layout/process1"/>
    <dgm:cxn modelId="{DA368359-F69E-44AE-82BB-864A404D31CC}" type="presOf" srcId="{DC3CC174-F385-4928-94AE-004F8649AC5E}" destId="{71F89AA5-3D26-438B-9C21-64A60B7CAFE1}" srcOrd="0" destOrd="0" presId="urn:microsoft.com/office/officeart/2005/8/layout/process1"/>
    <dgm:cxn modelId="{6CBE368C-0516-4D4C-AC0F-A6C3E8765701}" srcId="{0B5B70DB-C372-486F-A52D-26714D56BF44}" destId="{37544A0C-6DF7-435C-8FA1-8FE37503C07D}" srcOrd="1" destOrd="0" parTransId="{2CBBC2EE-E3DE-4291-8BDA-AA06740B4FF3}" sibTransId="{3E5B9DB5-F3DE-4990-8BEC-F02849DC7160}"/>
    <dgm:cxn modelId="{E347CFAC-3B84-4812-981F-A0AC75794A76}" srcId="{A7521F9F-9853-4760-AF04-01C8BE6DE7CA}" destId="{0B5B70DB-C372-486F-A52D-26714D56BF44}" srcOrd="0" destOrd="0" parTransId="{4E51C9B7-F398-4309-9C2C-8766F2A1A0CB}" sibTransId="{DC3CC174-F385-4928-94AE-004F8649AC5E}"/>
    <dgm:cxn modelId="{ABE68EB5-A8CC-4A22-A064-1512AFC20EDC}" srcId="{A7521F9F-9853-4760-AF04-01C8BE6DE7CA}" destId="{4D17E48B-816F-4E22-9171-D7C3EC19B9C9}" srcOrd="1" destOrd="0" parTransId="{A9EDF49D-A50F-40C5-992A-42017C32CDE9}" sibTransId="{99CF6B85-1B61-459F-A041-5EDD9A2A19E3}"/>
    <dgm:cxn modelId="{C2581CB6-6257-402A-87AE-D20944118EC0}" type="presOf" srcId="{7FD1DD7D-D91A-40F2-B4BD-D732FA71855B}" destId="{74BCB0AC-6184-4BC5-9259-9B38484EB0BD}" srcOrd="0" destOrd="1" presId="urn:microsoft.com/office/officeart/2005/8/layout/process1"/>
    <dgm:cxn modelId="{54D08DBC-3883-4625-A47A-83064D9BDEF2}" srcId="{4D17E48B-816F-4E22-9171-D7C3EC19B9C9}" destId="{7FD1DD7D-D91A-40F2-B4BD-D732FA71855B}" srcOrd="0" destOrd="0" parTransId="{20AA30AA-C341-41F7-89B2-1FBC197D229B}" sibTransId="{CEB451CE-E251-4E61-AB34-F6AD802F600D}"/>
    <dgm:cxn modelId="{2F33BFC9-F43A-43FF-90CC-C178B6C8CACC}" type="presOf" srcId="{A7521F9F-9853-4760-AF04-01C8BE6DE7CA}" destId="{6F18769F-A45C-47E8-9743-8DD15455B2C9}" srcOrd="0" destOrd="0" presId="urn:microsoft.com/office/officeart/2005/8/layout/process1"/>
    <dgm:cxn modelId="{A0FD2FCB-C505-46B4-9907-A616C668311C}" type="presOf" srcId="{0B5B70DB-C372-486F-A52D-26714D56BF44}" destId="{A984A37F-DEE6-432F-A851-EC63949E182D}" srcOrd="0" destOrd="0" presId="urn:microsoft.com/office/officeart/2005/8/layout/process1"/>
    <dgm:cxn modelId="{69A26AE0-E391-45ED-8180-EB7720D9C276}" type="presOf" srcId="{7C0ADEE1-848F-48CD-9293-0F35786E087E}" destId="{A984A37F-DEE6-432F-A851-EC63949E182D}" srcOrd="0" destOrd="3" presId="urn:microsoft.com/office/officeart/2005/8/layout/process1"/>
    <dgm:cxn modelId="{E19760E5-1D2A-49EC-92AC-07AFD6E1560E}" srcId="{0B5B70DB-C372-486F-A52D-26714D56BF44}" destId="{7C0ADEE1-848F-48CD-9293-0F35786E087E}" srcOrd="2" destOrd="0" parTransId="{54AE1557-8FB0-4B8D-B47D-318B8DD94951}" sibTransId="{26AA21C8-1DBE-4D12-B1C0-A1DBA074E1BE}"/>
    <dgm:cxn modelId="{D9C82BEB-FBAA-4E3E-96E6-6FAE1847F7CA}" type="presOf" srcId="{37544A0C-6DF7-435C-8FA1-8FE37503C07D}" destId="{A984A37F-DEE6-432F-A851-EC63949E182D}" srcOrd="0" destOrd="2" presId="urn:microsoft.com/office/officeart/2005/8/layout/process1"/>
    <dgm:cxn modelId="{517781ED-AA1B-43F8-9A7D-3C73DE23B6BD}" type="presOf" srcId="{DC3CC174-F385-4928-94AE-004F8649AC5E}" destId="{C844A1A0-E988-420F-9877-1860DF89A1EB}" srcOrd="1" destOrd="0" presId="urn:microsoft.com/office/officeart/2005/8/layout/process1"/>
    <dgm:cxn modelId="{7FE6A1F6-0295-4FF9-BD45-AA6601A252D0}" srcId="{0B5B70DB-C372-486F-A52D-26714D56BF44}" destId="{BE1CF92B-E233-45F0-86C5-16F51FF2EC39}" srcOrd="0" destOrd="0" parTransId="{CADBA3B3-0E95-46E3-BD45-554A451764AE}" sibTransId="{C7B67B06-F568-4F00-A990-2D3E2833329B}"/>
    <dgm:cxn modelId="{D5486157-BF3A-4C91-865B-2E4472A24377}" type="presParOf" srcId="{6F18769F-A45C-47E8-9743-8DD15455B2C9}" destId="{A984A37F-DEE6-432F-A851-EC63949E182D}" srcOrd="0" destOrd="0" presId="urn:microsoft.com/office/officeart/2005/8/layout/process1"/>
    <dgm:cxn modelId="{6BBE8042-8A1C-4B3B-885B-13B4770D3A4E}" type="presParOf" srcId="{6F18769F-A45C-47E8-9743-8DD15455B2C9}" destId="{71F89AA5-3D26-438B-9C21-64A60B7CAFE1}" srcOrd="1" destOrd="0" presId="urn:microsoft.com/office/officeart/2005/8/layout/process1"/>
    <dgm:cxn modelId="{41143643-5ACB-409D-8EF5-BE70A4378899}" type="presParOf" srcId="{71F89AA5-3D26-438B-9C21-64A60B7CAFE1}" destId="{C844A1A0-E988-420F-9877-1860DF89A1EB}" srcOrd="0" destOrd="0" presId="urn:microsoft.com/office/officeart/2005/8/layout/process1"/>
    <dgm:cxn modelId="{9328C82C-9CD6-48AA-BCD1-24E5140E97BD}" type="presParOf" srcId="{6F18769F-A45C-47E8-9743-8DD15455B2C9}" destId="{74BCB0AC-6184-4BC5-9259-9B38484EB0B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521F9F-9853-4760-AF04-01C8BE6DE7CA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AEE3E50-0B70-4E20-8A23-DF2C94A810C5}">
      <dgm:prSet/>
      <dgm:spPr/>
      <dgm:t>
        <a:bodyPr/>
        <a:lstStyle/>
        <a:p>
          <a:r>
            <a:rPr lang="en-SG" dirty="0"/>
            <a:t>Feature Store</a:t>
          </a:r>
        </a:p>
      </dgm:t>
    </dgm:pt>
    <dgm:pt modelId="{E87FE72D-7C21-4C4E-89B7-B9E78A928E21}" type="parTrans" cxnId="{65B2B22E-72CC-4EB5-8353-86AEBB03EE39}">
      <dgm:prSet/>
      <dgm:spPr/>
      <dgm:t>
        <a:bodyPr/>
        <a:lstStyle/>
        <a:p>
          <a:endParaRPr lang="en-SG"/>
        </a:p>
      </dgm:t>
    </dgm:pt>
    <dgm:pt modelId="{87E3D749-6CB6-4793-A88E-29194C75DC2E}" type="sibTrans" cxnId="{65B2B22E-72CC-4EB5-8353-86AEBB03EE39}">
      <dgm:prSet/>
      <dgm:spPr/>
      <dgm:t>
        <a:bodyPr/>
        <a:lstStyle/>
        <a:p>
          <a:endParaRPr lang="en-SG"/>
        </a:p>
      </dgm:t>
    </dgm:pt>
    <dgm:pt modelId="{81DAF9E1-DC97-46BC-9402-EC7E539BD23B}">
      <dgm:prSet/>
      <dgm:spPr/>
      <dgm:t>
        <a:bodyPr/>
        <a:lstStyle/>
        <a:p>
          <a:r>
            <a:rPr lang="en-SG" dirty="0"/>
            <a:t>Shared Feature Engineering Layer</a:t>
          </a:r>
        </a:p>
      </dgm:t>
    </dgm:pt>
    <dgm:pt modelId="{774DEF1E-F047-4F32-AB56-BA562E647A7D}" type="parTrans" cxnId="{497ECFF2-4A89-4347-AA5E-5EE043180273}">
      <dgm:prSet/>
      <dgm:spPr/>
      <dgm:t>
        <a:bodyPr/>
        <a:lstStyle/>
        <a:p>
          <a:endParaRPr lang="en-SG"/>
        </a:p>
      </dgm:t>
    </dgm:pt>
    <dgm:pt modelId="{EA7AE1C2-FEF0-4F32-AB9C-23C83BD88215}" type="sibTrans" cxnId="{497ECFF2-4A89-4347-AA5E-5EE043180273}">
      <dgm:prSet/>
      <dgm:spPr/>
      <dgm:t>
        <a:bodyPr/>
        <a:lstStyle/>
        <a:p>
          <a:endParaRPr lang="en-SG"/>
        </a:p>
      </dgm:t>
    </dgm:pt>
    <dgm:pt modelId="{168ACAE5-0523-42E8-A5C9-EB8487E758CD}">
      <dgm:prSet/>
      <dgm:spPr/>
      <dgm:t>
        <a:bodyPr/>
        <a:lstStyle/>
        <a:p>
          <a:r>
            <a:rPr lang="en-SG" dirty="0"/>
            <a:t>Online Retail transaction dataset of 2 years </a:t>
          </a:r>
          <a:r>
            <a:rPr lang="en-SG" b="0" i="1" dirty="0">
              <a:solidFill>
                <a:srgbClr val="0070C0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(Online Retail II (UCI transactional dataset)</a:t>
          </a:r>
          <a:endParaRPr lang="en-SG" b="0" i="1" dirty="0">
            <a:solidFill>
              <a:srgbClr val="0070C0"/>
            </a:solidFill>
          </a:endParaRPr>
        </a:p>
      </dgm:t>
    </dgm:pt>
    <dgm:pt modelId="{372E7EBD-7A00-4027-AA9B-5C49268CCBF5}" type="parTrans" cxnId="{4EAD2E28-C777-4A91-80D5-67979928E573}">
      <dgm:prSet/>
      <dgm:spPr/>
      <dgm:t>
        <a:bodyPr/>
        <a:lstStyle/>
        <a:p>
          <a:endParaRPr lang="en-SG"/>
        </a:p>
      </dgm:t>
    </dgm:pt>
    <dgm:pt modelId="{B23ADA11-DC68-4FE3-A495-2D6143CCC4E5}" type="sibTrans" cxnId="{4EAD2E28-C777-4A91-80D5-67979928E573}">
      <dgm:prSet/>
      <dgm:spPr/>
      <dgm:t>
        <a:bodyPr/>
        <a:lstStyle/>
        <a:p>
          <a:endParaRPr lang="en-SG"/>
        </a:p>
      </dgm:t>
    </dgm:pt>
    <dgm:pt modelId="{BAE20149-9CD2-4A4C-9615-822EEA0CA46F}" type="pres">
      <dgm:prSet presAssocID="{A7521F9F-9853-4760-AF04-01C8BE6DE7CA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BD64D23D-7A15-4A81-A6E3-B0718F4FD3A0}" type="pres">
      <dgm:prSet presAssocID="{3AEE3E50-0B70-4E20-8A23-DF2C94A810C5}" presName="Accent1" presStyleCnt="0"/>
      <dgm:spPr/>
    </dgm:pt>
    <dgm:pt modelId="{6E50C483-DCCC-4B9C-AE6B-988DC288188A}" type="pres">
      <dgm:prSet presAssocID="{3AEE3E50-0B70-4E20-8A23-DF2C94A810C5}" presName="Accent" presStyleLbl="node1" presStyleIdx="0" presStyleCnt="1"/>
      <dgm:spPr/>
    </dgm:pt>
    <dgm:pt modelId="{6A376E0F-C90E-4CB9-B0AB-D828CA4F9FF2}" type="pres">
      <dgm:prSet presAssocID="{3AEE3E50-0B70-4E20-8A23-DF2C94A810C5}" presName="ParentBackground1" presStyleCnt="0"/>
      <dgm:spPr/>
    </dgm:pt>
    <dgm:pt modelId="{27C934A3-7313-4156-8ED7-DDC09B6D49E2}" type="pres">
      <dgm:prSet presAssocID="{3AEE3E50-0B70-4E20-8A23-DF2C94A810C5}" presName="ParentBackground" presStyleLbl="fgAcc1" presStyleIdx="0" presStyleCnt="1"/>
      <dgm:spPr/>
    </dgm:pt>
    <dgm:pt modelId="{4A4F7823-EAE9-46C3-ABC1-34D954A204CF}" type="pres">
      <dgm:prSet presAssocID="{3AEE3E50-0B70-4E20-8A23-DF2C94A810C5}" presName="Child1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D592DE3C-E03A-4374-9246-C25921A80337}" type="pres">
      <dgm:prSet presAssocID="{3AEE3E50-0B70-4E20-8A23-DF2C94A810C5}" presName="Parent1" presStyleLbl="revTx" presStyleIdx="0" presStyleCnt="1">
        <dgm:presLayoutVars>
          <dgm:chMax val="1"/>
          <dgm:chPref val="1"/>
          <dgm:bulletEnabled val="1"/>
        </dgm:presLayoutVars>
      </dgm:prSet>
      <dgm:spPr/>
    </dgm:pt>
  </dgm:ptLst>
  <dgm:cxnLst>
    <dgm:cxn modelId="{4EAD2E28-C777-4A91-80D5-67979928E573}" srcId="{3AEE3E50-0B70-4E20-8A23-DF2C94A810C5}" destId="{168ACAE5-0523-42E8-A5C9-EB8487E758CD}" srcOrd="0" destOrd="0" parTransId="{372E7EBD-7A00-4027-AA9B-5C49268CCBF5}" sibTransId="{B23ADA11-DC68-4FE3-A495-2D6143CCC4E5}"/>
    <dgm:cxn modelId="{65B2B22E-72CC-4EB5-8353-86AEBB03EE39}" srcId="{A7521F9F-9853-4760-AF04-01C8BE6DE7CA}" destId="{3AEE3E50-0B70-4E20-8A23-DF2C94A810C5}" srcOrd="0" destOrd="0" parTransId="{E87FE72D-7C21-4C4E-89B7-B9E78A928E21}" sibTransId="{87E3D749-6CB6-4793-A88E-29194C75DC2E}"/>
    <dgm:cxn modelId="{58A5C43C-4AB4-4072-B9BF-110990539A6D}" type="presOf" srcId="{168ACAE5-0523-42E8-A5C9-EB8487E758CD}" destId="{4A4F7823-EAE9-46C3-ABC1-34D954A204CF}" srcOrd="0" destOrd="0" presId="urn:microsoft.com/office/officeart/2011/layout/CircleProcess"/>
    <dgm:cxn modelId="{244BC07D-ADFF-4472-8431-F41BCD3B5FD8}" type="presOf" srcId="{3AEE3E50-0B70-4E20-8A23-DF2C94A810C5}" destId="{D592DE3C-E03A-4374-9246-C25921A80337}" srcOrd="1" destOrd="0" presId="urn:microsoft.com/office/officeart/2011/layout/CircleProcess"/>
    <dgm:cxn modelId="{1813728D-CD03-43FE-AD9B-C49A0CEA0F8F}" type="presOf" srcId="{A7521F9F-9853-4760-AF04-01C8BE6DE7CA}" destId="{BAE20149-9CD2-4A4C-9615-822EEA0CA46F}" srcOrd="0" destOrd="0" presId="urn:microsoft.com/office/officeart/2011/layout/CircleProcess"/>
    <dgm:cxn modelId="{CFA778AE-9E62-4A8E-BF66-68222C024082}" type="presOf" srcId="{3AEE3E50-0B70-4E20-8A23-DF2C94A810C5}" destId="{27C934A3-7313-4156-8ED7-DDC09B6D49E2}" srcOrd="0" destOrd="0" presId="urn:microsoft.com/office/officeart/2011/layout/CircleProcess"/>
    <dgm:cxn modelId="{497ECFF2-4A89-4347-AA5E-5EE043180273}" srcId="{3AEE3E50-0B70-4E20-8A23-DF2C94A810C5}" destId="{81DAF9E1-DC97-46BC-9402-EC7E539BD23B}" srcOrd="1" destOrd="0" parTransId="{774DEF1E-F047-4F32-AB56-BA562E647A7D}" sibTransId="{EA7AE1C2-FEF0-4F32-AB9C-23C83BD88215}"/>
    <dgm:cxn modelId="{8B33CBF9-3396-447C-BBCE-2DAFD1AB4BFA}" type="presOf" srcId="{81DAF9E1-DC97-46BC-9402-EC7E539BD23B}" destId="{4A4F7823-EAE9-46C3-ABC1-34D954A204CF}" srcOrd="0" destOrd="1" presId="urn:microsoft.com/office/officeart/2011/layout/CircleProcess"/>
    <dgm:cxn modelId="{346B1158-EC48-4EEE-9176-08BB100A4EE3}" type="presParOf" srcId="{BAE20149-9CD2-4A4C-9615-822EEA0CA46F}" destId="{BD64D23D-7A15-4A81-A6E3-B0718F4FD3A0}" srcOrd="0" destOrd="0" presId="urn:microsoft.com/office/officeart/2011/layout/CircleProcess"/>
    <dgm:cxn modelId="{EDCF0721-910C-432A-B189-E3F425765A7A}" type="presParOf" srcId="{BD64D23D-7A15-4A81-A6E3-B0718F4FD3A0}" destId="{6E50C483-DCCC-4B9C-AE6B-988DC288188A}" srcOrd="0" destOrd="0" presId="urn:microsoft.com/office/officeart/2011/layout/CircleProcess"/>
    <dgm:cxn modelId="{1C403461-BECD-4335-94C0-4EFEDD106219}" type="presParOf" srcId="{BAE20149-9CD2-4A4C-9615-822EEA0CA46F}" destId="{6A376E0F-C90E-4CB9-B0AB-D828CA4F9FF2}" srcOrd="1" destOrd="0" presId="urn:microsoft.com/office/officeart/2011/layout/CircleProcess"/>
    <dgm:cxn modelId="{8E740BBD-6D0F-4320-B356-EC22111A7BBF}" type="presParOf" srcId="{6A376E0F-C90E-4CB9-B0AB-D828CA4F9FF2}" destId="{27C934A3-7313-4156-8ED7-DDC09B6D49E2}" srcOrd="0" destOrd="0" presId="urn:microsoft.com/office/officeart/2011/layout/CircleProcess"/>
    <dgm:cxn modelId="{5B78382F-50D9-4623-B404-5EB370E6ED3A}" type="presParOf" srcId="{BAE20149-9CD2-4A4C-9615-822EEA0CA46F}" destId="{4A4F7823-EAE9-46C3-ABC1-34D954A204CF}" srcOrd="2" destOrd="0" presId="urn:microsoft.com/office/officeart/2011/layout/CircleProcess"/>
    <dgm:cxn modelId="{D806BA01-1F95-4A48-9812-F2296A1427F1}" type="presParOf" srcId="{BAE20149-9CD2-4A4C-9615-822EEA0CA46F}" destId="{D592DE3C-E03A-4374-9246-C25921A80337}" srcOrd="3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521F9F-9853-4760-AF04-01C8BE6DE7C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E878DF7A-3516-4BCB-AA59-99E356A46073}">
      <dgm:prSet custT="1"/>
      <dgm:spPr/>
      <dgm:t>
        <a:bodyPr/>
        <a:lstStyle/>
        <a:p>
          <a:r>
            <a:rPr lang="en-SG" sz="1400" b="1" dirty="0"/>
            <a:t>Retrieval &amp; Ranking Engine</a:t>
          </a:r>
        </a:p>
      </dgm:t>
    </dgm:pt>
    <dgm:pt modelId="{4215D128-B3CD-480F-AA0F-6DDB0B6C6E34}" type="parTrans" cxnId="{74911EB3-CA94-4516-B771-EEBF0B929931}">
      <dgm:prSet/>
      <dgm:spPr/>
      <dgm:t>
        <a:bodyPr/>
        <a:lstStyle/>
        <a:p>
          <a:endParaRPr lang="en-SG"/>
        </a:p>
      </dgm:t>
    </dgm:pt>
    <dgm:pt modelId="{8EDF5DBF-CBE7-4C0D-B13F-D8077C96DF81}" type="sibTrans" cxnId="{74911EB3-CA94-4516-B771-EEBF0B929931}">
      <dgm:prSet/>
      <dgm:spPr/>
      <dgm:t>
        <a:bodyPr/>
        <a:lstStyle/>
        <a:p>
          <a:endParaRPr lang="en-SG" dirty="0"/>
        </a:p>
      </dgm:t>
    </dgm:pt>
    <dgm:pt modelId="{09C66954-CA12-481A-81EF-C16F06D8EB2B}">
      <dgm:prSet custT="1"/>
      <dgm:spPr/>
      <dgm:t>
        <a:bodyPr/>
        <a:lstStyle/>
        <a:p>
          <a:r>
            <a:rPr lang="en-SG" sz="1200" dirty="0"/>
            <a:t>Training Pipeline (Offline): Two-Tower Collaborative Filtering</a:t>
          </a:r>
        </a:p>
      </dgm:t>
    </dgm:pt>
    <dgm:pt modelId="{FEDCE43D-7C3C-4CD0-95A4-5F4336856A30}" type="parTrans" cxnId="{B001BCEA-12E7-4C97-8AC3-59ED55691DF1}">
      <dgm:prSet/>
      <dgm:spPr/>
      <dgm:t>
        <a:bodyPr/>
        <a:lstStyle/>
        <a:p>
          <a:endParaRPr lang="en-SG"/>
        </a:p>
      </dgm:t>
    </dgm:pt>
    <dgm:pt modelId="{22F76C3E-3F4A-4B6F-A1A7-4EB975212D17}" type="sibTrans" cxnId="{B001BCEA-12E7-4C97-8AC3-59ED55691DF1}">
      <dgm:prSet/>
      <dgm:spPr/>
      <dgm:t>
        <a:bodyPr/>
        <a:lstStyle/>
        <a:p>
          <a:endParaRPr lang="en-SG"/>
        </a:p>
      </dgm:t>
    </dgm:pt>
    <dgm:pt modelId="{668BD968-7D7C-4548-A9C3-39BA39AA91DE}">
      <dgm:prSet custT="1"/>
      <dgm:spPr/>
      <dgm:t>
        <a:bodyPr/>
        <a:lstStyle/>
        <a:p>
          <a:r>
            <a:rPr lang="en-SG" sz="1400" b="1" dirty="0"/>
            <a:t>Offline Evaluation</a:t>
          </a:r>
          <a:endParaRPr lang="en-SG" sz="1400" dirty="0"/>
        </a:p>
      </dgm:t>
    </dgm:pt>
    <dgm:pt modelId="{51062191-8FB1-4D1A-AB12-867C760892B6}" type="parTrans" cxnId="{CD81A89C-B532-4213-B6C7-3D7627A466E3}">
      <dgm:prSet/>
      <dgm:spPr/>
      <dgm:t>
        <a:bodyPr/>
        <a:lstStyle/>
        <a:p>
          <a:endParaRPr lang="en-SG"/>
        </a:p>
      </dgm:t>
    </dgm:pt>
    <dgm:pt modelId="{925C0620-2481-44B4-A783-D3BFEC8F2EF3}" type="sibTrans" cxnId="{CD81A89C-B532-4213-B6C7-3D7627A466E3}">
      <dgm:prSet/>
      <dgm:spPr/>
      <dgm:t>
        <a:bodyPr/>
        <a:lstStyle/>
        <a:p>
          <a:endParaRPr lang="en-SG"/>
        </a:p>
      </dgm:t>
    </dgm:pt>
    <dgm:pt modelId="{6A8BE770-976B-4991-9D1C-26116AC48EDC}">
      <dgm:prSet custT="1"/>
      <dgm:spPr/>
      <dgm:t>
        <a:bodyPr/>
        <a:lstStyle/>
        <a:p>
          <a:r>
            <a:rPr lang="en-SG" sz="1200" dirty="0"/>
            <a:t>Proxy metrics for commercial engagement: Recall/NDCG/Hit Rate</a:t>
          </a:r>
        </a:p>
      </dgm:t>
    </dgm:pt>
    <dgm:pt modelId="{0501BE61-703B-41E2-9731-511B0780652B}" type="parTrans" cxnId="{27DB255B-B5FF-454F-BAAD-AF1AB4C204CA}">
      <dgm:prSet/>
      <dgm:spPr/>
      <dgm:t>
        <a:bodyPr/>
        <a:lstStyle/>
        <a:p>
          <a:endParaRPr lang="en-SG"/>
        </a:p>
      </dgm:t>
    </dgm:pt>
    <dgm:pt modelId="{B0B8C39B-D8E1-44D5-9B45-4BCAF65D9127}" type="sibTrans" cxnId="{27DB255B-B5FF-454F-BAAD-AF1AB4C204CA}">
      <dgm:prSet/>
      <dgm:spPr/>
      <dgm:t>
        <a:bodyPr/>
        <a:lstStyle/>
        <a:p>
          <a:endParaRPr lang="en-SG"/>
        </a:p>
      </dgm:t>
    </dgm:pt>
    <dgm:pt modelId="{4C268D6E-5823-4943-A1D0-5661390E54A4}">
      <dgm:prSet custT="1"/>
      <dgm:spPr/>
      <dgm:t>
        <a:bodyPr/>
        <a:lstStyle/>
        <a:p>
          <a:r>
            <a:rPr lang="en-SG" sz="1200" dirty="0"/>
            <a:t>Serving (Retrieval) Pipeline: User-Item Dot Product Scoring</a:t>
          </a:r>
        </a:p>
      </dgm:t>
    </dgm:pt>
    <dgm:pt modelId="{D77C3BD0-846A-4241-9322-64E7B7736469}" type="parTrans" cxnId="{EC72C0A1-6A05-46C8-956E-AB64B34C1275}">
      <dgm:prSet/>
      <dgm:spPr/>
      <dgm:t>
        <a:bodyPr/>
        <a:lstStyle/>
        <a:p>
          <a:endParaRPr lang="en-SG"/>
        </a:p>
      </dgm:t>
    </dgm:pt>
    <dgm:pt modelId="{917054AE-2A83-49C6-911F-96CDE2B7002D}" type="sibTrans" cxnId="{EC72C0A1-6A05-46C8-956E-AB64B34C1275}">
      <dgm:prSet/>
      <dgm:spPr/>
      <dgm:t>
        <a:bodyPr/>
        <a:lstStyle/>
        <a:p>
          <a:endParaRPr lang="en-SG"/>
        </a:p>
      </dgm:t>
    </dgm:pt>
    <dgm:pt modelId="{49A29645-3F90-4FF4-BDF5-47626EC8689A}" type="pres">
      <dgm:prSet presAssocID="{A7521F9F-9853-4760-AF04-01C8BE6DE7CA}" presName="Name0" presStyleCnt="0">
        <dgm:presLayoutVars>
          <dgm:dir/>
          <dgm:resizeHandles val="exact"/>
        </dgm:presLayoutVars>
      </dgm:prSet>
      <dgm:spPr/>
    </dgm:pt>
    <dgm:pt modelId="{D11E4ACC-F46F-4E3F-B3D5-13482F0C135B}" type="pres">
      <dgm:prSet presAssocID="{E878DF7A-3516-4BCB-AA59-99E356A46073}" presName="node" presStyleLbl="node1" presStyleIdx="0" presStyleCnt="2">
        <dgm:presLayoutVars>
          <dgm:bulletEnabled val="1"/>
        </dgm:presLayoutVars>
      </dgm:prSet>
      <dgm:spPr/>
    </dgm:pt>
    <dgm:pt modelId="{4F230ABA-46E3-4A4E-8801-E05038A704F6}" type="pres">
      <dgm:prSet presAssocID="{8EDF5DBF-CBE7-4C0D-B13F-D8077C96DF81}" presName="sibTrans" presStyleLbl="sibTrans2D1" presStyleIdx="0" presStyleCnt="1"/>
      <dgm:spPr/>
    </dgm:pt>
    <dgm:pt modelId="{EAFCC294-EEFD-41EA-89A9-2BDC76D31A73}" type="pres">
      <dgm:prSet presAssocID="{8EDF5DBF-CBE7-4C0D-B13F-D8077C96DF81}" presName="connectorText" presStyleLbl="sibTrans2D1" presStyleIdx="0" presStyleCnt="1"/>
      <dgm:spPr/>
    </dgm:pt>
    <dgm:pt modelId="{298762B9-1A9A-489F-A7B0-51C707051142}" type="pres">
      <dgm:prSet presAssocID="{668BD968-7D7C-4548-A9C3-39BA39AA91DE}" presName="node" presStyleLbl="node1" presStyleIdx="1" presStyleCnt="2">
        <dgm:presLayoutVars>
          <dgm:bulletEnabled val="1"/>
        </dgm:presLayoutVars>
      </dgm:prSet>
      <dgm:spPr/>
    </dgm:pt>
  </dgm:ptLst>
  <dgm:cxnLst>
    <dgm:cxn modelId="{3331451B-767A-4DA4-BB06-4462AB791AA6}" type="presOf" srcId="{668BD968-7D7C-4548-A9C3-39BA39AA91DE}" destId="{298762B9-1A9A-489F-A7B0-51C707051142}" srcOrd="0" destOrd="0" presId="urn:microsoft.com/office/officeart/2005/8/layout/process1"/>
    <dgm:cxn modelId="{27DB255B-B5FF-454F-BAAD-AF1AB4C204CA}" srcId="{668BD968-7D7C-4548-A9C3-39BA39AA91DE}" destId="{6A8BE770-976B-4991-9D1C-26116AC48EDC}" srcOrd="0" destOrd="0" parTransId="{0501BE61-703B-41E2-9731-511B0780652B}" sibTransId="{B0B8C39B-D8E1-44D5-9B45-4BCAF65D9127}"/>
    <dgm:cxn modelId="{045E0F5C-0F94-48BA-9FDE-23107E04A8A2}" type="presOf" srcId="{6A8BE770-976B-4991-9D1C-26116AC48EDC}" destId="{298762B9-1A9A-489F-A7B0-51C707051142}" srcOrd="0" destOrd="1" presId="urn:microsoft.com/office/officeart/2005/8/layout/process1"/>
    <dgm:cxn modelId="{92259160-04A2-4024-BEA6-D268E870F9D4}" type="presOf" srcId="{4C268D6E-5823-4943-A1D0-5661390E54A4}" destId="{D11E4ACC-F46F-4E3F-B3D5-13482F0C135B}" srcOrd="0" destOrd="2" presId="urn:microsoft.com/office/officeart/2005/8/layout/process1"/>
    <dgm:cxn modelId="{691B975A-1EB2-49FE-9E6D-1200CC451944}" type="presOf" srcId="{09C66954-CA12-481A-81EF-C16F06D8EB2B}" destId="{D11E4ACC-F46F-4E3F-B3D5-13482F0C135B}" srcOrd="0" destOrd="1" presId="urn:microsoft.com/office/officeart/2005/8/layout/process1"/>
    <dgm:cxn modelId="{CD81A89C-B532-4213-B6C7-3D7627A466E3}" srcId="{A7521F9F-9853-4760-AF04-01C8BE6DE7CA}" destId="{668BD968-7D7C-4548-A9C3-39BA39AA91DE}" srcOrd="1" destOrd="0" parTransId="{51062191-8FB1-4D1A-AB12-867C760892B6}" sibTransId="{925C0620-2481-44B4-A783-D3BFEC8F2EF3}"/>
    <dgm:cxn modelId="{1F17D19C-F7AA-4A41-8C89-02E285BFD35A}" type="presOf" srcId="{E878DF7A-3516-4BCB-AA59-99E356A46073}" destId="{D11E4ACC-F46F-4E3F-B3D5-13482F0C135B}" srcOrd="0" destOrd="0" presId="urn:microsoft.com/office/officeart/2005/8/layout/process1"/>
    <dgm:cxn modelId="{EC72C0A1-6A05-46C8-956E-AB64B34C1275}" srcId="{E878DF7A-3516-4BCB-AA59-99E356A46073}" destId="{4C268D6E-5823-4943-A1D0-5661390E54A4}" srcOrd="1" destOrd="0" parTransId="{D77C3BD0-846A-4241-9322-64E7B7736469}" sibTransId="{917054AE-2A83-49C6-911F-96CDE2B7002D}"/>
    <dgm:cxn modelId="{74911EB3-CA94-4516-B771-EEBF0B929931}" srcId="{A7521F9F-9853-4760-AF04-01C8BE6DE7CA}" destId="{E878DF7A-3516-4BCB-AA59-99E356A46073}" srcOrd="0" destOrd="0" parTransId="{4215D128-B3CD-480F-AA0F-6DDB0B6C6E34}" sibTransId="{8EDF5DBF-CBE7-4C0D-B13F-D8077C96DF81}"/>
    <dgm:cxn modelId="{6D0C46BF-67A0-4EE0-94E3-F20A8C43E5A5}" type="presOf" srcId="{8EDF5DBF-CBE7-4C0D-B13F-D8077C96DF81}" destId="{4F230ABA-46E3-4A4E-8801-E05038A704F6}" srcOrd="0" destOrd="0" presId="urn:microsoft.com/office/officeart/2005/8/layout/process1"/>
    <dgm:cxn modelId="{BE90DDC7-4B23-4CD4-821B-0F214C68E1CE}" type="presOf" srcId="{8EDF5DBF-CBE7-4C0D-B13F-D8077C96DF81}" destId="{EAFCC294-EEFD-41EA-89A9-2BDC76D31A73}" srcOrd="1" destOrd="0" presId="urn:microsoft.com/office/officeart/2005/8/layout/process1"/>
    <dgm:cxn modelId="{B001BCEA-12E7-4C97-8AC3-59ED55691DF1}" srcId="{E878DF7A-3516-4BCB-AA59-99E356A46073}" destId="{09C66954-CA12-481A-81EF-C16F06D8EB2B}" srcOrd="0" destOrd="0" parTransId="{FEDCE43D-7C3C-4CD0-95A4-5F4336856A30}" sibTransId="{22F76C3E-3F4A-4B6F-A1A7-4EB975212D17}"/>
    <dgm:cxn modelId="{6834DEEF-495D-4C07-9F15-C40EC10DF0CC}" type="presOf" srcId="{A7521F9F-9853-4760-AF04-01C8BE6DE7CA}" destId="{49A29645-3F90-4FF4-BDF5-47626EC8689A}" srcOrd="0" destOrd="0" presId="urn:microsoft.com/office/officeart/2005/8/layout/process1"/>
    <dgm:cxn modelId="{CD52D83A-4716-481B-BF19-C575A5C23351}" type="presParOf" srcId="{49A29645-3F90-4FF4-BDF5-47626EC8689A}" destId="{D11E4ACC-F46F-4E3F-B3D5-13482F0C135B}" srcOrd="0" destOrd="0" presId="urn:microsoft.com/office/officeart/2005/8/layout/process1"/>
    <dgm:cxn modelId="{3549375D-A795-46E8-B95B-978376F93F70}" type="presParOf" srcId="{49A29645-3F90-4FF4-BDF5-47626EC8689A}" destId="{4F230ABA-46E3-4A4E-8801-E05038A704F6}" srcOrd="1" destOrd="0" presId="urn:microsoft.com/office/officeart/2005/8/layout/process1"/>
    <dgm:cxn modelId="{2344C5AF-1820-48D3-8994-2F603E5B9638}" type="presParOf" srcId="{4F230ABA-46E3-4A4E-8801-E05038A704F6}" destId="{EAFCC294-EEFD-41EA-89A9-2BDC76D31A73}" srcOrd="0" destOrd="0" presId="urn:microsoft.com/office/officeart/2005/8/layout/process1"/>
    <dgm:cxn modelId="{7BBAC62B-AD78-4DDA-99CA-D452146D3331}" type="presParOf" srcId="{49A29645-3F90-4FF4-BDF5-47626EC8689A}" destId="{298762B9-1A9A-489F-A7B0-51C707051142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521F9F-9853-4760-AF04-01C8BE6DE7CA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AEE3E50-0B70-4E20-8A23-DF2C94A810C5}">
      <dgm:prSet/>
      <dgm:spPr/>
      <dgm:t>
        <a:bodyPr/>
        <a:lstStyle/>
        <a:p>
          <a:r>
            <a:rPr lang="en-SG" b="0" dirty="0"/>
            <a:t>Feature Store</a:t>
          </a:r>
          <a:endParaRPr lang="en-SG" dirty="0"/>
        </a:p>
      </dgm:t>
    </dgm:pt>
    <dgm:pt modelId="{E87FE72D-7C21-4C4E-89B7-B9E78A928E21}" type="parTrans" cxnId="{65B2B22E-72CC-4EB5-8353-86AEBB03EE39}">
      <dgm:prSet/>
      <dgm:spPr/>
      <dgm:t>
        <a:bodyPr/>
        <a:lstStyle/>
        <a:p>
          <a:endParaRPr lang="en-SG"/>
        </a:p>
      </dgm:t>
    </dgm:pt>
    <dgm:pt modelId="{87E3D749-6CB6-4793-A88E-29194C75DC2E}" type="sibTrans" cxnId="{65B2B22E-72CC-4EB5-8353-86AEBB03EE39}">
      <dgm:prSet/>
      <dgm:spPr/>
      <dgm:t>
        <a:bodyPr/>
        <a:lstStyle/>
        <a:p>
          <a:endParaRPr lang="en-SG"/>
        </a:p>
      </dgm:t>
    </dgm:pt>
    <dgm:pt modelId="{E878DF7A-3516-4BCB-AA59-99E356A46073}">
      <dgm:prSet/>
      <dgm:spPr/>
      <dgm:t>
        <a:bodyPr/>
        <a:lstStyle/>
        <a:p>
          <a:r>
            <a:rPr lang="en-SG" b="0" dirty="0">
              <a:solidFill>
                <a:schemeClr val="tx1"/>
              </a:solidFill>
            </a:rPr>
            <a:t>Models Training</a:t>
          </a:r>
        </a:p>
      </dgm:t>
    </dgm:pt>
    <dgm:pt modelId="{4215D128-B3CD-480F-AA0F-6DDB0B6C6E34}" type="parTrans" cxnId="{74911EB3-CA94-4516-B771-EEBF0B929931}">
      <dgm:prSet/>
      <dgm:spPr/>
      <dgm:t>
        <a:bodyPr/>
        <a:lstStyle/>
        <a:p>
          <a:endParaRPr lang="en-SG"/>
        </a:p>
      </dgm:t>
    </dgm:pt>
    <dgm:pt modelId="{8EDF5DBF-CBE7-4C0D-B13F-D8077C96DF81}" type="sibTrans" cxnId="{74911EB3-CA94-4516-B771-EEBF0B929931}">
      <dgm:prSet/>
      <dgm:spPr/>
      <dgm:t>
        <a:bodyPr/>
        <a:lstStyle/>
        <a:p>
          <a:endParaRPr lang="en-SG"/>
        </a:p>
      </dgm:t>
    </dgm:pt>
    <dgm:pt modelId="{39EB0991-8EB9-4AFD-A2F2-F6E1F254BE25}">
      <dgm:prSet/>
      <dgm:spPr/>
      <dgm:t>
        <a:bodyPr/>
        <a:lstStyle/>
        <a:p>
          <a:r>
            <a:rPr lang="en-SG" b="0" dirty="0"/>
            <a:t>Models Validation</a:t>
          </a:r>
        </a:p>
      </dgm:t>
    </dgm:pt>
    <dgm:pt modelId="{E6A12652-9F65-4387-B68E-183EBE605256}" type="parTrans" cxnId="{15C2058C-EC37-4FEA-A703-C93AC5402A2C}">
      <dgm:prSet/>
      <dgm:spPr/>
      <dgm:t>
        <a:bodyPr/>
        <a:lstStyle/>
        <a:p>
          <a:endParaRPr lang="en-SG"/>
        </a:p>
      </dgm:t>
    </dgm:pt>
    <dgm:pt modelId="{EF4950E5-5C98-4D2B-B111-BF6A7726FECB}" type="sibTrans" cxnId="{15C2058C-EC37-4FEA-A703-C93AC5402A2C}">
      <dgm:prSet/>
      <dgm:spPr/>
      <dgm:t>
        <a:bodyPr/>
        <a:lstStyle/>
        <a:p>
          <a:endParaRPr lang="en-SG"/>
        </a:p>
      </dgm:t>
    </dgm:pt>
    <dgm:pt modelId="{04AA666C-C578-48EA-AE10-51E0CB9A2732}" type="pres">
      <dgm:prSet presAssocID="{A7521F9F-9853-4760-AF04-01C8BE6DE7CA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54CB8B97-3A40-4B7B-9585-391D70D1B2E7}" type="pres">
      <dgm:prSet presAssocID="{39EB0991-8EB9-4AFD-A2F2-F6E1F254BE25}" presName="Accent3" presStyleCnt="0"/>
      <dgm:spPr/>
    </dgm:pt>
    <dgm:pt modelId="{9CFC7CA6-F413-4EB9-BC7D-5F9345015BD0}" type="pres">
      <dgm:prSet presAssocID="{39EB0991-8EB9-4AFD-A2F2-F6E1F254BE25}" presName="Accent" presStyleLbl="node1" presStyleIdx="0" presStyleCnt="3"/>
      <dgm:spPr/>
    </dgm:pt>
    <dgm:pt modelId="{330BF626-846A-404C-98A2-9CD9561B67B4}" type="pres">
      <dgm:prSet presAssocID="{39EB0991-8EB9-4AFD-A2F2-F6E1F254BE25}" presName="ParentBackground3" presStyleCnt="0"/>
      <dgm:spPr/>
    </dgm:pt>
    <dgm:pt modelId="{3819A24E-29CD-47FA-8F77-B27A7A92C7B6}" type="pres">
      <dgm:prSet presAssocID="{39EB0991-8EB9-4AFD-A2F2-F6E1F254BE25}" presName="ParentBackground" presStyleLbl="fgAcc1" presStyleIdx="0" presStyleCnt="3"/>
      <dgm:spPr/>
    </dgm:pt>
    <dgm:pt modelId="{A144C653-F3F6-4F5B-B196-13C940068BD6}" type="pres">
      <dgm:prSet presAssocID="{39EB0991-8EB9-4AFD-A2F2-F6E1F254BE25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9C4BACF-EBF8-4935-B06B-6366326CFAA4}" type="pres">
      <dgm:prSet presAssocID="{E878DF7A-3516-4BCB-AA59-99E356A46073}" presName="Accent2" presStyleCnt="0"/>
      <dgm:spPr/>
    </dgm:pt>
    <dgm:pt modelId="{09794B8C-E734-4AD7-92B7-E8D5CAA1082F}" type="pres">
      <dgm:prSet presAssocID="{E878DF7A-3516-4BCB-AA59-99E356A46073}" presName="Accent" presStyleLbl="node1" presStyleIdx="1" presStyleCnt="3"/>
      <dgm:spPr/>
    </dgm:pt>
    <dgm:pt modelId="{6AA97FA9-0D80-4397-8D21-A361BDF79ACB}" type="pres">
      <dgm:prSet presAssocID="{E878DF7A-3516-4BCB-AA59-99E356A46073}" presName="ParentBackground2" presStyleCnt="0"/>
      <dgm:spPr/>
    </dgm:pt>
    <dgm:pt modelId="{686F1890-877A-4652-9D3B-F479BCA8EE98}" type="pres">
      <dgm:prSet presAssocID="{E878DF7A-3516-4BCB-AA59-99E356A46073}" presName="ParentBackground" presStyleLbl="fgAcc1" presStyleIdx="1" presStyleCnt="3"/>
      <dgm:spPr/>
    </dgm:pt>
    <dgm:pt modelId="{238F6C06-5DF1-4E1A-98A8-0F659B517573}" type="pres">
      <dgm:prSet presAssocID="{E878DF7A-3516-4BCB-AA59-99E356A46073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BE6644B-3AB6-4114-8B52-3F8FEEDB9F5A}" type="pres">
      <dgm:prSet presAssocID="{3AEE3E50-0B70-4E20-8A23-DF2C94A810C5}" presName="Accent1" presStyleCnt="0"/>
      <dgm:spPr/>
    </dgm:pt>
    <dgm:pt modelId="{33591AED-BB9F-45EE-A325-54945AB29784}" type="pres">
      <dgm:prSet presAssocID="{3AEE3E50-0B70-4E20-8A23-DF2C94A810C5}" presName="Accent" presStyleLbl="node1" presStyleIdx="2" presStyleCnt="3"/>
      <dgm:spPr/>
    </dgm:pt>
    <dgm:pt modelId="{A3755F47-ED94-41ED-9BF8-1C883C62D6FC}" type="pres">
      <dgm:prSet presAssocID="{3AEE3E50-0B70-4E20-8A23-DF2C94A810C5}" presName="ParentBackground1" presStyleCnt="0"/>
      <dgm:spPr/>
    </dgm:pt>
    <dgm:pt modelId="{EA8B68E1-77F3-4799-AC34-546ABA28C689}" type="pres">
      <dgm:prSet presAssocID="{3AEE3E50-0B70-4E20-8A23-DF2C94A810C5}" presName="ParentBackground" presStyleLbl="fgAcc1" presStyleIdx="2" presStyleCnt="3"/>
      <dgm:spPr/>
    </dgm:pt>
    <dgm:pt modelId="{D41CBF9C-D87B-42FA-83CA-C300FE5ECA73}" type="pres">
      <dgm:prSet presAssocID="{3AEE3E50-0B70-4E20-8A23-DF2C94A810C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BD0F1B09-8FA8-4B79-B854-715F56AF75B5}" type="presOf" srcId="{39EB0991-8EB9-4AFD-A2F2-F6E1F254BE25}" destId="{A144C653-F3F6-4F5B-B196-13C940068BD6}" srcOrd="1" destOrd="0" presId="urn:microsoft.com/office/officeart/2011/layout/CircleProcess"/>
    <dgm:cxn modelId="{507A5811-25B2-4E26-AED7-A4B81AAA4D74}" type="presOf" srcId="{3AEE3E50-0B70-4E20-8A23-DF2C94A810C5}" destId="{EA8B68E1-77F3-4799-AC34-546ABA28C689}" srcOrd="1" destOrd="0" presId="urn:microsoft.com/office/officeart/2011/layout/CircleProcess"/>
    <dgm:cxn modelId="{65B2B22E-72CC-4EB5-8353-86AEBB03EE39}" srcId="{A7521F9F-9853-4760-AF04-01C8BE6DE7CA}" destId="{3AEE3E50-0B70-4E20-8A23-DF2C94A810C5}" srcOrd="0" destOrd="0" parTransId="{E87FE72D-7C21-4C4E-89B7-B9E78A928E21}" sibTransId="{87E3D749-6CB6-4793-A88E-29194C75DC2E}"/>
    <dgm:cxn modelId="{4DD71B33-73A1-46A4-BE4D-8834127878C0}" type="presOf" srcId="{E878DF7A-3516-4BCB-AA59-99E356A46073}" destId="{238F6C06-5DF1-4E1A-98A8-0F659B517573}" srcOrd="1" destOrd="0" presId="urn:microsoft.com/office/officeart/2011/layout/CircleProcess"/>
    <dgm:cxn modelId="{39FFB166-4089-4277-B84F-241C66A31EDD}" type="presOf" srcId="{3AEE3E50-0B70-4E20-8A23-DF2C94A810C5}" destId="{D41CBF9C-D87B-42FA-83CA-C300FE5ECA73}" srcOrd="0" destOrd="0" presId="urn:microsoft.com/office/officeart/2011/layout/CircleProcess"/>
    <dgm:cxn modelId="{FDA2FF52-F583-4336-A87C-36F9391E190F}" type="presOf" srcId="{E878DF7A-3516-4BCB-AA59-99E356A46073}" destId="{686F1890-877A-4652-9D3B-F479BCA8EE98}" srcOrd="0" destOrd="0" presId="urn:microsoft.com/office/officeart/2011/layout/CircleProcess"/>
    <dgm:cxn modelId="{5ED5CB54-0009-490E-A1A6-8E49FB752E10}" type="presOf" srcId="{39EB0991-8EB9-4AFD-A2F2-F6E1F254BE25}" destId="{3819A24E-29CD-47FA-8F77-B27A7A92C7B6}" srcOrd="0" destOrd="0" presId="urn:microsoft.com/office/officeart/2011/layout/CircleProcess"/>
    <dgm:cxn modelId="{15C2058C-EC37-4FEA-A703-C93AC5402A2C}" srcId="{A7521F9F-9853-4760-AF04-01C8BE6DE7CA}" destId="{39EB0991-8EB9-4AFD-A2F2-F6E1F254BE25}" srcOrd="2" destOrd="0" parTransId="{E6A12652-9F65-4387-B68E-183EBE605256}" sibTransId="{EF4950E5-5C98-4D2B-B111-BF6A7726FECB}"/>
    <dgm:cxn modelId="{74911EB3-CA94-4516-B771-EEBF0B929931}" srcId="{A7521F9F-9853-4760-AF04-01C8BE6DE7CA}" destId="{E878DF7A-3516-4BCB-AA59-99E356A46073}" srcOrd="1" destOrd="0" parTransId="{4215D128-B3CD-480F-AA0F-6DDB0B6C6E34}" sibTransId="{8EDF5DBF-CBE7-4C0D-B13F-D8077C96DF81}"/>
    <dgm:cxn modelId="{F02639C1-497E-4ECC-9980-39FDC410916F}" type="presOf" srcId="{A7521F9F-9853-4760-AF04-01C8BE6DE7CA}" destId="{04AA666C-C578-48EA-AE10-51E0CB9A2732}" srcOrd="0" destOrd="0" presId="urn:microsoft.com/office/officeart/2011/layout/CircleProcess"/>
    <dgm:cxn modelId="{6568CBAC-C75B-4919-BF0B-5A7A3D92F013}" type="presParOf" srcId="{04AA666C-C578-48EA-AE10-51E0CB9A2732}" destId="{54CB8B97-3A40-4B7B-9585-391D70D1B2E7}" srcOrd="0" destOrd="0" presId="urn:microsoft.com/office/officeart/2011/layout/CircleProcess"/>
    <dgm:cxn modelId="{EAAD1771-6229-40B9-BA1A-29A3E25A0748}" type="presParOf" srcId="{54CB8B97-3A40-4B7B-9585-391D70D1B2E7}" destId="{9CFC7CA6-F413-4EB9-BC7D-5F9345015BD0}" srcOrd="0" destOrd="0" presId="urn:microsoft.com/office/officeart/2011/layout/CircleProcess"/>
    <dgm:cxn modelId="{359A368F-92BC-4D8F-BE8E-D8DF963AD64C}" type="presParOf" srcId="{04AA666C-C578-48EA-AE10-51E0CB9A2732}" destId="{330BF626-846A-404C-98A2-9CD9561B67B4}" srcOrd="1" destOrd="0" presId="urn:microsoft.com/office/officeart/2011/layout/CircleProcess"/>
    <dgm:cxn modelId="{AB8B1B1C-1A87-487C-84F8-A27D50F889D5}" type="presParOf" srcId="{330BF626-846A-404C-98A2-9CD9561B67B4}" destId="{3819A24E-29CD-47FA-8F77-B27A7A92C7B6}" srcOrd="0" destOrd="0" presId="urn:microsoft.com/office/officeart/2011/layout/CircleProcess"/>
    <dgm:cxn modelId="{3C6B4F51-57E7-4086-8557-2857803BB1D2}" type="presParOf" srcId="{04AA666C-C578-48EA-AE10-51E0CB9A2732}" destId="{A144C653-F3F6-4F5B-B196-13C940068BD6}" srcOrd="2" destOrd="0" presId="urn:microsoft.com/office/officeart/2011/layout/CircleProcess"/>
    <dgm:cxn modelId="{4E7F1C50-90B3-4131-9787-3CD4EE8BC16B}" type="presParOf" srcId="{04AA666C-C578-48EA-AE10-51E0CB9A2732}" destId="{E9C4BACF-EBF8-4935-B06B-6366326CFAA4}" srcOrd="3" destOrd="0" presId="urn:microsoft.com/office/officeart/2011/layout/CircleProcess"/>
    <dgm:cxn modelId="{78C6C656-A457-4699-873F-D717275398E2}" type="presParOf" srcId="{E9C4BACF-EBF8-4935-B06B-6366326CFAA4}" destId="{09794B8C-E734-4AD7-92B7-E8D5CAA1082F}" srcOrd="0" destOrd="0" presId="urn:microsoft.com/office/officeart/2011/layout/CircleProcess"/>
    <dgm:cxn modelId="{356D4670-6C2C-4C96-87D5-C5BECDCFEED6}" type="presParOf" srcId="{04AA666C-C578-48EA-AE10-51E0CB9A2732}" destId="{6AA97FA9-0D80-4397-8D21-A361BDF79ACB}" srcOrd="4" destOrd="0" presId="urn:microsoft.com/office/officeart/2011/layout/CircleProcess"/>
    <dgm:cxn modelId="{F2E4D560-4C46-428C-8BD2-99EE0DC22F96}" type="presParOf" srcId="{6AA97FA9-0D80-4397-8D21-A361BDF79ACB}" destId="{686F1890-877A-4652-9D3B-F479BCA8EE98}" srcOrd="0" destOrd="0" presId="urn:microsoft.com/office/officeart/2011/layout/CircleProcess"/>
    <dgm:cxn modelId="{F255680B-47D2-4912-8170-31E9323447F6}" type="presParOf" srcId="{04AA666C-C578-48EA-AE10-51E0CB9A2732}" destId="{238F6C06-5DF1-4E1A-98A8-0F659B517573}" srcOrd="5" destOrd="0" presId="urn:microsoft.com/office/officeart/2011/layout/CircleProcess"/>
    <dgm:cxn modelId="{D3AAF21A-162E-4C1A-9F86-D83052471EFB}" type="presParOf" srcId="{04AA666C-C578-48EA-AE10-51E0CB9A2732}" destId="{7BE6644B-3AB6-4114-8B52-3F8FEEDB9F5A}" srcOrd="6" destOrd="0" presId="urn:microsoft.com/office/officeart/2011/layout/CircleProcess"/>
    <dgm:cxn modelId="{F995BF75-249B-478F-84C4-8A86302F4C5E}" type="presParOf" srcId="{7BE6644B-3AB6-4114-8B52-3F8FEEDB9F5A}" destId="{33591AED-BB9F-45EE-A325-54945AB29784}" srcOrd="0" destOrd="0" presId="urn:microsoft.com/office/officeart/2011/layout/CircleProcess"/>
    <dgm:cxn modelId="{FD85EF37-A870-4F8E-B8FD-6B5B080736A6}" type="presParOf" srcId="{04AA666C-C578-48EA-AE10-51E0CB9A2732}" destId="{A3755F47-ED94-41ED-9BF8-1C883C62D6FC}" srcOrd="7" destOrd="0" presId="urn:microsoft.com/office/officeart/2011/layout/CircleProcess"/>
    <dgm:cxn modelId="{4683691E-8712-461D-A5B8-4F57ABC4167E}" type="presParOf" srcId="{A3755F47-ED94-41ED-9BF8-1C883C62D6FC}" destId="{EA8B68E1-77F3-4799-AC34-546ABA28C689}" srcOrd="0" destOrd="0" presId="urn:microsoft.com/office/officeart/2011/layout/CircleProcess"/>
    <dgm:cxn modelId="{2026863B-13C1-4E16-B425-7C95B76B0F94}" type="presParOf" srcId="{04AA666C-C578-48EA-AE10-51E0CB9A2732}" destId="{D41CBF9C-D87B-42FA-83CA-C300FE5ECA73}" srcOrd="8" destOrd="0" presId="urn:microsoft.com/office/officeart/2011/layout/CircleProcess"/>
  </dgm:cxnLst>
  <dgm:bg>
    <a:solidFill>
      <a:schemeClr val="accent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521F9F-9853-4760-AF04-01C8BE6DE7CA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AEE3E50-0B70-4E20-8A23-DF2C94A810C5}">
      <dgm:prSet/>
      <dgm:spPr/>
      <dgm:t>
        <a:bodyPr/>
        <a:lstStyle/>
        <a:p>
          <a:r>
            <a:rPr lang="en-SG" b="0" dirty="0"/>
            <a:t>User Features</a:t>
          </a:r>
          <a:endParaRPr lang="en-SG" dirty="0"/>
        </a:p>
      </dgm:t>
    </dgm:pt>
    <dgm:pt modelId="{E87FE72D-7C21-4C4E-89B7-B9E78A928E21}" type="parTrans" cxnId="{65B2B22E-72CC-4EB5-8353-86AEBB03EE39}">
      <dgm:prSet/>
      <dgm:spPr/>
      <dgm:t>
        <a:bodyPr/>
        <a:lstStyle/>
        <a:p>
          <a:endParaRPr lang="en-SG"/>
        </a:p>
      </dgm:t>
    </dgm:pt>
    <dgm:pt modelId="{87E3D749-6CB6-4793-A88E-29194C75DC2E}" type="sibTrans" cxnId="{65B2B22E-72CC-4EB5-8353-86AEBB03EE39}">
      <dgm:prSet/>
      <dgm:spPr/>
      <dgm:t>
        <a:bodyPr/>
        <a:lstStyle/>
        <a:p>
          <a:endParaRPr lang="en-SG"/>
        </a:p>
      </dgm:t>
    </dgm:pt>
    <dgm:pt modelId="{5D502DEF-62E0-41A6-A245-292CD4B08141}">
      <dgm:prSet/>
      <dgm:spPr/>
      <dgm:t>
        <a:bodyPr/>
        <a:lstStyle/>
        <a:p>
          <a:r>
            <a:rPr lang="en-SG" b="0" dirty="0"/>
            <a:t>Load Trained Models</a:t>
          </a:r>
          <a:endParaRPr lang="en-SG" dirty="0"/>
        </a:p>
      </dgm:t>
    </dgm:pt>
    <dgm:pt modelId="{1C95D010-06D0-47CF-83EE-81250928ABB3}" type="parTrans" cxnId="{BB0D7EB4-2EF8-4201-AF4A-6C30B8A2CA3F}">
      <dgm:prSet/>
      <dgm:spPr/>
      <dgm:t>
        <a:bodyPr/>
        <a:lstStyle/>
        <a:p>
          <a:endParaRPr lang="en-SG"/>
        </a:p>
      </dgm:t>
    </dgm:pt>
    <dgm:pt modelId="{AC7E2760-2504-4C7A-83E3-CAF9F4BA1E45}" type="sibTrans" cxnId="{BB0D7EB4-2EF8-4201-AF4A-6C30B8A2CA3F}">
      <dgm:prSet/>
      <dgm:spPr/>
      <dgm:t>
        <a:bodyPr/>
        <a:lstStyle/>
        <a:p>
          <a:endParaRPr lang="en-SG"/>
        </a:p>
      </dgm:t>
    </dgm:pt>
    <dgm:pt modelId="{0B5B70DB-C372-486F-A52D-26714D56BF44}">
      <dgm:prSet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Rank with predicted expected value</a:t>
          </a:r>
        </a:p>
        <a:p>
          <a:r>
            <a:rPr lang="en-SG" dirty="0">
              <a:solidFill>
                <a:schemeClr val="tx1"/>
              </a:solidFill>
            </a:rPr>
            <a:t>(User-Level)</a:t>
          </a:r>
        </a:p>
      </dgm:t>
    </dgm:pt>
    <dgm:pt modelId="{4E51C9B7-F398-4309-9C2C-8766F2A1A0CB}" type="parTrans" cxnId="{E347CFAC-3B84-4812-981F-A0AC75794A76}">
      <dgm:prSet/>
      <dgm:spPr/>
      <dgm:t>
        <a:bodyPr/>
        <a:lstStyle/>
        <a:p>
          <a:endParaRPr lang="en-SG"/>
        </a:p>
      </dgm:t>
    </dgm:pt>
    <dgm:pt modelId="{DC3CC174-F385-4928-94AE-004F8649AC5E}" type="sibTrans" cxnId="{E347CFAC-3B84-4812-981F-A0AC75794A76}">
      <dgm:prSet/>
      <dgm:spPr/>
      <dgm:t>
        <a:bodyPr/>
        <a:lstStyle/>
        <a:p>
          <a:endParaRPr lang="en-SG"/>
        </a:p>
      </dgm:t>
    </dgm:pt>
    <dgm:pt modelId="{E878DF7A-3516-4BCB-AA59-99E356A46073}">
      <dgm:prSet/>
      <dgm:spPr/>
      <dgm:t>
        <a:bodyPr/>
        <a:lstStyle/>
        <a:p>
          <a:r>
            <a:rPr lang="en-SG" b="0" dirty="0"/>
            <a:t>Budget-Constrained Optimization (Top K users by EV)</a:t>
          </a:r>
          <a:endParaRPr lang="en-SG" dirty="0"/>
        </a:p>
      </dgm:t>
    </dgm:pt>
    <dgm:pt modelId="{4215D128-B3CD-480F-AA0F-6DDB0B6C6E34}" type="parTrans" cxnId="{74911EB3-CA94-4516-B771-EEBF0B929931}">
      <dgm:prSet/>
      <dgm:spPr/>
      <dgm:t>
        <a:bodyPr/>
        <a:lstStyle/>
        <a:p>
          <a:endParaRPr lang="en-SG"/>
        </a:p>
      </dgm:t>
    </dgm:pt>
    <dgm:pt modelId="{8EDF5DBF-CBE7-4C0D-B13F-D8077C96DF81}" type="sibTrans" cxnId="{74911EB3-CA94-4516-B771-EEBF0B929931}">
      <dgm:prSet/>
      <dgm:spPr/>
      <dgm:t>
        <a:bodyPr/>
        <a:lstStyle/>
        <a:p>
          <a:endParaRPr lang="en-SG"/>
        </a:p>
      </dgm:t>
    </dgm:pt>
    <dgm:pt modelId="{39EB0991-8EB9-4AFD-A2F2-F6E1F254BE25}">
      <dgm:prSet/>
      <dgm:spPr/>
      <dgm:t>
        <a:bodyPr/>
        <a:lstStyle/>
        <a:p>
          <a:r>
            <a:rPr lang="en-SG" b="0" dirty="0"/>
            <a:t>Targeting Decisions</a:t>
          </a:r>
          <a:br>
            <a:rPr lang="en-SG" b="0" dirty="0"/>
          </a:br>
          <a:r>
            <a:rPr lang="en-SG" b="0" dirty="0"/>
            <a:t>(User-level)</a:t>
          </a:r>
          <a:endParaRPr lang="en-SG" dirty="0"/>
        </a:p>
      </dgm:t>
    </dgm:pt>
    <dgm:pt modelId="{E6A12652-9F65-4387-B68E-183EBE605256}" type="parTrans" cxnId="{15C2058C-EC37-4FEA-A703-C93AC5402A2C}">
      <dgm:prSet/>
      <dgm:spPr/>
      <dgm:t>
        <a:bodyPr/>
        <a:lstStyle/>
        <a:p>
          <a:endParaRPr lang="en-SG"/>
        </a:p>
      </dgm:t>
    </dgm:pt>
    <dgm:pt modelId="{EF4950E5-5C98-4D2B-B111-BF6A7726FECB}" type="sibTrans" cxnId="{15C2058C-EC37-4FEA-A703-C93AC5402A2C}">
      <dgm:prSet/>
      <dgm:spPr/>
      <dgm:t>
        <a:bodyPr/>
        <a:lstStyle/>
        <a:p>
          <a:endParaRPr lang="en-SG"/>
        </a:p>
      </dgm:t>
    </dgm:pt>
    <dgm:pt modelId="{04AA666C-C578-48EA-AE10-51E0CB9A2732}" type="pres">
      <dgm:prSet presAssocID="{A7521F9F-9853-4760-AF04-01C8BE6DE7CA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0497FB6-15C4-4FDC-9902-04A28841228C}" type="pres">
      <dgm:prSet presAssocID="{39EB0991-8EB9-4AFD-A2F2-F6E1F254BE25}" presName="Accent5" presStyleCnt="0"/>
      <dgm:spPr/>
    </dgm:pt>
    <dgm:pt modelId="{9CFC7CA6-F413-4EB9-BC7D-5F9345015BD0}" type="pres">
      <dgm:prSet presAssocID="{39EB0991-8EB9-4AFD-A2F2-F6E1F254BE25}" presName="Accent" presStyleLbl="node1" presStyleIdx="0" presStyleCnt="5"/>
      <dgm:spPr/>
    </dgm:pt>
    <dgm:pt modelId="{6326EA35-4BDC-4CAD-9D26-2CA3BDECEBC3}" type="pres">
      <dgm:prSet presAssocID="{39EB0991-8EB9-4AFD-A2F2-F6E1F254BE25}" presName="ParentBackground5" presStyleCnt="0"/>
      <dgm:spPr/>
    </dgm:pt>
    <dgm:pt modelId="{3819A24E-29CD-47FA-8F77-B27A7A92C7B6}" type="pres">
      <dgm:prSet presAssocID="{39EB0991-8EB9-4AFD-A2F2-F6E1F254BE25}" presName="ParentBackground" presStyleLbl="fgAcc1" presStyleIdx="0" presStyleCnt="5"/>
      <dgm:spPr/>
    </dgm:pt>
    <dgm:pt modelId="{D4723DF1-3672-4D83-B5AA-1B72537FA52A}" type="pres">
      <dgm:prSet presAssocID="{39EB0991-8EB9-4AFD-A2F2-F6E1F254BE25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0B2D8CB-2943-477D-B606-A48C90917FCF}" type="pres">
      <dgm:prSet presAssocID="{E878DF7A-3516-4BCB-AA59-99E356A46073}" presName="Accent4" presStyleCnt="0"/>
      <dgm:spPr/>
    </dgm:pt>
    <dgm:pt modelId="{09794B8C-E734-4AD7-92B7-E8D5CAA1082F}" type="pres">
      <dgm:prSet presAssocID="{E878DF7A-3516-4BCB-AA59-99E356A46073}" presName="Accent" presStyleLbl="node1" presStyleIdx="1" presStyleCnt="5"/>
      <dgm:spPr/>
    </dgm:pt>
    <dgm:pt modelId="{B6E3CE8A-2A67-4904-9692-C0CC1574C74B}" type="pres">
      <dgm:prSet presAssocID="{E878DF7A-3516-4BCB-AA59-99E356A46073}" presName="ParentBackground4" presStyleCnt="0"/>
      <dgm:spPr/>
    </dgm:pt>
    <dgm:pt modelId="{686F1890-877A-4652-9D3B-F479BCA8EE98}" type="pres">
      <dgm:prSet presAssocID="{E878DF7A-3516-4BCB-AA59-99E356A46073}" presName="ParentBackground" presStyleLbl="fgAcc1" presStyleIdx="1" presStyleCnt="5"/>
      <dgm:spPr/>
    </dgm:pt>
    <dgm:pt modelId="{D6A5B592-FA3D-49A8-86FF-AD731361DF05}" type="pres">
      <dgm:prSet presAssocID="{E878DF7A-3516-4BCB-AA59-99E356A46073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FB0D1DF-01AE-412D-951C-CB3056E20CBE}" type="pres">
      <dgm:prSet presAssocID="{0B5B70DB-C372-486F-A52D-26714D56BF44}" presName="Accent3" presStyleCnt="0"/>
      <dgm:spPr/>
    </dgm:pt>
    <dgm:pt modelId="{25459E76-ECB2-469A-B22F-F37E50EF6DD3}" type="pres">
      <dgm:prSet presAssocID="{0B5B70DB-C372-486F-A52D-26714D56BF44}" presName="Accent" presStyleLbl="node1" presStyleIdx="2" presStyleCnt="5"/>
      <dgm:spPr/>
    </dgm:pt>
    <dgm:pt modelId="{01095A79-87B9-4FE1-8ABF-EBB511202101}" type="pres">
      <dgm:prSet presAssocID="{0B5B70DB-C372-486F-A52D-26714D56BF44}" presName="ParentBackground3" presStyleCnt="0"/>
      <dgm:spPr/>
    </dgm:pt>
    <dgm:pt modelId="{A619C011-2C3D-4BDA-A071-9EB29B938D1B}" type="pres">
      <dgm:prSet presAssocID="{0B5B70DB-C372-486F-A52D-26714D56BF44}" presName="ParentBackground" presStyleLbl="fgAcc1" presStyleIdx="2" presStyleCnt="5"/>
      <dgm:spPr/>
    </dgm:pt>
    <dgm:pt modelId="{ED36BA05-6332-44C9-93AA-5A5E6886AF37}" type="pres">
      <dgm:prSet presAssocID="{0B5B70DB-C372-486F-A52D-26714D56BF44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CF456E5-F5FD-4528-8243-622B65B9866B}" type="pres">
      <dgm:prSet presAssocID="{5D502DEF-62E0-41A6-A245-292CD4B08141}" presName="Accent2" presStyleCnt="0"/>
      <dgm:spPr/>
    </dgm:pt>
    <dgm:pt modelId="{9B685F5E-EC48-4AED-83A8-FA1EAAD3CB5E}" type="pres">
      <dgm:prSet presAssocID="{5D502DEF-62E0-41A6-A245-292CD4B08141}" presName="Accent" presStyleLbl="node1" presStyleIdx="3" presStyleCnt="5"/>
      <dgm:spPr/>
    </dgm:pt>
    <dgm:pt modelId="{30E6BC21-346D-4C7F-9172-E48AC169FDA1}" type="pres">
      <dgm:prSet presAssocID="{5D502DEF-62E0-41A6-A245-292CD4B08141}" presName="ParentBackground2" presStyleCnt="0"/>
      <dgm:spPr/>
    </dgm:pt>
    <dgm:pt modelId="{C6208838-7D36-4C1A-AA9D-018450FCCE94}" type="pres">
      <dgm:prSet presAssocID="{5D502DEF-62E0-41A6-A245-292CD4B08141}" presName="ParentBackground" presStyleLbl="fgAcc1" presStyleIdx="3" presStyleCnt="5"/>
      <dgm:spPr/>
    </dgm:pt>
    <dgm:pt modelId="{838045ED-ED1F-4BA0-81B4-67B6491738FA}" type="pres">
      <dgm:prSet presAssocID="{5D502DEF-62E0-41A6-A245-292CD4B08141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BE6644B-3AB6-4114-8B52-3F8FEEDB9F5A}" type="pres">
      <dgm:prSet presAssocID="{3AEE3E50-0B70-4E20-8A23-DF2C94A810C5}" presName="Accent1" presStyleCnt="0"/>
      <dgm:spPr/>
    </dgm:pt>
    <dgm:pt modelId="{33591AED-BB9F-45EE-A325-54945AB29784}" type="pres">
      <dgm:prSet presAssocID="{3AEE3E50-0B70-4E20-8A23-DF2C94A810C5}" presName="Accent" presStyleLbl="node1" presStyleIdx="4" presStyleCnt="5"/>
      <dgm:spPr/>
    </dgm:pt>
    <dgm:pt modelId="{A3755F47-ED94-41ED-9BF8-1C883C62D6FC}" type="pres">
      <dgm:prSet presAssocID="{3AEE3E50-0B70-4E20-8A23-DF2C94A810C5}" presName="ParentBackground1" presStyleCnt="0"/>
      <dgm:spPr/>
    </dgm:pt>
    <dgm:pt modelId="{EA8B68E1-77F3-4799-AC34-546ABA28C689}" type="pres">
      <dgm:prSet presAssocID="{3AEE3E50-0B70-4E20-8A23-DF2C94A810C5}" presName="ParentBackground" presStyleLbl="fgAcc1" presStyleIdx="4" presStyleCnt="5"/>
      <dgm:spPr/>
    </dgm:pt>
    <dgm:pt modelId="{D41CBF9C-D87B-42FA-83CA-C300FE5ECA73}" type="pres">
      <dgm:prSet presAssocID="{3AEE3E50-0B70-4E20-8A23-DF2C94A810C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D6C1011-09E6-4A4D-B50F-0469179033C4}" type="presOf" srcId="{0B5B70DB-C372-486F-A52D-26714D56BF44}" destId="{ED36BA05-6332-44C9-93AA-5A5E6886AF37}" srcOrd="1" destOrd="0" presId="urn:microsoft.com/office/officeart/2011/layout/CircleProcess"/>
    <dgm:cxn modelId="{FB799628-552C-40F2-8C5F-57CE1632EB2B}" type="presOf" srcId="{3AEE3E50-0B70-4E20-8A23-DF2C94A810C5}" destId="{D41CBF9C-D87B-42FA-83CA-C300FE5ECA73}" srcOrd="1" destOrd="0" presId="urn:microsoft.com/office/officeart/2011/layout/CircleProcess"/>
    <dgm:cxn modelId="{65B2B22E-72CC-4EB5-8353-86AEBB03EE39}" srcId="{A7521F9F-9853-4760-AF04-01C8BE6DE7CA}" destId="{3AEE3E50-0B70-4E20-8A23-DF2C94A810C5}" srcOrd="0" destOrd="0" parTransId="{E87FE72D-7C21-4C4E-89B7-B9E78A928E21}" sibTransId="{87E3D749-6CB6-4793-A88E-29194C75DC2E}"/>
    <dgm:cxn modelId="{F40C4072-400B-4495-B52D-29C2644F5EE9}" type="presOf" srcId="{5D502DEF-62E0-41A6-A245-292CD4B08141}" destId="{C6208838-7D36-4C1A-AA9D-018450FCCE94}" srcOrd="0" destOrd="0" presId="urn:microsoft.com/office/officeart/2011/layout/CircleProcess"/>
    <dgm:cxn modelId="{DA1DDE82-A5E1-488F-A741-B86D4EB01B5E}" type="presOf" srcId="{5D502DEF-62E0-41A6-A245-292CD4B08141}" destId="{838045ED-ED1F-4BA0-81B4-67B6491738FA}" srcOrd="1" destOrd="0" presId="urn:microsoft.com/office/officeart/2011/layout/CircleProcess"/>
    <dgm:cxn modelId="{15C2058C-EC37-4FEA-A703-C93AC5402A2C}" srcId="{A7521F9F-9853-4760-AF04-01C8BE6DE7CA}" destId="{39EB0991-8EB9-4AFD-A2F2-F6E1F254BE25}" srcOrd="4" destOrd="0" parTransId="{E6A12652-9F65-4387-B68E-183EBE605256}" sibTransId="{EF4950E5-5C98-4D2B-B111-BF6A7726FECB}"/>
    <dgm:cxn modelId="{37E4DA9E-008F-4CC4-BDEF-9C20111F8900}" type="presOf" srcId="{0B5B70DB-C372-486F-A52D-26714D56BF44}" destId="{A619C011-2C3D-4BDA-A071-9EB29B938D1B}" srcOrd="0" destOrd="0" presId="urn:microsoft.com/office/officeart/2011/layout/CircleProcess"/>
    <dgm:cxn modelId="{5F1A60A1-7C62-4B8E-A0D5-C4DEE22B3D63}" type="presOf" srcId="{3AEE3E50-0B70-4E20-8A23-DF2C94A810C5}" destId="{EA8B68E1-77F3-4799-AC34-546ABA28C689}" srcOrd="0" destOrd="0" presId="urn:microsoft.com/office/officeart/2011/layout/CircleProcess"/>
    <dgm:cxn modelId="{E347CFAC-3B84-4812-981F-A0AC75794A76}" srcId="{A7521F9F-9853-4760-AF04-01C8BE6DE7CA}" destId="{0B5B70DB-C372-486F-A52D-26714D56BF44}" srcOrd="2" destOrd="0" parTransId="{4E51C9B7-F398-4309-9C2C-8766F2A1A0CB}" sibTransId="{DC3CC174-F385-4928-94AE-004F8649AC5E}"/>
    <dgm:cxn modelId="{74911EB3-CA94-4516-B771-EEBF0B929931}" srcId="{A7521F9F-9853-4760-AF04-01C8BE6DE7CA}" destId="{E878DF7A-3516-4BCB-AA59-99E356A46073}" srcOrd="3" destOrd="0" parTransId="{4215D128-B3CD-480F-AA0F-6DDB0B6C6E34}" sibTransId="{8EDF5DBF-CBE7-4C0D-B13F-D8077C96DF81}"/>
    <dgm:cxn modelId="{BB0D7EB4-2EF8-4201-AF4A-6C30B8A2CA3F}" srcId="{A7521F9F-9853-4760-AF04-01C8BE6DE7CA}" destId="{5D502DEF-62E0-41A6-A245-292CD4B08141}" srcOrd="1" destOrd="0" parTransId="{1C95D010-06D0-47CF-83EE-81250928ABB3}" sibTransId="{AC7E2760-2504-4C7A-83E3-CAF9F4BA1E45}"/>
    <dgm:cxn modelId="{F824BDB5-D208-4FEE-8FF7-936311CAFADE}" type="presOf" srcId="{E878DF7A-3516-4BCB-AA59-99E356A46073}" destId="{D6A5B592-FA3D-49A8-86FF-AD731361DF05}" srcOrd="1" destOrd="0" presId="urn:microsoft.com/office/officeart/2011/layout/CircleProcess"/>
    <dgm:cxn modelId="{AB5A45C0-3544-4AC4-A160-D55E9E62EDAD}" type="presOf" srcId="{39EB0991-8EB9-4AFD-A2F2-F6E1F254BE25}" destId="{3819A24E-29CD-47FA-8F77-B27A7A92C7B6}" srcOrd="0" destOrd="0" presId="urn:microsoft.com/office/officeart/2011/layout/CircleProcess"/>
    <dgm:cxn modelId="{F02639C1-497E-4ECC-9980-39FDC410916F}" type="presOf" srcId="{A7521F9F-9853-4760-AF04-01C8BE6DE7CA}" destId="{04AA666C-C578-48EA-AE10-51E0CB9A2732}" srcOrd="0" destOrd="0" presId="urn:microsoft.com/office/officeart/2011/layout/CircleProcess"/>
    <dgm:cxn modelId="{3DDF77CB-F05B-4FDB-B65D-81F9FE32A288}" type="presOf" srcId="{39EB0991-8EB9-4AFD-A2F2-F6E1F254BE25}" destId="{D4723DF1-3672-4D83-B5AA-1B72537FA52A}" srcOrd="1" destOrd="0" presId="urn:microsoft.com/office/officeart/2011/layout/CircleProcess"/>
    <dgm:cxn modelId="{00F81EE8-B86C-4BBA-A20B-BE18535099DF}" type="presOf" srcId="{E878DF7A-3516-4BCB-AA59-99E356A46073}" destId="{686F1890-877A-4652-9D3B-F479BCA8EE98}" srcOrd="0" destOrd="0" presId="urn:microsoft.com/office/officeart/2011/layout/CircleProcess"/>
    <dgm:cxn modelId="{71FF933F-148F-485E-B8E0-0FC67277E1B3}" type="presParOf" srcId="{04AA666C-C578-48EA-AE10-51E0CB9A2732}" destId="{E0497FB6-15C4-4FDC-9902-04A28841228C}" srcOrd="0" destOrd="0" presId="urn:microsoft.com/office/officeart/2011/layout/CircleProcess"/>
    <dgm:cxn modelId="{9205F8F9-A5D3-46EC-AC74-A8DE7011B27A}" type="presParOf" srcId="{E0497FB6-15C4-4FDC-9902-04A28841228C}" destId="{9CFC7CA6-F413-4EB9-BC7D-5F9345015BD0}" srcOrd="0" destOrd="0" presId="urn:microsoft.com/office/officeart/2011/layout/CircleProcess"/>
    <dgm:cxn modelId="{A781ECA4-48BF-49D7-A35E-4173CEC01B6F}" type="presParOf" srcId="{04AA666C-C578-48EA-AE10-51E0CB9A2732}" destId="{6326EA35-4BDC-4CAD-9D26-2CA3BDECEBC3}" srcOrd="1" destOrd="0" presId="urn:microsoft.com/office/officeart/2011/layout/CircleProcess"/>
    <dgm:cxn modelId="{D9651285-2E2E-48E4-88B8-0012BA498CDE}" type="presParOf" srcId="{6326EA35-4BDC-4CAD-9D26-2CA3BDECEBC3}" destId="{3819A24E-29CD-47FA-8F77-B27A7A92C7B6}" srcOrd="0" destOrd="0" presId="urn:microsoft.com/office/officeart/2011/layout/CircleProcess"/>
    <dgm:cxn modelId="{2141F2B3-9021-4D1F-BE91-7868F5BE2609}" type="presParOf" srcId="{04AA666C-C578-48EA-AE10-51E0CB9A2732}" destId="{D4723DF1-3672-4D83-B5AA-1B72537FA52A}" srcOrd="2" destOrd="0" presId="urn:microsoft.com/office/officeart/2011/layout/CircleProcess"/>
    <dgm:cxn modelId="{E9D3A59C-C925-4C1F-BC57-080944345065}" type="presParOf" srcId="{04AA666C-C578-48EA-AE10-51E0CB9A2732}" destId="{40B2D8CB-2943-477D-B606-A48C90917FCF}" srcOrd="3" destOrd="0" presId="urn:microsoft.com/office/officeart/2011/layout/CircleProcess"/>
    <dgm:cxn modelId="{538DD099-FEFD-4E49-BDCC-898A9A003526}" type="presParOf" srcId="{40B2D8CB-2943-477D-B606-A48C90917FCF}" destId="{09794B8C-E734-4AD7-92B7-E8D5CAA1082F}" srcOrd="0" destOrd="0" presId="urn:microsoft.com/office/officeart/2011/layout/CircleProcess"/>
    <dgm:cxn modelId="{84FE941E-7105-424F-8FEE-B3708D2C0D1D}" type="presParOf" srcId="{04AA666C-C578-48EA-AE10-51E0CB9A2732}" destId="{B6E3CE8A-2A67-4904-9692-C0CC1574C74B}" srcOrd="4" destOrd="0" presId="urn:microsoft.com/office/officeart/2011/layout/CircleProcess"/>
    <dgm:cxn modelId="{221C3999-23A1-4439-A58F-BD54B839E416}" type="presParOf" srcId="{B6E3CE8A-2A67-4904-9692-C0CC1574C74B}" destId="{686F1890-877A-4652-9D3B-F479BCA8EE98}" srcOrd="0" destOrd="0" presId="urn:microsoft.com/office/officeart/2011/layout/CircleProcess"/>
    <dgm:cxn modelId="{92D0E682-C67D-42F5-949D-AE7362580FFA}" type="presParOf" srcId="{04AA666C-C578-48EA-AE10-51E0CB9A2732}" destId="{D6A5B592-FA3D-49A8-86FF-AD731361DF05}" srcOrd="5" destOrd="0" presId="urn:microsoft.com/office/officeart/2011/layout/CircleProcess"/>
    <dgm:cxn modelId="{1C702618-8514-4424-BDEF-270599E69135}" type="presParOf" srcId="{04AA666C-C578-48EA-AE10-51E0CB9A2732}" destId="{EFB0D1DF-01AE-412D-951C-CB3056E20CBE}" srcOrd="6" destOrd="0" presId="urn:microsoft.com/office/officeart/2011/layout/CircleProcess"/>
    <dgm:cxn modelId="{473395FC-959C-4924-B15B-CC08402E0F9C}" type="presParOf" srcId="{EFB0D1DF-01AE-412D-951C-CB3056E20CBE}" destId="{25459E76-ECB2-469A-B22F-F37E50EF6DD3}" srcOrd="0" destOrd="0" presId="urn:microsoft.com/office/officeart/2011/layout/CircleProcess"/>
    <dgm:cxn modelId="{933AE640-2E0F-4278-8D43-1672FB213DBF}" type="presParOf" srcId="{04AA666C-C578-48EA-AE10-51E0CB9A2732}" destId="{01095A79-87B9-4FE1-8ABF-EBB511202101}" srcOrd="7" destOrd="0" presId="urn:microsoft.com/office/officeart/2011/layout/CircleProcess"/>
    <dgm:cxn modelId="{24BA541C-CD9D-4D14-806C-87CA4C368A14}" type="presParOf" srcId="{01095A79-87B9-4FE1-8ABF-EBB511202101}" destId="{A619C011-2C3D-4BDA-A071-9EB29B938D1B}" srcOrd="0" destOrd="0" presId="urn:microsoft.com/office/officeart/2011/layout/CircleProcess"/>
    <dgm:cxn modelId="{A8CFC4B0-651C-42BD-826F-E6C597FA5BEF}" type="presParOf" srcId="{04AA666C-C578-48EA-AE10-51E0CB9A2732}" destId="{ED36BA05-6332-44C9-93AA-5A5E6886AF37}" srcOrd="8" destOrd="0" presId="urn:microsoft.com/office/officeart/2011/layout/CircleProcess"/>
    <dgm:cxn modelId="{479713B9-A341-4B9F-9B1F-3B33E6D50EFC}" type="presParOf" srcId="{04AA666C-C578-48EA-AE10-51E0CB9A2732}" destId="{3CF456E5-F5FD-4528-8243-622B65B9866B}" srcOrd="9" destOrd="0" presId="urn:microsoft.com/office/officeart/2011/layout/CircleProcess"/>
    <dgm:cxn modelId="{7F3F1DD1-7FE7-4EFA-8C45-3885354B35BB}" type="presParOf" srcId="{3CF456E5-F5FD-4528-8243-622B65B9866B}" destId="{9B685F5E-EC48-4AED-83A8-FA1EAAD3CB5E}" srcOrd="0" destOrd="0" presId="urn:microsoft.com/office/officeart/2011/layout/CircleProcess"/>
    <dgm:cxn modelId="{DCB9562F-3A4F-4097-A547-2B9FE02946D5}" type="presParOf" srcId="{04AA666C-C578-48EA-AE10-51E0CB9A2732}" destId="{30E6BC21-346D-4C7F-9172-E48AC169FDA1}" srcOrd="10" destOrd="0" presId="urn:microsoft.com/office/officeart/2011/layout/CircleProcess"/>
    <dgm:cxn modelId="{D08A03FC-CC6D-479C-8689-3910616B6AB1}" type="presParOf" srcId="{30E6BC21-346D-4C7F-9172-E48AC169FDA1}" destId="{C6208838-7D36-4C1A-AA9D-018450FCCE94}" srcOrd="0" destOrd="0" presId="urn:microsoft.com/office/officeart/2011/layout/CircleProcess"/>
    <dgm:cxn modelId="{C674864A-4EA1-4361-8A52-1ED0C6BAC538}" type="presParOf" srcId="{04AA666C-C578-48EA-AE10-51E0CB9A2732}" destId="{838045ED-ED1F-4BA0-81B4-67B6491738FA}" srcOrd="11" destOrd="0" presId="urn:microsoft.com/office/officeart/2011/layout/CircleProcess"/>
    <dgm:cxn modelId="{64229E5B-833E-44CB-B4A5-D77C8ACF29F3}" type="presParOf" srcId="{04AA666C-C578-48EA-AE10-51E0CB9A2732}" destId="{7BE6644B-3AB6-4114-8B52-3F8FEEDB9F5A}" srcOrd="12" destOrd="0" presId="urn:microsoft.com/office/officeart/2011/layout/CircleProcess"/>
    <dgm:cxn modelId="{55CD613F-347B-4436-B147-5F5F60638C14}" type="presParOf" srcId="{7BE6644B-3AB6-4114-8B52-3F8FEEDB9F5A}" destId="{33591AED-BB9F-45EE-A325-54945AB29784}" srcOrd="0" destOrd="0" presId="urn:microsoft.com/office/officeart/2011/layout/CircleProcess"/>
    <dgm:cxn modelId="{79B4C0FD-A8C4-4B78-A1E0-589B90B49C4C}" type="presParOf" srcId="{04AA666C-C578-48EA-AE10-51E0CB9A2732}" destId="{A3755F47-ED94-41ED-9BF8-1C883C62D6FC}" srcOrd="13" destOrd="0" presId="urn:microsoft.com/office/officeart/2011/layout/CircleProcess"/>
    <dgm:cxn modelId="{26850AEF-94FC-4DB5-929A-8044EE79EF2F}" type="presParOf" srcId="{A3755F47-ED94-41ED-9BF8-1C883C62D6FC}" destId="{EA8B68E1-77F3-4799-AC34-546ABA28C689}" srcOrd="0" destOrd="0" presId="urn:microsoft.com/office/officeart/2011/layout/CircleProcess"/>
    <dgm:cxn modelId="{BC3CB2F7-4B47-42BE-9A17-241AB537D1FA}" type="presParOf" srcId="{04AA666C-C578-48EA-AE10-51E0CB9A2732}" destId="{D41CBF9C-D87B-42FA-83CA-C300FE5ECA73}" srcOrd="14" destOrd="0" presId="urn:microsoft.com/office/officeart/2011/layout/CircleProcess"/>
  </dgm:cxnLst>
  <dgm:bg>
    <a:solidFill>
      <a:schemeClr val="accent6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521F9F-9853-4760-AF04-01C8BE6DE7CA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AEE3E50-0B70-4E20-8A23-DF2C94A810C5}">
      <dgm:prSet/>
      <dgm:spPr/>
      <dgm:t>
        <a:bodyPr/>
        <a:lstStyle/>
        <a:p>
          <a:r>
            <a:rPr lang="en-SG" b="0" i="0" dirty="0"/>
            <a:t>Feature Store</a:t>
          </a:r>
        </a:p>
      </dgm:t>
    </dgm:pt>
    <dgm:pt modelId="{E87FE72D-7C21-4C4E-89B7-B9E78A928E21}" type="parTrans" cxnId="{65B2B22E-72CC-4EB5-8353-86AEBB03EE39}">
      <dgm:prSet/>
      <dgm:spPr/>
      <dgm:t>
        <a:bodyPr/>
        <a:lstStyle/>
        <a:p>
          <a:endParaRPr lang="en-SG"/>
        </a:p>
      </dgm:t>
    </dgm:pt>
    <dgm:pt modelId="{87E3D749-6CB6-4793-A88E-29194C75DC2E}" type="sibTrans" cxnId="{65B2B22E-72CC-4EB5-8353-86AEBB03EE39}">
      <dgm:prSet/>
      <dgm:spPr/>
      <dgm:t>
        <a:bodyPr/>
        <a:lstStyle/>
        <a:p>
          <a:endParaRPr lang="en-SG"/>
        </a:p>
      </dgm:t>
    </dgm:pt>
    <dgm:pt modelId="{39EB0991-8EB9-4AFD-A2F2-F6E1F254BE25}">
      <dgm:prSet/>
      <dgm:spPr/>
      <dgm:t>
        <a:bodyPr/>
        <a:lstStyle/>
        <a:p>
          <a:r>
            <a:rPr lang="en-SG" b="0" dirty="0"/>
            <a:t>Two-Tower Model Training (Collaborative Filtering)</a:t>
          </a:r>
          <a:endParaRPr lang="en-SG" dirty="0"/>
        </a:p>
      </dgm:t>
    </dgm:pt>
    <dgm:pt modelId="{E6A12652-9F65-4387-B68E-183EBE605256}" type="parTrans" cxnId="{15C2058C-EC37-4FEA-A703-C93AC5402A2C}">
      <dgm:prSet/>
      <dgm:spPr/>
      <dgm:t>
        <a:bodyPr/>
        <a:lstStyle/>
        <a:p>
          <a:endParaRPr lang="en-SG"/>
        </a:p>
      </dgm:t>
    </dgm:pt>
    <dgm:pt modelId="{EF4950E5-5C98-4D2B-B111-BF6A7726FECB}" type="sibTrans" cxnId="{15C2058C-EC37-4FEA-A703-C93AC5402A2C}">
      <dgm:prSet/>
      <dgm:spPr/>
      <dgm:t>
        <a:bodyPr/>
        <a:lstStyle/>
        <a:p>
          <a:endParaRPr lang="en-SG"/>
        </a:p>
      </dgm:t>
    </dgm:pt>
    <dgm:pt modelId="{04AA666C-C578-48EA-AE10-51E0CB9A2732}" type="pres">
      <dgm:prSet presAssocID="{A7521F9F-9853-4760-AF04-01C8BE6DE7CA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CC6EAF1E-7E1F-4C33-B430-807083E89947}" type="pres">
      <dgm:prSet presAssocID="{39EB0991-8EB9-4AFD-A2F2-F6E1F254BE25}" presName="Accent2" presStyleCnt="0"/>
      <dgm:spPr/>
    </dgm:pt>
    <dgm:pt modelId="{9CFC7CA6-F413-4EB9-BC7D-5F9345015BD0}" type="pres">
      <dgm:prSet presAssocID="{39EB0991-8EB9-4AFD-A2F2-F6E1F254BE25}" presName="Accent" presStyleLbl="node1" presStyleIdx="0" presStyleCnt="2"/>
      <dgm:spPr/>
    </dgm:pt>
    <dgm:pt modelId="{539D53E9-0047-4EEA-AE61-B55550B077B8}" type="pres">
      <dgm:prSet presAssocID="{39EB0991-8EB9-4AFD-A2F2-F6E1F254BE25}" presName="ParentBackground2" presStyleCnt="0"/>
      <dgm:spPr/>
    </dgm:pt>
    <dgm:pt modelId="{3819A24E-29CD-47FA-8F77-B27A7A92C7B6}" type="pres">
      <dgm:prSet presAssocID="{39EB0991-8EB9-4AFD-A2F2-F6E1F254BE25}" presName="ParentBackground" presStyleLbl="fgAcc1" presStyleIdx="0" presStyleCnt="2"/>
      <dgm:spPr/>
    </dgm:pt>
    <dgm:pt modelId="{372BC7BB-FCD7-4421-B869-B22ABA269ECD}" type="pres">
      <dgm:prSet presAssocID="{39EB0991-8EB9-4AFD-A2F2-F6E1F254BE25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BE6644B-3AB6-4114-8B52-3F8FEEDB9F5A}" type="pres">
      <dgm:prSet presAssocID="{3AEE3E50-0B70-4E20-8A23-DF2C94A810C5}" presName="Accent1" presStyleCnt="0"/>
      <dgm:spPr/>
    </dgm:pt>
    <dgm:pt modelId="{33591AED-BB9F-45EE-A325-54945AB29784}" type="pres">
      <dgm:prSet presAssocID="{3AEE3E50-0B70-4E20-8A23-DF2C94A810C5}" presName="Accent" presStyleLbl="node1" presStyleIdx="1" presStyleCnt="2"/>
      <dgm:spPr/>
    </dgm:pt>
    <dgm:pt modelId="{A3755F47-ED94-41ED-9BF8-1C883C62D6FC}" type="pres">
      <dgm:prSet presAssocID="{3AEE3E50-0B70-4E20-8A23-DF2C94A810C5}" presName="ParentBackground1" presStyleCnt="0"/>
      <dgm:spPr/>
    </dgm:pt>
    <dgm:pt modelId="{EA8B68E1-77F3-4799-AC34-546ABA28C689}" type="pres">
      <dgm:prSet presAssocID="{3AEE3E50-0B70-4E20-8A23-DF2C94A810C5}" presName="ParentBackground" presStyleLbl="fgAcc1" presStyleIdx="1" presStyleCnt="2"/>
      <dgm:spPr/>
    </dgm:pt>
    <dgm:pt modelId="{D41CBF9C-D87B-42FA-83CA-C300FE5ECA73}" type="pres">
      <dgm:prSet presAssocID="{3AEE3E50-0B70-4E20-8A23-DF2C94A810C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782C8628-4FB5-44B2-9AF4-F888684B236A}" type="presOf" srcId="{3AEE3E50-0B70-4E20-8A23-DF2C94A810C5}" destId="{D41CBF9C-D87B-42FA-83CA-C300FE5ECA73}" srcOrd="1" destOrd="0" presId="urn:microsoft.com/office/officeart/2011/layout/CircleProcess"/>
    <dgm:cxn modelId="{65B2B22E-72CC-4EB5-8353-86AEBB03EE39}" srcId="{A7521F9F-9853-4760-AF04-01C8BE6DE7CA}" destId="{3AEE3E50-0B70-4E20-8A23-DF2C94A810C5}" srcOrd="0" destOrd="0" parTransId="{E87FE72D-7C21-4C4E-89B7-B9E78A928E21}" sibTransId="{87E3D749-6CB6-4793-A88E-29194C75DC2E}"/>
    <dgm:cxn modelId="{5C426659-FB7B-4F4F-94BA-0971C81FF64C}" type="presOf" srcId="{39EB0991-8EB9-4AFD-A2F2-F6E1F254BE25}" destId="{372BC7BB-FCD7-4421-B869-B22ABA269ECD}" srcOrd="1" destOrd="0" presId="urn:microsoft.com/office/officeart/2011/layout/CircleProcess"/>
    <dgm:cxn modelId="{15C2058C-EC37-4FEA-A703-C93AC5402A2C}" srcId="{A7521F9F-9853-4760-AF04-01C8BE6DE7CA}" destId="{39EB0991-8EB9-4AFD-A2F2-F6E1F254BE25}" srcOrd="1" destOrd="0" parTransId="{E6A12652-9F65-4387-B68E-183EBE605256}" sibTransId="{EF4950E5-5C98-4D2B-B111-BF6A7726FECB}"/>
    <dgm:cxn modelId="{4B811FAE-2010-4EFA-A284-2F344A710485}" type="presOf" srcId="{39EB0991-8EB9-4AFD-A2F2-F6E1F254BE25}" destId="{3819A24E-29CD-47FA-8F77-B27A7A92C7B6}" srcOrd="0" destOrd="0" presId="urn:microsoft.com/office/officeart/2011/layout/CircleProcess"/>
    <dgm:cxn modelId="{F02639C1-497E-4ECC-9980-39FDC410916F}" type="presOf" srcId="{A7521F9F-9853-4760-AF04-01C8BE6DE7CA}" destId="{04AA666C-C578-48EA-AE10-51E0CB9A2732}" srcOrd="0" destOrd="0" presId="urn:microsoft.com/office/officeart/2011/layout/CircleProcess"/>
    <dgm:cxn modelId="{90AD75F4-1550-4115-903C-2B291FE67C48}" type="presOf" srcId="{3AEE3E50-0B70-4E20-8A23-DF2C94A810C5}" destId="{EA8B68E1-77F3-4799-AC34-546ABA28C689}" srcOrd="0" destOrd="0" presId="urn:microsoft.com/office/officeart/2011/layout/CircleProcess"/>
    <dgm:cxn modelId="{9E2286CA-F296-4D37-9675-B9A2F6A57142}" type="presParOf" srcId="{04AA666C-C578-48EA-AE10-51E0CB9A2732}" destId="{CC6EAF1E-7E1F-4C33-B430-807083E89947}" srcOrd="0" destOrd="0" presId="urn:microsoft.com/office/officeart/2011/layout/CircleProcess"/>
    <dgm:cxn modelId="{C013F972-D3A6-4434-B34E-A54FAAD1F727}" type="presParOf" srcId="{CC6EAF1E-7E1F-4C33-B430-807083E89947}" destId="{9CFC7CA6-F413-4EB9-BC7D-5F9345015BD0}" srcOrd="0" destOrd="0" presId="urn:microsoft.com/office/officeart/2011/layout/CircleProcess"/>
    <dgm:cxn modelId="{84AA7E74-F861-4166-AFF3-89E4F81AC1ED}" type="presParOf" srcId="{04AA666C-C578-48EA-AE10-51E0CB9A2732}" destId="{539D53E9-0047-4EEA-AE61-B55550B077B8}" srcOrd="1" destOrd="0" presId="urn:microsoft.com/office/officeart/2011/layout/CircleProcess"/>
    <dgm:cxn modelId="{8B8D85DC-7CA7-430F-B970-DF6E08CCDEE0}" type="presParOf" srcId="{539D53E9-0047-4EEA-AE61-B55550B077B8}" destId="{3819A24E-29CD-47FA-8F77-B27A7A92C7B6}" srcOrd="0" destOrd="0" presId="urn:microsoft.com/office/officeart/2011/layout/CircleProcess"/>
    <dgm:cxn modelId="{CECFF7B2-FA90-4588-AF8B-16DEBCDCF1CF}" type="presParOf" srcId="{04AA666C-C578-48EA-AE10-51E0CB9A2732}" destId="{372BC7BB-FCD7-4421-B869-B22ABA269ECD}" srcOrd="2" destOrd="0" presId="urn:microsoft.com/office/officeart/2011/layout/CircleProcess"/>
    <dgm:cxn modelId="{D717A9FA-05C3-4782-AA8B-AEDC5B38058A}" type="presParOf" srcId="{04AA666C-C578-48EA-AE10-51E0CB9A2732}" destId="{7BE6644B-3AB6-4114-8B52-3F8FEEDB9F5A}" srcOrd="3" destOrd="0" presId="urn:microsoft.com/office/officeart/2011/layout/CircleProcess"/>
    <dgm:cxn modelId="{3D987564-C02C-4FC2-9B81-8F64BDE21665}" type="presParOf" srcId="{7BE6644B-3AB6-4114-8B52-3F8FEEDB9F5A}" destId="{33591AED-BB9F-45EE-A325-54945AB29784}" srcOrd="0" destOrd="0" presId="urn:microsoft.com/office/officeart/2011/layout/CircleProcess"/>
    <dgm:cxn modelId="{3AA20A3F-8856-4B82-A6E1-A911CD5A1B1B}" type="presParOf" srcId="{04AA666C-C578-48EA-AE10-51E0CB9A2732}" destId="{A3755F47-ED94-41ED-9BF8-1C883C62D6FC}" srcOrd="4" destOrd="0" presId="urn:microsoft.com/office/officeart/2011/layout/CircleProcess"/>
    <dgm:cxn modelId="{F35F4821-18D5-470D-BD7D-31E2256B6711}" type="presParOf" srcId="{A3755F47-ED94-41ED-9BF8-1C883C62D6FC}" destId="{EA8B68E1-77F3-4799-AC34-546ABA28C689}" srcOrd="0" destOrd="0" presId="urn:microsoft.com/office/officeart/2011/layout/CircleProcess"/>
    <dgm:cxn modelId="{A80286B2-07C1-4CBC-B3A5-13997F3EBCD1}" type="presParOf" srcId="{04AA666C-C578-48EA-AE10-51E0CB9A2732}" destId="{D41CBF9C-D87B-42FA-83CA-C300FE5ECA73}" srcOrd="5" destOrd="0" presId="urn:microsoft.com/office/officeart/2011/layout/CircleProcess"/>
  </dgm:cxnLst>
  <dgm:bg>
    <a:solidFill>
      <a:schemeClr val="accent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7521F9F-9853-4760-AF04-01C8BE6DE7CA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AEE3E50-0B70-4E20-8A23-DF2C94A810C5}">
      <dgm:prSet/>
      <dgm:spPr/>
      <dgm:t>
        <a:bodyPr/>
        <a:lstStyle/>
        <a:p>
          <a:r>
            <a:rPr lang="en-SG" b="0" dirty="0"/>
            <a:t>User Embedding</a:t>
          </a:r>
          <a:endParaRPr lang="en-SG" dirty="0"/>
        </a:p>
      </dgm:t>
    </dgm:pt>
    <dgm:pt modelId="{E87FE72D-7C21-4C4E-89B7-B9E78A928E21}" type="parTrans" cxnId="{65B2B22E-72CC-4EB5-8353-86AEBB03EE39}">
      <dgm:prSet/>
      <dgm:spPr/>
      <dgm:t>
        <a:bodyPr/>
        <a:lstStyle/>
        <a:p>
          <a:endParaRPr lang="en-SG"/>
        </a:p>
      </dgm:t>
    </dgm:pt>
    <dgm:pt modelId="{87E3D749-6CB6-4793-A88E-29194C75DC2E}" type="sibTrans" cxnId="{65B2B22E-72CC-4EB5-8353-86AEBB03EE39}">
      <dgm:prSet/>
      <dgm:spPr/>
      <dgm:t>
        <a:bodyPr/>
        <a:lstStyle/>
        <a:p>
          <a:endParaRPr lang="en-SG"/>
        </a:p>
      </dgm:t>
    </dgm:pt>
    <dgm:pt modelId="{5D502DEF-62E0-41A6-A245-292CD4B08141}">
      <dgm:prSet/>
      <dgm:spPr/>
      <dgm:t>
        <a:bodyPr/>
        <a:lstStyle/>
        <a:p>
          <a:r>
            <a:rPr lang="en-SG" b="0" dirty="0"/>
            <a:t>Dot Product Scoring</a:t>
          </a:r>
          <a:endParaRPr lang="en-SG" dirty="0"/>
        </a:p>
      </dgm:t>
    </dgm:pt>
    <dgm:pt modelId="{1C95D010-06D0-47CF-83EE-81250928ABB3}" type="parTrans" cxnId="{BB0D7EB4-2EF8-4201-AF4A-6C30B8A2CA3F}">
      <dgm:prSet/>
      <dgm:spPr/>
      <dgm:t>
        <a:bodyPr/>
        <a:lstStyle/>
        <a:p>
          <a:endParaRPr lang="en-SG"/>
        </a:p>
      </dgm:t>
    </dgm:pt>
    <dgm:pt modelId="{AC7E2760-2504-4C7A-83E3-CAF9F4BA1E45}" type="sibTrans" cxnId="{BB0D7EB4-2EF8-4201-AF4A-6C30B8A2CA3F}">
      <dgm:prSet/>
      <dgm:spPr/>
      <dgm:t>
        <a:bodyPr/>
        <a:lstStyle/>
        <a:p>
          <a:endParaRPr lang="en-SG"/>
        </a:p>
      </dgm:t>
    </dgm:pt>
    <dgm:pt modelId="{0B5B70DB-C372-486F-A52D-26714D56BF44}">
      <dgm:prSet/>
      <dgm:spPr/>
      <dgm:t>
        <a:bodyPr/>
        <a:lstStyle/>
        <a:p>
          <a:r>
            <a:rPr lang="en-SG" b="0" dirty="0"/>
            <a:t>Top-K Retrieval</a:t>
          </a:r>
          <a:endParaRPr lang="en-SG" dirty="0"/>
        </a:p>
      </dgm:t>
    </dgm:pt>
    <dgm:pt modelId="{4E51C9B7-F398-4309-9C2C-8766F2A1A0CB}" type="parTrans" cxnId="{E347CFAC-3B84-4812-981F-A0AC75794A76}">
      <dgm:prSet/>
      <dgm:spPr/>
      <dgm:t>
        <a:bodyPr/>
        <a:lstStyle/>
        <a:p>
          <a:endParaRPr lang="en-SG"/>
        </a:p>
      </dgm:t>
    </dgm:pt>
    <dgm:pt modelId="{DC3CC174-F385-4928-94AE-004F8649AC5E}" type="sibTrans" cxnId="{E347CFAC-3B84-4812-981F-A0AC75794A76}">
      <dgm:prSet/>
      <dgm:spPr/>
      <dgm:t>
        <a:bodyPr/>
        <a:lstStyle/>
        <a:p>
          <a:endParaRPr lang="en-SG"/>
        </a:p>
      </dgm:t>
    </dgm:pt>
    <dgm:pt modelId="{04AA666C-C578-48EA-AE10-51E0CB9A2732}" type="pres">
      <dgm:prSet presAssocID="{A7521F9F-9853-4760-AF04-01C8BE6DE7CA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FB0D1DF-01AE-412D-951C-CB3056E20CBE}" type="pres">
      <dgm:prSet presAssocID="{0B5B70DB-C372-486F-A52D-26714D56BF44}" presName="Accent3" presStyleCnt="0"/>
      <dgm:spPr/>
    </dgm:pt>
    <dgm:pt modelId="{25459E76-ECB2-469A-B22F-F37E50EF6DD3}" type="pres">
      <dgm:prSet presAssocID="{0B5B70DB-C372-486F-A52D-26714D56BF44}" presName="Accent" presStyleLbl="node1" presStyleIdx="0" presStyleCnt="3"/>
      <dgm:spPr/>
    </dgm:pt>
    <dgm:pt modelId="{01095A79-87B9-4FE1-8ABF-EBB511202101}" type="pres">
      <dgm:prSet presAssocID="{0B5B70DB-C372-486F-A52D-26714D56BF44}" presName="ParentBackground3" presStyleCnt="0"/>
      <dgm:spPr/>
    </dgm:pt>
    <dgm:pt modelId="{A619C011-2C3D-4BDA-A071-9EB29B938D1B}" type="pres">
      <dgm:prSet presAssocID="{0B5B70DB-C372-486F-A52D-26714D56BF44}" presName="ParentBackground" presStyleLbl="fgAcc1" presStyleIdx="0" presStyleCnt="3"/>
      <dgm:spPr/>
    </dgm:pt>
    <dgm:pt modelId="{ED36BA05-6332-44C9-93AA-5A5E6886AF37}" type="pres">
      <dgm:prSet presAssocID="{0B5B70DB-C372-486F-A52D-26714D56BF44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CF456E5-F5FD-4528-8243-622B65B9866B}" type="pres">
      <dgm:prSet presAssocID="{5D502DEF-62E0-41A6-A245-292CD4B08141}" presName="Accent2" presStyleCnt="0"/>
      <dgm:spPr/>
    </dgm:pt>
    <dgm:pt modelId="{9B685F5E-EC48-4AED-83A8-FA1EAAD3CB5E}" type="pres">
      <dgm:prSet presAssocID="{5D502DEF-62E0-41A6-A245-292CD4B08141}" presName="Accent" presStyleLbl="node1" presStyleIdx="1" presStyleCnt="3"/>
      <dgm:spPr/>
    </dgm:pt>
    <dgm:pt modelId="{30E6BC21-346D-4C7F-9172-E48AC169FDA1}" type="pres">
      <dgm:prSet presAssocID="{5D502DEF-62E0-41A6-A245-292CD4B08141}" presName="ParentBackground2" presStyleCnt="0"/>
      <dgm:spPr/>
    </dgm:pt>
    <dgm:pt modelId="{C6208838-7D36-4C1A-AA9D-018450FCCE94}" type="pres">
      <dgm:prSet presAssocID="{5D502DEF-62E0-41A6-A245-292CD4B08141}" presName="ParentBackground" presStyleLbl="fgAcc1" presStyleIdx="1" presStyleCnt="3"/>
      <dgm:spPr/>
    </dgm:pt>
    <dgm:pt modelId="{838045ED-ED1F-4BA0-81B4-67B6491738FA}" type="pres">
      <dgm:prSet presAssocID="{5D502DEF-62E0-41A6-A245-292CD4B08141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BE6644B-3AB6-4114-8B52-3F8FEEDB9F5A}" type="pres">
      <dgm:prSet presAssocID="{3AEE3E50-0B70-4E20-8A23-DF2C94A810C5}" presName="Accent1" presStyleCnt="0"/>
      <dgm:spPr/>
    </dgm:pt>
    <dgm:pt modelId="{33591AED-BB9F-45EE-A325-54945AB29784}" type="pres">
      <dgm:prSet presAssocID="{3AEE3E50-0B70-4E20-8A23-DF2C94A810C5}" presName="Accent" presStyleLbl="node1" presStyleIdx="2" presStyleCnt="3"/>
      <dgm:spPr/>
    </dgm:pt>
    <dgm:pt modelId="{A3755F47-ED94-41ED-9BF8-1C883C62D6FC}" type="pres">
      <dgm:prSet presAssocID="{3AEE3E50-0B70-4E20-8A23-DF2C94A810C5}" presName="ParentBackground1" presStyleCnt="0"/>
      <dgm:spPr/>
    </dgm:pt>
    <dgm:pt modelId="{EA8B68E1-77F3-4799-AC34-546ABA28C689}" type="pres">
      <dgm:prSet presAssocID="{3AEE3E50-0B70-4E20-8A23-DF2C94A810C5}" presName="ParentBackground" presStyleLbl="fgAcc1" presStyleIdx="2" presStyleCnt="3"/>
      <dgm:spPr/>
    </dgm:pt>
    <dgm:pt modelId="{D41CBF9C-D87B-42FA-83CA-C300FE5ECA73}" type="pres">
      <dgm:prSet presAssocID="{3AEE3E50-0B70-4E20-8A23-DF2C94A810C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D6C1011-09E6-4A4D-B50F-0469179033C4}" type="presOf" srcId="{0B5B70DB-C372-486F-A52D-26714D56BF44}" destId="{ED36BA05-6332-44C9-93AA-5A5E6886AF37}" srcOrd="1" destOrd="0" presId="urn:microsoft.com/office/officeart/2011/layout/CircleProcess"/>
    <dgm:cxn modelId="{FB799628-552C-40F2-8C5F-57CE1632EB2B}" type="presOf" srcId="{3AEE3E50-0B70-4E20-8A23-DF2C94A810C5}" destId="{D41CBF9C-D87B-42FA-83CA-C300FE5ECA73}" srcOrd="1" destOrd="0" presId="urn:microsoft.com/office/officeart/2011/layout/CircleProcess"/>
    <dgm:cxn modelId="{65B2B22E-72CC-4EB5-8353-86AEBB03EE39}" srcId="{A7521F9F-9853-4760-AF04-01C8BE6DE7CA}" destId="{3AEE3E50-0B70-4E20-8A23-DF2C94A810C5}" srcOrd="0" destOrd="0" parTransId="{E87FE72D-7C21-4C4E-89B7-B9E78A928E21}" sibTransId="{87E3D749-6CB6-4793-A88E-29194C75DC2E}"/>
    <dgm:cxn modelId="{F40C4072-400B-4495-B52D-29C2644F5EE9}" type="presOf" srcId="{5D502DEF-62E0-41A6-A245-292CD4B08141}" destId="{C6208838-7D36-4C1A-AA9D-018450FCCE94}" srcOrd="0" destOrd="0" presId="urn:microsoft.com/office/officeart/2011/layout/CircleProcess"/>
    <dgm:cxn modelId="{DA1DDE82-A5E1-488F-A741-B86D4EB01B5E}" type="presOf" srcId="{5D502DEF-62E0-41A6-A245-292CD4B08141}" destId="{838045ED-ED1F-4BA0-81B4-67B6491738FA}" srcOrd="1" destOrd="0" presId="urn:microsoft.com/office/officeart/2011/layout/CircleProcess"/>
    <dgm:cxn modelId="{37E4DA9E-008F-4CC4-BDEF-9C20111F8900}" type="presOf" srcId="{0B5B70DB-C372-486F-A52D-26714D56BF44}" destId="{A619C011-2C3D-4BDA-A071-9EB29B938D1B}" srcOrd="0" destOrd="0" presId="urn:microsoft.com/office/officeart/2011/layout/CircleProcess"/>
    <dgm:cxn modelId="{5F1A60A1-7C62-4B8E-A0D5-C4DEE22B3D63}" type="presOf" srcId="{3AEE3E50-0B70-4E20-8A23-DF2C94A810C5}" destId="{EA8B68E1-77F3-4799-AC34-546ABA28C689}" srcOrd="0" destOrd="0" presId="urn:microsoft.com/office/officeart/2011/layout/CircleProcess"/>
    <dgm:cxn modelId="{E347CFAC-3B84-4812-981F-A0AC75794A76}" srcId="{A7521F9F-9853-4760-AF04-01C8BE6DE7CA}" destId="{0B5B70DB-C372-486F-A52D-26714D56BF44}" srcOrd="2" destOrd="0" parTransId="{4E51C9B7-F398-4309-9C2C-8766F2A1A0CB}" sibTransId="{DC3CC174-F385-4928-94AE-004F8649AC5E}"/>
    <dgm:cxn modelId="{BB0D7EB4-2EF8-4201-AF4A-6C30B8A2CA3F}" srcId="{A7521F9F-9853-4760-AF04-01C8BE6DE7CA}" destId="{5D502DEF-62E0-41A6-A245-292CD4B08141}" srcOrd="1" destOrd="0" parTransId="{1C95D010-06D0-47CF-83EE-81250928ABB3}" sibTransId="{AC7E2760-2504-4C7A-83E3-CAF9F4BA1E45}"/>
    <dgm:cxn modelId="{F02639C1-497E-4ECC-9980-39FDC410916F}" type="presOf" srcId="{A7521F9F-9853-4760-AF04-01C8BE6DE7CA}" destId="{04AA666C-C578-48EA-AE10-51E0CB9A2732}" srcOrd="0" destOrd="0" presId="urn:microsoft.com/office/officeart/2011/layout/CircleProcess"/>
    <dgm:cxn modelId="{1C702618-8514-4424-BDEF-270599E69135}" type="presParOf" srcId="{04AA666C-C578-48EA-AE10-51E0CB9A2732}" destId="{EFB0D1DF-01AE-412D-951C-CB3056E20CBE}" srcOrd="0" destOrd="0" presId="urn:microsoft.com/office/officeart/2011/layout/CircleProcess"/>
    <dgm:cxn modelId="{473395FC-959C-4924-B15B-CC08402E0F9C}" type="presParOf" srcId="{EFB0D1DF-01AE-412D-951C-CB3056E20CBE}" destId="{25459E76-ECB2-469A-B22F-F37E50EF6DD3}" srcOrd="0" destOrd="0" presId="urn:microsoft.com/office/officeart/2011/layout/CircleProcess"/>
    <dgm:cxn modelId="{933AE640-2E0F-4278-8D43-1672FB213DBF}" type="presParOf" srcId="{04AA666C-C578-48EA-AE10-51E0CB9A2732}" destId="{01095A79-87B9-4FE1-8ABF-EBB511202101}" srcOrd="1" destOrd="0" presId="urn:microsoft.com/office/officeart/2011/layout/CircleProcess"/>
    <dgm:cxn modelId="{24BA541C-CD9D-4D14-806C-87CA4C368A14}" type="presParOf" srcId="{01095A79-87B9-4FE1-8ABF-EBB511202101}" destId="{A619C011-2C3D-4BDA-A071-9EB29B938D1B}" srcOrd="0" destOrd="0" presId="urn:microsoft.com/office/officeart/2011/layout/CircleProcess"/>
    <dgm:cxn modelId="{A8CFC4B0-651C-42BD-826F-E6C597FA5BEF}" type="presParOf" srcId="{04AA666C-C578-48EA-AE10-51E0CB9A2732}" destId="{ED36BA05-6332-44C9-93AA-5A5E6886AF37}" srcOrd="2" destOrd="0" presId="urn:microsoft.com/office/officeart/2011/layout/CircleProcess"/>
    <dgm:cxn modelId="{479713B9-A341-4B9F-9B1F-3B33E6D50EFC}" type="presParOf" srcId="{04AA666C-C578-48EA-AE10-51E0CB9A2732}" destId="{3CF456E5-F5FD-4528-8243-622B65B9866B}" srcOrd="3" destOrd="0" presId="urn:microsoft.com/office/officeart/2011/layout/CircleProcess"/>
    <dgm:cxn modelId="{7F3F1DD1-7FE7-4EFA-8C45-3885354B35BB}" type="presParOf" srcId="{3CF456E5-F5FD-4528-8243-622B65B9866B}" destId="{9B685F5E-EC48-4AED-83A8-FA1EAAD3CB5E}" srcOrd="0" destOrd="0" presId="urn:microsoft.com/office/officeart/2011/layout/CircleProcess"/>
    <dgm:cxn modelId="{DCB9562F-3A4F-4097-A547-2B9FE02946D5}" type="presParOf" srcId="{04AA666C-C578-48EA-AE10-51E0CB9A2732}" destId="{30E6BC21-346D-4C7F-9172-E48AC169FDA1}" srcOrd="4" destOrd="0" presId="urn:microsoft.com/office/officeart/2011/layout/CircleProcess"/>
    <dgm:cxn modelId="{D08A03FC-CC6D-479C-8689-3910616B6AB1}" type="presParOf" srcId="{30E6BC21-346D-4C7F-9172-E48AC169FDA1}" destId="{C6208838-7D36-4C1A-AA9D-018450FCCE94}" srcOrd="0" destOrd="0" presId="urn:microsoft.com/office/officeart/2011/layout/CircleProcess"/>
    <dgm:cxn modelId="{C674864A-4EA1-4361-8A52-1ED0C6BAC538}" type="presParOf" srcId="{04AA666C-C578-48EA-AE10-51E0CB9A2732}" destId="{838045ED-ED1F-4BA0-81B4-67B6491738FA}" srcOrd="5" destOrd="0" presId="urn:microsoft.com/office/officeart/2011/layout/CircleProcess"/>
    <dgm:cxn modelId="{64229E5B-833E-44CB-B4A5-D77C8ACF29F3}" type="presParOf" srcId="{04AA666C-C578-48EA-AE10-51E0CB9A2732}" destId="{7BE6644B-3AB6-4114-8B52-3F8FEEDB9F5A}" srcOrd="6" destOrd="0" presId="urn:microsoft.com/office/officeart/2011/layout/CircleProcess"/>
    <dgm:cxn modelId="{55CD613F-347B-4436-B147-5F5F60638C14}" type="presParOf" srcId="{7BE6644B-3AB6-4114-8B52-3F8FEEDB9F5A}" destId="{33591AED-BB9F-45EE-A325-54945AB29784}" srcOrd="0" destOrd="0" presId="urn:microsoft.com/office/officeart/2011/layout/CircleProcess"/>
    <dgm:cxn modelId="{79B4C0FD-A8C4-4B78-A1E0-589B90B49C4C}" type="presParOf" srcId="{04AA666C-C578-48EA-AE10-51E0CB9A2732}" destId="{A3755F47-ED94-41ED-9BF8-1C883C62D6FC}" srcOrd="7" destOrd="0" presId="urn:microsoft.com/office/officeart/2011/layout/CircleProcess"/>
    <dgm:cxn modelId="{26850AEF-94FC-4DB5-929A-8044EE79EF2F}" type="presParOf" srcId="{A3755F47-ED94-41ED-9BF8-1C883C62D6FC}" destId="{EA8B68E1-77F3-4799-AC34-546ABA28C689}" srcOrd="0" destOrd="0" presId="urn:microsoft.com/office/officeart/2011/layout/CircleProcess"/>
    <dgm:cxn modelId="{BC3CB2F7-4B47-42BE-9A17-241AB537D1FA}" type="presParOf" srcId="{04AA666C-C578-48EA-AE10-51E0CB9A2732}" destId="{D41CBF9C-D87B-42FA-83CA-C300FE5ECA73}" srcOrd="8" destOrd="0" presId="urn:microsoft.com/office/officeart/2011/layout/CircleProcess"/>
  </dgm:cxnLst>
  <dgm:bg>
    <a:solidFill>
      <a:schemeClr val="accent6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4A37F-DEE6-432F-A851-EC63949E182D}">
      <dsp:nvSpPr>
        <dsp:cNvPr id="0" name=""/>
        <dsp:cNvSpPr/>
      </dsp:nvSpPr>
      <dsp:spPr>
        <a:xfrm>
          <a:off x="0" y="159361"/>
          <a:ext cx="3004016" cy="18024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Purchase Propensity Engine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Training Pipeline (Offline): Purchase Propensity Modelling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Serving (Policy) Pipeline: Incentive Allocation (Budget-Constrained)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Compare Assumptions (Freeze After Validation)</a:t>
          </a:r>
        </a:p>
      </dsp:txBody>
      <dsp:txXfrm>
        <a:off x="52791" y="212152"/>
        <a:ext cx="2898434" cy="1696828"/>
      </dsp:txXfrm>
    </dsp:sp>
    <dsp:sp modelId="{71F89AA5-3D26-438B-9C21-64A60B7CAFE1}">
      <dsp:nvSpPr>
        <dsp:cNvPr id="0" name=""/>
        <dsp:cNvSpPr/>
      </dsp:nvSpPr>
      <dsp:spPr>
        <a:xfrm rot="21584320">
          <a:off x="3305118" y="678387"/>
          <a:ext cx="638349" cy="7449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3100" kern="1200" dirty="0"/>
        </a:p>
      </dsp:txBody>
      <dsp:txXfrm>
        <a:off x="3305119" y="827823"/>
        <a:ext cx="446844" cy="446998"/>
      </dsp:txXfrm>
    </dsp:sp>
    <dsp:sp modelId="{74BCB0AC-6184-4BC5-9259-9B38484EB0BD}">
      <dsp:nvSpPr>
        <dsp:cNvPr id="0" name=""/>
        <dsp:cNvSpPr/>
      </dsp:nvSpPr>
      <dsp:spPr>
        <a:xfrm>
          <a:off x="4208438" y="140165"/>
          <a:ext cx="3004016" cy="18024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Offline Policy Evaluation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Compare Incentive Allocation Policies</a:t>
          </a:r>
        </a:p>
      </dsp:txBody>
      <dsp:txXfrm>
        <a:off x="4261229" y="192956"/>
        <a:ext cx="2898434" cy="16968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0C483-DCCC-4B9C-AE6B-988DC288188A}">
      <dsp:nvSpPr>
        <dsp:cNvPr id="0" name=""/>
        <dsp:cNvSpPr/>
      </dsp:nvSpPr>
      <dsp:spPr>
        <a:xfrm>
          <a:off x="212510" y="0"/>
          <a:ext cx="2223161" cy="22231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934A3-7313-4156-8ED7-DDC09B6D49E2}">
      <dsp:nvSpPr>
        <dsp:cNvPr id="0" name=""/>
        <dsp:cNvSpPr/>
      </dsp:nvSpPr>
      <dsp:spPr>
        <a:xfrm>
          <a:off x="286541" y="74186"/>
          <a:ext cx="2074876" cy="207478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 dirty="0"/>
            <a:t>Feature Store</a:t>
          </a:r>
        </a:p>
      </dsp:txBody>
      <dsp:txXfrm>
        <a:off x="583111" y="370585"/>
        <a:ext cx="1482182" cy="1481991"/>
      </dsp:txXfrm>
    </dsp:sp>
    <dsp:sp modelId="{4A4F7823-EAE9-46C3-ABC1-34D954A204CF}">
      <dsp:nvSpPr>
        <dsp:cNvPr id="0" name=""/>
        <dsp:cNvSpPr/>
      </dsp:nvSpPr>
      <dsp:spPr>
        <a:xfrm>
          <a:off x="286541" y="2289686"/>
          <a:ext cx="2074876" cy="11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Online Retail transaction dataset of 2 years </a:t>
          </a:r>
          <a:r>
            <a:rPr lang="en-SG" sz="1200" b="0" i="1" kern="1200" dirty="0">
              <a:solidFill>
                <a:srgbClr val="0070C0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(Online Retail II (UCI transactional dataset)</a:t>
          </a:r>
          <a:endParaRPr lang="en-SG" sz="1200" b="0" i="1" kern="1200" dirty="0">
            <a:solidFill>
              <a:srgbClr val="0070C0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Shared Feature Engineering Layer</a:t>
          </a:r>
        </a:p>
      </dsp:txBody>
      <dsp:txXfrm>
        <a:off x="286541" y="2289686"/>
        <a:ext cx="2074876" cy="11932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E4ACC-F46F-4E3F-B3D5-13482F0C135B}">
      <dsp:nvSpPr>
        <dsp:cNvPr id="0" name=""/>
        <dsp:cNvSpPr/>
      </dsp:nvSpPr>
      <dsp:spPr>
        <a:xfrm>
          <a:off x="1408" y="80239"/>
          <a:ext cx="3004016" cy="1802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Retrieval &amp; Ranking Engine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Training Pipeline (Offline): Two-Tower Collaborative Filtering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Serving (Retrieval) Pipeline: User-Item Dot Product Scoring</a:t>
          </a:r>
        </a:p>
      </dsp:txBody>
      <dsp:txXfrm>
        <a:off x="54199" y="133030"/>
        <a:ext cx="2898434" cy="1696827"/>
      </dsp:txXfrm>
    </dsp:sp>
    <dsp:sp modelId="{4F230ABA-46E3-4A4E-8801-E05038A704F6}">
      <dsp:nvSpPr>
        <dsp:cNvPr id="0" name=""/>
        <dsp:cNvSpPr/>
      </dsp:nvSpPr>
      <dsp:spPr>
        <a:xfrm>
          <a:off x="3305826" y="608946"/>
          <a:ext cx="636851" cy="7449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3100" kern="1200" dirty="0"/>
        </a:p>
      </dsp:txBody>
      <dsp:txXfrm>
        <a:off x="3305826" y="757945"/>
        <a:ext cx="445796" cy="446998"/>
      </dsp:txXfrm>
    </dsp:sp>
    <dsp:sp modelId="{298762B9-1A9A-489F-A7B0-51C707051142}">
      <dsp:nvSpPr>
        <dsp:cNvPr id="0" name=""/>
        <dsp:cNvSpPr/>
      </dsp:nvSpPr>
      <dsp:spPr>
        <a:xfrm>
          <a:off x="4207031" y="80239"/>
          <a:ext cx="3004016" cy="1802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Offline Evaluation</a:t>
          </a:r>
          <a:endParaRPr lang="en-SG" sz="14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Proxy metrics for commercial engagement: Recall/NDCG/Hit Rate</a:t>
          </a:r>
        </a:p>
      </dsp:txBody>
      <dsp:txXfrm>
        <a:off x="4259822" y="133030"/>
        <a:ext cx="2898434" cy="16968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C7CA6-F413-4EB9-BC7D-5F9345015BD0}">
      <dsp:nvSpPr>
        <dsp:cNvPr id="0" name=""/>
        <dsp:cNvSpPr/>
      </dsp:nvSpPr>
      <dsp:spPr>
        <a:xfrm>
          <a:off x="5100069" y="558212"/>
          <a:ext cx="1478691" cy="14789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9A24E-29CD-47FA-8F77-B27A7A92C7B6}">
      <dsp:nvSpPr>
        <dsp:cNvPr id="0" name=""/>
        <dsp:cNvSpPr/>
      </dsp:nvSpPr>
      <dsp:spPr>
        <a:xfrm>
          <a:off x="5149166" y="607520"/>
          <a:ext cx="1380497" cy="138035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b="0" kern="1200" dirty="0"/>
            <a:t>Models Validation</a:t>
          </a:r>
        </a:p>
      </dsp:txBody>
      <dsp:txXfrm>
        <a:off x="5346517" y="804750"/>
        <a:ext cx="985794" cy="985890"/>
      </dsp:txXfrm>
    </dsp:sp>
    <dsp:sp modelId="{09794B8C-E734-4AD7-92B7-E8D5CAA1082F}">
      <dsp:nvSpPr>
        <dsp:cNvPr id="0" name=""/>
        <dsp:cNvSpPr/>
      </dsp:nvSpPr>
      <dsp:spPr>
        <a:xfrm rot="2700000">
          <a:off x="3573579" y="560000"/>
          <a:ext cx="1475129" cy="147512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F1890-877A-4652-9D3B-F479BCA8EE98}">
      <dsp:nvSpPr>
        <dsp:cNvPr id="0" name=""/>
        <dsp:cNvSpPr/>
      </dsp:nvSpPr>
      <dsp:spPr>
        <a:xfrm>
          <a:off x="3620896" y="607520"/>
          <a:ext cx="1380497" cy="138035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b="0" kern="1200" dirty="0">
              <a:solidFill>
                <a:schemeClr val="tx1"/>
              </a:solidFill>
            </a:rPr>
            <a:t>Models Training</a:t>
          </a:r>
        </a:p>
      </dsp:txBody>
      <dsp:txXfrm>
        <a:off x="3818247" y="804750"/>
        <a:ext cx="985794" cy="985890"/>
      </dsp:txXfrm>
    </dsp:sp>
    <dsp:sp modelId="{33591AED-BB9F-45EE-A325-54945AB29784}">
      <dsp:nvSpPr>
        <dsp:cNvPr id="0" name=""/>
        <dsp:cNvSpPr/>
      </dsp:nvSpPr>
      <dsp:spPr>
        <a:xfrm rot="2700000">
          <a:off x="2045309" y="560000"/>
          <a:ext cx="1475129" cy="147512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B68E1-77F3-4799-AC34-546ABA28C689}">
      <dsp:nvSpPr>
        <dsp:cNvPr id="0" name=""/>
        <dsp:cNvSpPr/>
      </dsp:nvSpPr>
      <dsp:spPr>
        <a:xfrm>
          <a:off x="2092626" y="607520"/>
          <a:ext cx="1380497" cy="138035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b="0" kern="1200" dirty="0"/>
            <a:t>Feature Store</a:t>
          </a:r>
          <a:endParaRPr lang="en-SG" sz="1500" kern="1200" dirty="0"/>
        </a:p>
      </dsp:txBody>
      <dsp:txXfrm>
        <a:off x="2289977" y="804750"/>
        <a:ext cx="985794" cy="9858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C7CA6-F413-4EB9-BC7D-5F9345015BD0}">
      <dsp:nvSpPr>
        <dsp:cNvPr id="0" name=""/>
        <dsp:cNvSpPr/>
      </dsp:nvSpPr>
      <dsp:spPr>
        <a:xfrm>
          <a:off x="6732991" y="651808"/>
          <a:ext cx="1535231" cy="15354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9A24E-29CD-47FA-8F77-B27A7A92C7B6}">
      <dsp:nvSpPr>
        <dsp:cNvPr id="0" name=""/>
        <dsp:cNvSpPr/>
      </dsp:nvSpPr>
      <dsp:spPr>
        <a:xfrm>
          <a:off x="6783648" y="703000"/>
          <a:ext cx="1433100" cy="14330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0" kern="1200" dirty="0"/>
            <a:t>Targeting Decisions</a:t>
          </a:r>
          <a:br>
            <a:rPr lang="en-SG" sz="1200" b="0" kern="1200" dirty="0"/>
          </a:br>
          <a:r>
            <a:rPr lang="en-SG" sz="1200" b="0" kern="1200" dirty="0"/>
            <a:t>(User-level)</a:t>
          </a:r>
          <a:endParaRPr lang="en-SG" sz="1200" kern="1200" dirty="0"/>
        </a:p>
      </dsp:txBody>
      <dsp:txXfrm>
        <a:off x="6988727" y="907767"/>
        <a:ext cx="1023759" cy="1023565"/>
      </dsp:txXfrm>
    </dsp:sp>
    <dsp:sp modelId="{09794B8C-E734-4AD7-92B7-E8D5CAA1082F}">
      <dsp:nvSpPr>
        <dsp:cNvPr id="0" name=""/>
        <dsp:cNvSpPr/>
      </dsp:nvSpPr>
      <dsp:spPr>
        <a:xfrm rot="2700000">
          <a:off x="5145558" y="651888"/>
          <a:ext cx="1535053" cy="153505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F1890-877A-4652-9D3B-F479BCA8EE98}">
      <dsp:nvSpPr>
        <dsp:cNvPr id="0" name=""/>
        <dsp:cNvSpPr/>
      </dsp:nvSpPr>
      <dsp:spPr>
        <a:xfrm>
          <a:off x="5197760" y="703000"/>
          <a:ext cx="1433100" cy="14330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0" kern="1200" dirty="0"/>
            <a:t>Budget-Constrained Optimization (Top K users by EV)</a:t>
          </a:r>
          <a:endParaRPr lang="en-SG" sz="1200" kern="1200" dirty="0"/>
        </a:p>
      </dsp:txBody>
      <dsp:txXfrm>
        <a:off x="5402022" y="907767"/>
        <a:ext cx="1023759" cy="1023565"/>
      </dsp:txXfrm>
    </dsp:sp>
    <dsp:sp modelId="{25459E76-ECB2-469A-B22F-F37E50EF6DD3}">
      <dsp:nvSpPr>
        <dsp:cNvPr id="0" name=""/>
        <dsp:cNvSpPr/>
      </dsp:nvSpPr>
      <dsp:spPr>
        <a:xfrm rot="2700000">
          <a:off x="3559669" y="651888"/>
          <a:ext cx="1535053" cy="153505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9C011-2C3D-4BDA-A071-9EB29B938D1B}">
      <dsp:nvSpPr>
        <dsp:cNvPr id="0" name=""/>
        <dsp:cNvSpPr/>
      </dsp:nvSpPr>
      <dsp:spPr>
        <a:xfrm>
          <a:off x="3611054" y="703000"/>
          <a:ext cx="1433100" cy="14330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 dirty="0">
              <a:solidFill>
                <a:schemeClr val="tx1"/>
              </a:solidFill>
            </a:rPr>
            <a:t>Rank with predicted expected value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kern="1200" dirty="0">
              <a:solidFill>
                <a:schemeClr val="tx1"/>
              </a:solidFill>
            </a:rPr>
            <a:t>(User-Level)</a:t>
          </a:r>
        </a:p>
      </dsp:txBody>
      <dsp:txXfrm>
        <a:off x="3815316" y="907767"/>
        <a:ext cx="1023759" cy="1023565"/>
      </dsp:txXfrm>
    </dsp:sp>
    <dsp:sp modelId="{9B685F5E-EC48-4AED-83A8-FA1EAAD3CB5E}">
      <dsp:nvSpPr>
        <dsp:cNvPr id="0" name=""/>
        <dsp:cNvSpPr/>
      </dsp:nvSpPr>
      <dsp:spPr>
        <a:xfrm rot="2700000">
          <a:off x="1972964" y="651888"/>
          <a:ext cx="1535053" cy="153505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08838-7D36-4C1A-AA9D-018450FCCE94}">
      <dsp:nvSpPr>
        <dsp:cNvPr id="0" name=""/>
        <dsp:cNvSpPr/>
      </dsp:nvSpPr>
      <dsp:spPr>
        <a:xfrm>
          <a:off x="2024349" y="703000"/>
          <a:ext cx="1433100" cy="14330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0" kern="1200" dirty="0"/>
            <a:t>Load Trained Models</a:t>
          </a:r>
          <a:endParaRPr lang="en-SG" sz="1200" kern="1200" dirty="0"/>
        </a:p>
      </dsp:txBody>
      <dsp:txXfrm>
        <a:off x="2229428" y="907767"/>
        <a:ext cx="1023759" cy="1023565"/>
      </dsp:txXfrm>
    </dsp:sp>
    <dsp:sp modelId="{33591AED-BB9F-45EE-A325-54945AB29784}">
      <dsp:nvSpPr>
        <dsp:cNvPr id="0" name=""/>
        <dsp:cNvSpPr/>
      </dsp:nvSpPr>
      <dsp:spPr>
        <a:xfrm rot="2700000">
          <a:off x="386258" y="651888"/>
          <a:ext cx="1535053" cy="1535053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B68E1-77F3-4799-AC34-546ABA28C689}">
      <dsp:nvSpPr>
        <dsp:cNvPr id="0" name=""/>
        <dsp:cNvSpPr/>
      </dsp:nvSpPr>
      <dsp:spPr>
        <a:xfrm>
          <a:off x="437644" y="703000"/>
          <a:ext cx="1433100" cy="14330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0" kern="1200" dirty="0"/>
            <a:t>User Features</a:t>
          </a:r>
          <a:endParaRPr lang="en-SG" sz="1200" kern="1200" dirty="0"/>
        </a:p>
      </dsp:txBody>
      <dsp:txXfrm>
        <a:off x="642722" y="907767"/>
        <a:ext cx="1023759" cy="10235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C7CA6-F413-4EB9-BC7D-5F9345015BD0}">
      <dsp:nvSpPr>
        <dsp:cNvPr id="0" name=""/>
        <dsp:cNvSpPr/>
      </dsp:nvSpPr>
      <dsp:spPr>
        <a:xfrm>
          <a:off x="3077189" y="561413"/>
          <a:ext cx="1487466" cy="14874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9A24E-29CD-47FA-8F77-B27A7A92C7B6}">
      <dsp:nvSpPr>
        <dsp:cNvPr id="0" name=""/>
        <dsp:cNvSpPr/>
      </dsp:nvSpPr>
      <dsp:spPr>
        <a:xfrm>
          <a:off x="3126749" y="611003"/>
          <a:ext cx="1388015" cy="138826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000" b="0" kern="1200" dirty="0"/>
            <a:t>Two-Tower Model Training (Collaborative Filtering)</a:t>
          </a:r>
          <a:endParaRPr lang="en-SG" sz="1000" kern="1200" dirty="0"/>
        </a:p>
      </dsp:txBody>
      <dsp:txXfrm>
        <a:off x="3325320" y="809364"/>
        <a:ext cx="991533" cy="991542"/>
      </dsp:txXfrm>
    </dsp:sp>
    <dsp:sp modelId="{33591AED-BB9F-45EE-A325-54945AB29784}">
      <dsp:nvSpPr>
        <dsp:cNvPr id="0" name=""/>
        <dsp:cNvSpPr/>
      </dsp:nvSpPr>
      <dsp:spPr>
        <a:xfrm rot="2700000">
          <a:off x="1540303" y="561247"/>
          <a:ext cx="1487515" cy="148751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B68E1-77F3-4799-AC34-546ABA28C689}">
      <dsp:nvSpPr>
        <dsp:cNvPr id="0" name=""/>
        <dsp:cNvSpPr/>
      </dsp:nvSpPr>
      <dsp:spPr>
        <a:xfrm>
          <a:off x="1590053" y="611003"/>
          <a:ext cx="1388015" cy="138826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000" b="0" i="0" kern="1200" dirty="0"/>
            <a:t>Feature Store</a:t>
          </a:r>
        </a:p>
      </dsp:txBody>
      <dsp:txXfrm>
        <a:off x="1788294" y="809364"/>
        <a:ext cx="991533" cy="9915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59E76-ECB2-469A-B22F-F37E50EF6DD3}">
      <dsp:nvSpPr>
        <dsp:cNvPr id="0" name=""/>
        <dsp:cNvSpPr/>
      </dsp:nvSpPr>
      <dsp:spPr>
        <a:xfrm>
          <a:off x="3844625" y="561413"/>
          <a:ext cx="1487169" cy="14874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9C011-2C3D-4BDA-A071-9EB29B938D1B}">
      <dsp:nvSpPr>
        <dsp:cNvPr id="0" name=""/>
        <dsp:cNvSpPr/>
      </dsp:nvSpPr>
      <dsp:spPr>
        <a:xfrm>
          <a:off x="3894003" y="611003"/>
          <a:ext cx="1388412" cy="138826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b="0" kern="1200" dirty="0"/>
            <a:t>Top-K Retrieval</a:t>
          </a:r>
          <a:endParaRPr lang="en-SG" sz="1300" kern="1200" dirty="0"/>
        </a:p>
      </dsp:txBody>
      <dsp:txXfrm>
        <a:off x="4092486" y="809364"/>
        <a:ext cx="991446" cy="991542"/>
      </dsp:txXfrm>
    </dsp:sp>
    <dsp:sp modelId="{9B685F5E-EC48-4AED-83A8-FA1EAAD3CB5E}">
      <dsp:nvSpPr>
        <dsp:cNvPr id="0" name=""/>
        <dsp:cNvSpPr/>
      </dsp:nvSpPr>
      <dsp:spPr>
        <a:xfrm rot="2700000">
          <a:off x="2309383" y="563211"/>
          <a:ext cx="1483587" cy="1483587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08838-7D36-4C1A-AA9D-018450FCCE94}">
      <dsp:nvSpPr>
        <dsp:cNvPr id="0" name=""/>
        <dsp:cNvSpPr/>
      </dsp:nvSpPr>
      <dsp:spPr>
        <a:xfrm>
          <a:off x="2356971" y="611003"/>
          <a:ext cx="1388412" cy="138826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b="0" kern="1200" dirty="0"/>
            <a:t>Dot Product Scoring</a:t>
          </a:r>
          <a:endParaRPr lang="en-SG" sz="1300" kern="1200" dirty="0"/>
        </a:p>
      </dsp:txBody>
      <dsp:txXfrm>
        <a:off x="2555454" y="809364"/>
        <a:ext cx="991446" cy="991542"/>
      </dsp:txXfrm>
    </dsp:sp>
    <dsp:sp modelId="{33591AED-BB9F-45EE-A325-54945AB29784}">
      <dsp:nvSpPr>
        <dsp:cNvPr id="0" name=""/>
        <dsp:cNvSpPr/>
      </dsp:nvSpPr>
      <dsp:spPr>
        <a:xfrm rot="2700000">
          <a:off x="772351" y="563211"/>
          <a:ext cx="1483587" cy="1483587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B68E1-77F3-4799-AC34-546ABA28C689}">
      <dsp:nvSpPr>
        <dsp:cNvPr id="0" name=""/>
        <dsp:cNvSpPr/>
      </dsp:nvSpPr>
      <dsp:spPr>
        <a:xfrm>
          <a:off x="819939" y="611003"/>
          <a:ext cx="1388412" cy="138826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b="0" kern="1200" dirty="0"/>
            <a:t>User Embedding</a:t>
          </a:r>
          <a:endParaRPr lang="en-SG" sz="1300" kern="1200" dirty="0"/>
        </a:p>
      </dsp:txBody>
      <dsp:txXfrm>
        <a:off x="1018422" y="809364"/>
        <a:ext cx="991446" cy="991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43101-6731-49EA-9558-F09A055B6CC7}" type="datetimeFigureOut">
              <a:rPr lang="en-SG" smtClean="0"/>
              <a:t>25/2/2026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94BD5-7EB2-4B74-916E-2CB6F821BA1D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022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94BD5-7EB2-4B74-916E-2CB6F821BA1D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4535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893D-809A-9F23-6C7A-F16FEA0F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F0A98-F180-A4F6-F80A-B2F8BE356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FC309-8425-37C1-9288-F02168FF2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146E0-58CB-2FB6-AC4A-92BAB259E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94BD5-7EB2-4B74-916E-2CB6F821BA1D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00712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E5FA-9397-754F-D4A5-91DBC5CC7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791AE-14B4-3040-FA81-23DC32C1E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D827A-14B1-0E47-9A25-08AA012EA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0125E-9A80-4B28-7662-A7ABEAC5F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94BD5-7EB2-4B74-916E-2CB6F821BA1D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2834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43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023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09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04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70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1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17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03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44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43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480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47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2227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931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262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75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50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2E8F-8845-67A8-74ED-D98C25054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74564-2FB7-C283-8E42-88B8940B8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Market growth levers with ML</a:t>
            </a:r>
          </a:p>
        </p:txBody>
      </p:sp>
    </p:spTree>
    <p:extLst>
      <p:ext uri="{BB962C8B-B14F-4D97-AF65-F5344CB8AC3E}">
        <p14:creationId xmlns:p14="http://schemas.microsoft.com/office/powerpoint/2010/main" val="155669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D5F8-24A7-E001-A198-842863CA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765" y="624110"/>
            <a:ext cx="8911687" cy="1280890"/>
          </a:xfrm>
        </p:spPr>
        <p:txBody>
          <a:bodyPr/>
          <a:lstStyle/>
          <a:p>
            <a:r>
              <a:rPr lang="en-SG" dirty="0"/>
              <a:t>Overall Platform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91E606-83B6-06E5-92A2-B33A89A062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337485"/>
              </p:ext>
            </p:extLst>
          </p:nvPr>
        </p:nvGraphicFramePr>
        <p:xfrm>
          <a:off x="4695290" y="1915380"/>
          <a:ext cx="7212458" cy="2156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09D6350A-C62D-9AD3-AACC-8FDA0836965F}"/>
              </a:ext>
            </a:extLst>
          </p:cNvPr>
          <p:cNvGrpSpPr/>
          <p:nvPr/>
        </p:nvGrpSpPr>
        <p:grpSpPr>
          <a:xfrm>
            <a:off x="4695290" y="1406605"/>
            <a:ext cx="3129512" cy="634127"/>
            <a:chOff x="4483736" y="2868420"/>
            <a:chExt cx="1769634" cy="187574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4AB476-23F7-4BE1-C534-44A66B4F499D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59E013-CBC5-6C77-893E-C45B462719CF}"/>
                </a:ext>
              </a:extLst>
            </p:cNvPr>
            <p:cNvSpPr txBox="1"/>
            <p:nvPr/>
          </p:nvSpPr>
          <p:spPr>
            <a:xfrm>
              <a:off x="4483736" y="2868420"/>
              <a:ext cx="1769634" cy="18757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kern="1200" dirty="0"/>
                <a:t>Growth Decisioning</a:t>
              </a:r>
              <a:br>
                <a:rPr lang="en-SG" sz="1400" b="1" i="1" kern="1200" dirty="0"/>
              </a:br>
              <a:r>
                <a:rPr lang="en-SG" sz="1400" b="1" i="1" kern="1200" dirty="0"/>
                <a:t>(who to treat, how likely to buy and expected value)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E30B082-03A0-E250-AAB0-C1F1CC079F8F}"/>
              </a:ext>
            </a:extLst>
          </p:cNvPr>
          <p:cNvGrpSpPr/>
          <p:nvPr/>
        </p:nvGrpSpPr>
        <p:grpSpPr>
          <a:xfrm>
            <a:off x="4695290" y="4082653"/>
            <a:ext cx="3125285" cy="458000"/>
            <a:chOff x="4483736" y="2868423"/>
            <a:chExt cx="1769634" cy="10393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67DD455-BF20-0754-4FB8-B8F377195B55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D13476-07DF-94B4-E941-088E7E7A769A}"/>
                </a:ext>
              </a:extLst>
            </p:cNvPr>
            <p:cNvSpPr txBox="1"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kern="1200" dirty="0"/>
                <a:t>Content/Product Selection</a:t>
              </a:r>
              <a:br>
                <a:rPr lang="en-SG" sz="1400" b="1" i="1" kern="1200" dirty="0"/>
              </a:br>
              <a:r>
                <a:rPr lang="en-SG" sz="1400" b="1" i="1" kern="1200" dirty="0"/>
                <a:t>(what to show to end users)</a:t>
              </a:r>
            </a:p>
          </p:txBody>
        </p:sp>
      </p:grp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5C59B2FF-27B9-AA73-CF27-200A48AEE7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1580627"/>
              </p:ext>
            </p:extLst>
          </p:nvPr>
        </p:nvGraphicFramePr>
        <p:xfrm>
          <a:off x="998593" y="2176465"/>
          <a:ext cx="2648182" cy="3482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DD87D2D7-9DB1-4761-3C21-0B2656A8DA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1791951"/>
              </p:ext>
            </p:extLst>
          </p:nvPr>
        </p:nvGraphicFramePr>
        <p:xfrm>
          <a:off x="4695290" y="4540653"/>
          <a:ext cx="7212457" cy="1962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B951E650-B942-3158-9896-A3F7D1EB2E8F}"/>
              </a:ext>
            </a:extLst>
          </p:cNvPr>
          <p:cNvGrpSpPr/>
          <p:nvPr/>
        </p:nvGrpSpPr>
        <p:grpSpPr>
          <a:xfrm>
            <a:off x="3724830" y="3571686"/>
            <a:ext cx="621139" cy="739967"/>
            <a:chOff x="1478545" y="850322"/>
            <a:chExt cx="284531" cy="332847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E8E649E-37A5-B2DB-C49C-0C76D7E4BFB7}"/>
                </a:ext>
              </a:extLst>
            </p:cNvPr>
            <p:cNvSpPr/>
            <p:nvPr/>
          </p:nvSpPr>
          <p:spPr>
            <a:xfrm>
              <a:off x="1478545" y="850322"/>
              <a:ext cx="284531" cy="33284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20" name="Arrow: Right 4">
              <a:extLst>
                <a:ext uri="{FF2B5EF4-FFF2-40B4-BE49-F238E27FC236}">
                  <a16:creationId xmlns:a16="http://schemas.microsoft.com/office/drawing/2014/main" id="{B3EE6376-0C1D-C523-59A9-3ADB3CF31B87}"/>
                </a:ext>
              </a:extLst>
            </p:cNvPr>
            <p:cNvSpPr txBox="1"/>
            <p:nvPr/>
          </p:nvSpPr>
          <p:spPr>
            <a:xfrm>
              <a:off x="1478545" y="916891"/>
              <a:ext cx="199172" cy="1997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400" kern="1200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01C60E0-E94D-7DB9-CE8A-B15A952EF65A}"/>
              </a:ext>
            </a:extLst>
          </p:cNvPr>
          <p:cNvSpPr txBox="1"/>
          <p:nvPr/>
        </p:nvSpPr>
        <p:spPr>
          <a:xfrm>
            <a:off x="3466687" y="2956746"/>
            <a:ext cx="1489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en-SG" sz="1200" b="0" i="1" dirty="0"/>
              <a:t>ML Engines operate independently</a:t>
            </a:r>
            <a:endParaRPr lang="en-SG" sz="1200" i="1" dirty="0"/>
          </a:p>
        </p:txBody>
      </p:sp>
    </p:spTree>
    <p:extLst>
      <p:ext uri="{BB962C8B-B14F-4D97-AF65-F5344CB8AC3E}">
        <p14:creationId xmlns:p14="http://schemas.microsoft.com/office/powerpoint/2010/main" val="285510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6B4F7-707F-24A9-1D43-3BE9FDA4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C1F1-BAF9-51B4-1047-A992A6F22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439" y="624110"/>
            <a:ext cx="7407012" cy="1280890"/>
          </a:xfrm>
        </p:spPr>
        <p:txBody>
          <a:bodyPr/>
          <a:lstStyle/>
          <a:p>
            <a:r>
              <a:rPr lang="en-SG" dirty="0"/>
              <a:t>Purchase Propensity Engine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713D13-677B-884E-3CF7-A0DC0CBF0D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4623494"/>
              </p:ext>
            </p:extLst>
          </p:nvPr>
        </p:nvGraphicFramePr>
        <p:xfrm>
          <a:off x="187644" y="1324120"/>
          <a:ext cx="8318561" cy="2595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46850E08-40F6-E483-A454-14C0C6F05EAF}"/>
              </a:ext>
            </a:extLst>
          </p:cNvPr>
          <p:cNvGrpSpPr/>
          <p:nvPr/>
        </p:nvGrpSpPr>
        <p:grpSpPr>
          <a:xfrm>
            <a:off x="216720" y="1324120"/>
            <a:ext cx="8138246" cy="393400"/>
            <a:chOff x="3694268" y="2868423"/>
            <a:chExt cx="2559102" cy="103935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FF0076-758B-EDEB-8A33-3C84C5BACE25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A7D1F0-8685-68AE-D3E5-8468CE71D384}"/>
                </a:ext>
              </a:extLst>
            </p:cNvPr>
            <p:cNvSpPr txBox="1"/>
            <p:nvPr/>
          </p:nvSpPr>
          <p:spPr>
            <a:xfrm>
              <a:off x="3694268" y="2868423"/>
              <a:ext cx="1769634" cy="10393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kern="1200" dirty="0"/>
                <a:t>Training Pipeline (</a:t>
              </a:r>
              <a:r>
                <a:rPr lang="en-SG" sz="1400" b="1" i="1" dirty="0"/>
                <a:t>Offline): Purchase Propensity Modelling</a:t>
              </a:r>
            </a:p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SG" sz="1400" b="1" i="1" dirty="0"/>
            </a:p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SG" sz="1400" b="1" i="1" kern="1200" dirty="0"/>
            </a:p>
          </p:txBody>
        </p:sp>
      </p:grpSp>
      <p:graphicFrame>
        <p:nvGraphicFramePr>
          <p:cNvPr id="42" name="Content Placeholder 3">
            <a:extLst>
              <a:ext uri="{FF2B5EF4-FFF2-40B4-BE49-F238E27FC236}">
                <a16:creationId xmlns:a16="http://schemas.microsoft.com/office/drawing/2014/main" id="{2A7C2445-1A70-4F63-70A0-E6815BC802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8531120"/>
              </p:ext>
            </p:extLst>
          </p:nvPr>
        </p:nvGraphicFramePr>
        <p:xfrm>
          <a:off x="187645" y="3981101"/>
          <a:ext cx="8336562" cy="2838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43" name="Group 42">
            <a:extLst>
              <a:ext uri="{FF2B5EF4-FFF2-40B4-BE49-F238E27FC236}">
                <a16:creationId xmlns:a16="http://schemas.microsoft.com/office/drawing/2014/main" id="{86C56604-E1B4-8384-8EF1-38FAABB1C783}"/>
              </a:ext>
            </a:extLst>
          </p:cNvPr>
          <p:cNvGrpSpPr/>
          <p:nvPr/>
        </p:nvGrpSpPr>
        <p:grpSpPr>
          <a:xfrm>
            <a:off x="187644" y="4037196"/>
            <a:ext cx="6037720" cy="393400"/>
            <a:chOff x="4483735" y="2868423"/>
            <a:chExt cx="4477884" cy="103935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2AE1D10-8D32-CDE4-3560-00039426C04C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5085A2-C6D9-4D42-6251-871EE931BB45}"/>
                </a:ext>
              </a:extLst>
            </p:cNvPr>
            <p:cNvSpPr txBox="1"/>
            <p:nvPr/>
          </p:nvSpPr>
          <p:spPr>
            <a:xfrm>
              <a:off x="4483735" y="2868423"/>
              <a:ext cx="4477884" cy="10393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kern="1200" dirty="0"/>
                <a:t>Serving (Policy) Pipeline: </a:t>
              </a:r>
              <a:r>
                <a:rPr lang="en-SG" sz="1400" b="1" i="1" dirty="0"/>
                <a:t>Incentive Allocation (Budget-Constrained)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808C675-6AEE-0335-298D-9A253F564DD3}"/>
              </a:ext>
            </a:extLst>
          </p:cNvPr>
          <p:cNvGrpSpPr/>
          <p:nvPr/>
        </p:nvGrpSpPr>
        <p:grpSpPr>
          <a:xfrm>
            <a:off x="8906887" y="6090950"/>
            <a:ext cx="1288330" cy="707886"/>
            <a:chOff x="4483736" y="2868419"/>
            <a:chExt cx="2631405" cy="188243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7317167-50AA-4B64-FDF3-DA077D241F3C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B9DEA4C-5696-59DA-AC50-D1BACD56DF3C}"/>
                </a:ext>
              </a:extLst>
            </p:cNvPr>
            <p:cNvSpPr txBox="1"/>
            <p:nvPr/>
          </p:nvSpPr>
          <p:spPr>
            <a:xfrm>
              <a:off x="4483736" y="2868419"/>
              <a:ext cx="2631405" cy="18824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dirty="0"/>
                <a:t>Offline Policy Evaluation (Test)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F9D8E35-5F06-5171-2245-2632760AFBDB}"/>
              </a:ext>
            </a:extLst>
          </p:cNvPr>
          <p:cNvGrpSpPr/>
          <p:nvPr/>
        </p:nvGrpSpPr>
        <p:grpSpPr>
          <a:xfrm>
            <a:off x="10079580" y="4924916"/>
            <a:ext cx="2112420" cy="1895016"/>
            <a:chOff x="0" y="85649"/>
            <a:chExt cx="3225516" cy="1935309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00524B2-8C49-4395-B15D-73696E4F5430}"/>
                </a:ext>
              </a:extLst>
            </p:cNvPr>
            <p:cNvSpPr/>
            <p:nvPr/>
          </p:nvSpPr>
          <p:spPr>
            <a:xfrm>
              <a:off x="0" y="85649"/>
              <a:ext cx="3225516" cy="193530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51" name="Rectangle: Rounded Corners 4">
              <a:extLst>
                <a:ext uri="{FF2B5EF4-FFF2-40B4-BE49-F238E27FC236}">
                  <a16:creationId xmlns:a16="http://schemas.microsoft.com/office/drawing/2014/main" id="{668B9C79-FCC9-3EAF-EDFE-4EE7ECAD690C}"/>
                </a:ext>
              </a:extLst>
            </p:cNvPr>
            <p:cNvSpPr txBox="1"/>
            <p:nvPr/>
          </p:nvSpPr>
          <p:spPr>
            <a:xfrm>
              <a:off x="56682" y="142332"/>
              <a:ext cx="3112151" cy="18219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t" anchorCtr="0">
              <a:noAutofit/>
            </a:bodyPr>
            <a:lstStyle/>
            <a:p>
              <a:pPr marL="0" lvl="1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000" b="1" kern="1200" dirty="0"/>
                <a:t>Compare Policies</a:t>
              </a:r>
              <a:br>
                <a:rPr lang="en-SG" sz="1000" b="1" dirty="0"/>
              </a:br>
              <a:r>
                <a:rPr lang="en-SG" sz="1000" b="1" kern="1200" dirty="0"/>
                <a:t>(Budget-Constrained)</a:t>
              </a:r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Ø"/>
              </a:pPr>
              <a:r>
                <a:rPr lang="en-SG" sz="1000" kern="1200" dirty="0"/>
                <a:t>Policy A (Default ML-driven targeting): Target top ranked by expected value</a:t>
              </a:r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Ø"/>
              </a:pPr>
              <a:r>
                <a:rPr lang="en-SG" sz="1000" kern="1200" dirty="0"/>
                <a:t>Policy B (Native baseline): Target random</a:t>
              </a:r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Ø"/>
              </a:pPr>
              <a:r>
                <a:rPr lang="en-SG" sz="1000" kern="1200" dirty="0"/>
                <a:t>Policy C (Business heuristic baseline): Target top ranked RFM users</a:t>
              </a:r>
              <a:endParaRPr lang="en-SG" sz="10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CE3DE68-2FF9-E531-6949-3B0910357F07}"/>
              </a:ext>
            </a:extLst>
          </p:cNvPr>
          <p:cNvGrpSpPr/>
          <p:nvPr/>
        </p:nvGrpSpPr>
        <p:grpSpPr>
          <a:xfrm>
            <a:off x="8584059" y="6122628"/>
            <a:ext cx="284531" cy="332847"/>
            <a:chOff x="1478545" y="850322"/>
            <a:chExt cx="284531" cy="332847"/>
          </a:xfrm>
        </p:grpSpPr>
        <p:sp>
          <p:nvSpPr>
            <p:cNvPr id="63" name="Arrow: Right 62">
              <a:extLst>
                <a:ext uri="{FF2B5EF4-FFF2-40B4-BE49-F238E27FC236}">
                  <a16:creationId xmlns:a16="http://schemas.microsoft.com/office/drawing/2014/main" id="{F2CF6544-5BFB-DE01-AE9B-0BAD845145BC}"/>
                </a:ext>
              </a:extLst>
            </p:cNvPr>
            <p:cNvSpPr/>
            <p:nvPr/>
          </p:nvSpPr>
          <p:spPr>
            <a:xfrm>
              <a:off x="1478545" y="850322"/>
              <a:ext cx="284531" cy="33284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64" name="Arrow: Right 4">
              <a:extLst>
                <a:ext uri="{FF2B5EF4-FFF2-40B4-BE49-F238E27FC236}">
                  <a16:creationId xmlns:a16="http://schemas.microsoft.com/office/drawing/2014/main" id="{70A7DE8F-06AE-ED3E-3CD4-8483F7A09DF1}"/>
                </a:ext>
              </a:extLst>
            </p:cNvPr>
            <p:cNvSpPr txBox="1"/>
            <p:nvPr/>
          </p:nvSpPr>
          <p:spPr>
            <a:xfrm>
              <a:off x="1478545" y="916891"/>
              <a:ext cx="199172" cy="1997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400" kern="120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8E216D0-9742-F313-4789-1E38F18EAE12}"/>
              </a:ext>
            </a:extLst>
          </p:cNvPr>
          <p:cNvGrpSpPr/>
          <p:nvPr/>
        </p:nvGrpSpPr>
        <p:grpSpPr>
          <a:xfrm>
            <a:off x="6012525" y="6249637"/>
            <a:ext cx="2493680" cy="635935"/>
            <a:chOff x="4483736" y="2868423"/>
            <a:chExt cx="1769634" cy="1039355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05C7F8E-1A94-C266-284A-CF04F0D719E8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2B5E0E6-BB23-F4DC-3B99-4E0D27D83BCE}"/>
                </a:ext>
              </a:extLst>
            </p:cNvPr>
            <p:cNvSpPr txBox="1"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000" i="1" dirty="0"/>
                <a:t>Policy is evaluated on actual holdout outcomes (historical realized revenue) across out-of-time snapshot slices</a:t>
              </a:r>
              <a:endParaRPr lang="en-SG" sz="1000" b="1" i="1" kern="1200" dirty="0"/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27E3D404-5B31-F03C-F812-01930AB01FCD}"/>
              </a:ext>
            </a:extLst>
          </p:cNvPr>
          <p:cNvSpPr txBox="1"/>
          <p:nvPr/>
        </p:nvSpPr>
        <p:spPr>
          <a:xfrm>
            <a:off x="682944" y="2104527"/>
            <a:ext cx="1541920" cy="117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SG" sz="1000" b="1" i="1" dirty="0"/>
              <a:t>Preprocessing in Feature Store</a:t>
            </a:r>
            <a:r>
              <a:rPr lang="en-SG" sz="1000" i="1" dirty="0"/>
              <a:t> </a:t>
            </a:r>
            <a:br>
              <a:rPr lang="en-SG" sz="1000" i="1" dirty="0"/>
            </a:br>
            <a:r>
              <a:rPr lang="en-SG" sz="1000" i="1" dirty="0"/>
              <a:t>Feature engineering includes derived </a:t>
            </a:r>
            <a:r>
              <a:rPr lang="en-SG" sz="1000" b="1" i="1" dirty="0"/>
              <a:t>RFM-style </a:t>
            </a:r>
            <a:r>
              <a:rPr lang="en-SG" sz="1000" i="1" dirty="0"/>
              <a:t>behavioural aggregation at </a:t>
            </a:r>
            <a:r>
              <a:rPr lang="en-SG" sz="1000" b="1" i="1" dirty="0"/>
              <a:t>user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8A3E5-0910-85BC-4259-9DE399A340E3}"/>
              </a:ext>
            </a:extLst>
          </p:cNvPr>
          <p:cNvSpPr txBox="1"/>
          <p:nvPr/>
        </p:nvSpPr>
        <p:spPr>
          <a:xfrm>
            <a:off x="187644" y="6144741"/>
            <a:ext cx="5738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en-SG" sz="1000" i="1" dirty="0"/>
              <a:t>ML targeting policy ranks users based on expected value (predicted purchase probability × predicted revenue) on each prediction window and monthly snapshot slice.</a:t>
            </a:r>
          </a:p>
          <a:p>
            <a:pPr lvl="0">
              <a:buNone/>
            </a:pPr>
            <a:endParaRPr lang="en-SG" sz="1000" i="1" dirty="0"/>
          </a:p>
          <a:p>
            <a:pPr lvl="0">
              <a:buNone/>
            </a:pPr>
            <a:r>
              <a:rPr lang="en-SG" sz="1000" i="1" dirty="0"/>
              <a:t>Non-ML policies (Random, RFM) use their own non-EV ranking rules.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ACEE9-046D-1B46-F5FD-0B86899B6C00}"/>
              </a:ext>
            </a:extLst>
          </p:cNvPr>
          <p:cNvSpPr txBox="1"/>
          <p:nvPr/>
        </p:nvSpPr>
        <p:spPr>
          <a:xfrm>
            <a:off x="8686069" y="3525321"/>
            <a:ext cx="3420296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en-SG" sz="1000" b="1" i="1" dirty="0"/>
              <a:t>Out Of Scope: No causality incrementality inferred</a:t>
            </a:r>
            <a:endParaRPr lang="en-SG" sz="1000" i="1" dirty="0"/>
          </a:p>
          <a:p>
            <a:pPr lvl="0">
              <a:buNone/>
            </a:pPr>
            <a:endParaRPr lang="en-SG" sz="1000" i="1" dirty="0"/>
          </a:p>
          <a:p>
            <a:pPr lvl="0">
              <a:buNone/>
            </a:pPr>
            <a:r>
              <a:rPr lang="en-SG" sz="1000" i="1" dirty="0"/>
              <a:t>Offline back testing compares allocation policies on a future holdout window. </a:t>
            </a:r>
          </a:p>
          <a:p>
            <a:pPr lvl="0">
              <a:buNone/>
            </a:pPr>
            <a:endParaRPr lang="en-SG" sz="1000" i="1" dirty="0"/>
          </a:p>
          <a:p>
            <a:pPr lvl="0">
              <a:buNone/>
            </a:pPr>
            <a:r>
              <a:rPr lang="en-SG" sz="1000" i="1" dirty="0"/>
              <a:t>True incremental impact would require randomized online experimentation (A/B Testing), which is out of scope for this repository.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EFF3B9-1E18-3E71-4A2D-D3B6203C9F69}"/>
              </a:ext>
            </a:extLst>
          </p:cNvPr>
          <p:cNvSpPr txBox="1"/>
          <p:nvPr/>
        </p:nvSpPr>
        <p:spPr>
          <a:xfrm>
            <a:off x="2129354" y="3368131"/>
            <a:ext cx="48810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i="1" dirty="0"/>
              <a:t>Time-based split (Train/Val/Test):</a:t>
            </a:r>
            <a:br>
              <a:rPr lang="en-SG" sz="1000" b="1" i="1" dirty="0"/>
            </a:br>
            <a:r>
              <a:rPr lang="en-SG" sz="1000" b="1" i="1" dirty="0"/>
              <a:t>Historical rolling behavioural features </a:t>
            </a:r>
            <a:r>
              <a:rPr lang="en-SG" sz="1000" i="1" dirty="0"/>
              <a:t>(say 90 days windows) -&gt; </a:t>
            </a:r>
            <a:r>
              <a:rPr lang="en-SG" sz="1000" b="1" i="1" dirty="0"/>
              <a:t>Future purchase probability</a:t>
            </a:r>
            <a:r>
              <a:rPr lang="en-SG" sz="1000" i="1" dirty="0"/>
              <a:t> (say 30 days windows) for </a:t>
            </a:r>
            <a:r>
              <a:rPr lang="en-SG" sz="1000" b="1" i="1" dirty="0"/>
              <a:t>each monthly snapshot slice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F98565-CA32-50F1-8DCD-0CA591F1094D}"/>
              </a:ext>
            </a:extLst>
          </p:cNvPr>
          <p:cNvSpPr txBox="1"/>
          <p:nvPr/>
        </p:nvSpPr>
        <p:spPr>
          <a:xfrm>
            <a:off x="6743983" y="1841356"/>
            <a:ext cx="17622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SG" sz="1000" b="1" dirty="0"/>
              <a:t>Purchase Propensity Model (logistic/xgboost)</a:t>
            </a:r>
            <a:br>
              <a:rPr lang="en-SG" sz="1000" b="1" dirty="0"/>
            </a:br>
            <a:r>
              <a:rPr lang="en-SG" sz="1000" dirty="0"/>
              <a:t>ROC-AUC / PR-AUC / Top-decile lift / Brier score / ECE</a:t>
            </a:r>
          </a:p>
          <a:p>
            <a:pPr lvl="0"/>
            <a:endParaRPr lang="en-SG" sz="1000" dirty="0"/>
          </a:p>
          <a:p>
            <a:pPr lvl="0"/>
            <a:r>
              <a:rPr lang="en-SG" sz="1000" b="1" dirty="0"/>
              <a:t>Revenue Prediction Model (Regression)</a:t>
            </a:r>
            <a:br>
              <a:rPr lang="en-SG" sz="1000" b="1" dirty="0"/>
            </a:br>
            <a:r>
              <a:rPr lang="en-SG" sz="1000" dirty="0"/>
              <a:t>RMSE / MAE/ MAPE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4C59201-8FED-3DF3-DFC2-AD439062D1F2}"/>
              </a:ext>
            </a:extLst>
          </p:cNvPr>
          <p:cNvGrpSpPr/>
          <p:nvPr/>
        </p:nvGrpSpPr>
        <p:grpSpPr>
          <a:xfrm>
            <a:off x="8907214" y="5206538"/>
            <a:ext cx="1288003" cy="600181"/>
            <a:chOff x="4258103" y="1850783"/>
            <a:chExt cx="4233637" cy="214017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716203E-5C70-22B9-A065-3FEE00301A18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B85D20-90CB-680E-2A80-4304B2ADD0CF}"/>
                </a:ext>
              </a:extLst>
            </p:cNvPr>
            <p:cNvSpPr txBox="1"/>
            <p:nvPr/>
          </p:nvSpPr>
          <p:spPr>
            <a:xfrm>
              <a:off x="4258103" y="1850783"/>
              <a:ext cx="4233637" cy="2140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dirty="0"/>
                <a:t>Offline Policy Evaluation (Validation)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3ED8D1-E2EA-17EE-B95D-9795EDCF0F0E}"/>
              </a:ext>
            </a:extLst>
          </p:cNvPr>
          <p:cNvGrpSpPr/>
          <p:nvPr/>
        </p:nvGrpSpPr>
        <p:grpSpPr>
          <a:xfrm>
            <a:off x="8622357" y="5174939"/>
            <a:ext cx="284531" cy="332847"/>
            <a:chOff x="1478545" y="850322"/>
            <a:chExt cx="284531" cy="332847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6A46FB25-35B0-7FFC-3EDE-7F99EBB07552}"/>
                </a:ext>
              </a:extLst>
            </p:cNvPr>
            <p:cNvSpPr/>
            <p:nvPr/>
          </p:nvSpPr>
          <p:spPr>
            <a:xfrm>
              <a:off x="1478545" y="850322"/>
              <a:ext cx="284531" cy="33284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24" name="Arrow: Right 4">
              <a:extLst>
                <a:ext uri="{FF2B5EF4-FFF2-40B4-BE49-F238E27FC236}">
                  <a16:creationId xmlns:a16="http://schemas.microsoft.com/office/drawing/2014/main" id="{0FD7DEAA-6B1E-A6CC-CD63-1C55593B0A96}"/>
                </a:ext>
              </a:extLst>
            </p:cNvPr>
            <p:cNvSpPr txBox="1"/>
            <p:nvPr/>
          </p:nvSpPr>
          <p:spPr>
            <a:xfrm>
              <a:off x="1478545" y="916891"/>
              <a:ext cx="199172" cy="1997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400" kern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6670C5C-24F6-75B9-3630-0A0DC8CC7D56}"/>
              </a:ext>
            </a:extLst>
          </p:cNvPr>
          <p:cNvGrpSpPr/>
          <p:nvPr/>
        </p:nvGrpSpPr>
        <p:grpSpPr>
          <a:xfrm>
            <a:off x="8957280" y="1325139"/>
            <a:ext cx="3047076" cy="264024"/>
            <a:chOff x="4483736" y="2868423"/>
            <a:chExt cx="1769634" cy="103935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CA91E6-45AA-2A63-9687-4968960BB9EC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942BA43-3360-AAE7-B38E-EF1B2F82F430}"/>
                </a:ext>
              </a:extLst>
            </p:cNvPr>
            <p:cNvSpPr txBox="1"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dirty="0"/>
                <a:t>Window Sensitivity (Validation)</a:t>
              </a:r>
              <a:endParaRPr lang="en-SG" sz="1400" i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4CD42A6-6A1B-5C4A-B259-6B3C539F52EA}"/>
              </a:ext>
            </a:extLst>
          </p:cNvPr>
          <p:cNvGrpSpPr/>
          <p:nvPr/>
        </p:nvGrpSpPr>
        <p:grpSpPr>
          <a:xfrm>
            <a:off x="8622356" y="1282634"/>
            <a:ext cx="284531" cy="332847"/>
            <a:chOff x="1478545" y="850322"/>
            <a:chExt cx="284531" cy="332847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A33E212B-63B0-B38F-0723-E7C34B12260A}"/>
                </a:ext>
              </a:extLst>
            </p:cNvPr>
            <p:cNvSpPr/>
            <p:nvPr/>
          </p:nvSpPr>
          <p:spPr>
            <a:xfrm>
              <a:off x="1478545" y="850322"/>
              <a:ext cx="284531" cy="33284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32" name="Arrow: Right 4">
              <a:extLst>
                <a:ext uri="{FF2B5EF4-FFF2-40B4-BE49-F238E27FC236}">
                  <a16:creationId xmlns:a16="http://schemas.microsoft.com/office/drawing/2014/main" id="{DF5673BA-D215-69D8-75D0-737673288889}"/>
                </a:ext>
              </a:extLst>
            </p:cNvPr>
            <p:cNvSpPr txBox="1"/>
            <p:nvPr/>
          </p:nvSpPr>
          <p:spPr>
            <a:xfrm>
              <a:off x="1478545" y="916891"/>
              <a:ext cx="199172" cy="1997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400" kern="12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BD3AA13-C4A7-F2B8-1E1D-254981977AF8}"/>
              </a:ext>
            </a:extLst>
          </p:cNvPr>
          <p:cNvGrpSpPr/>
          <p:nvPr/>
        </p:nvGrpSpPr>
        <p:grpSpPr>
          <a:xfrm>
            <a:off x="8683645" y="1586260"/>
            <a:ext cx="3422720" cy="1178524"/>
            <a:chOff x="0" y="85649"/>
            <a:chExt cx="3225516" cy="1935309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4855D310-C021-B4A8-7601-00EA639C16CD}"/>
                </a:ext>
              </a:extLst>
            </p:cNvPr>
            <p:cNvSpPr/>
            <p:nvPr/>
          </p:nvSpPr>
          <p:spPr>
            <a:xfrm>
              <a:off x="0" y="85649"/>
              <a:ext cx="3225516" cy="193530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57" name="Rectangle: Rounded Corners 4">
              <a:extLst>
                <a:ext uri="{FF2B5EF4-FFF2-40B4-BE49-F238E27FC236}">
                  <a16:creationId xmlns:a16="http://schemas.microsoft.com/office/drawing/2014/main" id="{B8B199D4-140D-E3C8-2743-5401B1A1A40C}"/>
                </a:ext>
              </a:extLst>
            </p:cNvPr>
            <p:cNvSpPr txBox="1"/>
            <p:nvPr/>
          </p:nvSpPr>
          <p:spPr>
            <a:xfrm>
              <a:off x="56683" y="142334"/>
              <a:ext cx="3112151" cy="18219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t" anchorCtr="0">
              <a:noAutofit/>
            </a:bodyPr>
            <a:lstStyle/>
            <a:p>
              <a:pPr marL="0" lvl="1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000" b="1" kern="1200" dirty="0"/>
                <a:t>Compare Assumptions (Freeze After </a:t>
              </a:r>
              <a:r>
                <a:rPr lang="en-SG" sz="1000" b="1" dirty="0"/>
                <a:t>V</a:t>
              </a:r>
              <a:r>
                <a:rPr lang="en-SG" sz="1000" b="1" kern="1200" dirty="0"/>
                <a:t>alidation)</a:t>
              </a:r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Ø"/>
              </a:pPr>
              <a:r>
                <a:rPr lang="en-SG" sz="1000" b="1" dirty="0"/>
                <a:t>logistic/xgboost </a:t>
              </a:r>
              <a:r>
                <a:rPr lang="en-SG" sz="1000" dirty="0"/>
                <a:t>with different windows</a:t>
              </a:r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Ø"/>
              </a:pPr>
              <a:r>
                <a:rPr lang="en-SG" sz="1000" b="1" dirty="0"/>
                <a:t>Prediction window </a:t>
              </a:r>
              <a:r>
                <a:rPr lang="en-SG" sz="1000" dirty="0"/>
                <a:t>validation with inter-purchase distribution analysis (</a:t>
              </a:r>
              <a:r>
                <a:rPr lang="en-SG" sz="1000" b="1" dirty="0"/>
                <a:t>30d</a:t>
              </a:r>
              <a:r>
                <a:rPr lang="en-SG" sz="1000" dirty="0"/>
                <a:t>/60d/90d)</a:t>
              </a:r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Ø"/>
              </a:pPr>
              <a:r>
                <a:rPr lang="en-SG" sz="1000" b="1" i="1" dirty="0"/>
                <a:t>Feature lookback window </a:t>
              </a:r>
              <a:r>
                <a:rPr lang="en-SG" sz="1000" i="1" dirty="0"/>
                <a:t>validate with model evaluation metrics (60d/</a:t>
              </a:r>
              <a:r>
                <a:rPr lang="en-SG" sz="1000" b="1" i="1" dirty="0"/>
                <a:t>90d</a:t>
              </a:r>
              <a:r>
                <a:rPr lang="en-SG" sz="1000" i="1" dirty="0"/>
                <a:t>/120d)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03E2D77-6379-415E-D39B-B000AA78467A}"/>
              </a:ext>
            </a:extLst>
          </p:cNvPr>
          <p:cNvSpPr txBox="1"/>
          <p:nvPr/>
        </p:nvSpPr>
        <p:spPr>
          <a:xfrm>
            <a:off x="8678534" y="2831353"/>
            <a:ext cx="115114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SG" sz="1000" b="1" i="1" dirty="0"/>
              <a:t>Periodic Retraining (If Production Environment)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E10CFF9-DA5B-33D4-D518-0AD8DDCC5EFB}"/>
              </a:ext>
            </a:extLst>
          </p:cNvPr>
          <p:cNvGrpSpPr/>
          <p:nvPr/>
        </p:nvGrpSpPr>
        <p:grpSpPr>
          <a:xfrm rot="5400000">
            <a:off x="7066096" y="3797932"/>
            <a:ext cx="284531" cy="332847"/>
            <a:chOff x="1478545" y="850322"/>
            <a:chExt cx="284531" cy="332847"/>
          </a:xfrm>
        </p:grpSpPr>
        <p:sp>
          <p:nvSpPr>
            <p:cNvPr id="70" name="Arrow: Right 69">
              <a:extLst>
                <a:ext uri="{FF2B5EF4-FFF2-40B4-BE49-F238E27FC236}">
                  <a16:creationId xmlns:a16="http://schemas.microsoft.com/office/drawing/2014/main" id="{178279F9-D37B-3CFB-9188-85359CD711DC}"/>
                </a:ext>
              </a:extLst>
            </p:cNvPr>
            <p:cNvSpPr/>
            <p:nvPr/>
          </p:nvSpPr>
          <p:spPr>
            <a:xfrm>
              <a:off x="1478545" y="850322"/>
              <a:ext cx="284531" cy="33284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71" name="Arrow: Right 4">
              <a:extLst>
                <a:ext uri="{FF2B5EF4-FFF2-40B4-BE49-F238E27FC236}">
                  <a16:creationId xmlns:a16="http://schemas.microsoft.com/office/drawing/2014/main" id="{CD642649-57ED-BF75-96A1-A73AC38C8434}"/>
                </a:ext>
              </a:extLst>
            </p:cNvPr>
            <p:cNvSpPr txBox="1"/>
            <p:nvPr/>
          </p:nvSpPr>
          <p:spPr>
            <a:xfrm>
              <a:off x="1478545" y="916891"/>
              <a:ext cx="199172" cy="1997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400" kern="1200" dirty="0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841A5866-94B3-85D2-525A-1A5E66B01566}"/>
              </a:ext>
            </a:extLst>
          </p:cNvPr>
          <p:cNvSpPr txBox="1"/>
          <p:nvPr/>
        </p:nvSpPr>
        <p:spPr>
          <a:xfrm>
            <a:off x="7364738" y="3687356"/>
            <a:ext cx="11381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SG" sz="1000" b="1" dirty="0"/>
              <a:t>Frozen models and windows after validation</a:t>
            </a:r>
            <a:endParaRPr lang="en-SG" sz="1000" dirty="0"/>
          </a:p>
        </p:txBody>
      </p:sp>
    </p:spTree>
    <p:extLst>
      <p:ext uri="{BB962C8B-B14F-4D97-AF65-F5344CB8AC3E}">
        <p14:creationId xmlns:p14="http://schemas.microsoft.com/office/powerpoint/2010/main" val="2359990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0AB4-5B2E-498C-606C-E38958F6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4CBC-8276-AB0E-EAE6-58604095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438" y="624110"/>
            <a:ext cx="10242712" cy="1280890"/>
          </a:xfrm>
        </p:spPr>
        <p:txBody>
          <a:bodyPr>
            <a:normAutofit fontScale="90000"/>
          </a:bodyPr>
          <a:lstStyle/>
          <a:p>
            <a:r>
              <a:rPr lang="en-SG" dirty="0"/>
              <a:t>Purchase Propensity Engine Flow</a:t>
            </a:r>
            <a:br>
              <a:rPr lang="en-SG" dirty="0"/>
            </a:br>
            <a:r>
              <a:rPr lang="en-SG" dirty="0"/>
              <a:t>(Appendix – Feature, Window &amp; Evaluation Design)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A656EC-03BE-FA9E-E7BD-E9BEC2921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56" y="1738481"/>
            <a:ext cx="3085269" cy="481242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SG" sz="1000" b="1" u="sng" dirty="0"/>
              <a:t>Choosing Training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Both models by default trains on features including RMF of _30d and _90d for prediction window defaults 30d and feature lookback window defaults 90d.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Other RMF days features are ignored for model training even if they are in feature store for windows sensitivity analysis</a:t>
            </a:r>
          </a:p>
          <a:p>
            <a:pPr marL="0" indent="0">
              <a:buNone/>
            </a:pPr>
            <a:r>
              <a:rPr lang="en-SG" sz="1000" b="1" dirty="0"/>
              <a:t>Training Features Example</a:t>
            </a:r>
            <a:br>
              <a:rPr lang="en-SG" sz="1000" b="1" dirty="0"/>
            </a:br>
            <a:r>
              <a:rPr lang="en-SG" sz="1000" b="1" dirty="0"/>
              <a:t>(Profile: 30d prediction window, 90d feature lookback window)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recency_days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frequency_30d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frequency_90d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monetary_30d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monetary_90d (capped by spend_cap_quantile)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avg_basket_value_90d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country</a:t>
            </a:r>
          </a:p>
          <a:p>
            <a:endParaRPr lang="en-SG" sz="1000" dirty="0"/>
          </a:p>
          <a:p>
            <a:pPr marL="0" indent="0">
              <a:buNone/>
            </a:pPr>
            <a:endParaRPr lang="en-SG" sz="1000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88D0DFCD-925E-A834-5E4E-68133C154C72}"/>
              </a:ext>
            </a:extLst>
          </p:cNvPr>
          <p:cNvSpPr txBox="1">
            <a:spLocks/>
          </p:cNvSpPr>
          <p:nvPr/>
        </p:nvSpPr>
        <p:spPr>
          <a:xfrm>
            <a:off x="3524252" y="1736156"/>
            <a:ext cx="2752724" cy="4814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000" b="1" u="sng" dirty="0"/>
              <a:t>Choosing Window Sensitivity Features</a:t>
            </a:r>
            <a:br>
              <a:rPr lang="en-SG" sz="1000" dirty="0"/>
            </a:br>
            <a:r>
              <a:rPr lang="en-SG" sz="1000" dirty="0"/>
              <a:t>Window sensitivity analysis reruns training/model validation with alternate feature profiles while keeping the same split logic.</a:t>
            </a:r>
          </a:p>
          <a:p>
            <a:pPr marL="0" indent="0">
              <a:buNone/>
            </a:pPr>
            <a:r>
              <a:rPr lang="en-SG" sz="1000" dirty="0"/>
              <a:t>For feature-lookback test (with 30d prediction window), it uses: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60d lookback profile: </a:t>
            </a:r>
            <a:r>
              <a:rPr lang="en-SG" sz="1000" dirty="0"/>
              <a:t>frequency_60d, monetary_60d, avg_basket_value_60d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90d lookback profile: </a:t>
            </a:r>
            <a:r>
              <a:rPr lang="en-SG" sz="1000" dirty="0"/>
              <a:t>frequency_90d, monetary_90d, avg_basket_value_90d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120d lookback profile:</a:t>
            </a:r>
            <a:r>
              <a:rPr lang="en-SG" sz="1000" dirty="0"/>
              <a:t> frequency_120d, monetary_120d, avg_basket_value_120d</a:t>
            </a:r>
          </a:p>
          <a:p>
            <a:pPr marL="0" indent="0">
              <a:buNone/>
            </a:pPr>
            <a:r>
              <a:rPr lang="en-SG" sz="1000" dirty="0"/>
              <a:t>Then it compares model validation metrics (PR-AUC, ROC-AUC, lift, Brier, ECE) across these profiles.</a:t>
            </a:r>
          </a:p>
          <a:p>
            <a:pPr marL="0" indent="0">
              <a:buNone/>
            </a:pPr>
            <a:r>
              <a:rPr lang="en-SG" sz="1000" dirty="0"/>
              <a:t>So 60d/120d are used as alternative feature windows for comparison experiments, which is not in the default (90d) serving/train path.</a:t>
            </a:r>
          </a:p>
        </p:txBody>
      </p:sp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39F5347A-284B-3BC5-F757-8595B5B67937}"/>
              </a:ext>
            </a:extLst>
          </p:cNvPr>
          <p:cNvSpPr txBox="1">
            <a:spLocks/>
          </p:cNvSpPr>
          <p:nvPr/>
        </p:nvSpPr>
        <p:spPr>
          <a:xfrm>
            <a:off x="6370440" y="1736156"/>
            <a:ext cx="5697737" cy="34263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000" b="1" u="sng" dirty="0"/>
              <a:t>Choosing Model Evaluation Metrics</a:t>
            </a:r>
            <a:br>
              <a:rPr lang="en-SG" sz="1000" b="1" dirty="0"/>
            </a:br>
            <a:r>
              <a:rPr lang="en-SG" sz="1000" b="1" dirty="0"/>
              <a:t>Purchase Propensity Model (logistic / xgboost)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ROC-AUC: </a:t>
            </a:r>
            <a:r>
              <a:rPr lang="en-SG" sz="1000" dirty="0"/>
              <a:t>Ranking discrimination across thresholds </a:t>
            </a:r>
            <a:r>
              <a:rPr lang="en-SG" sz="1000" dirty="0">
                <a:solidFill>
                  <a:schemeClr val="tx1"/>
                </a:solidFill>
              </a:rPr>
              <a:t>(Ability to rank likely buyers above non-buyers)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PR-AUC: </a:t>
            </a:r>
            <a:r>
              <a:rPr lang="en-SG" sz="1000" dirty="0"/>
              <a:t>Precision/recall performance for the positive class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Top-decile lift: </a:t>
            </a:r>
            <a:r>
              <a:rPr lang="en-SG" sz="1000" dirty="0"/>
              <a:t>Buyer-rate concentration in top X% vs base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Brier score: </a:t>
            </a:r>
            <a:r>
              <a:rPr lang="en-SG" sz="1000" dirty="0"/>
              <a:t>Probability error (lower is better)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ECE: </a:t>
            </a:r>
            <a:r>
              <a:rPr lang="en-SG" sz="1000" dirty="0">
                <a:solidFill>
                  <a:schemeClr val="tx1"/>
                </a:solidFill>
              </a:rPr>
              <a:t>Calibration Gap - Predicted probabilities aligned with actual outcomes?</a:t>
            </a:r>
            <a:endParaRPr lang="en-SG" sz="1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SG" sz="1000" b="1" dirty="0"/>
              <a:t>Revenue Prediction Model (Regression)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RMSE (Root Mean Squared Error) : </a:t>
            </a:r>
            <a:r>
              <a:rPr lang="en-SG" sz="1000" i="1" dirty="0">
                <a:solidFill>
                  <a:schemeClr val="tx1"/>
                </a:solidFill>
              </a:rPr>
              <a:t>“How far off are our revenue predictions, with large mistakes penalized more heavily?”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MAE (Mean Absolute Error): </a:t>
            </a:r>
            <a:r>
              <a:rPr lang="en-SG" sz="1000" i="1" dirty="0"/>
              <a:t>“On average, how many dollars are we off per user?”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b="1" dirty="0"/>
              <a:t>MAPE (Mean Absolute Percentage Error): </a:t>
            </a:r>
            <a:r>
              <a:rPr lang="en-SG" sz="1000" i="1" dirty="0"/>
              <a:t>“On average, how wrong are we in percentage terms?”</a:t>
            </a:r>
          </a:p>
          <a:p>
            <a:pPr marL="0" indent="0">
              <a:buNone/>
            </a:pPr>
            <a:endParaRPr lang="en-SG" sz="1000" b="1" dirty="0"/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3EDD249C-F5CB-DA79-F234-557B633E1B42}"/>
              </a:ext>
            </a:extLst>
          </p:cNvPr>
          <p:cNvSpPr txBox="1">
            <a:spLocks/>
          </p:cNvSpPr>
          <p:nvPr/>
        </p:nvSpPr>
        <p:spPr>
          <a:xfrm>
            <a:off x="6380754" y="5267324"/>
            <a:ext cx="5697737" cy="12835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000" b="1" u="sng" dirty="0"/>
              <a:t>Choosing Retraining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For each train-val-test split cycle, we prespecify </a:t>
            </a:r>
            <a:r>
              <a:rPr lang="en-SG" sz="1000" b="1" dirty="0"/>
              <a:t>12M per cycle: 10M training, 1M validation, 1M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SG" sz="1000" dirty="0"/>
              <a:t>We then included </a:t>
            </a:r>
            <a:r>
              <a:rPr lang="en-SG" sz="1000" b="1" dirty="0"/>
              <a:t>quarterly retraining on a rolling basis </a:t>
            </a:r>
            <a:r>
              <a:rPr lang="en-SG" sz="1000" dirty="0"/>
              <a:t>with lightweight infra in this project demo since we have ~2 years dataset</a:t>
            </a:r>
          </a:p>
          <a:p>
            <a:pPr marL="0" indent="0">
              <a:buNone/>
            </a:pPr>
            <a:endParaRPr lang="en-SG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B04D6F-522B-558C-1C82-92D71E57E02F}"/>
              </a:ext>
            </a:extLst>
          </p:cNvPr>
          <p:cNvSpPr txBox="1"/>
          <p:nvPr/>
        </p:nvSpPr>
        <p:spPr>
          <a:xfrm>
            <a:off x="8037315" y="6611779"/>
            <a:ext cx="43356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1" dirty="0"/>
              <a:t>Note: </a:t>
            </a:r>
            <a:r>
              <a:rPr lang="en-SG" sz="1000" dirty="0"/>
              <a:t>See repository docs for specs and implementation details.</a:t>
            </a:r>
          </a:p>
        </p:txBody>
      </p:sp>
    </p:spTree>
    <p:extLst>
      <p:ext uri="{BB962C8B-B14F-4D97-AF65-F5344CB8AC3E}">
        <p14:creationId xmlns:p14="http://schemas.microsoft.com/office/powerpoint/2010/main" val="187621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E523F-6315-8ABE-9E02-48BD2A00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6A6E-DA06-CC5A-FAF4-268A0457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/>
          <a:lstStyle/>
          <a:p>
            <a:r>
              <a:rPr lang="en-SG" dirty="0"/>
              <a:t>Retrieval &amp; Ranking Engine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FC3F1C-38C4-A54A-C60A-2A9EB8E974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089307"/>
              </p:ext>
            </p:extLst>
          </p:nvPr>
        </p:nvGraphicFramePr>
        <p:xfrm>
          <a:off x="3131358" y="1324120"/>
          <a:ext cx="5796885" cy="2610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0042A5DF-25E0-EEF5-952C-367E2F9BBF40}"/>
              </a:ext>
            </a:extLst>
          </p:cNvPr>
          <p:cNvGrpSpPr/>
          <p:nvPr/>
        </p:nvGrpSpPr>
        <p:grpSpPr>
          <a:xfrm>
            <a:off x="3131358" y="1324120"/>
            <a:ext cx="5627645" cy="398885"/>
            <a:chOff x="4483736" y="2868422"/>
            <a:chExt cx="1769634" cy="103935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DAEDA5-500C-3385-B1BC-BBFB94BAB9A1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7188EE1-6551-B19F-903D-33D0F8B39794}"/>
                </a:ext>
              </a:extLst>
            </p:cNvPr>
            <p:cNvSpPr txBox="1"/>
            <p:nvPr/>
          </p:nvSpPr>
          <p:spPr>
            <a:xfrm>
              <a:off x="4483736" y="2868422"/>
              <a:ext cx="1769634" cy="8616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kern="1200" dirty="0"/>
                <a:t>Training Pipeline (</a:t>
              </a:r>
              <a:r>
                <a:rPr lang="en-SG" sz="1400" b="1" i="1" dirty="0"/>
                <a:t>Offline): Two-Tower Collaborative Filtering</a:t>
              </a:r>
              <a:endParaRPr lang="en-SG" sz="1400" b="1" i="1" kern="1200" dirty="0"/>
            </a:p>
          </p:txBody>
        </p:sp>
      </p:grpSp>
      <p:graphicFrame>
        <p:nvGraphicFramePr>
          <p:cNvPr id="42" name="Content Placeholder 3">
            <a:extLst>
              <a:ext uri="{FF2B5EF4-FFF2-40B4-BE49-F238E27FC236}">
                <a16:creationId xmlns:a16="http://schemas.microsoft.com/office/drawing/2014/main" id="{C85F7CF3-93FD-6194-23DE-19C0476E77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3947060"/>
              </p:ext>
            </p:extLst>
          </p:nvPr>
        </p:nvGraphicFramePr>
        <p:xfrm>
          <a:off x="3131357" y="4080395"/>
          <a:ext cx="5796885" cy="2610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43" name="Group 42">
            <a:extLst>
              <a:ext uri="{FF2B5EF4-FFF2-40B4-BE49-F238E27FC236}">
                <a16:creationId xmlns:a16="http://schemas.microsoft.com/office/drawing/2014/main" id="{66B34FE7-D558-16C3-5BF7-66CBC04802C5}"/>
              </a:ext>
            </a:extLst>
          </p:cNvPr>
          <p:cNvGrpSpPr/>
          <p:nvPr/>
        </p:nvGrpSpPr>
        <p:grpSpPr>
          <a:xfrm>
            <a:off x="3241883" y="4136489"/>
            <a:ext cx="5337038" cy="390956"/>
            <a:chOff x="4483735" y="2868423"/>
            <a:chExt cx="3474763" cy="103935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5186C26-8634-923F-38BE-FC6F8DB82864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E185327-B886-034E-931E-1F50F7050D78}"/>
                </a:ext>
              </a:extLst>
            </p:cNvPr>
            <p:cNvSpPr txBox="1"/>
            <p:nvPr/>
          </p:nvSpPr>
          <p:spPr>
            <a:xfrm>
              <a:off x="4483735" y="2868423"/>
              <a:ext cx="3474763" cy="10393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kern="1200" dirty="0"/>
                <a:t>Serving (Retrieval) Pipeline: User-Item Dot Product Scoring</a:t>
              </a:r>
            </a:p>
          </p:txBody>
        </p:sp>
      </p:grpSp>
      <p:sp>
        <p:nvSpPr>
          <p:cNvPr id="65" name="Arrow: Bent 64">
            <a:extLst>
              <a:ext uri="{FF2B5EF4-FFF2-40B4-BE49-F238E27FC236}">
                <a16:creationId xmlns:a16="http://schemas.microsoft.com/office/drawing/2014/main" id="{64EAEDE7-0289-2B8C-7807-86A6147D5724}"/>
              </a:ext>
            </a:extLst>
          </p:cNvPr>
          <p:cNvSpPr/>
          <p:nvPr/>
        </p:nvSpPr>
        <p:spPr>
          <a:xfrm flipH="1">
            <a:off x="9163588" y="2831374"/>
            <a:ext cx="606176" cy="1698315"/>
          </a:xfrm>
          <a:prstGeom prst="bentArrow">
            <a:avLst/>
          </a:prstGeom>
          <a:solidFill>
            <a:srgbClr val="A5301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881087-05F0-7796-1ACA-9E3DD649F79A}"/>
              </a:ext>
            </a:extLst>
          </p:cNvPr>
          <p:cNvGrpSpPr/>
          <p:nvPr/>
        </p:nvGrpSpPr>
        <p:grpSpPr>
          <a:xfrm>
            <a:off x="9032450" y="5074822"/>
            <a:ext cx="284531" cy="332847"/>
            <a:chOff x="1478545" y="850322"/>
            <a:chExt cx="284531" cy="332847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F2C012B-2B75-408E-FC2F-3053B3E1B4DA}"/>
                </a:ext>
              </a:extLst>
            </p:cNvPr>
            <p:cNvSpPr/>
            <p:nvPr/>
          </p:nvSpPr>
          <p:spPr>
            <a:xfrm>
              <a:off x="1478545" y="850322"/>
              <a:ext cx="284531" cy="33284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7" name="Arrow: Right 4">
              <a:extLst>
                <a:ext uri="{FF2B5EF4-FFF2-40B4-BE49-F238E27FC236}">
                  <a16:creationId xmlns:a16="http://schemas.microsoft.com/office/drawing/2014/main" id="{07FE2FD6-E7C5-B478-7494-66C4F62D2855}"/>
                </a:ext>
              </a:extLst>
            </p:cNvPr>
            <p:cNvSpPr txBox="1"/>
            <p:nvPr/>
          </p:nvSpPr>
          <p:spPr>
            <a:xfrm>
              <a:off x="1478545" y="916891"/>
              <a:ext cx="199172" cy="1997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400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345A68D-7823-11C4-751A-B5C17CAA21C5}"/>
              </a:ext>
            </a:extLst>
          </p:cNvPr>
          <p:cNvGrpSpPr/>
          <p:nvPr/>
        </p:nvGrpSpPr>
        <p:grpSpPr>
          <a:xfrm>
            <a:off x="9316981" y="4622762"/>
            <a:ext cx="2683236" cy="425556"/>
            <a:chOff x="4483736" y="2868423"/>
            <a:chExt cx="1769634" cy="103935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6F77BE-C997-2EF0-5EEB-402351E0310E}"/>
                </a:ext>
              </a:extLst>
            </p:cNvPr>
            <p:cNvSpPr/>
            <p:nvPr/>
          </p:nvSpPr>
          <p:spPr>
            <a:xfrm>
              <a:off x="4483736" y="2868423"/>
              <a:ext cx="1769634" cy="103935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B6C517-E484-72E9-7BB5-F06B79C724F4}"/>
                </a:ext>
              </a:extLst>
            </p:cNvPr>
            <p:cNvSpPr txBox="1"/>
            <p:nvPr/>
          </p:nvSpPr>
          <p:spPr>
            <a:xfrm>
              <a:off x="4483736" y="2868423"/>
              <a:ext cx="1769634" cy="8065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t" anchorCtr="0">
              <a:noAutofit/>
            </a:bodyPr>
            <a:lstStyle/>
            <a:p>
              <a:pPr marL="0" lvl="1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b="1" i="1" dirty="0"/>
                <a:t>Offline Evaluation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31B023-9B65-8FBF-C915-B5911855AB2B}"/>
              </a:ext>
            </a:extLst>
          </p:cNvPr>
          <p:cNvGrpSpPr/>
          <p:nvPr/>
        </p:nvGrpSpPr>
        <p:grpSpPr>
          <a:xfrm>
            <a:off x="9421189" y="4953001"/>
            <a:ext cx="2518546" cy="1417114"/>
            <a:chOff x="0" y="85649"/>
            <a:chExt cx="3225516" cy="19353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71DCC3A-1CFC-FD99-7D0F-798AC99F30A4}"/>
                </a:ext>
              </a:extLst>
            </p:cNvPr>
            <p:cNvSpPr/>
            <p:nvPr/>
          </p:nvSpPr>
          <p:spPr>
            <a:xfrm>
              <a:off x="0" y="85649"/>
              <a:ext cx="3225516" cy="193530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7F21738A-6ECD-D72F-C776-C3208442DF7D}"/>
                </a:ext>
              </a:extLst>
            </p:cNvPr>
            <p:cNvSpPr txBox="1"/>
            <p:nvPr/>
          </p:nvSpPr>
          <p:spPr>
            <a:xfrm>
              <a:off x="56683" y="142332"/>
              <a:ext cx="3112150" cy="18219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t" anchorCtr="0">
              <a:noAutofit/>
            </a:bodyPr>
            <a:lstStyle/>
            <a:p>
              <a:pPr marL="0" lvl="1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SG" sz="1400" dirty="0"/>
                <a:t>Proxy metrics for commercial engagement</a:t>
              </a:r>
              <a:endParaRPr lang="en-SG" sz="1400" kern="1200" dirty="0"/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SG" sz="1400" kern="1200" dirty="0"/>
                <a:t>Recall</a:t>
              </a:r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SG" sz="1400" kern="1200" dirty="0"/>
                <a:t>NDCG Evaluation</a:t>
              </a:r>
            </a:p>
            <a:p>
              <a:pPr marL="285750" lvl="1" indent="-2857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SG" sz="1400" kern="1200" dirty="0"/>
                <a:t>Hit Rate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FAA6854-1939-B7C6-2A39-5E9D39B67A0C}"/>
              </a:ext>
            </a:extLst>
          </p:cNvPr>
          <p:cNvSpPr txBox="1"/>
          <p:nvPr/>
        </p:nvSpPr>
        <p:spPr>
          <a:xfrm>
            <a:off x="3131357" y="3314715"/>
            <a:ext cx="31632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SG" sz="1000" b="1" i="1" dirty="0"/>
              <a:t>Preprocessing in Feature Store:</a:t>
            </a:r>
            <a:r>
              <a:rPr lang="en-SG" sz="1000" i="1" dirty="0"/>
              <a:t> </a:t>
            </a:r>
            <a:br>
              <a:rPr lang="en-SG" sz="1000" i="1" dirty="0"/>
            </a:br>
            <a:r>
              <a:rPr lang="en-SG" sz="1000" i="1" dirty="0"/>
              <a:t>Interaction Matrix Construction (User–Item Interactions with time-based data)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752EBF-2C0F-14B9-7A9C-AB7372903286}"/>
              </a:ext>
            </a:extLst>
          </p:cNvPr>
          <p:cNvSpPr txBox="1"/>
          <p:nvPr/>
        </p:nvSpPr>
        <p:spPr>
          <a:xfrm>
            <a:off x="6450114" y="3328223"/>
            <a:ext cx="14138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SG" sz="1000" b="1" i="1" dirty="0"/>
              <a:t>Time-based split (Train/Val/Test)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BE317E-09DD-E978-C40E-A59F7303E440}"/>
              </a:ext>
            </a:extLst>
          </p:cNvPr>
          <p:cNvSpPr txBox="1"/>
          <p:nvPr/>
        </p:nvSpPr>
        <p:spPr>
          <a:xfrm>
            <a:off x="5353104" y="6115993"/>
            <a:ext cx="1724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SG" sz="1000" i="1" dirty="0"/>
              <a:t>With precomputed item embeddings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1586B-2D1B-4192-689D-C703D920888D}"/>
              </a:ext>
            </a:extLst>
          </p:cNvPr>
          <p:cNvSpPr txBox="1"/>
          <p:nvPr/>
        </p:nvSpPr>
        <p:spPr>
          <a:xfrm>
            <a:off x="262405" y="1769545"/>
            <a:ext cx="2452098" cy="17851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SG" sz="1000" b="1" i="1" u="sng" dirty="0"/>
              <a:t>Terms for reference</a:t>
            </a:r>
          </a:p>
          <a:p>
            <a:pPr lvl="0"/>
            <a:endParaRPr lang="en-SG" sz="1000" b="1" i="1" dirty="0"/>
          </a:p>
          <a:p>
            <a:pPr lvl="0"/>
            <a:r>
              <a:rPr lang="en-SG" sz="1000" b="1" i="1" dirty="0"/>
              <a:t>Collaborative Filtering:</a:t>
            </a:r>
            <a:r>
              <a:rPr lang="en-SG" sz="1000" i="1" dirty="0"/>
              <a:t> Behaviour-driven learning from User-Item Interactions</a:t>
            </a:r>
          </a:p>
          <a:p>
            <a:pPr lvl="0"/>
            <a:endParaRPr lang="en-SG" sz="1000" i="1" dirty="0"/>
          </a:p>
          <a:p>
            <a:r>
              <a:rPr lang="en-SG" sz="1000" b="1" i="1" dirty="0"/>
              <a:t>Two-Tower Model Training: </a:t>
            </a:r>
          </a:p>
          <a:p>
            <a:pPr lvl="0"/>
            <a:r>
              <a:rPr lang="en-SG" sz="1000" i="1" dirty="0"/>
              <a:t>Generate embeddings for both users and items in shared embedding space for recommendations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ECFDD-E1D2-C572-2713-33281C1AD597}"/>
              </a:ext>
            </a:extLst>
          </p:cNvPr>
          <p:cNvSpPr txBox="1"/>
          <p:nvPr/>
        </p:nvSpPr>
        <p:spPr>
          <a:xfrm>
            <a:off x="7110765" y="6115992"/>
            <a:ext cx="1883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SG" sz="1000" i="1" dirty="0"/>
              <a:t>What content/product to show to end users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C2D81F-8862-F971-8647-50E0D76022FE}"/>
              </a:ext>
            </a:extLst>
          </p:cNvPr>
          <p:cNvSpPr txBox="1"/>
          <p:nvPr/>
        </p:nvSpPr>
        <p:spPr>
          <a:xfrm>
            <a:off x="9769764" y="2305959"/>
            <a:ext cx="115114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 defTabSz="4445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SG" sz="1000" b="1" i="1" dirty="0"/>
              <a:t>Periodic Retraining (If Production Environment)</a:t>
            </a:r>
          </a:p>
        </p:txBody>
      </p:sp>
    </p:spTree>
    <p:extLst>
      <p:ext uri="{BB962C8B-B14F-4D97-AF65-F5344CB8AC3E}">
        <p14:creationId xmlns:p14="http://schemas.microsoft.com/office/powerpoint/2010/main" val="177485658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974</TotalTime>
  <Words>1065</Words>
  <Application>Microsoft Office PowerPoint</Application>
  <PresentationFormat>Widescreen</PresentationFormat>
  <Paragraphs>119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Century Gothic</vt:lpstr>
      <vt:lpstr>Wingdings</vt:lpstr>
      <vt:lpstr>Wingdings 3</vt:lpstr>
      <vt:lpstr>Wisp</vt:lpstr>
      <vt:lpstr>Architecture</vt:lpstr>
      <vt:lpstr>Overall Platform Architecture</vt:lpstr>
      <vt:lpstr>Purchase Propensity Engine Flow</vt:lpstr>
      <vt:lpstr>Purchase Propensity Engine Flow (Appendix – Feature, Window &amp; Evaluation Design)</vt:lpstr>
      <vt:lpstr>Retrieval &amp; Ranking Engine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Humphrey Tan</dc:creator>
  <cp:lastModifiedBy>Humphrey Tan</cp:lastModifiedBy>
  <cp:revision>445</cp:revision>
  <dcterms:created xsi:type="dcterms:W3CDTF">2026-02-22T04:36:36Z</dcterms:created>
  <dcterms:modified xsi:type="dcterms:W3CDTF">2026-02-25T15:30:07Z</dcterms:modified>
</cp:coreProperties>
</file>