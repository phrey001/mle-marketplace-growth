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4"/>
  </p:notesMasterIdLst>
  <p:sldIdLst>
    <p:sldId id="256" r:id="rId2"/>
    <p:sldId id="271" r:id="rId3"/>
    <p:sldId id="257" r:id="rId4"/>
    <p:sldId id="258" r:id="rId5"/>
    <p:sldId id="260" r:id="rId6"/>
    <p:sldId id="262" r:id="rId7"/>
    <p:sldId id="268" r:id="rId8"/>
    <p:sldId id="270" r:id="rId9"/>
    <p:sldId id="269" r:id="rId10"/>
    <p:sldId id="264" r:id="rId11"/>
    <p:sldId id="267" r:id="rId12"/>
    <p:sldId id="263"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8859" autoAdjust="0"/>
    <p:restoredTop sz="96247" autoAdjust="0"/>
  </p:normalViewPr>
  <p:slideViewPr>
    <p:cSldViewPr snapToGrid="0">
      <p:cViewPr>
        <p:scale>
          <a:sx n="100" d="100"/>
          <a:sy n="100" d="100"/>
        </p:scale>
        <p:origin x="72" y="312"/>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4/3/2026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a:t>
            </a:r>
            <a:r>
              <a:rPr lang="en-SG" b="1" dirty="0" err="1"/>
              <a:t>backtest</a:t>
            </a:r>
            <a:r>
              <a:rPr lang="en-SG" b="1" dirty="0"/>
              <a: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12</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3/4/2026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75624" y="2999351"/>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393400"/>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(Native baseline): Target random</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254492"/>
            <a:ext cx="3420296" cy="1323439"/>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212935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841356"/>
            <a:ext cx="1762222" cy="1477328"/>
          </a:xfrm>
          <a:prstGeom prst="rect">
            <a:avLst/>
          </a:prstGeom>
          <a:noFill/>
        </p:spPr>
        <p:txBody>
          <a:bodyPr wrap="square">
            <a:spAutoFit/>
          </a:bodyPr>
          <a:lstStyle/>
          <a:p>
            <a:pPr lvl="0"/>
            <a:r>
              <a:rPr lang="en-SG" sz="1000" b="1" dirty="0"/>
              <a:t>Purchase Propensity Model (logistic/xgboost)</a:t>
            </a:r>
            <a:br>
              <a:rPr lang="en-SG" sz="1000" b="1" dirty="0"/>
            </a:br>
            <a:r>
              <a:rPr lang="en-SG" sz="1000" dirty="0"/>
              <a:t>ROC-AUC / PR-AUC / Top-decile lift / Brier score / ECE</a:t>
            </a:r>
          </a:p>
          <a:p>
            <a:pPr lvl="0"/>
            <a:endParaRPr lang="en-SG" sz="1000" dirty="0"/>
          </a:p>
          <a:p>
            <a:pPr lvl="0"/>
            <a:r>
              <a:rPr lang="en-SG" sz="1000" b="1" dirty="0"/>
              <a:t>Revenue Prediction Model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Model &amp; Assumptions (Freeze After </a:t>
              </a:r>
              <a:r>
                <a:rPr lang="en-SG" sz="1000" b="1" dirty="0"/>
                <a:t>V</a:t>
              </a:r>
              <a:r>
                <a:rPr lang="en-SG" sz="1000" b="1" kern="1200" dirty="0"/>
                <a:t>alidation)</a:t>
              </a:r>
            </a:p>
            <a:p>
              <a:pPr marL="285750" lvl="1" indent="-285750" algn="l" defTabSz="711200">
                <a:spcBef>
                  <a:spcPct val="0"/>
                </a:spcBef>
                <a:spcAft>
                  <a:spcPts val="600"/>
                </a:spcAft>
                <a:buFont typeface="Wingdings" panose="05000000000000000000" pitchFamily="2" charset="2"/>
                <a:buChar char="Ø"/>
              </a:pPr>
              <a:r>
                <a:rPr lang="en-SG" sz="1000" b="1" dirty="0"/>
                <a:t>logistic/xgboost </a:t>
              </a:r>
              <a:r>
                <a:rPr lang="en-SG" sz="1000" dirty="0"/>
                <a:t>with different windows</a:t>
              </a:r>
            </a:p>
            <a:p>
              <a:pPr marL="285750" lvl="1" indent="-285750" algn="l" defTabSz="711200">
                <a:spcBef>
                  <a:spcPct val="0"/>
                </a:spcBef>
                <a:spcAft>
                  <a:spcPts val="600"/>
                </a:spcAft>
                <a:buFont typeface="Wingdings" panose="05000000000000000000" pitchFamily="2" charset="2"/>
                <a:buChar char="Ø"/>
              </a:pPr>
              <a:r>
                <a:rPr lang="en-SG" sz="1000" b="1" dirty="0"/>
                <a:t>Prediction window </a:t>
              </a:r>
              <a:r>
                <a:rPr lang="en-SG" sz="10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1000" b="1" i="1" dirty="0"/>
                <a:t>Feature lookback window </a:t>
              </a:r>
              <a:r>
                <a:rPr lang="en-SG" sz="1000" i="1" dirty="0"/>
                <a:t>validate with model evaluation metrics (60d/90d/120d)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7364738" y="3687356"/>
            <a:ext cx="1138118" cy="553998"/>
          </a:xfrm>
          <a:prstGeom prst="rect">
            <a:avLst/>
          </a:prstGeom>
          <a:noFill/>
        </p:spPr>
        <p:txBody>
          <a:bodyPr wrap="square">
            <a:spAutoFit/>
          </a:bodyPr>
          <a:lstStyle/>
          <a:p>
            <a:pPr lvl="0"/>
            <a:r>
              <a:rPr lang="en-SG" sz="1000" b="1" dirty="0"/>
              <a:t>Frozen models and windows after validation</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262405" y="1324120"/>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769764" y="2305959"/>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4058814"/>
            <a:ext cx="2634778" cy="1415929"/>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u="sng" dirty="0">
                <a:solidFill>
                  <a:schemeClr val="tx1"/>
                </a:solidFill>
              </a:rPr>
              <a:t>Experiments</a:t>
            </a:r>
          </a:p>
          <a:p>
            <a:endParaRPr lang="en-SG" sz="1000" b="1" dirty="0">
              <a:solidFill>
                <a:schemeClr val="tx1"/>
              </a:solidFill>
            </a:endParaRPr>
          </a:p>
          <a:p>
            <a:r>
              <a:rPr lang="en-SG" sz="1000" b="1" dirty="0">
                <a:solidFill>
                  <a:schemeClr val="tx1"/>
                </a:solidFill>
              </a:rPr>
              <a:t>Popularity</a:t>
            </a:r>
            <a:r>
              <a:rPr lang="en-SG" sz="1000" dirty="0">
                <a:solidFill>
                  <a:schemeClr val="tx1"/>
                </a:solidFill>
              </a:rPr>
              <a:t>: recommends globally most-bought items.</a:t>
            </a:r>
          </a:p>
          <a:p>
            <a:r>
              <a:rPr lang="en-SG" sz="1000" b="1" dirty="0">
                <a:solidFill>
                  <a:schemeClr val="tx1"/>
                </a:solidFill>
              </a:rPr>
              <a:t>MF: </a:t>
            </a:r>
            <a:r>
              <a:rPr lang="en-SG" sz="1000" dirty="0">
                <a:solidFill>
                  <a:schemeClr val="tx1"/>
                </a:solidFill>
              </a:rPr>
              <a:t>Matrix factorization (TruncatedSVD) on user-item interactions.</a:t>
            </a:r>
          </a:p>
          <a:p>
            <a:r>
              <a:rPr lang="en-SG" sz="1000" b="1" dirty="0">
                <a:solidFill>
                  <a:schemeClr val="tx1"/>
                </a:solidFill>
              </a:rPr>
              <a:t>Two-Tower (ML-default): </a:t>
            </a:r>
            <a:r>
              <a:rPr lang="en-SG" sz="10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57784" y="5573621"/>
            <a:ext cx="2634778" cy="476638"/>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Out-of-scope: Stage 2 Re-ranking </a:t>
            </a:r>
            <a:r>
              <a:rPr lang="en-SG" sz="1000" dirty="0">
                <a:solidFill>
                  <a:schemeClr val="tx1"/>
                </a:solidFill>
              </a:rPr>
              <a:t>to improve recall</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1"/>
            <a:ext cx="3085269" cy="4812422"/>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(Profile: 30d prediction window, 90d feature lookback window)</a:t>
            </a:r>
          </a:p>
          <a:p>
            <a:pPr>
              <a:buFont typeface="Wingdings" panose="05000000000000000000" pitchFamily="2" charset="2"/>
              <a:buChar char="Ø"/>
            </a:pPr>
            <a:r>
              <a:rPr lang="en-SG" sz="1000" dirty="0"/>
              <a:t>Both models by default trains on features including RMF of _30d and _90d for prediction window defaults 30d and feature lookback window defaults 90d. </a:t>
            </a:r>
          </a:p>
          <a:p>
            <a:pPr>
              <a:buFont typeface="Wingdings" panose="05000000000000000000" pitchFamily="2" charset="2"/>
              <a:buChar char="Ø"/>
            </a:pPr>
            <a:r>
              <a:rPr lang="en-SG" sz="1000" dirty="0"/>
              <a:t>Other RMF days features are ignored for model training even if they are in feature store for windows sensitivity analysis</a:t>
            </a:r>
            <a:endParaRPr lang="en-SG" sz="1000" b="1" dirty="0"/>
          </a:p>
          <a:p>
            <a:pPr>
              <a:buFont typeface="Wingdings" panose="05000000000000000000" pitchFamily="2" charset="2"/>
              <a:buChar char="Ø"/>
            </a:pPr>
            <a:r>
              <a:rPr lang="en-SG" sz="1000" dirty="0"/>
              <a:t>recency_days</a:t>
            </a:r>
          </a:p>
          <a:p>
            <a:pPr>
              <a:buFont typeface="Wingdings" panose="05000000000000000000" pitchFamily="2" charset="2"/>
              <a:buChar char="Ø"/>
            </a:pPr>
            <a:r>
              <a:rPr lang="en-SG" sz="1000" dirty="0"/>
              <a:t>frequency_30d</a:t>
            </a:r>
          </a:p>
          <a:p>
            <a:pPr>
              <a:buFont typeface="Wingdings" panose="05000000000000000000" pitchFamily="2" charset="2"/>
              <a:buChar char="Ø"/>
            </a:pPr>
            <a:r>
              <a:rPr lang="en-SG" sz="1000" dirty="0"/>
              <a:t>frequency_90d</a:t>
            </a:r>
          </a:p>
          <a:p>
            <a:pPr>
              <a:buFont typeface="Wingdings" panose="05000000000000000000" pitchFamily="2" charset="2"/>
              <a:buChar char="Ø"/>
            </a:pPr>
            <a:r>
              <a:rPr lang="en-SG" sz="1000" dirty="0"/>
              <a:t>monetary_30d</a:t>
            </a:r>
          </a:p>
          <a:p>
            <a:pPr>
              <a:buFont typeface="Wingdings" panose="05000000000000000000" pitchFamily="2" charset="2"/>
              <a:buChar char="Ø"/>
            </a:pPr>
            <a:r>
              <a:rPr lang="en-SG" sz="1000" dirty="0"/>
              <a:t>monetary_90d (capped by spend_cap_quantile)</a:t>
            </a:r>
          </a:p>
          <a:p>
            <a:pPr>
              <a:buFont typeface="Wingdings" panose="05000000000000000000" pitchFamily="2" charset="2"/>
              <a:buChar char="Ø"/>
            </a:pPr>
            <a:r>
              <a:rPr lang="en-SG" sz="1000" dirty="0"/>
              <a:t>avg_basket_value_90d</a:t>
            </a:r>
          </a:p>
          <a:p>
            <a:pPr>
              <a:buFont typeface="Wingdings" panose="05000000000000000000" pitchFamily="2" charset="2"/>
              <a:buChar char="Ø"/>
            </a:pPr>
            <a:r>
              <a:rPr lang="en-SG" sz="1000" dirty="0"/>
              <a:t>country</a:t>
            </a:r>
          </a:p>
          <a:p>
            <a:endParaRPr lang="en-SG" sz="1000" dirty="0"/>
          </a:p>
          <a:p>
            <a:pPr marL="0" indent="0">
              <a:buNone/>
            </a:pPr>
            <a:endParaRPr lang="en-SG" sz="1000"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4814747"/>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1000" dirty="0"/>
              <a:t>For feature-lookback test (with 30d prediction window), it uses:</a:t>
            </a:r>
          </a:p>
          <a:p>
            <a:pPr>
              <a:buFont typeface="Wingdings" panose="05000000000000000000" pitchFamily="2" charset="2"/>
              <a:buChar char="Ø"/>
            </a:pPr>
            <a:r>
              <a:rPr lang="en-SG" sz="1000" b="1" dirty="0"/>
              <a:t>60d lookback profile: </a:t>
            </a:r>
            <a:r>
              <a:rPr lang="en-SG" sz="1000" dirty="0"/>
              <a:t>frequency_60d, monetary_60d, avg_basket_value_60d</a:t>
            </a:r>
          </a:p>
          <a:p>
            <a:pPr>
              <a:buFont typeface="Wingdings" panose="05000000000000000000" pitchFamily="2" charset="2"/>
              <a:buChar char="Ø"/>
            </a:pPr>
            <a:r>
              <a:rPr lang="en-SG" sz="1000" b="1" dirty="0"/>
              <a:t>90d lookback profile: </a:t>
            </a:r>
            <a:r>
              <a:rPr lang="en-SG" sz="1000" dirty="0"/>
              <a:t>frequency_90d, monetary_90d, avg_basket_value_90d</a:t>
            </a:r>
          </a:p>
          <a:p>
            <a:pPr>
              <a:buFont typeface="Wingdings" panose="05000000000000000000" pitchFamily="2" charset="2"/>
              <a:buChar char="Ø"/>
            </a:pPr>
            <a:r>
              <a:rPr lang="en-SG" sz="1000" b="1" dirty="0"/>
              <a:t>120d lookback profile:</a:t>
            </a:r>
            <a:r>
              <a:rPr lang="en-SG" sz="1000" dirty="0"/>
              <a:t> frequency_120d, monetary_120d, avg_basket_value_120d</a:t>
            </a:r>
          </a:p>
          <a:p>
            <a:pPr marL="0" indent="0">
              <a:buNone/>
            </a:pPr>
            <a:r>
              <a:rPr lang="en-SG" sz="1000" dirty="0"/>
              <a:t>Then it compares model validation metrics (PR-AUC, ROC-AUC, lift, Brier, ECE) across these profiles.</a:t>
            </a:r>
          </a:p>
          <a:p>
            <a:pPr marL="0" indent="0">
              <a:buNone/>
            </a:pPr>
            <a:r>
              <a:rPr lang="en-SG" sz="1000" dirty="0"/>
              <a:t>So 60d/120d are used as alternative feature windows for comparison experiments, which is not in the default (90d) serving/train path.</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42639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80754" y="5267324"/>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200329"/>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1374500705"/>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1429.7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505.8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+923.9</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-14.6</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949.5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307.7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+641.8</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1561173177"/>
              </p:ext>
            </p:extLst>
          </p:nvPr>
        </p:nvGraphicFramePr>
        <p:xfrm>
          <a:off x="207645" y="2768145"/>
          <a:ext cx="5408380" cy="1432560"/>
        </p:xfrm>
        <a:graphic>
          <a:graphicData uri="http://schemas.openxmlformats.org/drawingml/2006/table">
            <a:tbl>
              <a:tblPr firstRow="1" bandRow="1">
                <a:tableStyleId>{5C22544A-7EE6-4342-B048-85BDC9FD1C3A}</a:tableStyleId>
              </a:tblPr>
              <a:tblGrid>
                <a:gridCol w="1079425">
                  <a:extLst>
                    <a:ext uri="{9D8B030D-6E8A-4147-A177-3AD203B41FA5}">
                      <a16:colId xmlns:a16="http://schemas.microsoft.com/office/drawing/2014/main" val="1578905552"/>
                    </a:ext>
                  </a:extLst>
                </a:gridCol>
                <a:gridCol w="865791">
                  <a:extLst>
                    <a:ext uri="{9D8B030D-6E8A-4147-A177-3AD203B41FA5}">
                      <a16:colId xmlns:a16="http://schemas.microsoft.com/office/drawing/2014/main" val="2062257706"/>
                    </a:ext>
                  </a:extLst>
                </a:gridCol>
                <a:gridCol w="865791">
                  <a:extLst>
                    <a:ext uri="{9D8B030D-6E8A-4147-A177-3AD203B41FA5}">
                      <a16:colId xmlns:a16="http://schemas.microsoft.com/office/drawing/2014/main" val="1376440620"/>
                    </a:ext>
                  </a:extLst>
                </a:gridCol>
                <a:gridCol w="865791">
                  <a:extLst>
                    <a:ext uri="{9D8B030D-6E8A-4147-A177-3AD203B41FA5}">
                      <a16:colId xmlns:a16="http://schemas.microsoft.com/office/drawing/2014/main" val="4154908257"/>
                    </a:ext>
                  </a:extLst>
                </a:gridCol>
                <a:gridCol w="865791">
                  <a:extLst>
                    <a:ext uri="{9D8B030D-6E8A-4147-A177-3AD203B41FA5}">
                      <a16:colId xmlns:a16="http://schemas.microsoft.com/office/drawing/2014/main" val="1626176295"/>
                    </a:ext>
                  </a:extLst>
                </a:gridCol>
                <a:gridCol w="865791">
                  <a:extLst>
                    <a:ext uri="{9D8B030D-6E8A-4147-A177-3AD203B41FA5}">
                      <a16:colId xmlns:a16="http://schemas.microsoft.com/office/drawing/2014/main" val="3684245219"/>
                    </a:ext>
                  </a:extLst>
                </a:gridCol>
              </a:tblGrid>
              <a:tr h="182365">
                <a:tc>
                  <a:txBody>
                    <a:bodyPr/>
                    <a:lstStyle/>
                    <a:p>
                      <a:r>
                        <a:rPr lang="en-SG" sz="1000" dirty="0"/>
                        <a:t>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147899">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1.77</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2.53</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even though overall ranking quality slightly declined.</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3730988895"/>
              </p:ext>
            </p:extLst>
          </p:nvPr>
        </p:nvGraphicFramePr>
        <p:xfrm>
          <a:off x="5696036" y="2768145"/>
          <a:ext cx="3541507" cy="1432560"/>
        </p:xfrm>
        <a:graphic>
          <a:graphicData uri="http://schemas.openxmlformats.org/drawingml/2006/table">
            <a:tbl>
              <a:tblPr firstRow="1" bandRow="1">
                <a:tableStyleId>{5C22544A-7EE6-4342-B048-85BDC9FD1C3A}</a:tableStyleId>
              </a:tblPr>
              <a:tblGrid>
                <a:gridCol w="1067155">
                  <a:extLst>
                    <a:ext uri="{9D8B030D-6E8A-4147-A177-3AD203B41FA5}">
                      <a16:colId xmlns:a16="http://schemas.microsoft.com/office/drawing/2014/main" val="2444121692"/>
                    </a:ext>
                  </a:extLst>
                </a:gridCol>
                <a:gridCol w="824784">
                  <a:extLst>
                    <a:ext uri="{9D8B030D-6E8A-4147-A177-3AD203B41FA5}">
                      <a16:colId xmlns:a16="http://schemas.microsoft.com/office/drawing/2014/main" val="1796582741"/>
                    </a:ext>
                  </a:extLst>
                </a:gridCol>
                <a:gridCol w="824784">
                  <a:extLst>
                    <a:ext uri="{9D8B030D-6E8A-4147-A177-3AD203B41FA5}">
                      <a16:colId xmlns:a16="http://schemas.microsoft.com/office/drawing/2014/main" val="3043283912"/>
                    </a:ext>
                  </a:extLst>
                </a:gridCol>
                <a:gridCol w="824784">
                  <a:extLst>
                    <a:ext uri="{9D8B030D-6E8A-4147-A177-3AD203B41FA5}">
                      <a16:colId xmlns:a16="http://schemas.microsoft.com/office/drawing/2014/main" val="2318209426"/>
                    </a:ext>
                  </a:extLst>
                </a:gridCol>
              </a:tblGrid>
              <a:tr h="548640">
                <a:tc>
                  <a:txBody>
                    <a:bodyPr/>
                    <a:lstStyle/>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2252</a:t>
                      </a:r>
                    </a:p>
                  </a:txBody>
                  <a:tcPr/>
                </a:tc>
                <a:tc>
                  <a:txBody>
                    <a:bodyPr/>
                    <a:lstStyle/>
                    <a:p>
                      <a:r>
                        <a:rPr lang="en-SG" sz="1000" b="1" dirty="0"/>
                        <a:t>704</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2850</a:t>
                      </a:r>
                    </a:p>
                  </a:txBody>
                  <a:tcPr/>
                </a:tc>
                <a:tc>
                  <a:txBody>
                    <a:bodyPr/>
                    <a:lstStyle/>
                    <a:p>
                      <a:r>
                        <a:rPr lang="en-SG" sz="1000" b="0" dirty="0"/>
                        <a:t>798</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81736043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7EC224-8D80-A7FE-79C2-55BC8616EB70}"/>
                  </a:ext>
                </a:extLst>
              </p:cNvPr>
              <p:cNvSpPr txBox="1"/>
              <p:nvPr/>
            </p:nvSpPr>
            <p:spPr>
              <a:xfrm>
                <a:off x="2739380" y="1844040"/>
                <a:ext cx="1908820" cy="2704908"/>
              </a:xfrm>
              <a:prstGeom prst="rect">
                <a:avLst/>
              </a:prstGeom>
              <a:solidFill>
                <a:schemeClr val="accent6">
                  <a:lumMod val="20000"/>
                  <a:lumOff val="80000"/>
                </a:schemeClr>
              </a:solidFill>
            </p:spPr>
            <p:txBody>
              <a:bodyPr wrap="square">
                <a:spAutoFit/>
              </a:bodyPr>
              <a:lstStyle/>
              <a:p>
                <a:r>
                  <a:rPr lang="en-SG" sz="1000" b="1" u="sng" dirty="0"/>
                  <a:t>Popularity</a:t>
                </a:r>
              </a:p>
              <a:p>
                <a:endParaRPr lang="en-SG" sz="1000" b="1" i="1" u="sng" dirty="0">
                  <a:latin typeface="Cambria Math" panose="02040503050406030204" pitchFamily="18" charset="0"/>
                </a:endParaRPr>
              </a:p>
              <a:p>
                <a:r>
                  <a:rPr lang="en-SG" sz="1000" b="1" dirty="0"/>
                  <a:t>Core Idea</a:t>
                </a:r>
              </a:p>
              <a:p>
                <a:r>
                  <a:rPr lang="en-SG" sz="1000" dirty="0"/>
                  <a:t>Global ranking based on item frequency.</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i="1">
                          <a:latin typeface="Cambria Math" panose="02040503050406030204" pitchFamily="18" charset="0"/>
                        </a:rPr>
                        <m:t>𝑖</m:t>
                      </m:r>
                      <m:r>
                        <a:rPr lang="en-SG" sz="1000" i="1">
                          <a:latin typeface="Cambria Math" panose="02040503050406030204" pitchFamily="18" charset="0"/>
                        </a:rPr>
                        <m:t>)=</m:t>
                      </m:r>
                      <m:r>
                        <a:rPr lang="en-SG" sz="1000" i="1">
                          <a:latin typeface="Cambria Math" panose="02040503050406030204" pitchFamily="18" charset="0"/>
                        </a:rPr>
                        <m:t>𝑙𝑜𝑔</m:t>
                      </m:r>
                      <m:r>
                        <a:rPr lang="en-SG" sz="1000" i="1">
                          <a:latin typeface="Cambria Math" panose="02040503050406030204" pitchFamily="18" charset="0"/>
                        </a:rPr>
                        <m:t>(1+</m:t>
                      </m:r>
                      <m:sSub>
                        <m:sSubPr>
                          <m:ctrlPr>
                            <a:rPr lang="en-SG" sz="1000" i="1">
                              <a:latin typeface="Cambria Math" panose="02040503050406030204" pitchFamily="18" charset="0"/>
                            </a:rPr>
                          </m:ctrlPr>
                        </m:sSubPr>
                        <m:e>
                          <m:r>
                            <a:rPr lang="en-SG" sz="1000" i="1">
                              <a:latin typeface="Cambria Math" panose="02040503050406030204" pitchFamily="18" charset="0"/>
                            </a:rPr>
                            <m:t>𝑖𝑛𝑡𝑒𝑟𝑎𝑐𝑡𝑖𝑜𝑛</m:t>
                          </m:r>
                          <m:r>
                            <a:rPr lang="en-SG" sz="1000" i="1">
                              <a:latin typeface="Cambria Math" panose="02040503050406030204" pitchFamily="18" charset="0"/>
                            </a:rPr>
                            <m:t>_</m:t>
                          </m:r>
                          <m:r>
                            <a:rPr lang="en-SG" sz="1000" i="1">
                              <a:latin typeface="Cambria Math" panose="02040503050406030204" pitchFamily="18" charset="0"/>
                            </a:rPr>
                            <m:t>𝑐𝑜𝑢𝑛𝑡</m:t>
                          </m:r>
                        </m:e>
                        <m:sub>
                          <m:r>
                            <a:rPr lang="en-SG" sz="1000" i="1">
                              <a:latin typeface="Cambria Math" panose="02040503050406030204" pitchFamily="18" charset="0"/>
                            </a:rPr>
                            <m:t>𝑖</m:t>
                          </m:r>
                        </m:sub>
                      </m:sSub>
                      <m:r>
                        <a:rPr lang="en-SG" sz="1000" i="1">
                          <a:latin typeface="Cambria Math" panose="02040503050406030204" pitchFamily="18" charset="0"/>
                        </a:rPr>
                        <m:t>​)</m:t>
                      </m:r>
                    </m:oMath>
                  </m:oMathPara>
                </a14:m>
                <a:endParaRPr lang="en-SG" sz="1000" b="1" dirty="0"/>
              </a:p>
              <a:p>
                <a:endParaRPr lang="en-SG" sz="1000" dirty="0"/>
              </a:p>
              <a:p>
                <a:r>
                  <a:rPr lang="en-SG" sz="1000" b="1" dirty="0"/>
                  <a:t>What This Means</a:t>
                </a:r>
              </a:p>
              <a:p>
                <a:r>
                  <a:rPr lang="en-SG" sz="1000" dirty="0"/>
                  <a:t>Rate item popularity globally.</a:t>
                </a:r>
              </a:p>
              <a:p>
                <a:endParaRPr lang="en-SG" sz="1000" b="1" dirty="0"/>
              </a:p>
              <a:p>
                <a:r>
                  <a:rPr lang="en-SG" sz="1000" b="1" dirty="0"/>
                  <a:t>Key Limitation</a:t>
                </a:r>
              </a:p>
              <a:p>
                <a:r>
                  <a:rPr lang="en-SG" sz="1000" dirty="0"/>
                  <a:t>No personalization (global ranking only).</a:t>
                </a:r>
              </a:p>
            </p:txBody>
          </p:sp>
        </mc:Choice>
        <mc:Fallback xmlns="">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9380" y="1844040"/>
                <a:ext cx="1908820" cy="2704908"/>
              </a:xfrm>
              <a:prstGeom prst="rect">
                <a:avLst/>
              </a:prstGeom>
              <a:blipFill>
                <a:blip r:embed="rId2"/>
                <a:stretch>
                  <a:fillRect b="-451"/>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3003203820"/>
              </p:ext>
            </p:extLst>
          </p:nvPr>
        </p:nvGraphicFramePr>
        <p:xfrm>
          <a:off x="176358" y="4829175"/>
          <a:ext cx="4471842" cy="1798320"/>
        </p:xfrm>
        <a:graphic>
          <a:graphicData uri="http://schemas.openxmlformats.org/drawingml/2006/table">
            <a:tbl>
              <a:tblPr firstRow="1" bandRow="1">
                <a:tableStyleId>{5C22544A-7EE6-4342-B048-85BDC9FD1C3A}</a:tableStyleId>
              </a:tblPr>
              <a:tblGrid>
                <a:gridCol w="1490614">
                  <a:extLst>
                    <a:ext uri="{9D8B030D-6E8A-4147-A177-3AD203B41FA5}">
                      <a16:colId xmlns:a16="http://schemas.microsoft.com/office/drawing/2014/main" val="4060743706"/>
                    </a:ext>
                  </a:extLst>
                </a:gridCol>
                <a:gridCol w="1490614">
                  <a:extLst>
                    <a:ext uri="{9D8B030D-6E8A-4147-A177-3AD203B41FA5}">
                      <a16:colId xmlns:a16="http://schemas.microsoft.com/office/drawing/2014/main" val="515727559"/>
                    </a:ext>
                  </a:extLst>
                </a:gridCol>
                <a:gridCol w="1490614">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87EB407-9A19-5C20-3542-FAC00F9F2D80}"/>
                  </a:ext>
                </a:extLst>
              </p:cNvPr>
              <p:cNvSpPr txBox="1"/>
              <p:nvPr/>
            </p:nvSpPr>
            <p:spPr>
              <a:xfrm>
                <a:off x="4757647" y="1844040"/>
                <a:ext cx="3406040" cy="4862870"/>
              </a:xfrm>
              <a:prstGeom prst="rect">
                <a:avLst/>
              </a:prstGeom>
              <a:solidFill>
                <a:schemeClr val="accent6">
                  <a:lumMod val="20000"/>
                  <a:lumOff val="80000"/>
                </a:schemeClr>
              </a:solidFill>
            </p:spPr>
            <p:txBody>
              <a:bodyPr wrap="square">
                <a:spAutoFit/>
              </a:bodyPr>
              <a:lstStyle/>
              <a:p>
                <a:r>
                  <a:rPr lang="en-SG" sz="1000" b="1" u="sng" dirty="0"/>
                  <a:t>Matrix Factorization (MF); Latent Collaborative Filtering (CF)</a:t>
                </a:r>
              </a:p>
              <a:p>
                <a:endParaRPr lang="en-SG" sz="1000" b="1" i="1" u="sng" dirty="0">
                  <a:latin typeface="Cambria Math" panose="02040503050406030204" pitchFamily="18" charset="0"/>
                </a:endParaRPr>
              </a:p>
              <a:p>
                <a:r>
                  <a:rPr lang="en-SG" sz="1000" b="1" dirty="0"/>
                  <a:t>Core Idea</a:t>
                </a:r>
              </a:p>
              <a:p>
                <a:r>
                  <a:rPr lang="en-SG" sz="1000" dirty="0"/>
                  <a:t>Factorize sparse interaction matrix:</a:t>
                </a:r>
              </a:p>
              <a:p>
                <a:pPr/>
                <a14:m>
                  <m:oMathPara xmlns:m="http://schemas.openxmlformats.org/officeDocument/2006/math">
                    <m:oMathParaPr>
                      <m:jc m:val="centerGroup"/>
                    </m:oMathParaPr>
                    <m:oMath xmlns:m="http://schemas.openxmlformats.org/officeDocument/2006/math">
                      <m:r>
                        <a:rPr lang="en-SG" sz="1000" b="0" i="1" smtClean="0">
                          <a:latin typeface="Cambria Math" panose="02040503050406030204" pitchFamily="18" charset="0"/>
                        </a:rPr>
                        <m:t>𝑅</m:t>
                      </m:r>
                      <m:r>
                        <a:rPr lang="en-SG" sz="1000" i="1" smtClean="0">
                          <a:latin typeface="Cambria Math" panose="02040503050406030204" pitchFamily="18" charset="0"/>
                          <a:ea typeface="Cambria Math" panose="02040503050406030204" pitchFamily="18" charset="0"/>
                        </a:rPr>
                        <m:t>≈</m:t>
                      </m:r>
                      <m:r>
                        <a:rPr lang="en-SG" sz="1000" b="0" i="1" smtClean="0">
                          <a:latin typeface="Cambria Math" panose="02040503050406030204" pitchFamily="18" charset="0"/>
                        </a:rPr>
                        <m:t>𝑈</m:t>
                      </m:r>
                      <m:sSup>
                        <m:sSupPr>
                          <m:ctrlPr>
                            <a:rPr lang="en-SG" sz="1000" b="0" i="1" smtClean="0">
                              <a:latin typeface="Cambria Math" panose="02040503050406030204" pitchFamily="18" charset="0"/>
                            </a:rPr>
                          </m:ctrlPr>
                        </m:sSupPr>
                        <m:e>
                          <m:r>
                            <a:rPr lang="en-SG" sz="1000" b="0" i="1" smtClean="0">
                              <a:latin typeface="Cambria Math" panose="02040503050406030204" pitchFamily="18" charset="0"/>
                            </a:rPr>
                            <m:t>𝑉</m:t>
                          </m:r>
                        </m:e>
                        <m:sup>
                          <m:r>
                            <a:rPr lang="en-SG" sz="1000" b="0" i="1" smtClean="0">
                              <a:latin typeface="Cambria Math" panose="02040503050406030204" pitchFamily="18" charset="0"/>
                            </a:rPr>
                            <m:t>𝑇</m:t>
                          </m:r>
                        </m:sup>
                      </m:sSup>
                    </m:oMath>
                  </m:oMathPara>
                </a14:m>
                <a:endParaRPr lang="en-SG" sz="1000" b="1" dirty="0"/>
              </a:p>
              <a:p>
                <a14:m>
                  <m:oMath xmlns:m="http://schemas.openxmlformats.org/officeDocument/2006/math">
                    <m:sSub>
                      <m:sSubPr>
                        <m:ctrlPr>
                          <a:rPr lang="en-SG" sz="1000" b="1" i="1" smtClean="0">
                            <a:latin typeface="Cambria Math" panose="02040503050406030204" pitchFamily="18" charset="0"/>
                          </a:rPr>
                        </m:ctrlPr>
                      </m:sSubPr>
                      <m:e>
                        <m:r>
                          <a:rPr lang="en-SG" sz="1000" b="1" i="1" smtClean="0">
                            <a:latin typeface="Cambria Math" panose="02040503050406030204" pitchFamily="18" charset="0"/>
                          </a:rPr>
                          <m:t>𝑼</m:t>
                        </m:r>
                      </m:e>
                      <m:sub>
                        <m:r>
                          <a:rPr lang="en-SG" sz="1000" b="1" i="1" smtClean="0">
                            <a:latin typeface="Cambria Math" panose="02040503050406030204" pitchFamily="18" charset="0"/>
                          </a:rPr>
                          <m:t>𝑼</m:t>
                        </m:r>
                      </m:sub>
                    </m:sSub>
                    <m:r>
                      <a:rPr lang="en-SG" sz="1000" b="1" i="1" smtClean="0">
                        <a:latin typeface="Cambria Math" panose="02040503050406030204" pitchFamily="18" charset="0"/>
                      </a:rPr>
                      <m:t>:</m:t>
                    </m:r>
                    <m:r>
                      <a:rPr lang="en-SG" sz="1000" b="0" i="1" smtClean="0">
                        <a:latin typeface="Cambria Math" panose="02040503050406030204" pitchFamily="18" charset="0"/>
                      </a:rPr>
                      <m:t>𝑢𝑠𝑒𝑟</m:t>
                    </m:r>
                    <m:r>
                      <a:rPr lang="en-SG" sz="1000" b="0" i="1" smtClean="0">
                        <a:latin typeface="Cambria Math" panose="02040503050406030204" pitchFamily="18" charset="0"/>
                      </a:rPr>
                      <m:t> </m:t>
                    </m:r>
                    <m:r>
                      <a:rPr lang="en-SG" sz="1000" b="0" i="1" smtClean="0">
                        <a:latin typeface="Cambria Math" panose="02040503050406030204" pitchFamily="18" charset="0"/>
                      </a:rPr>
                      <m:t>𝑙𝑎𝑡𝑒𝑛𝑡</m:t>
                    </m:r>
                    <m:r>
                      <a:rPr lang="en-SG" sz="1000" b="0" i="1" smtClean="0">
                        <a:latin typeface="Cambria Math" panose="02040503050406030204" pitchFamily="18" charset="0"/>
                      </a:rPr>
                      <m:t> </m:t>
                    </m:r>
                    <m:r>
                      <a:rPr lang="en-SG" sz="1000" b="0" i="1" smtClean="0">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m:t>
                    </m:r>
                  </m:oMath>
                </a14:m>
                <a:r>
                  <a:rPr lang="en-SG" sz="10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1000" b="1" i="1">
                              <a:latin typeface="Cambria Math" panose="02040503050406030204" pitchFamily="18" charset="0"/>
                            </a:rPr>
                          </m:ctrlPr>
                        </m:sSubPr>
                        <m:e>
                          <m:r>
                            <a:rPr lang="en-SG" sz="1000" b="1" i="1" smtClean="0">
                              <a:latin typeface="Cambria Math" panose="02040503050406030204" pitchFamily="18" charset="0"/>
                            </a:rPr>
                            <m:t>𝑽</m:t>
                          </m:r>
                        </m:e>
                        <m:sub>
                          <m:r>
                            <a:rPr lang="en-SG" sz="1000" b="1" i="1">
                              <a:latin typeface="Cambria Math" panose="02040503050406030204" pitchFamily="18" charset="0"/>
                            </a:rPr>
                            <m:t>𝑼</m:t>
                          </m:r>
                        </m:sub>
                      </m:sSub>
                      <m:r>
                        <a:rPr lang="en-SG" sz="1000" b="1" i="1">
                          <a:latin typeface="Cambria Math" panose="02040503050406030204" pitchFamily="18" charset="0"/>
                        </a:rPr>
                        <m:t>:</m:t>
                      </m:r>
                      <m:r>
                        <a:rPr lang="en-SG" sz="1000" b="0" i="1" smtClean="0">
                          <a:latin typeface="Cambria Math" panose="02040503050406030204" pitchFamily="18" charset="0"/>
                        </a:rPr>
                        <m:t>𝑖𝑡𝑒𝑚</m:t>
                      </m:r>
                      <m:r>
                        <a:rPr lang="en-SG" sz="1000" i="1">
                          <a:latin typeface="Cambria Math" panose="02040503050406030204" pitchFamily="18" charset="0"/>
                        </a:rPr>
                        <m:t> </m:t>
                      </m:r>
                      <m:r>
                        <a:rPr lang="en-SG" sz="1000" i="1">
                          <a:latin typeface="Cambria Math" panose="02040503050406030204" pitchFamily="18" charset="0"/>
                        </a:rPr>
                        <m:t>𝑙𝑎𝑡𝑒𝑛𝑡</m:t>
                      </m:r>
                      <m:r>
                        <a:rPr lang="en-SG" sz="1000" i="1">
                          <a:latin typeface="Cambria Math" panose="02040503050406030204" pitchFamily="18" charset="0"/>
                        </a:rPr>
                        <m:t> </m:t>
                      </m:r>
                      <m:r>
                        <a:rPr lang="en-SG" sz="1000" i="1">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 (</m:t>
                      </m:r>
                      <m:r>
                        <m:rPr>
                          <m:nor/>
                        </m:rPr>
                        <a:rPr lang="en-SG" sz="1000" b="0" i="1" dirty="0" smtClean="0">
                          <a:latin typeface="Cambria Math" panose="02040503050406030204" pitchFamily="18" charset="0"/>
                        </a:rPr>
                        <m:t>items</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x</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k</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shape</m:t>
                      </m:r>
                    </m:oMath>
                  </m:oMathPara>
                </a14:m>
                <a:endParaRPr lang="en-SG" sz="1000" i="1" dirty="0">
                  <a:latin typeface="Cambria Math" panose="02040503050406030204" pitchFamily="18" charset="0"/>
                </a:endParaRPr>
              </a:p>
              <a:p>
                <a14:m>
                  <m:oMath xmlns:m="http://schemas.openxmlformats.org/officeDocument/2006/math">
                    <m:r>
                      <a:rPr lang="en-SG" sz="1000" b="1" i="1" smtClean="0">
                        <a:latin typeface="Cambria Math" panose="02040503050406030204" pitchFamily="18" charset="0"/>
                      </a:rPr>
                      <m:t>𝑹</m:t>
                    </m:r>
                    <m:r>
                      <a:rPr lang="en-SG" sz="1000" b="1" i="1">
                        <a:latin typeface="Cambria Math" panose="02040503050406030204" pitchFamily="18" charset="0"/>
                      </a:rPr>
                      <m:t>:</m:t>
                    </m:r>
                  </m:oMath>
                </a14:m>
                <a:r>
                  <a:rPr lang="en-SG" sz="10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𝒌</m:t>
                      </m:r>
                      <m:r>
                        <a:rPr lang="en-SG" sz="1000" b="1" i="1">
                          <a:latin typeface="Cambria Math" panose="02040503050406030204" pitchFamily="18" charset="0"/>
                        </a:rPr>
                        <m:t>:</m:t>
                      </m:r>
                      <m:r>
                        <a:rPr lang="en-SG" sz="1000" b="0" i="1" smtClean="0">
                          <a:latin typeface="Cambria Math" panose="02040503050406030204" pitchFamily="18" charset="0"/>
                        </a:rPr>
                        <m:t>𝑒𝑚𝑏𝑒𝑑𝑑𝑖𝑛𝑔</m:t>
                      </m:r>
                      <m:r>
                        <a:rPr lang="en-SG" sz="1000" b="0" i="1" smtClean="0">
                          <a:latin typeface="Cambria Math" panose="02040503050406030204" pitchFamily="18" charset="0"/>
                        </a:rPr>
                        <m:t> </m:t>
                      </m:r>
                      <m:r>
                        <a:rPr lang="en-SG" sz="1000" b="0" i="1" smtClean="0">
                          <a:latin typeface="Cambria Math" panose="02040503050406030204" pitchFamily="18" charset="0"/>
                        </a:rPr>
                        <m:t>𝑠𝑖𝑧𝑒</m:t>
                      </m:r>
                    </m:oMath>
                  </m:oMathPara>
                </a14:m>
                <a:endParaRPr lang="en-SG" sz="1000" dirty="0"/>
              </a:p>
              <a:p>
                <a:endParaRPr lang="en-SG" sz="1000" dirty="0"/>
              </a:p>
              <a:p>
                <a:r>
                  <a:rPr lang="en-SG" sz="1000" dirty="0"/>
                  <a:t>Implemented via TruncatedSVD (computes top-k singular vectors for low-rank approximation). Full-rank = min(#users, #items); MF constraints rank to k </a:t>
                </a:r>
                <a14:m>
                  <m:oMath xmlns:m="http://schemas.openxmlformats.org/officeDocument/2006/math">
                    <m:r>
                      <a:rPr lang="en-SG" sz="1000" i="1" smtClean="0">
                        <a:latin typeface="Cambria Math" panose="02040503050406030204" pitchFamily="18" charset="0"/>
                        <a:ea typeface="Cambria Math" panose="02040503050406030204" pitchFamily="18" charset="0"/>
                      </a:rPr>
                      <m:t>≪</m:t>
                    </m:r>
                  </m:oMath>
                </a14:m>
                <a:r>
                  <a:rPr lang="en-SG" sz="1000" dirty="0"/>
                  <a:t> full rank.</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b="0" i="1" smtClean="0">
                          <a:latin typeface="Cambria Math" panose="02040503050406030204" pitchFamily="18" charset="0"/>
                        </a:rPr>
                        <m:t>𝑢</m:t>
                      </m:r>
                      <m:r>
                        <a:rPr lang="en-SG" sz="1000" b="0" i="1" smtClean="0">
                          <a:latin typeface="Cambria Math" panose="02040503050406030204" pitchFamily="18" charset="0"/>
                        </a:rPr>
                        <m:t>, </m:t>
                      </m:r>
                      <m:r>
                        <a:rPr lang="en-SG" sz="1000" i="1">
                          <a:latin typeface="Cambria Math" panose="02040503050406030204" pitchFamily="18" charset="0"/>
                        </a:rPr>
                        <m:t>𝑖</m:t>
                      </m:r>
                      <m:r>
                        <a:rPr lang="en-SG" sz="1000" i="1">
                          <a:latin typeface="Cambria Math" panose="02040503050406030204" pitchFamily="18" charset="0"/>
                        </a:rPr>
                        <m:t>)=</m:t>
                      </m:r>
                      <m:sSub>
                        <m:sSubPr>
                          <m:ctrlPr>
                            <a:rPr lang="en-SG" sz="1000" i="1" smtClean="0">
                              <a:latin typeface="Cambria Math" panose="02040503050406030204" pitchFamily="18" charset="0"/>
                            </a:rPr>
                          </m:ctrlPr>
                        </m:sSubPr>
                        <m:e>
                          <m:r>
                            <a:rPr lang="en-SG" sz="1000" b="0" i="1" smtClean="0">
                              <a:latin typeface="Cambria Math" panose="02040503050406030204" pitchFamily="18" charset="0"/>
                            </a:rPr>
                            <m:t>𝑈</m:t>
                          </m:r>
                        </m:e>
                        <m:sub>
                          <m:r>
                            <a:rPr lang="en-SG" sz="1000" b="0" i="1" smtClean="0">
                              <a:latin typeface="Cambria Math" panose="02040503050406030204" pitchFamily="18" charset="0"/>
                            </a:rPr>
                            <m:t>𝑢</m:t>
                          </m:r>
                        </m:sub>
                      </m:sSub>
                      <m:r>
                        <a:rPr lang="en-SG" sz="1000" i="1" smtClean="0">
                          <a:latin typeface="Cambria Math" panose="02040503050406030204" pitchFamily="18" charset="0"/>
                          <a:ea typeface="Cambria Math" panose="02040503050406030204" pitchFamily="18" charset="0"/>
                        </a:rPr>
                        <m:t>∙</m:t>
                      </m:r>
                      <m:sSub>
                        <m:sSubPr>
                          <m:ctrlPr>
                            <a:rPr lang="en-SG" sz="1000" i="1">
                              <a:latin typeface="Cambria Math" panose="02040503050406030204" pitchFamily="18" charset="0"/>
                            </a:rPr>
                          </m:ctrlPr>
                        </m:sSubPr>
                        <m:e>
                          <m:r>
                            <a:rPr lang="en-SG" sz="1000" b="0" i="1" smtClean="0">
                              <a:latin typeface="Cambria Math" panose="02040503050406030204" pitchFamily="18" charset="0"/>
                            </a:rPr>
                            <m:t>𝑉</m:t>
                          </m:r>
                        </m:e>
                        <m:sub>
                          <m:r>
                            <a:rPr lang="en-SG" sz="1000" b="0" i="1" smtClean="0">
                              <a:latin typeface="Cambria Math" panose="02040503050406030204" pitchFamily="18" charset="0"/>
                            </a:rPr>
                            <m:t>𝑖</m:t>
                          </m:r>
                        </m:sub>
                      </m:sSub>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Personalized ranking</a:t>
                </a:r>
              </a:p>
              <a:p>
                <a:pPr marL="171450" indent="-171450">
                  <a:buFont typeface="Wingdings" panose="05000000000000000000" pitchFamily="2" charset="2"/>
                  <a:buChar char="Ø"/>
                </a:pPr>
                <a:r>
                  <a:rPr lang="en-SG" sz="1000" dirty="0"/>
                  <a:t>Based on shared latent factors</a:t>
                </a:r>
              </a:p>
              <a:p>
                <a:pPr marL="171450" indent="-171450">
                  <a:buFont typeface="Wingdings" panose="05000000000000000000" pitchFamily="2" charset="2"/>
                  <a:buChar char="Ø"/>
                </a:pPr>
                <a:r>
                  <a:rPr lang="en-SG" sz="1000" dirty="0"/>
                  <a:t>Learned from co-interaction</a:t>
                </a:r>
                <a:endParaRPr lang="en-SG" sz="1000" b="1" dirty="0"/>
              </a:p>
              <a:p>
                <a:endParaRPr lang="en-SG" sz="1000" b="1" dirty="0"/>
              </a:p>
              <a:p>
                <a:r>
                  <a:rPr lang="en-SG" sz="1000" b="1" dirty="0"/>
                  <a:t>Key Limitation</a:t>
                </a:r>
              </a:p>
              <a:p>
                <a:r>
                  <a:rPr lang="en-SG" sz="1000" dirty="0"/>
                  <a:t>Assumes linear low-rank structure which has limited expressiveness vs neural models </a:t>
                </a:r>
                <a:r>
                  <a:rPr lang="en-SG" sz="1000" b="1" dirty="0"/>
                  <a:t>(but can be a strength because it is a stable low-complexity model with less noise when compared to neural training).</a:t>
                </a:r>
              </a:p>
            </p:txBody>
          </p:sp>
        </mc:Choice>
        <mc:Fallback xmlns="">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4757647" y="1844040"/>
                <a:ext cx="3406040" cy="486287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46001F-9023-0651-BB03-40CAF7BCAC84}"/>
                  </a:ext>
                </a:extLst>
              </p:cNvPr>
              <p:cNvSpPr txBox="1"/>
              <p:nvPr/>
            </p:nvSpPr>
            <p:spPr>
              <a:xfrm>
                <a:off x="8273133" y="1844040"/>
                <a:ext cx="3833141" cy="4900893"/>
              </a:xfrm>
              <a:prstGeom prst="rect">
                <a:avLst/>
              </a:prstGeom>
              <a:solidFill>
                <a:schemeClr val="accent6">
                  <a:lumMod val="20000"/>
                  <a:lumOff val="80000"/>
                </a:schemeClr>
              </a:solidFill>
            </p:spPr>
            <p:txBody>
              <a:bodyPr wrap="square">
                <a:spAutoFit/>
              </a:bodyPr>
              <a:lstStyle/>
              <a:p>
                <a:r>
                  <a:rPr lang="en-SG" sz="1000" b="1" u="sng" dirty="0"/>
                  <a:t>Two-Tower Neural Retrieval</a:t>
                </a:r>
              </a:p>
              <a:p>
                <a:endParaRPr lang="en-SG" sz="1000" b="1" i="1" u="sng" dirty="0">
                  <a:latin typeface="Cambria Math" panose="02040503050406030204" pitchFamily="18" charset="0"/>
                </a:endParaRPr>
              </a:p>
              <a:p>
                <a:r>
                  <a:rPr lang="en-SG" sz="1000" b="1" dirty="0"/>
                  <a:t>Core Idea</a:t>
                </a:r>
              </a:p>
              <a:p>
                <a:r>
                  <a:rPr lang="en-SG" sz="1000" dirty="0"/>
                  <a:t>Generalizes MF with learned neural parameterization.</a:t>
                </a:r>
              </a:p>
              <a:p>
                <a:endParaRPr lang="en-SG" sz="1000" b="1" dirty="0"/>
              </a:p>
              <a:p>
                <a:r>
                  <a:rPr lang="en-SG" sz="1000" dirty="0"/>
                  <a:t>Learn embeddings via supervised contrastive training (User Tower, Item Tower).</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𝑙𝑜𝑔𝑖𝑡</m:t>
                      </m:r>
                      <m:r>
                        <a:rPr lang="en-SG" sz="1000" i="1">
                          <a:latin typeface="Cambria Math" panose="02040503050406030204" pitchFamily="18" charset="0"/>
                        </a:rPr>
                        <m:t> </m:t>
                      </m:r>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i="1">
                          <a:latin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𝑢</m:t>
                          </m:r>
                        </m:e>
                      </m:acc>
                      <m:r>
                        <a:rPr lang="en-SG" sz="1000" i="1">
                          <a:latin typeface="Cambria Math" panose="02040503050406030204" pitchFamily="18" charset="0"/>
                          <a:ea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𝑣</m:t>
                          </m:r>
                        </m:e>
                      </m:acc>
                    </m:oMath>
                  </m:oMathPara>
                </a14:m>
                <a:endParaRPr lang="en-SG" sz="10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m:t>
                      </m:r>
                      <m:r>
                        <a:rPr lang="en-SG" sz="1000" b="1" i="1" smtClean="0">
                          <a:latin typeface="Cambria Math" panose="02040503050406030204" pitchFamily="18" charset="0"/>
                        </a:rPr>
                        <m:t> </m:t>
                      </m:r>
                      <m:r>
                        <a:rPr lang="en-SG" sz="1000" b="1" i="1" smtClean="0">
                          <a:latin typeface="Cambria Math" panose="02040503050406030204" pitchFamily="18" charset="0"/>
                        </a:rPr>
                        <m:t>𝒔𝒄𝒐𝒓𝒆</m:t>
                      </m:r>
                      <m:r>
                        <a:rPr lang="en-SG" sz="1000" b="1" i="1" smtClean="0">
                          <a:latin typeface="Cambria Math" panose="02040503050406030204" pitchFamily="18" charset="0"/>
                        </a:rPr>
                        <m:t>:</m:t>
                      </m:r>
                      <m:r>
                        <a:rPr lang="en-SG" sz="1000" i="1">
                          <a:latin typeface="Cambria Math" panose="02040503050406030204" pitchFamily="18" charset="0"/>
                        </a:rPr>
                        <m:t>𝐿</m:t>
                      </m:r>
                      <m:r>
                        <a:rPr lang="en-SG" sz="1000" i="1">
                          <a:latin typeface="Cambria Math" panose="02040503050406030204" pitchFamily="18" charset="0"/>
                        </a:rPr>
                        <m:t>2−</m:t>
                      </m:r>
                      <m:r>
                        <a:rPr lang="en-SG" sz="1000" i="1">
                          <a:latin typeface="Cambria Math" panose="02040503050406030204" pitchFamily="18" charset="0"/>
                        </a:rPr>
                        <m:t>𝑛𝑜𝑟𝑚𝑎𝑙𝑖𝑧𝑒𝑑</m:t>
                      </m:r>
                      <m:r>
                        <a:rPr lang="en-SG" sz="1000" i="1">
                          <a:latin typeface="Cambria Math" panose="02040503050406030204" pitchFamily="18" charset="0"/>
                        </a:rPr>
                        <m:t> </m:t>
                      </m:r>
                      <m:r>
                        <a:rPr lang="en-SG" sz="1000" i="1">
                          <a:latin typeface="Cambria Math" panose="02040503050406030204" pitchFamily="18" charset="0"/>
                        </a:rPr>
                        <m:t>𝑐𝑜𝑠𝑖𝑛𝑒</m:t>
                      </m:r>
                      <m:r>
                        <a:rPr lang="en-SG" sz="1000" i="1">
                          <a:latin typeface="Cambria Math" panose="02040503050406030204" pitchFamily="18" charset="0"/>
                        </a:rPr>
                        <m:t>−</m:t>
                      </m:r>
                      <m:r>
                        <a:rPr lang="en-SG" sz="1000" i="1">
                          <a:latin typeface="Cambria Math" panose="02040503050406030204" pitchFamily="18" charset="0"/>
                        </a:rPr>
                        <m:t>𝑠𝑡𝑦𝑙𝑒</m:t>
                      </m:r>
                      <m:r>
                        <a:rPr lang="en-SG" sz="1000" i="1">
                          <a:latin typeface="Cambria Math" panose="02040503050406030204" pitchFamily="18" charset="0"/>
                        </a:rPr>
                        <m:t> </m:t>
                      </m:r>
                      <m:r>
                        <a:rPr lang="en-SG" sz="1000" i="1">
                          <a:latin typeface="Cambria Math" panose="02040503050406030204" pitchFamily="18" charset="0"/>
                        </a:rPr>
                        <m:t>𝑑𝑜𝑡</m:t>
                      </m:r>
                      <m:r>
                        <a:rPr lang="en-SG" sz="1000" i="1">
                          <a:latin typeface="Cambria Math" panose="02040503050406030204" pitchFamily="18" charset="0"/>
                        </a:rPr>
                        <m:t> </m:t>
                      </m:r>
                      <m:r>
                        <a:rPr lang="en-SG" sz="1000" i="1">
                          <a:latin typeface="Cambria Math" panose="02040503050406030204" pitchFamily="18" charset="0"/>
                        </a:rPr>
                        <m:t>𝑝𝑟𝑜𝑑𝑢𝑐𝑡</m:t>
                      </m:r>
                    </m:oMath>
                  </m:oMathPara>
                </a14:m>
                <a:endParaRPr lang="en-SG" sz="1000" i="1" dirty="0">
                  <a:latin typeface="Cambria Math" panose="02040503050406030204" pitchFamily="18" charset="0"/>
                </a:endParaRPr>
              </a:p>
              <a:p>
                <a:endParaRPr lang="en-SG" sz="1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b="1" i="1" smtClean="0">
                          <a:latin typeface="Cambria Math" panose="02040503050406030204" pitchFamily="18" charset="0"/>
                        </a:rPr>
                        <m:t>𝑻𝒓𝒂𝒊𝒏𝒊𝒏𝒈</m:t>
                      </m:r>
                      <m:r>
                        <a:rPr lang="en-SG" sz="1000" b="1" i="1" smtClean="0">
                          <a:latin typeface="Cambria Math" panose="02040503050406030204" pitchFamily="18" charset="0"/>
                        </a:rPr>
                        <m:t> </m:t>
                      </m:r>
                      <m:r>
                        <a:rPr lang="en-SG" sz="1000" b="1" i="1" smtClean="0">
                          <a:latin typeface="Cambria Math" panose="02040503050406030204" pitchFamily="18" charset="0"/>
                        </a:rPr>
                        <m:t>𝒐𝒏𝒍𝒚</m:t>
                      </m:r>
                      <m:r>
                        <a:rPr lang="en-SG" sz="1000" b="1" i="1" smtClean="0">
                          <a:latin typeface="Cambria Math" panose="02040503050406030204" pitchFamily="18" charset="0"/>
                        </a:rPr>
                        <m:t>: </m:t>
                      </m:r>
                      <m:r>
                        <a:rPr lang="en-SG" sz="1000" b="0" i="1" smtClean="0">
                          <a:latin typeface="Cambria Math" panose="02040503050406030204" pitchFamily="18" charset="0"/>
                        </a:rPr>
                        <m:t>𝑠𝑜𝑓𝑡𝑚𝑎𝑥</m:t>
                      </m:r>
                      <m:d>
                        <m:dPr>
                          <m:ctrlPr>
                            <a:rPr lang="en-SG" sz="1000" b="0" i="1" smtClean="0">
                              <a:latin typeface="Cambria Math" panose="02040503050406030204" pitchFamily="18" charset="0"/>
                            </a:rPr>
                          </m:ctrlPr>
                        </m:dPr>
                        <m:e>
                          <m:f>
                            <m:fPr>
                              <m:ctrlPr>
                                <a:rPr lang="en-SG" sz="1000" b="0" i="1" smtClean="0">
                                  <a:latin typeface="Cambria Math" panose="02040503050406030204" pitchFamily="18" charset="0"/>
                                </a:rPr>
                              </m:ctrlPr>
                            </m:fPr>
                            <m:num>
                              <m:r>
                                <a:rPr lang="en-SG" sz="1000" b="0" i="1" smtClean="0">
                                  <a:latin typeface="Cambria Math" panose="02040503050406030204" pitchFamily="18" charset="0"/>
                                </a:rPr>
                                <m:t>𝑙𝑜𝑔𝑖𝑡𝑠</m:t>
                              </m:r>
                            </m:num>
                            <m:den>
                              <m:r>
                                <a:rPr lang="en-SG" sz="1000" b="0" i="1" smtClean="0">
                                  <a:latin typeface="Cambria Math" panose="02040503050406030204" pitchFamily="18" charset="0"/>
                                </a:rPr>
                                <m:t>𝑇</m:t>
                              </m:r>
                            </m:den>
                          </m:f>
                        </m:e>
                      </m:d>
                    </m:oMath>
                  </m:oMathPara>
                </a14:m>
                <a:endParaRPr lang="en-SG" sz="1000" dirty="0"/>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𝒍𝒐𝒈𝒊𝒕𝒔</m:t>
                      </m:r>
                      <m:r>
                        <a:rPr lang="en-SG" sz="1000" b="1" i="1" smtClean="0">
                          <a:latin typeface="Cambria Math" panose="02040503050406030204" pitchFamily="18" charset="0"/>
                        </a:rPr>
                        <m:t>:</m:t>
                      </m:r>
                      <m:r>
                        <a:rPr lang="en-SG" sz="1000" i="1">
                          <a:latin typeface="Cambria Math" panose="02040503050406030204" pitchFamily="18" charset="0"/>
                        </a:rPr>
                        <m:t>𝑝𝑜𝑠𝑖𝑡𝑖𝑣𝑒</m:t>
                      </m:r>
                      <m:r>
                        <a:rPr lang="en-SG" sz="1000" i="1">
                          <a:latin typeface="Cambria Math" panose="02040503050406030204" pitchFamily="18" charset="0"/>
                        </a:rPr>
                        <m:t> </m:t>
                      </m:r>
                      <m:r>
                        <a:rPr lang="en-SG" sz="1000" i="1">
                          <a:latin typeface="Cambria Math" panose="02040503050406030204" pitchFamily="18" charset="0"/>
                        </a:rPr>
                        <m:t>𝑎𝑛𝑑</m:t>
                      </m:r>
                      <m:r>
                        <a:rPr lang="en-SG" sz="1000" i="1">
                          <a:latin typeface="Cambria Math" panose="02040503050406030204" pitchFamily="18" charset="0"/>
                        </a:rPr>
                        <m:t> </m:t>
                      </m:r>
                      <m:r>
                        <a:rPr lang="en-SG" sz="1000" i="1">
                          <a:latin typeface="Cambria Math" panose="02040503050406030204" pitchFamily="18" charset="0"/>
                        </a:rPr>
                        <m:t>𝑛𝑒𝑔𝑎𝑡𝑖𝑣𝑒</m:t>
                      </m:r>
                      <m:r>
                        <a:rPr lang="en-SG" sz="1000" i="1">
                          <a:latin typeface="Cambria Math" panose="02040503050406030204" pitchFamily="18" charset="0"/>
                        </a:rPr>
                        <m:t> </m:t>
                      </m:r>
                      <m:r>
                        <a:rPr lang="en-SG" sz="1000" i="1">
                          <a:latin typeface="Cambria Math" panose="02040503050406030204" pitchFamily="18" charset="0"/>
                        </a:rPr>
                        <m:t>𝑙𝑜𝑔𝑖𝑡𝑠</m:t>
                      </m:r>
                      <m:r>
                        <a:rPr lang="en-SG" sz="1000" i="1">
                          <a:latin typeface="Cambria Math" panose="02040503050406030204" pitchFamily="18" charset="0"/>
                        </a:rPr>
                        <m:t> (</m:t>
                      </m:r>
                      <m:r>
                        <a:rPr lang="en-SG" sz="1000" i="1">
                          <a:latin typeface="Cambria Math" panose="02040503050406030204" pitchFamily="18" charset="0"/>
                        </a:rPr>
                        <m:t>𝑖𝑛</m:t>
                      </m:r>
                      <m:r>
                        <a:rPr lang="en-SG" sz="1000" i="1">
                          <a:latin typeface="Cambria Math" panose="02040503050406030204" pitchFamily="18" charset="0"/>
                        </a:rPr>
                        <m:t>−</m:t>
                      </m:r>
                      <m:r>
                        <a:rPr lang="en-SG" sz="1000" i="1">
                          <a:latin typeface="Cambria Math" panose="02040503050406030204" pitchFamily="18" charset="0"/>
                        </a:rPr>
                        <m:t>𝑏𝑎𝑡𝑐h</m:t>
                      </m:r>
                      <m:r>
                        <a:rPr lang="en-SG" sz="1000" i="1">
                          <a:latin typeface="Cambria Math" panose="02040503050406030204" pitchFamily="18" charset="0"/>
                        </a:rPr>
                        <m:t> + </m:t>
                      </m:r>
                      <m:r>
                        <a:rPr lang="en-SG" sz="1000" i="1">
                          <a:latin typeface="Cambria Math" panose="02040503050406030204" pitchFamily="18" charset="0"/>
                        </a:rPr>
                        <m:t>𝑠𝑎𝑚𝑝𝑙𝑒𝑑</m:t>
                      </m:r>
                      <m:r>
                        <a:rPr lang="en-SG" sz="1000" i="1">
                          <a:latin typeface="Cambria Math" panose="02040503050406030204" pitchFamily="18" charset="0"/>
                        </a:rPr>
                        <m:t>)</m:t>
                      </m:r>
                    </m:oMath>
                  </m:oMathPara>
                </a14:m>
                <a:endParaRPr lang="en-SG" sz="1000" i="1" dirty="0">
                  <a:latin typeface="Cambria Math" panose="02040503050406030204" pitchFamily="18" charset="0"/>
                </a:endParaRPr>
              </a:p>
              <a:p>
                <a:endParaRPr lang="en-SG" sz="1000" dirty="0"/>
              </a:p>
              <a:p>
                <a:r>
                  <a:rPr lang="en-SG" sz="1000" b="1" dirty="0"/>
                  <a:t>Optimization during training: </a:t>
                </a:r>
                <a:r>
                  <a:rPr lang="en-SG" sz="1000" dirty="0"/>
                  <a:t>Mini-batch gradient descent on contrastive cross-entropy loss; maximize relative score separation between positive (u, i) pairs and negatives.</a:t>
                </a:r>
              </a:p>
              <a:p>
                <a:endParaRPr lang="en-SG" sz="1000" dirty="0"/>
              </a:p>
              <a:p>
                <a:r>
                  <a:rPr lang="en-SG" sz="1000" b="1" dirty="0"/>
                  <a:t>What This Means</a:t>
                </a:r>
                <a:endParaRPr lang="en-SG" sz="1000" dirty="0"/>
              </a:p>
              <a:p>
                <a:pPr marL="171450" indent="-171450">
                  <a:buFont typeface="Wingdings" panose="05000000000000000000" pitchFamily="2" charset="2"/>
                  <a:buChar char="Ø"/>
                </a:pPr>
                <a:r>
                  <a:rPr lang="en-SG" sz="1000" b="1" dirty="0"/>
                  <a:t>Generalizes MF with flexible parameterization and scalable training.</a:t>
                </a:r>
              </a:p>
              <a:p>
                <a:endParaRPr lang="en-SG" sz="1000" b="1" dirty="0"/>
              </a:p>
              <a:p>
                <a:r>
                  <a:rPr lang="en-SG" sz="1000" b="1" dirty="0"/>
                  <a:t>Key Limitation</a:t>
                </a:r>
              </a:p>
              <a:p>
                <a:r>
                  <a:rPr lang="en-SG" sz="1000" dirty="0"/>
                  <a:t>May underperform classical MF especially on limited datasets due to higher optimization complexity in neural training.</a:t>
                </a:r>
              </a:p>
              <a:p>
                <a:endParaRPr lang="en-SG" sz="1000" dirty="0"/>
              </a:p>
              <a:p>
                <a:endParaRPr lang="en-SG" sz="1000" dirty="0"/>
              </a:p>
              <a:p>
                <a:endParaRPr lang="en-SG" sz="1000" dirty="0"/>
              </a:p>
            </p:txBody>
          </p:sp>
        </mc:Choice>
        <mc:Fallback xmlns="">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273133" y="1844040"/>
                <a:ext cx="3833141" cy="4900893"/>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D39FC1-E7FE-0653-7013-031429C5330E}"/>
                  </a:ext>
                </a:extLst>
              </p:cNvPr>
              <p:cNvSpPr txBox="1"/>
              <p:nvPr/>
            </p:nvSpPr>
            <p:spPr>
              <a:xfrm>
                <a:off x="176360" y="1836420"/>
                <a:ext cx="2453573" cy="2708434"/>
              </a:xfrm>
              <a:prstGeom prst="rect">
                <a:avLst/>
              </a:prstGeom>
              <a:solidFill>
                <a:schemeClr val="accent6">
                  <a:lumMod val="20000"/>
                  <a:lumOff val="80000"/>
                </a:schemeClr>
              </a:solidFill>
            </p:spPr>
            <p:txBody>
              <a:bodyPr wrap="square">
                <a:spAutoFit/>
              </a:bodyPr>
              <a:lstStyle/>
              <a:p>
                <a:r>
                  <a:rPr lang="en-SG" sz="1000" b="1" u="sng" dirty="0"/>
                  <a:t>Random Baseline (Null Model)</a:t>
                </a:r>
              </a:p>
              <a:p>
                <a:endParaRPr lang="en-SG" sz="1000" b="1" i="1" u="sng" dirty="0">
                  <a:latin typeface="Cambria Math" panose="02040503050406030204" pitchFamily="18" charset="0"/>
                </a:endParaRPr>
              </a:p>
              <a:p>
                <a:r>
                  <a:rPr lang="en-SG" sz="1000" b="1" dirty="0"/>
                  <a:t>Core Idea</a:t>
                </a:r>
              </a:p>
              <a:p>
                <a:r>
                  <a:rPr lang="en-SG" sz="1000" dirty="0"/>
                  <a:t>Random uniform scoring for any user-item pairing.</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b="0" i="1" smtClean="0">
                          <a:latin typeface="Cambria Math" panose="02040503050406030204" pitchFamily="18" charset="0"/>
                        </a:rPr>
                        <m:t> ~ </m:t>
                      </m:r>
                      <m:r>
                        <a:rPr lang="en-SG" sz="1000" b="0" i="1" smtClean="0">
                          <a:latin typeface="Cambria Math" panose="02040503050406030204" pitchFamily="18" charset="0"/>
                        </a:rPr>
                        <m:t>𝑈𝑛𝑖𝑓𝑜𝑟𝑚</m:t>
                      </m:r>
                      <m:r>
                        <a:rPr lang="en-SG" sz="1000" b="0" i="1" smtClean="0">
                          <a:latin typeface="Cambria Math" panose="02040503050406030204" pitchFamily="18" charset="0"/>
                        </a:rPr>
                        <m:t>(0.1)</m:t>
                      </m:r>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Zero-information No-preference model</a:t>
                </a:r>
              </a:p>
              <a:p>
                <a:pPr marL="171450" indent="-171450">
                  <a:buFont typeface="Wingdings" panose="05000000000000000000" pitchFamily="2" charset="2"/>
                  <a:buChar char="Ø"/>
                </a:pPr>
                <a:r>
                  <a:rPr lang="en-SG" sz="1000" dirty="0"/>
                  <a:t>Establish theoretical floor</a:t>
                </a:r>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p:txBody>
          </p:sp>
        </mc:Choice>
        <mc:Fallback xmlns="">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176360" y="1836420"/>
                <a:ext cx="2453573" cy="2708434"/>
              </a:xfrm>
              <a:prstGeom prst="rect">
                <a:avLst/>
              </a:prstGeom>
              <a:blipFill>
                <a:blip r:embed="rId5"/>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1431262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b="1"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91110620"/>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0.056</a:t>
                      </a:r>
                    </a:p>
                  </a:txBody>
                  <a:tcPr/>
                </a:tc>
                <a:tc>
                  <a:txBody>
                    <a:bodyPr/>
                    <a:lstStyle/>
                    <a:p>
                      <a:r>
                        <a:rPr lang="en-SG" sz="1200" dirty="0"/>
                        <a:t>0.067</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0.125</a:t>
                      </a:r>
                    </a:p>
                  </a:txBody>
                  <a:tcPr/>
                </a:tc>
                <a:tc>
                  <a:txBody>
                    <a:bodyPr/>
                    <a:lstStyle/>
                    <a:p>
                      <a:r>
                        <a:rPr lang="en-SG" sz="1200" b="1" dirty="0"/>
                        <a:t>0.096</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0.100</a:t>
                      </a:r>
                    </a:p>
                  </a:txBody>
                  <a:tcPr/>
                </a:tc>
                <a:tc>
                  <a:txBody>
                    <a:bodyPr/>
                    <a:lstStyle/>
                    <a:p>
                      <a:r>
                        <a:rPr lang="en-SG" sz="1200" dirty="0"/>
                        <a:t>0.073</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relevant items retrieved in top-K search</a:t>
                </a:r>
              </a:p>
              <a:p>
                <a:pPr marL="171450" indent="-171450">
                  <a:buFont typeface="Wingdings" panose="05000000000000000000" pitchFamily="2" charset="2"/>
                  <a:buChar char="Ø"/>
                </a:pPr>
                <a:r>
                  <a:rPr lang="en-SG" sz="1200" b="1" dirty="0"/>
                  <a:t>NDCG@K (Item Relevance): </a:t>
                </a:r>
                <a:r>
                  <a:rPr lang="en-SG" sz="1200" dirty="0"/>
                  <a:t>position-aware ranking quality metric in top-K search</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search</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2457</TotalTime>
  <Words>3036</Words>
  <Application>Microsoft Office PowerPoint</Application>
  <PresentationFormat>Widescreen</PresentationFormat>
  <Paragraphs>461</Paragraphs>
  <Slides>12</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1056</cp:revision>
  <dcterms:created xsi:type="dcterms:W3CDTF">2026-02-22T04:36:36Z</dcterms:created>
  <dcterms:modified xsi:type="dcterms:W3CDTF">2026-03-04T14:36:40Z</dcterms:modified>
</cp:coreProperties>
</file>