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83" r:id="rId1"/>
  </p:sldMasterIdLst>
  <p:notesMasterIdLst>
    <p:notesMasterId r:id="rId6"/>
  </p:notesMasterIdLst>
  <p:sldIdLst>
    <p:sldId id="256" r:id="rId2"/>
    <p:sldId id="257" r:id="rId3"/>
    <p:sldId id="258" r:id="rId4"/>
    <p:sldId id="260" r:id="rId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53010"/>
    <a:srgbClr val="D1DDB0"/>
    <a:srgbClr val="F9CFC3"/>
    <a:srgbClr val="FAE5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100" d="100"/>
          <a:sy n="100" d="100"/>
        </p:scale>
        <p:origin x="102" y="-1290"/>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diagrams/_rels/data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_rels/drawing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0B5B70DB-C372-486F-A52D-26714D56BF44}">
      <dgm:prSet custT="1"/>
      <dgm:spPr/>
      <dgm:t>
        <a:bodyPr/>
        <a:lstStyle/>
        <a:p>
          <a:r>
            <a:rPr lang="en-SG" sz="1400" b="1" dirty="0"/>
            <a:t>Purchase Propensity Engine</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dirty="0"/>
        </a:p>
      </dgm:t>
    </dgm:pt>
    <dgm:pt modelId="{BE1CF92B-E233-45F0-86C5-16F51FF2EC39}">
      <dgm:prSet custT="1"/>
      <dgm:spPr/>
      <dgm:t>
        <a:bodyPr/>
        <a:lstStyle/>
        <a:p>
          <a:r>
            <a:rPr lang="en-SG" sz="1200" dirty="0"/>
            <a:t>Training Pipeline (Offline): Purchase Propensity Modelling</a:t>
          </a:r>
        </a:p>
      </dgm:t>
    </dgm:pt>
    <dgm:pt modelId="{CADBA3B3-0E95-46E3-BD45-554A451764AE}" type="parTrans" cxnId="{7FE6A1F6-0295-4FF9-BD45-AA6601A252D0}">
      <dgm:prSet/>
      <dgm:spPr/>
      <dgm:t>
        <a:bodyPr/>
        <a:lstStyle/>
        <a:p>
          <a:endParaRPr lang="en-SG"/>
        </a:p>
      </dgm:t>
    </dgm:pt>
    <dgm:pt modelId="{C7B67B06-F568-4F00-A990-2D3E2833329B}" type="sibTrans" cxnId="{7FE6A1F6-0295-4FF9-BD45-AA6601A252D0}">
      <dgm:prSet/>
      <dgm:spPr/>
      <dgm:t>
        <a:bodyPr/>
        <a:lstStyle/>
        <a:p>
          <a:endParaRPr lang="en-SG"/>
        </a:p>
      </dgm:t>
    </dgm:pt>
    <dgm:pt modelId="{37544A0C-6DF7-435C-8FA1-8FE37503C07D}">
      <dgm:prSet custT="1"/>
      <dgm:spPr/>
      <dgm:t>
        <a:bodyPr/>
        <a:lstStyle/>
        <a:p>
          <a:r>
            <a:rPr lang="en-SG" sz="1200" dirty="0"/>
            <a:t>Serving (Policy) Pipeline: Incentive Allocation (Budget-Constrained)</a:t>
          </a:r>
          <a:endParaRPr lang="en-SG" sz="1400" dirty="0"/>
        </a:p>
      </dgm:t>
    </dgm:pt>
    <dgm:pt modelId="{2CBBC2EE-E3DE-4291-8BDA-AA06740B4FF3}" type="parTrans" cxnId="{6CBE368C-0516-4D4C-AC0F-A6C3E8765701}">
      <dgm:prSet/>
      <dgm:spPr/>
      <dgm:t>
        <a:bodyPr/>
        <a:lstStyle/>
        <a:p>
          <a:endParaRPr lang="en-SG"/>
        </a:p>
      </dgm:t>
    </dgm:pt>
    <dgm:pt modelId="{3E5B9DB5-F3DE-4990-8BEC-F02849DC7160}" type="sibTrans" cxnId="{6CBE368C-0516-4D4C-AC0F-A6C3E8765701}">
      <dgm:prSet/>
      <dgm:spPr/>
      <dgm:t>
        <a:bodyPr/>
        <a:lstStyle/>
        <a:p>
          <a:endParaRPr lang="en-SG"/>
        </a:p>
      </dgm:t>
    </dgm:pt>
    <dgm:pt modelId="{4D17E48B-816F-4E22-9171-D7C3EC19B9C9}">
      <dgm:prSet custT="1"/>
      <dgm:spPr/>
      <dgm:t>
        <a:bodyPr/>
        <a:lstStyle/>
        <a:p>
          <a:r>
            <a:rPr lang="en-SG" sz="1400" b="1" dirty="0"/>
            <a:t>Offline Policy Evaluation</a:t>
          </a:r>
        </a:p>
      </dgm:t>
    </dgm:pt>
    <dgm:pt modelId="{A9EDF49D-A50F-40C5-992A-42017C32CDE9}" type="parTrans" cxnId="{ABE68EB5-A8CC-4A22-A064-1512AFC20EDC}">
      <dgm:prSet/>
      <dgm:spPr/>
      <dgm:t>
        <a:bodyPr/>
        <a:lstStyle/>
        <a:p>
          <a:endParaRPr lang="en-SG"/>
        </a:p>
      </dgm:t>
    </dgm:pt>
    <dgm:pt modelId="{99CF6B85-1B61-459F-A041-5EDD9A2A19E3}" type="sibTrans" cxnId="{ABE68EB5-A8CC-4A22-A064-1512AFC20EDC}">
      <dgm:prSet/>
      <dgm:spPr/>
      <dgm:t>
        <a:bodyPr/>
        <a:lstStyle/>
        <a:p>
          <a:endParaRPr lang="en-SG"/>
        </a:p>
      </dgm:t>
    </dgm:pt>
    <dgm:pt modelId="{7FD1DD7D-D91A-40F2-B4BD-D732FA71855B}">
      <dgm:prSet custT="1"/>
      <dgm:spPr/>
      <dgm:t>
        <a:bodyPr/>
        <a:lstStyle/>
        <a:p>
          <a:r>
            <a:rPr lang="en-SG" sz="1200" dirty="0"/>
            <a:t>Compare Incentive Allocation Policies</a:t>
          </a:r>
        </a:p>
      </dgm:t>
    </dgm:pt>
    <dgm:pt modelId="{20AA30AA-C341-41F7-89B2-1FBC197D229B}" type="parTrans" cxnId="{54D08DBC-3883-4625-A47A-83064D9BDEF2}">
      <dgm:prSet/>
      <dgm:spPr/>
      <dgm:t>
        <a:bodyPr/>
        <a:lstStyle/>
        <a:p>
          <a:endParaRPr lang="en-SG"/>
        </a:p>
      </dgm:t>
    </dgm:pt>
    <dgm:pt modelId="{CEB451CE-E251-4E61-AB34-F6AD802F600D}" type="sibTrans" cxnId="{54D08DBC-3883-4625-A47A-83064D9BDEF2}">
      <dgm:prSet/>
      <dgm:spPr/>
      <dgm:t>
        <a:bodyPr/>
        <a:lstStyle/>
        <a:p>
          <a:endParaRPr lang="en-SG"/>
        </a:p>
      </dgm:t>
    </dgm:pt>
    <dgm:pt modelId="{6F18769F-A45C-47E8-9743-8DD15455B2C9}" type="pres">
      <dgm:prSet presAssocID="{A7521F9F-9853-4760-AF04-01C8BE6DE7CA}" presName="Name0" presStyleCnt="0">
        <dgm:presLayoutVars>
          <dgm:dir/>
          <dgm:resizeHandles val="exact"/>
        </dgm:presLayoutVars>
      </dgm:prSet>
      <dgm:spPr/>
    </dgm:pt>
    <dgm:pt modelId="{A984A37F-DEE6-432F-A851-EC63949E182D}" type="pres">
      <dgm:prSet presAssocID="{0B5B70DB-C372-486F-A52D-26714D56BF44}" presName="node" presStyleLbl="node1" presStyleIdx="0" presStyleCnt="2" custLinFactNeighborX="-1181" custLinFactNeighborY="-992">
        <dgm:presLayoutVars>
          <dgm:bulletEnabled val="1"/>
        </dgm:presLayoutVars>
      </dgm:prSet>
      <dgm:spPr/>
    </dgm:pt>
    <dgm:pt modelId="{71F89AA5-3D26-438B-9C21-64A60B7CAFE1}" type="pres">
      <dgm:prSet presAssocID="{DC3CC174-F385-4928-94AE-004F8649AC5E}" presName="sibTrans" presStyleLbl="sibTrans2D1" presStyleIdx="0" presStyleCnt="1"/>
      <dgm:spPr/>
    </dgm:pt>
    <dgm:pt modelId="{C844A1A0-E988-420F-9877-1860DF89A1EB}" type="pres">
      <dgm:prSet presAssocID="{DC3CC174-F385-4928-94AE-004F8649AC5E}" presName="connectorText" presStyleLbl="sibTrans2D1" presStyleIdx="0" presStyleCnt="1"/>
      <dgm:spPr/>
    </dgm:pt>
    <dgm:pt modelId="{74BCB0AC-6184-4BC5-9259-9B38484EB0BD}" type="pres">
      <dgm:prSet presAssocID="{4D17E48B-816F-4E22-9171-D7C3EC19B9C9}" presName="node" presStyleLbl="node1" presStyleIdx="1" presStyleCnt="2" custLinFactNeighborX="117" custLinFactNeighborY="-2057">
        <dgm:presLayoutVars>
          <dgm:bulletEnabled val="1"/>
        </dgm:presLayoutVars>
      </dgm:prSet>
      <dgm:spPr/>
    </dgm:pt>
  </dgm:ptLst>
  <dgm:cxnLst>
    <dgm:cxn modelId="{1CA98203-558B-45E4-A7A1-F48A422AE458}" type="presOf" srcId="{4D17E48B-816F-4E22-9171-D7C3EC19B9C9}" destId="{74BCB0AC-6184-4BC5-9259-9B38484EB0BD}" srcOrd="0" destOrd="0" presId="urn:microsoft.com/office/officeart/2005/8/layout/process1"/>
    <dgm:cxn modelId="{6A489771-EB21-4FDB-966A-938C12D56F1B}" type="presOf" srcId="{BE1CF92B-E233-45F0-86C5-16F51FF2EC39}" destId="{A984A37F-DEE6-432F-A851-EC63949E182D}" srcOrd="0" destOrd="1" presId="urn:microsoft.com/office/officeart/2005/8/layout/process1"/>
    <dgm:cxn modelId="{DA368359-F69E-44AE-82BB-864A404D31CC}" type="presOf" srcId="{DC3CC174-F385-4928-94AE-004F8649AC5E}" destId="{71F89AA5-3D26-438B-9C21-64A60B7CAFE1}" srcOrd="0" destOrd="0" presId="urn:microsoft.com/office/officeart/2005/8/layout/process1"/>
    <dgm:cxn modelId="{6CBE368C-0516-4D4C-AC0F-A6C3E8765701}" srcId="{0B5B70DB-C372-486F-A52D-26714D56BF44}" destId="{37544A0C-6DF7-435C-8FA1-8FE37503C07D}" srcOrd="1" destOrd="0" parTransId="{2CBBC2EE-E3DE-4291-8BDA-AA06740B4FF3}" sibTransId="{3E5B9DB5-F3DE-4990-8BEC-F02849DC7160}"/>
    <dgm:cxn modelId="{E347CFAC-3B84-4812-981F-A0AC75794A76}" srcId="{A7521F9F-9853-4760-AF04-01C8BE6DE7CA}" destId="{0B5B70DB-C372-486F-A52D-26714D56BF44}" srcOrd="0" destOrd="0" parTransId="{4E51C9B7-F398-4309-9C2C-8766F2A1A0CB}" sibTransId="{DC3CC174-F385-4928-94AE-004F8649AC5E}"/>
    <dgm:cxn modelId="{ABE68EB5-A8CC-4A22-A064-1512AFC20EDC}" srcId="{A7521F9F-9853-4760-AF04-01C8BE6DE7CA}" destId="{4D17E48B-816F-4E22-9171-D7C3EC19B9C9}" srcOrd="1" destOrd="0" parTransId="{A9EDF49D-A50F-40C5-992A-42017C32CDE9}" sibTransId="{99CF6B85-1B61-459F-A041-5EDD9A2A19E3}"/>
    <dgm:cxn modelId="{C2581CB6-6257-402A-87AE-D20944118EC0}" type="presOf" srcId="{7FD1DD7D-D91A-40F2-B4BD-D732FA71855B}" destId="{74BCB0AC-6184-4BC5-9259-9B38484EB0BD}" srcOrd="0" destOrd="1" presId="urn:microsoft.com/office/officeart/2005/8/layout/process1"/>
    <dgm:cxn modelId="{54D08DBC-3883-4625-A47A-83064D9BDEF2}" srcId="{4D17E48B-816F-4E22-9171-D7C3EC19B9C9}" destId="{7FD1DD7D-D91A-40F2-B4BD-D732FA71855B}" srcOrd="0" destOrd="0" parTransId="{20AA30AA-C341-41F7-89B2-1FBC197D229B}" sibTransId="{CEB451CE-E251-4E61-AB34-F6AD802F600D}"/>
    <dgm:cxn modelId="{2F33BFC9-F43A-43FF-90CC-C178B6C8CACC}" type="presOf" srcId="{A7521F9F-9853-4760-AF04-01C8BE6DE7CA}" destId="{6F18769F-A45C-47E8-9743-8DD15455B2C9}" srcOrd="0" destOrd="0" presId="urn:microsoft.com/office/officeart/2005/8/layout/process1"/>
    <dgm:cxn modelId="{A0FD2FCB-C505-46B4-9907-A616C668311C}" type="presOf" srcId="{0B5B70DB-C372-486F-A52D-26714D56BF44}" destId="{A984A37F-DEE6-432F-A851-EC63949E182D}" srcOrd="0" destOrd="0" presId="urn:microsoft.com/office/officeart/2005/8/layout/process1"/>
    <dgm:cxn modelId="{D9C82BEB-FBAA-4E3E-96E6-6FAE1847F7CA}" type="presOf" srcId="{37544A0C-6DF7-435C-8FA1-8FE37503C07D}" destId="{A984A37F-DEE6-432F-A851-EC63949E182D}" srcOrd="0" destOrd="2" presId="urn:microsoft.com/office/officeart/2005/8/layout/process1"/>
    <dgm:cxn modelId="{517781ED-AA1B-43F8-9A7D-3C73DE23B6BD}" type="presOf" srcId="{DC3CC174-F385-4928-94AE-004F8649AC5E}" destId="{C844A1A0-E988-420F-9877-1860DF89A1EB}" srcOrd="1" destOrd="0" presId="urn:microsoft.com/office/officeart/2005/8/layout/process1"/>
    <dgm:cxn modelId="{7FE6A1F6-0295-4FF9-BD45-AA6601A252D0}" srcId="{0B5B70DB-C372-486F-A52D-26714D56BF44}" destId="{BE1CF92B-E233-45F0-86C5-16F51FF2EC39}" srcOrd="0" destOrd="0" parTransId="{CADBA3B3-0E95-46E3-BD45-554A451764AE}" sibTransId="{C7B67B06-F568-4F00-A990-2D3E2833329B}"/>
    <dgm:cxn modelId="{D5486157-BF3A-4C91-865B-2E4472A24377}" type="presParOf" srcId="{6F18769F-A45C-47E8-9743-8DD15455B2C9}" destId="{A984A37F-DEE6-432F-A851-EC63949E182D}" srcOrd="0" destOrd="0" presId="urn:microsoft.com/office/officeart/2005/8/layout/process1"/>
    <dgm:cxn modelId="{6BBE8042-8A1C-4B3B-885B-13B4770D3A4E}" type="presParOf" srcId="{6F18769F-A45C-47E8-9743-8DD15455B2C9}" destId="{71F89AA5-3D26-438B-9C21-64A60B7CAFE1}" srcOrd="1" destOrd="0" presId="urn:microsoft.com/office/officeart/2005/8/layout/process1"/>
    <dgm:cxn modelId="{41143643-5ACB-409D-8EF5-BE70A4378899}" type="presParOf" srcId="{71F89AA5-3D26-438B-9C21-64A60B7CAFE1}" destId="{C844A1A0-E988-420F-9877-1860DF89A1EB}" srcOrd="0" destOrd="0" presId="urn:microsoft.com/office/officeart/2005/8/layout/process1"/>
    <dgm:cxn modelId="{9328C82C-9CD6-48AA-BCD1-24E5140E97BD}" type="presParOf" srcId="{6F18769F-A45C-47E8-9743-8DD15455B2C9}" destId="{74BCB0AC-6184-4BC5-9259-9B38484EB0BD}" srcOrd="2"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81DAF9E1-DC97-46BC-9402-EC7E539BD23B}">
      <dgm:prSet/>
      <dgm:spPr/>
      <dgm:t>
        <a:bodyPr/>
        <a:lstStyle/>
        <a:p>
          <a:r>
            <a:rPr lang="en-SG" dirty="0"/>
            <a:t>Shared Feature Engineering Layer</a:t>
          </a:r>
        </a:p>
      </dgm:t>
    </dgm:pt>
    <dgm:pt modelId="{774DEF1E-F047-4F32-AB56-BA562E647A7D}" type="parTrans" cxnId="{497ECFF2-4A89-4347-AA5E-5EE043180273}">
      <dgm:prSet/>
      <dgm:spPr/>
      <dgm:t>
        <a:bodyPr/>
        <a:lstStyle/>
        <a:p>
          <a:endParaRPr lang="en-SG"/>
        </a:p>
      </dgm:t>
    </dgm:pt>
    <dgm:pt modelId="{EA7AE1C2-FEF0-4F32-AB9C-23C83BD88215}" type="sibTrans" cxnId="{497ECFF2-4A89-4347-AA5E-5EE043180273}">
      <dgm:prSet/>
      <dgm:spPr/>
      <dgm:t>
        <a:bodyPr/>
        <a:lstStyle/>
        <a:p>
          <a:endParaRPr lang="en-SG"/>
        </a:p>
      </dgm:t>
    </dgm:pt>
    <dgm:pt modelId="{168ACAE5-0523-42E8-A5C9-EB8487E758CD}">
      <dgm:prSet/>
      <dgm:spPr/>
      <dgm:t>
        <a:bodyPr/>
        <a:lstStyle/>
        <a:p>
          <a:r>
            <a:rPr lang="en-SG" dirty="0"/>
            <a:t>Online Retail transaction dataset of 2 years </a:t>
          </a:r>
          <a:r>
            <a:rPr lang="en-SG" b="0" i="1"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b="0" i="1" dirty="0">
            <a:solidFill>
              <a:srgbClr val="0070C0"/>
            </a:solidFill>
          </a:endParaRPr>
        </a:p>
      </dgm:t>
    </dgm:pt>
    <dgm:pt modelId="{372E7EBD-7A00-4027-AA9B-5C49268CCBF5}" type="parTrans" cxnId="{4EAD2E28-C777-4A91-80D5-67979928E573}">
      <dgm:prSet/>
      <dgm:spPr/>
      <dgm:t>
        <a:bodyPr/>
        <a:lstStyle/>
        <a:p>
          <a:endParaRPr lang="en-SG"/>
        </a:p>
      </dgm:t>
    </dgm:pt>
    <dgm:pt modelId="{B23ADA11-DC68-4FE3-A495-2D6143CCC4E5}" type="sibTrans" cxnId="{4EAD2E28-C777-4A91-80D5-67979928E573}">
      <dgm:prSet/>
      <dgm:spPr/>
      <dgm:t>
        <a:bodyPr/>
        <a:lstStyle/>
        <a:p>
          <a:endParaRPr lang="en-SG"/>
        </a:p>
      </dgm:t>
    </dgm:pt>
    <dgm:pt modelId="{BAE20149-9CD2-4A4C-9615-822EEA0CA46F}" type="pres">
      <dgm:prSet presAssocID="{A7521F9F-9853-4760-AF04-01C8BE6DE7CA}" presName="Name0" presStyleCnt="0">
        <dgm:presLayoutVars>
          <dgm:chMax val="11"/>
          <dgm:chPref val="11"/>
          <dgm:dir/>
          <dgm:resizeHandles/>
        </dgm:presLayoutVars>
      </dgm:prSet>
      <dgm:spPr/>
    </dgm:pt>
    <dgm:pt modelId="{BD64D23D-7A15-4A81-A6E3-B0718F4FD3A0}" type="pres">
      <dgm:prSet presAssocID="{3AEE3E50-0B70-4E20-8A23-DF2C94A810C5}" presName="Accent1" presStyleCnt="0"/>
      <dgm:spPr/>
    </dgm:pt>
    <dgm:pt modelId="{6E50C483-DCCC-4B9C-AE6B-988DC288188A}" type="pres">
      <dgm:prSet presAssocID="{3AEE3E50-0B70-4E20-8A23-DF2C94A810C5}" presName="Accent" presStyleLbl="node1" presStyleIdx="0" presStyleCnt="1"/>
      <dgm:spPr/>
    </dgm:pt>
    <dgm:pt modelId="{6A376E0F-C90E-4CB9-B0AB-D828CA4F9FF2}" type="pres">
      <dgm:prSet presAssocID="{3AEE3E50-0B70-4E20-8A23-DF2C94A810C5}" presName="ParentBackground1" presStyleCnt="0"/>
      <dgm:spPr/>
    </dgm:pt>
    <dgm:pt modelId="{27C934A3-7313-4156-8ED7-DDC09B6D49E2}" type="pres">
      <dgm:prSet presAssocID="{3AEE3E50-0B70-4E20-8A23-DF2C94A810C5}" presName="ParentBackground" presStyleLbl="fgAcc1" presStyleIdx="0" presStyleCnt="1"/>
      <dgm:spPr/>
    </dgm:pt>
    <dgm:pt modelId="{4A4F7823-EAE9-46C3-ABC1-34D954A204CF}" type="pres">
      <dgm:prSet presAssocID="{3AEE3E50-0B70-4E20-8A23-DF2C94A810C5}" presName="Child1" presStyleLbl="revTx" presStyleIdx="0" presStyleCnt="1">
        <dgm:presLayoutVars>
          <dgm:chMax val="0"/>
          <dgm:chPref val="0"/>
          <dgm:bulletEnabled val="1"/>
        </dgm:presLayoutVars>
      </dgm:prSet>
      <dgm:spPr/>
    </dgm:pt>
    <dgm:pt modelId="{D592DE3C-E03A-4374-9246-C25921A80337}" type="pres">
      <dgm:prSet presAssocID="{3AEE3E50-0B70-4E20-8A23-DF2C94A810C5}" presName="Parent1" presStyleLbl="revTx" presStyleIdx="0" presStyleCnt="1">
        <dgm:presLayoutVars>
          <dgm:chMax val="1"/>
          <dgm:chPref val="1"/>
          <dgm:bulletEnabled val="1"/>
        </dgm:presLayoutVars>
      </dgm:prSet>
      <dgm:spPr/>
    </dgm:pt>
  </dgm:ptLst>
  <dgm:cxnLst>
    <dgm:cxn modelId="{4EAD2E28-C777-4A91-80D5-67979928E573}" srcId="{3AEE3E50-0B70-4E20-8A23-DF2C94A810C5}" destId="{168ACAE5-0523-42E8-A5C9-EB8487E758CD}" srcOrd="0" destOrd="0" parTransId="{372E7EBD-7A00-4027-AA9B-5C49268CCBF5}" sibTransId="{B23ADA11-DC68-4FE3-A495-2D6143CCC4E5}"/>
    <dgm:cxn modelId="{65B2B22E-72CC-4EB5-8353-86AEBB03EE39}" srcId="{A7521F9F-9853-4760-AF04-01C8BE6DE7CA}" destId="{3AEE3E50-0B70-4E20-8A23-DF2C94A810C5}" srcOrd="0" destOrd="0" parTransId="{E87FE72D-7C21-4C4E-89B7-B9E78A928E21}" sibTransId="{87E3D749-6CB6-4793-A88E-29194C75DC2E}"/>
    <dgm:cxn modelId="{58A5C43C-4AB4-4072-B9BF-110990539A6D}" type="presOf" srcId="{168ACAE5-0523-42E8-A5C9-EB8487E758CD}" destId="{4A4F7823-EAE9-46C3-ABC1-34D954A204CF}" srcOrd="0" destOrd="0" presId="urn:microsoft.com/office/officeart/2011/layout/CircleProcess"/>
    <dgm:cxn modelId="{244BC07D-ADFF-4472-8431-F41BCD3B5FD8}" type="presOf" srcId="{3AEE3E50-0B70-4E20-8A23-DF2C94A810C5}" destId="{D592DE3C-E03A-4374-9246-C25921A80337}" srcOrd="1" destOrd="0" presId="urn:microsoft.com/office/officeart/2011/layout/CircleProcess"/>
    <dgm:cxn modelId="{1813728D-CD03-43FE-AD9B-C49A0CEA0F8F}" type="presOf" srcId="{A7521F9F-9853-4760-AF04-01C8BE6DE7CA}" destId="{BAE20149-9CD2-4A4C-9615-822EEA0CA46F}" srcOrd="0" destOrd="0" presId="urn:microsoft.com/office/officeart/2011/layout/CircleProcess"/>
    <dgm:cxn modelId="{CFA778AE-9E62-4A8E-BF66-68222C024082}" type="presOf" srcId="{3AEE3E50-0B70-4E20-8A23-DF2C94A810C5}" destId="{27C934A3-7313-4156-8ED7-DDC09B6D49E2}" srcOrd="0" destOrd="0" presId="urn:microsoft.com/office/officeart/2011/layout/CircleProcess"/>
    <dgm:cxn modelId="{497ECFF2-4A89-4347-AA5E-5EE043180273}" srcId="{3AEE3E50-0B70-4E20-8A23-DF2C94A810C5}" destId="{81DAF9E1-DC97-46BC-9402-EC7E539BD23B}" srcOrd="1" destOrd="0" parTransId="{774DEF1E-F047-4F32-AB56-BA562E647A7D}" sibTransId="{EA7AE1C2-FEF0-4F32-AB9C-23C83BD88215}"/>
    <dgm:cxn modelId="{8B33CBF9-3396-447C-BBCE-2DAFD1AB4BFA}" type="presOf" srcId="{81DAF9E1-DC97-46BC-9402-EC7E539BD23B}" destId="{4A4F7823-EAE9-46C3-ABC1-34D954A204CF}" srcOrd="0" destOrd="1" presId="urn:microsoft.com/office/officeart/2011/layout/CircleProcess"/>
    <dgm:cxn modelId="{346B1158-EC48-4EEE-9176-08BB100A4EE3}" type="presParOf" srcId="{BAE20149-9CD2-4A4C-9615-822EEA0CA46F}" destId="{BD64D23D-7A15-4A81-A6E3-B0718F4FD3A0}" srcOrd="0" destOrd="0" presId="urn:microsoft.com/office/officeart/2011/layout/CircleProcess"/>
    <dgm:cxn modelId="{EDCF0721-910C-432A-B189-E3F425765A7A}" type="presParOf" srcId="{BD64D23D-7A15-4A81-A6E3-B0718F4FD3A0}" destId="{6E50C483-DCCC-4B9C-AE6B-988DC288188A}" srcOrd="0" destOrd="0" presId="urn:microsoft.com/office/officeart/2011/layout/CircleProcess"/>
    <dgm:cxn modelId="{1C403461-BECD-4335-94C0-4EFEDD106219}" type="presParOf" srcId="{BAE20149-9CD2-4A4C-9615-822EEA0CA46F}" destId="{6A376E0F-C90E-4CB9-B0AB-D828CA4F9FF2}" srcOrd="1" destOrd="0" presId="urn:microsoft.com/office/officeart/2011/layout/CircleProcess"/>
    <dgm:cxn modelId="{8E740BBD-6D0F-4320-B356-EC22111A7BBF}" type="presParOf" srcId="{6A376E0F-C90E-4CB9-B0AB-D828CA4F9FF2}" destId="{27C934A3-7313-4156-8ED7-DDC09B6D49E2}" srcOrd="0" destOrd="0" presId="urn:microsoft.com/office/officeart/2011/layout/CircleProcess"/>
    <dgm:cxn modelId="{5B78382F-50D9-4623-B404-5EB370E6ED3A}" type="presParOf" srcId="{BAE20149-9CD2-4A4C-9615-822EEA0CA46F}" destId="{4A4F7823-EAE9-46C3-ABC1-34D954A204CF}" srcOrd="2" destOrd="0" presId="urn:microsoft.com/office/officeart/2011/layout/CircleProcess"/>
    <dgm:cxn modelId="{D806BA01-1F95-4A48-9812-F2296A1427F1}" type="presParOf" srcId="{BAE20149-9CD2-4A4C-9615-822EEA0CA46F}" destId="{D592DE3C-E03A-4374-9246-C25921A80337}" srcOrd="3" destOrd="0" presId="urn:microsoft.com/office/officeart/2011/layout/CircleProcess"/>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E878DF7A-3516-4BCB-AA59-99E356A46073}">
      <dgm:prSet custT="1"/>
      <dgm:spPr/>
      <dgm:t>
        <a:bodyPr/>
        <a:lstStyle/>
        <a:p>
          <a:r>
            <a:rPr lang="en-SG" sz="1400" b="1" dirty="0"/>
            <a:t>Retrieval &amp; Ranking Engine</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dirty="0"/>
        </a:p>
      </dgm:t>
    </dgm:pt>
    <dgm:pt modelId="{09C66954-CA12-481A-81EF-C16F06D8EB2B}">
      <dgm:prSet custT="1"/>
      <dgm:spPr/>
      <dgm:t>
        <a:bodyPr/>
        <a:lstStyle/>
        <a:p>
          <a:r>
            <a:rPr lang="en-SG" sz="1200" dirty="0"/>
            <a:t>Training Pipeline (Offline): Two-Tower Collaborative Filtering</a:t>
          </a:r>
        </a:p>
      </dgm:t>
    </dgm:pt>
    <dgm:pt modelId="{FEDCE43D-7C3C-4CD0-95A4-5F4336856A30}" type="parTrans" cxnId="{B001BCEA-12E7-4C97-8AC3-59ED55691DF1}">
      <dgm:prSet/>
      <dgm:spPr/>
      <dgm:t>
        <a:bodyPr/>
        <a:lstStyle/>
        <a:p>
          <a:endParaRPr lang="en-SG"/>
        </a:p>
      </dgm:t>
    </dgm:pt>
    <dgm:pt modelId="{22F76C3E-3F4A-4B6F-A1A7-4EB975212D17}" type="sibTrans" cxnId="{B001BCEA-12E7-4C97-8AC3-59ED55691DF1}">
      <dgm:prSet/>
      <dgm:spPr/>
      <dgm:t>
        <a:bodyPr/>
        <a:lstStyle/>
        <a:p>
          <a:endParaRPr lang="en-SG"/>
        </a:p>
      </dgm:t>
    </dgm:pt>
    <dgm:pt modelId="{668BD968-7D7C-4548-A9C3-39BA39AA91DE}">
      <dgm:prSet custT="1"/>
      <dgm:spPr/>
      <dgm:t>
        <a:bodyPr/>
        <a:lstStyle/>
        <a:p>
          <a:r>
            <a:rPr lang="en-SG" sz="1400" b="1" dirty="0"/>
            <a:t>Offline Evaluation</a:t>
          </a:r>
          <a:endParaRPr lang="en-SG" sz="1400" dirty="0"/>
        </a:p>
      </dgm:t>
    </dgm:pt>
    <dgm:pt modelId="{51062191-8FB1-4D1A-AB12-867C760892B6}" type="parTrans" cxnId="{CD81A89C-B532-4213-B6C7-3D7627A466E3}">
      <dgm:prSet/>
      <dgm:spPr/>
      <dgm:t>
        <a:bodyPr/>
        <a:lstStyle/>
        <a:p>
          <a:endParaRPr lang="en-SG"/>
        </a:p>
      </dgm:t>
    </dgm:pt>
    <dgm:pt modelId="{925C0620-2481-44B4-A783-D3BFEC8F2EF3}" type="sibTrans" cxnId="{CD81A89C-B532-4213-B6C7-3D7627A466E3}">
      <dgm:prSet/>
      <dgm:spPr/>
      <dgm:t>
        <a:bodyPr/>
        <a:lstStyle/>
        <a:p>
          <a:endParaRPr lang="en-SG"/>
        </a:p>
      </dgm:t>
    </dgm:pt>
    <dgm:pt modelId="{6A8BE770-976B-4991-9D1C-26116AC48EDC}">
      <dgm:prSet custT="1"/>
      <dgm:spPr/>
      <dgm:t>
        <a:bodyPr/>
        <a:lstStyle/>
        <a:p>
          <a:r>
            <a:rPr lang="en-SG" sz="1200" dirty="0"/>
            <a:t>Proxy metrics for commercial engagement: Recall/NDCG/Hit Rate</a:t>
          </a:r>
        </a:p>
      </dgm:t>
    </dgm:pt>
    <dgm:pt modelId="{0501BE61-703B-41E2-9731-511B0780652B}" type="parTrans" cxnId="{27DB255B-B5FF-454F-BAAD-AF1AB4C204CA}">
      <dgm:prSet/>
      <dgm:spPr/>
      <dgm:t>
        <a:bodyPr/>
        <a:lstStyle/>
        <a:p>
          <a:endParaRPr lang="en-SG"/>
        </a:p>
      </dgm:t>
    </dgm:pt>
    <dgm:pt modelId="{B0B8C39B-D8E1-44D5-9B45-4BCAF65D9127}" type="sibTrans" cxnId="{27DB255B-B5FF-454F-BAAD-AF1AB4C204CA}">
      <dgm:prSet/>
      <dgm:spPr/>
      <dgm:t>
        <a:bodyPr/>
        <a:lstStyle/>
        <a:p>
          <a:endParaRPr lang="en-SG"/>
        </a:p>
      </dgm:t>
    </dgm:pt>
    <dgm:pt modelId="{4C268D6E-5823-4943-A1D0-5661390E54A4}">
      <dgm:prSet custT="1"/>
      <dgm:spPr/>
      <dgm:t>
        <a:bodyPr/>
        <a:lstStyle/>
        <a:p>
          <a:r>
            <a:rPr lang="en-SG" sz="1200" dirty="0"/>
            <a:t>Serving (Retrieval) Pipeline: User-Item Dot Product Scoring</a:t>
          </a:r>
        </a:p>
      </dgm:t>
    </dgm:pt>
    <dgm:pt modelId="{D77C3BD0-846A-4241-9322-64E7B7736469}" type="parTrans" cxnId="{EC72C0A1-6A05-46C8-956E-AB64B34C1275}">
      <dgm:prSet/>
      <dgm:spPr/>
      <dgm:t>
        <a:bodyPr/>
        <a:lstStyle/>
        <a:p>
          <a:endParaRPr lang="en-SG"/>
        </a:p>
      </dgm:t>
    </dgm:pt>
    <dgm:pt modelId="{917054AE-2A83-49C6-911F-96CDE2B7002D}" type="sibTrans" cxnId="{EC72C0A1-6A05-46C8-956E-AB64B34C1275}">
      <dgm:prSet/>
      <dgm:spPr/>
      <dgm:t>
        <a:bodyPr/>
        <a:lstStyle/>
        <a:p>
          <a:endParaRPr lang="en-SG"/>
        </a:p>
      </dgm:t>
    </dgm:pt>
    <dgm:pt modelId="{49A29645-3F90-4FF4-BDF5-47626EC8689A}" type="pres">
      <dgm:prSet presAssocID="{A7521F9F-9853-4760-AF04-01C8BE6DE7CA}" presName="Name0" presStyleCnt="0">
        <dgm:presLayoutVars>
          <dgm:dir/>
          <dgm:resizeHandles val="exact"/>
        </dgm:presLayoutVars>
      </dgm:prSet>
      <dgm:spPr/>
    </dgm:pt>
    <dgm:pt modelId="{D11E4ACC-F46F-4E3F-B3D5-13482F0C135B}" type="pres">
      <dgm:prSet presAssocID="{E878DF7A-3516-4BCB-AA59-99E356A46073}" presName="node" presStyleLbl="node1" presStyleIdx="0" presStyleCnt="2">
        <dgm:presLayoutVars>
          <dgm:bulletEnabled val="1"/>
        </dgm:presLayoutVars>
      </dgm:prSet>
      <dgm:spPr/>
    </dgm:pt>
    <dgm:pt modelId="{4F230ABA-46E3-4A4E-8801-E05038A704F6}" type="pres">
      <dgm:prSet presAssocID="{8EDF5DBF-CBE7-4C0D-B13F-D8077C96DF81}" presName="sibTrans" presStyleLbl="sibTrans2D1" presStyleIdx="0" presStyleCnt="1"/>
      <dgm:spPr/>
    </dgm:pt>
    <dgm:pt modelId="{EAFCC294-EEFD-41EA-89A9-2BDC76D31A73}" type="pres">
      <dgm:prSet presAssocID="{8EDF5DBF-CBE7-4C0D-B13F-D8077C96DF81}" presName="connectorText" presStyleLbl="sibTrans2D1" presStyleIdx="0" presStyleCnt="1"/>
      <dgm:spPr/>
    </dgm:pt>
    <dgm:pt modelId="{298762B9-1A9A-489F-A7B0-51C707051142}" type="pres">
      <dgm:prSet presAssocID="{668BD968-7D7C-4548-A9C3-39BA39AA91DE}" presName="node" presStyleLbl="node1" presStyleIdx="1" presStyleCnt="2">
        <dgm:presLayoutVars>
          <dgm:bulletEnabled val="1"/>
        </dgm:presLayoutVars>
      </dgm:prSet>
      <dgm:spPr/>
    </dgm:pt>
  </dgm:ptLst>
  <dgm:cxnLst>
    <dgm:cxn modelId="{3331451B-767A-4DA4-BB06-4462AB791AA6}" type="presOf" srcId="{668BD968-7D7C-4548-A9C3-39BA39AA91DE}" destId="{298762B9-1A9A-489F-A7B0-51C707051142}" srcOrd="0" destOrd="0" presId="urn:microsoft.com/office/officeart/2005/8/layout/process1"/>
    <dgm:cxn modelId="{27DB255B-B5FF-454F-BAAD-AF1AB4C204CA}" srcId="{668BD968-7D7C-4548-A9C3-39BA39AA91DE}" destId="{6A8BE770-976B-4991-9D1C-26116AC48EDC}" srcOrd="0" destOrd="0" parTransId="{0501BE61-703B-41E2-9731-511B0780652B}" sibTransId="{B0B8C39B-D8E1-44D5-9B45-4BCAF65D9127}"/>
    <dgm:cxn modelId="{045E0F5C-0F94-48BA-9FDE-23107E04A8A2}" type="presOf" srcId="{6A8BE770-976B-4991-9D1C-26116AC48EDC}" destId="{298762B9-1A9A-489F-A7B0-51C707051142}" srcOrd="0" destOrd="1" presId="urn:microsoft.com/office/officeart/2005/8/layout/process1"/>
    <dgm:cxn modelId="{92259160-04A2-4024-BEA6-D268E870F9D4}" type="presOf" srcId="{4C268D6E-5823-4943-A1D0-5661390E54A4}" destId="{D11E4ACC-F46F-4E3F-B3D5-13482F0C135B}" srcOrd="0" destOrd="2" presId="urn:microsoft.com/office/officeart/2005/8/layout/process1"/>
    <dgm:cxn modelId="{691B975A-1EB2-49FE-9E6D-1200CC451944}" type="presOf" srcId="{09C66954-CA12-481A-81EF-C16F06D8EB2B}" destId="{D11E4ACC-F46F-4E3F-B3D5-13482F0C135B}" srcOrd="0" destOrd="1" presId="urn:microsoft.com/office/officeart/2005/8/layout/process1"/>
    <dgm:cxn modelId="{CD81A89C-B532-4213-B6C7-3D7627A466E3}" srcId="{A7521F9F-9853-4760-AF04-01C8BE6DE7CA}" destId="{668BD968-7D7C-4548-A9C3-39BA39AA91DE}" srcOrd="1" destOrd="0" parTransId="{51062191-8FB1-4D1A-AB12-867C760892B6}" sibTransId="{925C0620-2481-44B4-A783-D3BFEC8F2EF3}"/>
    <dgm:cxn modelId="{1F17D19C-F7AA-4A41-8C89-02E285BFD35A}" type="presOf" srcId="{E878DF7A-3516-4BCB-AA59-99E356A46073}" destId="{D11E4ACC-F46F-4E3F-B3D5-13482F0C135B}" srcOrd="0" destOrd="0" presId="urn:microsoft.com/office/officeart/2005/8/layout/process1"/>
    <dgm:cxn modelId="{EC72C0A1-6A05-46C8-956E-AB64B34C1275}" srcId="{E878DF7A-3516-4BCB-AA59-99E356A46073}" destId="{4C268D6E-5823-4943-A1D0-5661390E54A4}" srcOrd="1" destOrd="0" parTransId="{D77C3BD0-846A-4241-9322-64E7B7736469}" sibTransId="{917054AE-2A83-49C6-911F-96CDE2B7002D}"/>
    <dgm:cxn modelId="{74911EB3-CA94-4516-B771-EEBF0B929931}" srcId="{A7521F9F-9853-4760-AF04-01C8BE6DE7CA}" destId="{E878DF7A-3516-4BCB-AA59-99E356A46073}" srcOrd="0" destOrd="0" parTransId="{4215D128-B3CD-480F-AA0F-6DDB0B6C6E34}" sibTransId="{8EDF5DBF-CBE7-4C0D-B13F-D8077C96DF81}"/>
    <dgm:cxn modelId="{6D0C46BF-67A0-4EE0-94E3-F20A8C43E5A5}" type="presOf" srcId="{8EDF5DBF-CBE7-4C0D-B13F-D8077C96DF81}" destId="{4F230ABA-46E3-4A4E-8801-E05038A704F6}" srcOrd="0" destOrd="0" presId="urn:microsoft.com/office/officeart/2005/8/layout/process1"/>
    <dgm:cxn modelId="{BE90DDC7-4B23-4CD4-821B-0F214C68E1CE}" type="presOf" srcId="{8EDF5DBF-CBE7-4C0D-B13F-D8077C96DF81}" destId="{EAFCC294-EEFD-41EA-89A9-2BDC76D31A73}" srcOrd="1" destOrd="0" presId="urn:microsoft.com/office/officeart/2005/8/layout/process1"/>
    <dgm:cxn modelId="{B001BCEA-12E7-4C97-8AC3-59ED55691DF1}" srcId="{E878DF7A-3516-4BCB-AA59-99E356A46073}" destId="{09C66954-CA12-481A-81EF-C16F06D8EB2B}" srcOrd="0" destOrd="0" parTransId="{FEDCE43D-7C3C-4CD0-95A4-5F4336856A30}" sibTransId="{22F76C3E-3F4A-4B6F-A1A7-4EB975212D17}"/>
    <dgm:cxn modelId="{6834DEEF-495D-4C07-9F15-C40EC10DF0CC}" type="presOf" srcId="{A7521F9F-9853-4760-AF04-01C8BE6DE7CA}" destId="{49A29645-3F90-4FF4-BDF5-47626EC8689A}" srcOrd="0" destOrd="0" presId="urn:microsoft.com/office/officeart/2005/8/layout/process1"/>
    <dgm:cxn modelId="{CD52D83A-4716-481B-BF19-C575A5C23351}" type="presParOf" srcId="{49A29645-3F90-4FF4-BDF5-47626EC8689A}" destId="{D11E4ACC-F46F-4E3F-B3D5-13482F0C135B}" srcOrd="0" destOrd="0" presId="urn:microsoft.com/office/officeart/2005/8/layout/process1"/>
    <dgm:cxn modelId="{3549375D-A795-46E8-B95B-978376F93F70}" type="presParOf" srcId="{49A29645-3F90-4FF4-BDF5-47626EC8689A}" destId="{4F230ABA-46E3-4A4E-8801-E05038A704F6}" srcOrd="1" destOrd="0" presId="urn:microsoft.com/office/officeart/2005/8/layout/process1"/>
    <dgm:cxn modelId="{2344C5AF-1820-48D3-8994-2F603E5B9638}" type="presParOf" srcId="{4F230ABA-46E3-4A4E-8801-E05038A704F6}" destId="{EAFCC294-EEFD-41EA-89A9-2BDC76D31A73}" srcOrd="0" destOrd="0" presId="urn:microsoft.com/office/officeart/2005/8/layout/process1"/>
    <dgm:cxn modelId="{7BBAC62B-AD78-4DDA-99CA-D452146D3331}" type="presParOf" srcId="{49A29645-3F90-4FF4-BDF5-47626EC8689A}" destId="{298762B9-1A9A-489F-A7B0-51C707051142}" srcOrd="2" destOrd="0" presId="urn:microsoft.com/office/officeart/2005/8/layout/process1"/>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Feature Store</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E878DF7A-3516-4BCB-AA59-99E356A46073}">
      <dgm:prSet/>
      <dgm:spPr/>
      <dgm:t>
        <a:bodyPr/>
        <a:lstStyle/>
        <a:p>
          <a:r>
            <a:rPr lang="en-SG" b="0" dirty="0">
              <a:solidFill>
                <a:schemeClr val="tx1"/>
              </a:solidFill>
            </a:rPr>
            <a:t>Purchase Propensity Model </a:t>
          </a:r>
          <a:r>
            <a:rPr lang="en-SG" b="0" dirty="0">
              <a:solidFill>
                <a:srgbClr val="FF0000"/>
              </a:solidFill>
            </a:rPr>
            <a:t>+ Revenue Prediction Model</a:t>
          </a:r>
          <a:endParaRPr lang="en-SG" dirty="0">
            <a:solidFill>
              <a:srgbClr val="FF0000"/>
            </a:solidFill>
          </a:endParaRP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Model Evaluation</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493B72A0-01D0-4A1C-8787-55329497B794}" type="pres">
      <dgm:prSet presAssocID="{39EB0991-8EB9-4AFD-A2F2-F6E1F254BE25}" presName="Accent3" presStyleCnt="0"/>
      <dgm:spPr/>
    </dgm:pt>
    <dgm:pt modelId="{9CFC7CA6-F413-4EB9-BC7D-5F9345015BD0}" type="pres">
      <dgm:prSet presAssocID="{39EB0991-8EB9-4AFD-A2F2-F6E1F254BE25}" presName="Accent" presStyleLbl="node1" presStyleIdx="0" presStyleCnt="3"/>
      <dgm:spPr/>
    </dgm:pt>
    <dgm:pt modelId="{83C47309-7675-47CB-9352-A3B18BBD65EF}" type="pres">
      <dgm:prSet presAssocID="{39EB0991-8EB9-4AFD-A2F2-F6E1F254BE25}" presName="ParentBackground3" presStyleCnt="0"/>
      <dgm:spPr/>
    </dgm:pt>
    <dgm:pt modelId="{3819A24E-29CD-47FA-8F77-B27A7A92C7B6}" type="pres">
      <dgm:prSet presAssocID="{39EB0991-8EB9-4AFD-A2F2-F6E1F254BE25}" presName="ParentBackground" presStyleLbl="fgAcc1" presStyleIdx="0" presStyleCnt="3"/>
      <dgm:spPr/>
    </dgm:pt>
    <dgm:pt modelId="{54D13F88-F754-4EB2-B4B1-3B6C49E9A4B3}" type="pres">
      <dgm:prSet presAssocID="{39EB0991-8EB9-4AFD-A2F2-F6E1F254BE25}" presName="Parent3" presStyleLbl="revTx" presStyleIdx="0" presStyleCnt="0">
        <dgm:presLayoutVars>
          <dgm:chMax val="1"/>
          <dgm:chPref val="1"/>
          <dgm:bulletEnabled val="1"/>
        </dgm:presLayoutVars>
      </dgm:prSet>
      <dgm:spPr/>
    </dgm:pt>
    <dgm:pt modelId="{D5EFAE04-927D-4043-BDD3-92D6711B0365}" type="pres">
      <dgm:prSet presAssocID="{E878DF7A-3516-4BCB-AA59-99E356A46073}" presName="Accent2" presStyleCnt="0"/>
      <dgm:spPr/>
    </dgm:pt>
    <dgm:pt modelId="{09794B8C-E734-4AD7-92B7-E8D5CAA1082F}" type="pres">
      <dgm:prSet presAssocID="{E878DF7A-3516-4BCB-AA59-99E356A46073}" presName="Accent" presStyleLbl="node1" presStyleIdx="1" presStyleCnt="3"/>
      <dgm:spPr/>
    </dgm:pt>
    <dgm:pt modelId="{C965DDD5-E66A-4D28-90E6-CCD59667A519}" type="pres">
      <dgm:prSet presAssocID="{E878DF7A-3516-4BCB-AA59-99E356A46073}" presName="ParentBackground2" presStyleCnt="0"/>
      <dgm:spPr/>
    </dgm:pt>
    <dgm:pt modelId="{686F1890-877A-4652-9D3B-F479BCA8EE98}" type="pres">
      <dgm:prSet presAssocID="{E878DF7A-3516-4BCB-AA59-99E356A46073}" presName="ParentBackground" presStyleLbl="fgAcc1" presStyleIdx="1" presStyleCnt="3"/>
      <dgm:spPr/>
    </dgm:pt>
    <dgm:pt modelId="{5C88B282-A1AC-4807-90D0-6E30ED684C62}" type="pres">
      <dgm:prSet presAssocID="{E878DF7A-3516-4BCB-AA59-99E356A46073}"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65B2B22E-72CC-4EB5-8353-86AEBB03EE39}" srcId="{A7521F9F-9853-4760-AF04-01C8BE6DE7CA}" destId="{3AEE3E50-0B70-4E20-8A23-DF2C94A810C5}" srcOrd="0" destOrd="0" parTransId="{E87FE72D-7C21-4C4E-89B7-B9E78A928E21}" sibTransId="{87E3D749-6CB6-4793-A88E-29194C75DC2E}"/>
    <dgm:cxn modelId="{15C2058C-EC37-4FEA-A703-C93AC5402A2C}" srcId="{A7521F9F-9853-4760-AF04-01C8BE6DE7CA}" destId="{39EB0991-8EB9-4AFD-A2F2-F6E1F254BE25}" srcOrd="2" destOrd="0" parTransId="{E6A12652-9F65-4387-B68E-183EBE605256}" sibTransId="{EF4950E5-5C98-4D2B-B111-BF6A7726FECB}"/>
    <dgm:cxn modelId="{B1C93391-A983-426A-9E78-65394C32B876}" type="presOf" srcId="{39EB0991-8EB9-4AFD-A2F2-F6E1F254BE25}" destId="{3819A24E-29CD-47FA-8F77-B27A7A92C7B6}" srcOrd="1" destOrd="0" presId="urn:microsoft.com/office/officeart/2011/layout/CircleProcess"/>
    <dgm:cxn modelId="{8AB08396-DA85-49B9-A138-0A2A5EA720CA}" type="presOf" srcId="{3AEE3E50-0B70-4E20-8A23-DF2C94A810C5}" destId="{D41CBF9C-D87B-42FA-83CA-C300FE5ECA73}" srcOrd="0" destOrd="0" presId="urn:microsoft.com/office/officeart/2011/layout/CircleProcess"/>
    <dgm:cxn modelId="{BF37C1A0-6FC5-4A07-84B2-6640C5366207}" type="presOf" srcId="{E878DF7A-3516-4BCB-AA59-99E356A46073}" destId="{5C88B282-A1AC-4807-90D0-6E30ED684C62}" srcOrd="0" destOrd="0" presId="urn:microsoft.com/office/officeart/2011/layout/CircleProcess"/>
    <dgm:cxn modelId="{1BF9FCA8-1000-4F3B-937F-DF121CC55347}" type="presOf" srcId="{3AEE3E50-0B70-4E20-8A23-DF2C94A810C5}" destId="{EA8B68E1-77F3-4799-AC34-546ABA28C689}" srcOrd="1" destOrd="0" presId="urn:microsoft.com/office/officeart/2011/layout/CircleProcess"/>
    <dgm:cxn modelId="{74911EB3-CA94-4516-B771-EEBF0B929931}" srcId="{A7521F9F-9853-4760-AF04-01C8BE6DE7CA}" destId="{E878DF7A-3516-4BCB-AA59-99E356A46073}" srcOrd="1" destOrd="0" parTransId="{4215D128-B3CD-480F-AA0F-6DDB0B6C6E34}" sibTransId="{8EDF5DBF-CBE7-4C0D-B13F-D8077C96DF81}"/>
    <dgm:cxn modelId="{F02639C1-497E-4ECC-9980-39FDC410916F}" type="presOf" srcId="{A7521F9F-9853-4760-AF04-01C8BE6DE7CA}" destId="{04AA666C-C578-48EA-AE10-51E0CB9A2732}" srcOrd="0" destOrd="0" presId="urn:microsoft.com/office/officeart/2011/layout/CircleProcess"/>
    <dgm:cxn modelId="{7D3AABE1-F962-4049-B084-4C7A27ED8F88}" type="presOf" srcId="{E878DF7A-3516-4BCB-AA59-99E356A46073}" destId="{686F1890-877A-4652-9D3B-F479BCA8EE98}" srcOrd="1" destOrd="0" presId="urn:microsoft.com/office/officeart/2011/layout/CircleProcess"/>
    <dgm:cxn modelId="{E4DE81F7-B902-4D0D-9904-1C8E0AFE0E01}" type="presOf" srcId="{39EB0991-8EB9-4AFD-A2F2-F6E1F254BE25}" destId="{54D13F88-F754-4EB2-B4B1-3B6C49E9A4B3}" srcOrd="0" destOrd="0" presId="urn:microsoft.com/office/officeart/2011/layout/CircleProcess"/>
    <dgm:cxn modelId="{A4883296-FBD0-4C72-880B-B60C87FF8FF7}" type="presParOf" srcId="{04AA666C-C578-48EA-AE10-51E0CB9A2732}" destId="{493B72A0-01D0-4A1C-8787-55329497B794}" srcOrd="0" destOrd="0" presId="urn:microsoft.com/office/officeart/2011/layout/CircleProcess"/>
    <dgm:cxn modelId="{35F98341-BDA8-4D14-91D2-74F79C1BED18}" type="presParOf" srcId="{493B72A0-01D0-4A1C-8787-55329497B794}" destId="{9CFC7CA6-F413-4EB9-BC7D-5F9345015BD0}" srcOrd="0" destOrd="0" presId="urn:microsoft.com/office/officeart/2011/layout/CircleProcess"/>
    <dgm:cxn modelId="{F2DFD75F-6064-4506-8475-D1C96AD7DDA6}" type="presParOf" srcId="{04AA666C-C578-48EA-AE10-51E0CB9A2732}" destId="{83C47309-7675-47CB-9352-A3B18BBD65EF}" srcOrd="1" destOrd="0" presId="urn:microsoft.com/office/officeart/2011/layout/CircleProcess"/>
    <dgm:cxn modelId="{B2A33A40-BE68-412B-9012-76E3E09CB2E4}" type="presParOf" srcId="{83C47309-7675-47CB-9352-A3B18BBD65EF}" destId="{3819A24E-29CD-47FA-8F77-B27A7A92C7B6}" srcOrd="0" destOrd="0" presId="urn:microsoft.com/office/officeart/2011/layout/CircleProcess"/>
    <dgm:cxn modelId="{083DD43E-1C81-4BFD-93F9-B1C12808F005}" type="presParOf" srcId="{04AA666C-C578-48EA-AE10-51E0CB9A2732}" destId="{54D13F88-F754-4EB2-B4B1-3B6C49E9A4B3}" srcOrd="2" destOrd="0" presId="urn:microsoft.com/office/officeart/2011/layout/CircleProcess"/>
    <dgm:cxn modelId="{0AE519E3-2B85-45CF-A833-4CDE2E01ED8E}" type="presParOf" srcId="{04AA666C-C578-48EA-AE10-51E0CB9A2732}" destId="{D5EFAE04-927D-4043-BDD3-92D6711B0365}" srcOrd="3" destOrd="0" presId="urn:microsoft.com/office/officeart/2011/layout/CircleProcess"/>
    <dgm:cxn modelId="{F578E284-4399-4E4B-AE48-38A448CB0D98}" type="presParOf" srcId="{D5EFAE04-927D-4043-BDD3-92D6711B0365}" destId="{09794B8C-E734-4AD7-92B7-E8D5CAA1082F}" srcOrd="0" destOrd="0" presId="urn:microsoft.com/office/officeart/2011/layout/CircleProcess"/>
    <dgm:cxn modelId="{EA3AA7D0-065D-45DC-B634-2D5125B68072}" type="presParOf" srcId="{04AA666C-C578-48EA-AE10-51E0CB9A2732}" destId="{C965DDD5-E66A-4D28-90E6-CCD59667A519}" srcOrd="4" destOrd="0" presId="urn:microsoft.com/office/officeart/2011/layout/CircleProcess"/>
    <dgm:cxn modelId="{9C7301B1-B731-47F6-9760-B2BB6DC9BE05}" type="presParOf" srcId="{C965DDD5-E66A-4D28-90E6-CCD59667A519}" destId="{686F1890-877A-4652-9D3B-F479BCA8EE98}" srcOrd="0" destOrd="0" presId="urn:microsoft.com/office/officeart/2011/layout/CircleProcess"/>
    <dgm:cxn modelId="{7C1E3A3E-4EC7-45AA-9574-CA9976ECEB43}" type="presParOf" srcId="{04AA666C-C578-48EA-AE10-51E0CB9A2732}" destId="{5C88B282-A1AC-4807-90D0-6E30ED684C62}" srcOrd="5" destOrd="0" presId="urn:microsoft.com/office/officeart/2011/layout/CircleProcess"/>
    <dgm:cxn modelId="{CB5D1E4B-7944-4068-A66B-8BB3DDD9347F}" type="presParOf" srcId="{04AA666C-C578-48EA-AE10-51E0CB9A2732}" destId="{7BE6644B-3AB6-4114-8B52-3F8FEEDB9F5A}" srcOrd="6" destOrd="0" presId="urn:microsoft.com/office/officeart/2011/layout/CircleProcess"/>
    <dgm:cxn modelId="{59E063BB-CCEE-4ACF-BA71-F0CA70F0E0EE}" type="presParOf" srcId="{7BE6644B-3AB6-4114-8B52-3F8FEEDB9F5A}" destId="{33591AED-BB9F-45EE-A325-54945AB29784}" srcOrd="0" destOrd="0" presId="urn:microsoft.com/office/officeart/2011/layout/CircleProcess"/>
    <dgm:cxn modelId="{6645A348-705C-4CE5-88AA-D5581FB59214}" type="presParOf" srcId="{04AA666C-C578-48EA-AE10-51E0CB9A2732}" destId="{A3755F47-ED94-41ED-9BF8-1C883C62D6FC}" srcOrd="7" destOrd="0" presId="urn:microsoft.com/office/officeart/2011/layout/CircleProcess"/>
    <dgm:cxn modelId="{80FF2A49-6A32-4212-A077-BF3EA44C96AB}" type="presParOf" srcId="{A3755F47-ED94-41ED-9BF8-1C883C62D6FC}" destId="{EA8B68E1-77F3-4799-AC34-546ABA28C689}" srcOrd="0" destOrd="0" presId="urn:microsoft.com/office/officeart/2011/layout/CircleProcess"/>
    <dgm:cxn modelId="{A8B3FE44-D9B3-4C0F-A8B7-DFACB63E12C6}" type="presParOf" srcId="{04AA666C-C578-48EA-AE10-51E0CB9A2732}" destId="{D41CBF9C-D87B-42FA-83CA-C300FE5ECA73}" srcOrd="8"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Features</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r>
            <a:rPr lang="en-SG" b="0" dirty="0"/>
            <a:t>Load Trained Models</a:t>
          </a:r>
          <a:endParaRPr lang="en-SG" dirty="0"/>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dirty="0">
              <a:solidFill>
                <a:schemeClr val="tx1"/>
              </a:solidFill>
            </a:rPr>
            <a:t>Rank with predicted expected value</a:t>
          </a:r>
        </a:p>
        <a:p>
          <a:r>
            <a:rPr lang="en-SG" dirty="0">
              <a:solidFill>
                <a:schemeClr val="tx1"/>
              </a:solidFill>
            </a:rPr>
            <a:t>(User-Level)</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E878DF7A-3516-4BCB-AA59-99E356A46073}">
      <dgm:prSet/>
      <dgm:spPr/>
      <dgm:t>
        <a:bodyPr/>
        <a:lstStyle/>
        <a:p>
          <a:r>
            <a:rPr lang="en-SG" b="0" dirty="0"/>
            <a:t>Budget-Constrained Optimization (Top K users)</a:t>
          </a:r>
          <a:endParaRPr lang="en-SG" dirty="0"/>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Targeting Decisions</a:t>
          </a:r>
          <a:br>
            <a:rPr lang="en-SG" b="0" dirty="0"/>
          </a:br>
          <a:r>
            <a:rPr lang="en-SG" b="0" dirty="0"/>
            <a:t>(User-level)</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0497FB6-15C4-4FDC-9902-04A28841228C}" type="pres">
      <dgm:prSet presAssocID="{39EB0991-8EB9-4AFD-A2F2-F6E1F254BE25}" presName="Accent5" presStyleCnt="0"/>
      <dgm:spPr/>
    </dgm:pt>
    <dgm:pt modelId="{9CFC7CA6-F413-4EB9-BC7D-5F9345015BD0}" type="pres">
      <dgm:prSet presAssocID="{39EB0991-8EB9-4AFD-A2F2-F6E1F254BE25}" presName="Accent" presStyleLbl="node1" presStyleIdx="0" presStyleCnt="5"/>
      <dgm:spPr/>
    </dgm:pt>
    <dgm:pt modelId="{6326EA35-4BDC-4CAD-9D26-2CA3BDECEBC3}" type="pres">
      <dgm:prSet presAssocID="{39EB0991-8EB9-4AFD-A2F2-F6E1F254BE25}" presName="ParentBackground5" presStyleCnt="0"/>
      <dgm:spPr/>
    </dgm:pt>
    <dgm:pt modelId="{3819A24E-29CD-47FA-8F77-B27A7A92C7B6}" type="pres">
      <dgm:prSet presAssocID="{39EB0991-8EB9-4AFD-A2F2-F6E1F254BE25}" presName="ParentBackground" presStyleLbl="fgAcc1" presStyleIdx="0" presStyleCnt="5"/>
      <dgm:spPr/>
    </dgm:pt>
    <dgm:pt modelId="{D4723DF1-3672-4D83-B5AA-1B72537FA52A}" type="pres">
      <dgm:prSet presAssocID="{39EB0991-8EB9-4AFD-A2F2-F6E1F254BE25}" presName="Parent5" presStyleLbl="revTx" presStyleIdx="0" presStyleCnt="0">
        <dgm:presLayoutVars>
          <dgm:chMax val="1"/>
          <dgm:chPref val="1"/>
          <dgm:bulletEnabled val="1"/>
        </dgm:presLayoutVars>
      </dgm:prSet>
      <dgm:spPr/>
    </dgm:pt>
    <dgm:pt modelId="{40B2D8CB-2943-477D-B606-A48C90917FCF}" type="pres">
      <dgm:prSet presAssocID="{E878DF7A-3516-4BCB-AA59-99E356A46073}" presName="Accent4" presStyleCnt="0"/>
      <dgm:spPr/>
    </dgm:pt>
    <dgm:pt modelId="{09794B8C-E734-4AD7-92B7-E8D5CAA1082F}" type="pres">
      <dgm:prSet presAssocID="{E878DF7A-3516-4BCB-AA59-99E356A46073}" presName="Accent" presStyleLbl="node1" presStyleIdx="1" presStyleCnt="5"/>
      <dgm:spPr/>
    </dgm:pt>
    <dgm:pt modelId="{B6E3CE8A-2A67-4904-9692-C0CC1574C74B}" type="pres">
      <dgm:prSet presAssocID="{E878DF7A-3516-4BCB-AA59-99E356A46073}" presName="ParentBackground4" presStyleCnt="0"/>
      <dgm:spPr/>
    </dgm:pt>
    <dgm:pt modelId="{686F1890-877A-4652-9D3B-F479BCA8EE98}" type="pres">
      <dgm:prSet presAssocID="{E878DF7A-3516-4BCB-AA59-99E356A46073}" presName="ParentBackground" presStyleLbl="fgAcc1" presStyleIdx="1" presStyleCnt="5"/>
      <dgm:spPr/>
    </dgm:pt>
    <dgm:pt modelId="{D6A5B592-FA3D-49A8-86FF-AD731361DF05}" type="pres">
      <dgm:prSet presAssocID="{E878DF7A-3516-4BCB-AA59-99E356A46073}" presName="Parent4" presStyleLbl="revTx" presStyleIdx="0" presStyleCnt="0">
        <dgm:presLayoutVars>
          <dgm:chMax val="1"/>
          <dgm:chPref val="1"/>
          <dgm:bulletEnabled val="1"/>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2" presStyleCnt="5"/>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2" presStyleCnt="5"/>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3" presStyleCnt="5"/>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3" presStyleCnt="5"/>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4" presStyleCnt="5"/>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4" presStyleCnt="5"/>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15C2058C-EC37-4FEA-A703-C93AC5402A2C}" srcId="{A7521F9F-9853-4760-AF04-01C8BE6DE7CA}" destId="{39EB0991-8EB9-4AFD-A2F2-F6E1F254BE25}" srcOrd="4" destOrd="0" parTransId="{E6A12652-9F65-4387-B68E-183EBE605256}" sibTransId="{EF4950E5-5C98-4D2B-B111-BF6A7726FECB}"/>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74911EB3-CA94-4516-B771-EEBF0B929931}" srcId="{A7521F9F-9853-4760-AF04-01C8BE6DE7CA}" destId="{E878DF7A-3516-4BCB-AA59-99E356A46073}" srcOrd="3" destOrd="0" parTransId="{4215D128-B3CD-480F-AA0F-6DDB0B6C6E34}" sibTransId="{8EDF5DBF-CBE7-4C0D-B13F-D8077C96DF81}"/>
    <dgm:cxn modelId="{BB0D7EB4-2EF8-4201-AF4A-6C30B8A2CA3F}" srcId="{A7521F9F-9853-4760-AF04-01C8BE6DE7CA}" destId="{5D502DEF-62E0-41A6-A245-292CD4B08141}" srcOrd="1" destOrd="0" parTransId="{1C95D010-06D0-47CF-83EE-81250928ABB3}" sibTransId="{AC7E2760-2504-4C7A-83E3-CAF9F4BA1E45}"/>
    <dgm:cxn modelId="{F824BDB5-D208-4FEE-8FF7-936311CAFADE}" type="presOf" srcId="{E878DF7A-3516-4BCB-AA59-99E356A46073}" destId="{D6A5B592-FA3D-49A8-86FF-AD731361DF05}" srcOrd="1" destOrd="0" presId="urn:microsoft.com/office/officeart/2011/layout/CircleProcess"/>
    <dgm:cxn modelId="{AB5A45C0-3544-4AC4-A160-D55E9E62EDAD}"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3DDF77CB-F05B-4FDB-B65D-81F9FE32A288}" type="presOf" srcId="{39EB0991-8EB9-4AFD-A2F2-F6E1F254BE25}" destId="{D4723DF1-3672-4D83-B5AA-1B72537FA52A}" srcOrd="1" destOrd="0" presId="urn:microsoft.com/office/officeart/2011/layout/CircleProcess"/>
    <dgm:cxn modelId="{00F81EE8-B86C-4BBA-A20B-BE18535099DF}" type="presOf" srcId="{E878DF7A-3516-4BCB-AA59-99E356A46073}" destId="{686F1890-877A-4652-9D3B-F479BCA8EE98}" srcOrd="0" destOrd="0" presId="urn:microsoft.com/office/officeart/2011/layout/CircleProcess"/>
    <dgm:cxn modelId="{71FF933F-148F-485E-B8E0-0FC67277E1B3}" type="presParOf" srcId="{04AA666C-C578-48EA-AE10-51E0CB9A2732}" destId="{E0497FB6-15C4-4FDC-9902-04A28841228C}" srcOrd="0" destOrd="0" presId="urn:microsoft.com/office/officeart/2011/layout/CircleProcess"/>
    <dgm:cxn modelId="{9205F8F9-A5D3-46EC-AC74-A8DE7011B27A}" type="presParOf" srcId="{E0497FB6-15C4-4FDC-9902-04A28841228C}" destId="{9CFC7CA6-F413-4EB9-BC7D-5F9345015BD0}" srcOrd="0" destOrd="0" presId="urn:microsoft.com/office/officeart/2011/layout/CircleProcess"/>
    <dgm:cxn modelId="{A781ECA4-48BF-49D7-A35E-4173CEC01B6F}" type="presParOf" srcId="{04AA666C-C578-48EA-AE10-51E0CB9A2732}" destId="{6326EA35-4BDC-4CAD-9D26-2CA3BDECEBC3}" srcOrd="1" destOrd="0" presId="urn:microsoft.com/office/officeart/2011/layout/CircleProcess"/>
    <dgm:cxn modelId="{D9651285-2E2E-48E4-88B8-0012BA498CDE}" type="presParOf" srcId="{6326EA35-4BDC-4CAD-9D26-2CA3BDECEBC3}" destId="{3819A24E-29CD-47FA-8F77-B27A7A92C7B6}" srcOrd="0" destOrd="0" presId="urn:microsoft.com/office/officeart/2011/layout/CircleProcess"/>
    <dgm:cxn modelId="{2141F2B3-9021-4D1F-BE91-7868F5BE2609}" type="presParOf" srcId="{04AA666C-C578-48EA-AE10-51E0CB9A2732}" destId="{D4723DF1-3672-4D83-B5AA-1B72537FA52A}" srcOrd="2" destOrd="0" presId="urn:microsoft.com/office/officeart/2011/layout/CircleProcess"/>
    <dgm:cxn modelId="{E9D3A59C-C925-4C1F-BC57-080944345065}" type="presParOf" srcId="{04AA666C-C578-48EA-AE10-51E0CB9A2732}" destId="{40B2D8CB-2943-477D-B606-A48C90917FCF}" srcOrd="3" destOrd="0" presId="urn:microsoft.com/office/officeart/2011/layout/CircleProcess"/>
    <dgm:cxn modelId="{538DD099-FEFD-4E49-BDCC-898A9A003526}" type="presParOf" srcId="{40B2D8CB-2943-477D-B606-A48C90917FCF}" destId="{09794B8C-E734-4AD7-92B7-E8D5CAA1082F}" srcOrd="0" destOrd="0" presId="urn:microsoft.com/office/officeart/2011/layout/CircleProcess"/>
    <dgm:cxn modelId="{84FE941E-7105-424F-8FEE-B3708D2C0D1D}" type="presParOf" srcId="{04AA666C-C578-48EA-AE10-51E0CB9A2732}" destId="{B6E3CE8A-2A67-4904-9692-C0CC1574C74B}" srcOrd="4" destOrd="0" presId="urn:microsoft.com/office/officeart/2011/layout/CircleProcess"/>
    <dgm:cxn modelId="{221C3999-23A1-4439-A58F-BD54B839E416}" type="presParOf" srcId="{B6E3CE8A-2A67-4904-9692-C0CC1574C74B}" destId="{686F1890-877A-4652-9D3B-F479BCA8EE98}" srcOrd="0" destOrd="0" presId="urn:microsoft.com/office/officeart/2011/layout/CircleProcess"/>
    <dgm:cxn modelId="{92D0E682-C67D-42F5-949D-AE7362580FFA}" type="presParOf" srcId="{04AA666C-C578-48EA-AE10-51E0CB9A2732}" destId="{D6A5B592-FA3D-49A8-86FF-AD731361DF05}" srcOrd="5" destOrd="0" presId="urn:microsoft.com/office/officeart/2011/layout/CircleProcess"/>
    <dgm:cxn modelId="{1C702618-8514-4424-BDEF-270599E69135}" type="presParOf" srcId="{04AA666C-C578-48EA-AE10-51E0CB9A2732}" destId="{EFB0D1DF-01AE-412D-951C-CB3056E20CBE}" srcOrd="6"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7"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8" destOrd="0" presId="urn:microsoft.com/office/officeart/2011/layout/CircleProcess"/>
    <dgm:cxn modelId="{479713B9-A341-4B9F-9B1F-3B33E6D50EFC}" type="presParOf" srcId="{04AA666C-C578-48EA-AE10-51E0CB9A2732}" destId="{3CF456E5-F5FD-4528-8243-622B65B9866B}" srcOrd="9"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10"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11" destOrd="0" presId="urn:microsoft.com/office/officeart/2011/layout/CircleProcess"/>
    <dgm:cxn modelId="{64229E5B-833E-44CB-B4A5-D77C8ACF29F3}" type="presParOf" srcId="{04AA666C-C578-48EA-AE10-51E0CB9A2732}" destId="{7BE6644B-3AB6-4114-8B52-3F8FEEDB9F5A}" srcOrd="12"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13"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14"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i="0"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39EB0991-8EB9-4AFD-A2F2-F6E1F254BE25}">
      <dgm:prSet/>
      <dgm:spPr/>
      <dgm:t>
        <a:bodyPr/>
        <a:lstStyle/>
        <a:p>
          <a:r>
            <a:rPr lang="en-SG" b="0" dirty="0"/>
            <a:t>Two-Tower Model Training (Collaborative Filtering)</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CC6EAF1E-7E1F-4C33-B430-807083E89947}" type="pres">
      <dgm:prSet presAssocID="{39EB0991-8EB9-4AFD-A2F2-F6E1F254BE25}" presName="Accent2" presStyleCnt="0"/>
      <dgm:spPr/>
    </dgm:pt>
    <dgm:pt modelId="{9CFC7CA6-F413-4EB9-BC7D-5F9345015BD0}" type="pres">
      <dgm:prSet presAssocID="{39EB0991-8EB9-4AFD-A2F2-F6E1F254BE25}" presName="Accent" presStyleLbl="node1" presStyleIdx="0" presStyleCnt="2"/>
      <dgm:spPr/>
    </dgm:pt>
    <dgm:pt modelId="{539D53E9-0047-4EEA-AE61-B55550B077B8}" type="pres">
      <dgm:prSet presAssocID="{39EB0991-8EB9-4AFD-A2F2-F6E1F254BE25}" presName="ParentBackground2" presStyleCnt="0"/>
      <dgm:spPr/>
    </dgm:pt>
    <dgm:pt modelId="{3819A24E-29CD-47FA-8F77-B27A7A92C7B6}" type="pres">
      <dgm:prSet presAssocID="{39EB0991-8EB9-4AFD-A2F2-F6E1F254BE25}" presName="ParentBackground" presStyleLbl="fgAcc1" presStyleIdx="0" presStyleCnt="2"/>
      <dgm:spPr/>
    </dgm:pt>
    <dgm:pt modelId="{372BC7BB-FCD7-4421-B869-B22ABA269ECD}" type="pres">
      <dgm:prSet presAssocID="{39EB0991-8EB9-4AFD-A2F2-F6E1F254BE25}"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1" presStyleCnt="2"/>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1" presStyleCnt="2"/>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782C8628-4FB5-44B2-9AF4-F888684B236A}"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5C426659-FB7B-4F4F-94BA-0971C81FF64C}" type="presOf" srcId="{39EB0991-8EB9-4AFD-A2F2-F6E1F254BE25}" destId="{372BC7BB-FCD7-4421-B869-B22ABA269ECD}" srcOrd="1" destOrd="0" presId="urn:microsoft.com/office/officeart/2011/layout/CircleProcess"/>
    <dgm:cxn modelId="{15C2058C-EC37-4FEA-A703-C93AC5402A2C}" srcId="{A7521F9F-9853-4760-AF04-01C8BE6DE7CA}" destId="{39EB0991-8EB9-4AFD-A2F2-F6E1F254BE25}" srcOrd="1" destOrd="0" parTransId="{E6A12652-9F65-4387-B68E-183EBE605256}" sibTransId="{EF4950E5-5C98-4D2B-B111-BF6A7726FECB}"/>
    <dgm:cxn modelId="{4B811FAE-2010-4EFA-A284-2F344A710485}"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90AD75F4-1550-4115-903C-2B291FE67C48}" type="presOf" srcId="{3AEE3E50-0B70-4E20-8A23-DF2C94A810C5}" destId="{EA8B68E1-77F3-4799-AC34-546ABA28C689}" srcOrd="0" destOrd="0" presId="urn:microsoft.com/office/officeart/2011/layout/CircleProcess"/>
    <dgm:cxn modelId="{9E2286CA-F296-4D37-9675-B9A2F6A57142}" type="presParOf" srcId="{04AA666C-C578-48EA-AE10-51E0CB9A2732}" destId="{CC6EAF1E-7E1F-4C33-B430-807083E89947}" srcOrd="0" destOrd="0" presId="urn:microsoft.com/office/officeart/2011/layout/CircleProcess"/>
    <dgm:cxn modelId="{C013F972-D3A6-4434-B34E-A54FAAD1F727}" type="presParOf" srcId="{CC6EAF1E-7E1F-4C33-B430-807083E89947}" destId="{9CFC7CA6-F413-4EB9-BC7D-5F9345015BD0}" srcOrd="0" destOrd="0" presId="urn:microsoft.com/office/officeart/2011/layout/CircleProcess"/>
    <dgm:cxn modelId="{84AA7E74-F861-4166-AFF3-89E4F81AC1ED}" type="presParOf" srcId="{04AA666C-C578-48EA-AE10-51E0CB9A2732}" destId="{539D53E9-0047-4EEA-AE61-B55550B077B8}" srcOrd="1" destOrd="0" presId="urn:microsoft.com/office/officeart/2011/layout/CircleProcess"/>
    <dgm:cxn modelId="{8B8D85DC-7CA7-430F-B970-DF6E08CCDEE0}" type="presParOf" srcId="{539D53E9-0047-4EEA-AE61-B55550B077B8}" destId="{3819A24E-29CD-47FA-8F77-B27A7A92C7B6}" srcOrd="0" destOrd="0" presId="urn:microsoft.com/office/officeart/2011/layout/CircleProcess"/>
    <dgm:cxn modelId="{CECFF7B2-FA90-4588-AF8B-16DEBCDCF1CF}" type="presParOf" srcId="{04AA666C-C578-48EA-AE10-51E0CB9A2732}" destId="{372BC7BB-FCD7-4421-B869-B22ABA269ECD}" srcOrd="2" destOrd="0" presId="urn:microsoft.com/office/officeart/2011/layout/CircleProcess"/>
    <dgm:cxn modelId="{D717A9FA-05C3-4782-AA8B-AEDC5B38058A}" type="presParOf" srcId="{04AA666C-C578-48EA-AE10-51E0CB9A2732}" destId="{7BE6644B-3AB6-4114-8B52-3F8FEEDB9F5A}" srcOrd="3" destOrd="0" presId="urn:microsoft.com/office/officeart/2011/layout/CircleProcess"/>
    <dgm:cxn modelId="{3D987564-C02C-4FC2-9B81-8F64BDE21665}" type="presParOf" srcId="{7BE6644B-3AB6-4114-8B52-3F8FEEDB9F5A}" destId="{33591AED-BB9F-45EE-A325-54945AB29784}" srcOrd="0" destOrd="0" presId="urn:microsoft.com/office/officeart/2011/layout/CircleProcess"/>
    <dgm:cxn modelId="{3AA20A3F-8856-4B82-A6E1-A911CD5A1B1B}" type="presParOf" srcId="{04AA666C-C578-48EA-AE10-51E0CB9A2732}" destId="{A3755F47-ED94-41ED-9BF8-1C883C62D6FC}" srcOrd="4" destOrd="0" presId="urn:microsoft.com/office/officeart/2011/layout/CircleProcess"/>
    <dgm:cxn modelId="{F35F4821-18D5-470D-BD7D-31E2256B6711}" type="presParOf" srcId="{A3755F47-ED94-41ED-9BF8-1C883C62D6FC}" destId="{EA8B68E1-77F3-4799-AC34-546ABA28C689}" srcOrd="0" destOrd="0" presId="urn:microsoft.com/office/officeart/2011/layout/CircleProcess"/>
    <dgm:cxn modelId="{A80286B2-07C1-4CBC-B3A5-13997F3EBCD1}" type="presParOf" srcId="{04AA666C-C578-48EA-AE10-51E0CB9A2732}" destId="{D41CBF9C-D87B-42FA-83CA-C300FE5ECA73}" srcOrd="5"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Embedding</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r>
            <a:rPr lang="en-SG" b="0" dirty="0"/>
            <a:t>Dot Product Scoring</a:t>
          </a:r>
          <a:endParaRPr lang="en-SG" dirty="0"/>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b="0" dirty="0"/>
            <a:t>Top-K Retrieval</a:t>
          </a:r>
          <a:endParaRPr lang="en-SG" dirty="0"/>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0" presStyleCnt="3"/>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0" presStyleCnt="3"/>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1" presStyleCnt="3"/>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1" presStyleCnt="3"/>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BB0D7EB4-2EF8-4201-AF4A-6C30B8A2CA3F}" srcId="{A7521F9F-9853-4760-AF04-01C8BE6DE7CA}" destId="{5D502DEF-62E0-41A6-A245-292CD4B08141}" srcOrd="1" destOrd="0" parTransId="{1C95D010-06D0-47CF-83EE-81250928ABB3}" sibTransId="{AC7E2760-2504-4C7A-83E3-CAF9F4BA1E45}"/>
    <dgm:cxn modelId="{F02639C1-497E-4ECC-9980-39FDC410916F}" type="presOf" srcId="{A7521F9F-9853-4760-AF04-01C8BE6DE7CA}" destId="{04AA666C-C578-48EA-AE10-51E0CB9A2732}" srcOrd="0" destOrd="0" presId="urn:microsoft.com/office/officeart/2011/layout/CircleProcess"/>
    <dgm:cxn modelId="{1C702618-8514-4424-BDEF-270599E69135}" type="presParOf" srcId="{04AA666C-C578-48EA-AE10-51E0CB9A2732}" destId="{EFB0D1DF-01AE-412D-951C-CB3056E20CBE}" srcOrd="0"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1"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2" destOrd="0" presId="urn:microsoft.com/office/officeart/2011/layout/CircleProcess"/>
    <dgm:cxn modelId="{479713B9-A341-4B9F-9B1F-3B33E6D50EFC}" type="presParOf" srcId="{04AA666C-C578-48EA-AE10-51E0CB9A2732}" destId="{3CF456E5-F5FD-4528-8243-622B65B9866B}" srcOrd="3"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4"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5" destOrd="0" presId="urn:microsoft.com/office/officeart/2011/layout/CircleProcess"/>
    <dgm:cxn modelId="{64229E5B-833E-44CB-B4A5-D77C8ACF29F3}" type="presParOf" srcId="{04AA666C-C578-48EA-AE10-51E0CB9A2732}" destId="{7BE6644B-3AB6-4114-8B52-3F8FEEDB9F5A}" srcOrd="6"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7"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8"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84A37F-DEE6-432F-A851-EC63949E182D}">
      <dsp:nvSpPr>
        <dsp:cNvPr id="0" name=""/>
        <dsp:cNvSpPr/>
      </dsp:nvSpPr>
      <dsp:spPr>
        <a:xfrm>
          <a:off x="0" y="159361"/>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Purchase Propensity Engine</a:t>
          </a:r>
        </a:p>
        <a:p>
          <a:pPr marL="114300" lvl="1" indent="-114300" algn="l" defTabSz="533400">
            <a:lnSpc>
              <a:spcPct val="90000"/>
            </a:lnSpc>
            <a:spcBef>
              <a:spcPct val="0"/>
            </a:spcBef>
            <a:spcAft>
              <a:spcPct val="15000"/>
            </a:spcAft>
            <a:buChar char="•"/>
          </a:pPr>
          <a:r>
            <a:rPr lang="en-SG" sz="1200" kern="1200" dirty="0"/>
            <a:t>Training Pipeline (Offline): Purchase Propensity Modelling</a:t>
          </a:r>
        </a:p>
        <a:p>
          <a:pPr marL="114300" lvl="1" indent="-114300" algn="l" defTabSz="533400">
            <a:lnSpc>
              <a:spcPct val="90000"/>
            </a:lnSpc>
            <a:spcBef>
              <a:spcPct val="0"/>
            </a:spcBef>
            <a:spcAft>
              <a:spcPct val="15000"/>
            </a:spcAft>
            <a:buChar char="•"/>
          </a:pPr>
          <a:r>
            <a:rPr lang="en-SG" sz="1200" kern="1200" dirty="0"/>
            <a:t>Serving (Policy) Pipeline: Incentive Allocation (Budget-Constrained)</a:t>
          </a:r>
          <a:endParaRPr lang="en-SG" sz="1400" kern="1200" dirty="0"/>
        </a:p>
      </dsp:txBody>
      <dsp:txXfrm>
        <a:off x="52791" y="212152"/>
        <a:ext cx="2898434" cy="1696828"/>
      </dsp:txXfrm>
    </dsp:sp>
    <dsp:sp modelId="{71F89AA5-3D26-438B-9C21-64A60B7CAFE1}">
      <dsp:nvSpPr>
        <dsp:cNvPr id="0" name=""/>
        <dsp:cNvSpPr/>
      </dsp:nvSpPr>
      <dsp:spPr>
        <a:xfrm rot="21584320">
          <a:off x="3305118" y="678387"/>
          <a:ext cx="638349"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119" y="827823"/>
        <a:ext cx="446844" cy="446998"/>
      </dsp:txXfrm>
    </dsp:sp>
    <dsp:sp modelId="{74BCB0AC-6184-4BC5-9259-9B38484EB0BD}">
      <dsp:nvSpPr>
        <dsp:cNvPr id="0" name=""/>
        <dsp:cNvSpPr/>
      </dsp:nvSpPr>
      <dsp:spPr>
        <a:xfrm>
          <a:off x="4208438" y="140165"/>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Policy Evaluation</a:t>
          </a:r>
        </a:p>
        <a:p>
          <a:pPr marL="114300" lvl="1" indent="-114300" algn="l" defTabSz="533400">
            <a:lnSpc>
              <a:spcPct val="90000"/>
            </a:lnSpc>
            <a:spcBef>
              <a:spcPct val="0"/>
            </a:spcBef>
            <a:spcAft>
              <a:spcPct val="15000"/>
            </a:spcAft>
            <a:buChar char="•"/>
          </a:pPr>
          <a:r>
            <a:rPr lang="en-SG" sz="1200" kern="1200" dirty="0"/>
            <a:t>Compare Incentive Allocation Policies</a:t>
          </a:r>
        </a:p>
      </dsp:txBody>
      <dsp:txXfrm>
        <a:off x="4261229" y="192956"/>
        <a:ext cx="2898434" cy="169682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50C483-DCCC-4B9C-AE6B-988DC288188A}">
      <dsp:nvSpPr>
        <dsp:cNvPr id="0" name=""/>
        <dsp:cNvSpPr/>
      </dsp:nvSpPr>
      <dsp:spPr>
        <a:xfrm>
          <a:off x="212510" y="0"/>
          <a:ext cx="2223161" cy="2223161"/>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C934A3-7313-4156-8ED7-DDC09B6D49E2}">
      <dsp:nvSpPr>
        <dsp:cNvPr id="0" name=""/>
        <dsp:cNvSpPr/>
      </dsp:nvSpPr>
      <dsp:spPr>
        <a:xfrm>
          <a:off x="286541" y="74186"/>
          <a:ext cx="2074876" cy="2074788"/>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SG" sz="2900" kern="1200" dirty="0"/>
            <a:t>Feature Store</a:t>
          </a:r>
        </a:p>
      </dsp:txBody>
      <dsp:txXfrm>
        <a:off x="583111" y="370585"/>
        <a:ext cx="1482182" cy="1481991"/>
      </dsp:txXfrm>
    </dsp:sp>
    <dsp:sp modelId="{4A4F7823-EAE9-46C3-ABC1-34D954A204CF}">
      <dsp:nvSpPr>
        <dsp:cNvPr id="0" name=""/>
        <dsp:cNvSpPr/>
      </dsp:nvSpPr>
      <dsp:spPr>
        <a:xfrm>
          <a:off x="286541" y="2289686"/>
          <a:ext cx="2074876" cy="11932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114300" lvl="1" indent="-114300" algn="l" defTabSz="533400">
            <a:lnSpc>
              <a:spcPct val="90000"/>
            </a:lnSpc>
            <a:spcBef>
              <a:spcPct val="0"/>
            </a:spcBef>
            <a:spcAft>
              <a:spcPct val="15000"/>
            </a:spcAft>
            <a:buChar char="•"/>
          </a:pPr>
          <a:r>
            <a:rPr lang="en-SG" sz="1200" kern="1200" dirty="0"/>
            <a:t>Online Retail transaction dataset of 2 years </a:t>
          </a:r>
          <a:r>
            <a:rPr lang="en-SG" sz="1200" b="0" i="1" kern="1200"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sz="1200" b="0" i="1" kern="1200" dirty="0">
            <a:solidFill>
              <a:srgbClr val="0070C0"/>
            </a:solidFill>
          </a:endParaRPr>
        </a:p>
        <a:p>
          <a:pPr marL="114300" lvl="1" indent="-114300" algn="l" defTabSz="533400">
            <a:lnSpc>
              <a:spcPct val="90000"/>
            </a:lnSpc>
            <a:spcBef>
              <a:spcPct val="0"/>
            </a:spcBef>
            <a:spcAft>
              <a:spcPct val="15000"/>
            </a:spcAft>
            <a:buChar char="•"/>
          </a:pPr>
          <a:r>
            <a:rPr lang="en-SG" sz="1200" kern="1200" dirty="0"/>
            <a:t>Shared Feature Engineering Layer</a:t>
          </a:r>
        </a:p>
      </dsp:txBody>
      <dsp:txXfrm>
        <a:off x="286541" y="2289686"/>
        <a:ext cx="2074876" cy="119325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1E4ACC-F46F-4E3F-B3D5-13482F0C135B}">
      <dsp:nvSpPr>
        <dsp:cNvPr id="0" name=""/>
        <dsp:cNvSpPr/>
      </dsp:nvSpPr>
      <dsp:spPr>
        <a:xfrm>
          <a:off x="1408"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Retrieval &amp; Ranking Engine</a:t>
          </a:r>
        </a:p>
        <a:p>
          <a:pPr marL="114300" lvl="1" indent="-114300" algn="l" defTabSz="533400">
            <a:lnSpc>
              <a:spcPct val="90000"/>
            </a:lnSpc>
            <a:spcBef>
              <a:spcPct val="0"/>
            </a:spcBef>
            <a:spcAft>
              <a:spcPct val="15000"/>
            </a:spcAft>
            <a:buChar char="•"/>
          </a:pPr>
          <a:r>
            <a:rPr lang="en-SG" sz="1200" kern="1200" dirty="0"/>
            <a:t>Training Pipeline (Offline): Two-Tower Collaborative Filtering</a:t>
          </a:r>
        </a:p>
        <a:p>
          <a:pPr marL="114300" lvl="1" indent="-114300" algn="l" defTabSz="533400">
            <a:lnSpc>
              <a:spcPct val="90000"/>
            </a:lnSpc>
            <a:spcBef>
              <a:spcPct val="0"/>
            </a:spcBef>
            <a:spcAft>
              <a:spcPct val="15000"/>
            </a:spcAft>
            <a:buChar char="•"/>
          </a:pPr>
          <a:r>
            <a:rPr lang="en-SG" sz="1200" kern="1200" dirty="0"/>
            <a:t>Serving (Retrieval) Pipeline: User-Item Dot Product Scoring</a:t>
          </a:r>
        </a:p>
      </dsp:txBody>
      <dsp:txXfrm>
        <a:off x="54199" y="133030"/>
        <a:ext cx="2898434" cy="1696827"/>
      </dsp:txXfrm>
    </dsp:sp>
    <dsp:sp modelId="{4F230ABA-46E3-4A4E-8801-E05038A704F6}">
      <dsp:nvSpPr>
        <dsp:cNvPr id="0" name=""/>
        <dsp:cNvSpPr/>
      </dsp:nvSpPr>
      <dsp:spPr>
        <a:xfrm>
          <a:off x="3305826" y="608946"/>
          <a:ext cx="636851"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826" y="757945"/>
        <a:ext cx="445796" cy="446998"/>
      </dsp:txXfrm>
    </dsp:sp>
    <dsp:sp modelId="{298762B9-1A9A-489F-A7B0-51C707051142}">
      <dsp:nvSpPr>
        <dsp:cNvPr id="0" name=""/>
        <dsp:cNvSpPr/>
      </dsp:nvSpPr>
      <dsp:spPr>
        <a:xfrm>
          <a:off x="4207031"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Evaluation</a:t>
          </a:r>
          <a:endParaRPr lang="en-SG" sz="1400" kern="1200" dirty="0"/>
        </a:p>
        <a:p>
          <a:pPr marL="114300" lvl="1" indent="-114300" algn="l" defTabSz="533400">
            <a:lnSpc>
              <a:spcPct val="90000"/>
            </a:lnSpc>
            <a:spcBef>
              <a:spcPct val="0"/>
            </a:spcBef>
            <a:spcAft>
              <a:spcPct val="15000"/>
            </a:spcAft>
            <a:buChar char="•"/>
          </a:pPr>
          <a:r>
            <a:rPr lang="en-SG" sz="1200" kern="1200" dirty="0"/>
            <a:t>Proxy metrics for commercial engagement: Recall/NDCG/Hit Rate</a:t>
          </a:r>
        </a:p>
      </dsp:txBody>
      <dsp:txXfrm>
        <a:off x="4259822" y="133030"/>
        <a:ext cx="2898434" cy="169682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5109070" y="558212"/>
          <a:ext cx="1478691" cy="1478965"/>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5158167"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Model Evaluation</a:t>
          </a:r>
          <a:endParaRPr lang="en-SG" sz="1100" kern="1200" dirty="0"/>
        </a:p>
      </dsp:txBody>
      <dsp:txXfrm>
        <a:off x="5355518" y="804750"/>
        <a:ext cx="985794" cy="985890"/>
      </dsp:txXfrm>
    </dsp:sp>
    <dsp:sp modelId="{09794B8C-E734-4AD7-92B7-E8D5CAA1082F}">
      <dsp:nvSpPr>
        <dsp:cNvPr id="0" name=""/>
        <dsp:cNvSpPr/>
      </dsp:nvSpPr>
      <dsp:spPr>
        <a:xfrm rot="2700000">
          <a:off x="3582580"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3629897"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solidFill>
                <a:schemeClr val="tx1"/>
              </a:solidFill>
            </a:rPr>
            <a:t>Purchase Propensity Model </a:t>
          </a:r>
          <a:r>
            <a:rPr lang="en-SG" sz="1100" b="0" kern="1200" dirty="0">
              <a:solidFill>
                <a:srgbClr val="FF0000"/>
              </a:solidFill>
            </a:rPr>
            <a:t>+ Revenue Prediction Model</a:t>
          </a:r>
          <a:endParaRPr lang="en-SG" sz="1100" kern="1200" dirty="0">
            <a:solidFill>
              <a:srgbClr val="FF0000"/>
            </a:solidFill>
          </a:endParaRPr>
        </a:p>
      </dsp:txBody>
      <dsp:txXfrm>
        <a:off x="3827248" y="804750"/>
        <a:ext cx="985794" cy="985890"/>
      </dsp:txXfrm>
    </dsp:sp>
    <dsp:sp modelId="{33591AED-BB9F-45EE-A325-54945AB29784}">
      <dsp:nvSpPr>
        <dsp:cNvPr id="0" name=""/>
        <dsp:cNvSpPr/>
      </dsp:nvSpPr>
      <dsp:spPr>
        <a:xfrm rot="2700000">
          <a:off x="2054310"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2101627"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Feature Store</a:t>
          </a:r>
          <a:endParaRPr lang="en-SG" sz="1100" kern="1200" dirty="0"/>
        </a:p>
      </dsp:txBody>
      <dsp:txXfrm>
        <a:off x="2298978" y="804750"/>
        <a:ext cx="985794" cy="98589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6732991" y="651808"/>
          <a:ext cx="1535231" cy="1535482"/>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6783648"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Targeting Decisions</a:t>
          </a:r>
          <a:br>
            <a:rPr lang="en-SG" sz="1200" b="0" kern="1200" dirty="0"/>
          </a:br>
          <a:r>
            <a:rPr lang="en-SG" sz="1200" b="0" kern="1200" dirty="0"/>
            <a:t>(User-level)</a:t>
          </a:r>
          <a:endParaRPr lang="en-SG" sz="1200" kern="1200" dirty="0"/>
        </a:p>
      </dsp:txBody>
      <dsp:txXfrm>
        <a:off x="6988727" y="907767"/>
        <a:ext cx="1023759" cy="1023565"/>
      </dsp:txXfrm>
    </dsp:sp>
    <dsp:sp modelId="{09794B8C-E734-4AD7-92B7-E8D5CAA1082F}">
      <dsp:nvSpPr>
        <dsp:cNvPr id="0" name=""/>
        <dsp:cNvSpPr/>
      </dsp:nvSpPr>
      <dsp:spPr>
        <a:xfrm rot="2700000">
          <a:off x="51455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5197760"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Budget-Constrained Optimization (Top K users)</a:t>
          </a:r>
          <a:endParaRPr lang="en-SG" sz="1200" kern="1200" dirty="0"/>
        </a:p>
      </dsp:txBody>
      <dsp:txXfrm>
        <a:off x="5402022" y="907767"/>
        <a:ext cx="1023759" cy="1023565"/>
      </dsp:txXfrm>
    </dsp:sp>
    <dsp:sp modelId="{25459E76-ECB2-469A-B22F-F37E50EF6DD3}">
      <dsp:nvSpPr>
        <dsp:cNvPr id="0" name=""/>
        <dsp:cNvSpPr/>
      </dsp:nvSpPr>
      <dsp:spPr>
        <a:xfrm rot="2700000">
          <a:off x="3559669"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61105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kern="1200" dirty="0">
              <a:solidFill>
                <a:schemeClr val="tx1"/>
              </a:solidFill>
            </a:rPr>
            <a:t>Rank with predicted expected value</a:t>
          </a:r>
        </a:p>
        <a:p>
          <a:pPr marL="0" lvl="0" indent="0" algn="ctr" defTabSz="533400">
            <a:lnSpc>
              <a:spcPct val="90000"/>
            </a:lnSpc>
            <a:spcBef>
              <a:spcPct val="0"/>
            </a:spcBef>
            <a:spcAft>
              <a:spcPct val="35000"/>
            </a:spcAft>
            <a:buNone/>
          </a:pPr>
          <a:r>
            <a:rPr lang="en-SG" sz="1200" kern="1200" dirty="0">
              <a:solidFill>
                <a:schemeClr val="tx1"/>
              </a:solidFill>
            </a:rPr>
            <a:t>(User-Level)</a:t>
          </a:r>
        </a:p>
      </dsp:txBody>
      <dsp:txXfrm>
        <a:off x="3815316" y="907767"/>
        <a:ext cx="1023759" cy="1023565"/>
      </dsp:txXfrm>
    </dsp:sp>
    <dsp:sp modelId="{9B685F5E-EC48-4AED-83A8-FA1EAAD3CB5E}">
      <dsp:nvSpPr>
        <dsp:cNvPr id="0" name=""/>
        <dsp:cNvSpPr/>
      </dsp:nvSpPr>
      <dsp:spPr>
        <a:xfrm rot="2700000">
          <a:off x="1972964"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024349"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Load Trained Models</a:t>
          </a:r>
          <a:endParaRPr lang="en-SG" sz="1200" kern="1200" dirty="0"/>
        </a:p>
      </dsp:txBody>
      <dsp:txXfrm>
        <a:off x="2229428" y="907767"/>
        <a:ext cx="1023759" cy="1023565"/>
      </dsp:txXfrm>
    </dsp:sp>
    <dsp:sp modelId="{33591AED-BB9F-45EE-A325-54945AB29784}">
      <dsp:nvSpPr>
        <dsp:cNvPr id="0" name=""/>
        <dsp:cNvSpPr/>
      </dsp:nvSpPr>
      <dsp:spPr>
        <a:xfrm rot="2700000">
          <a:off x="3862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43764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User Features</a:t>
          </a:r>
          <a:endParaRPr lang="en-SG" sz="1200" kern="1200" dirty="0"/>
        </a:p>
      </dsp:txBody>
      <dsp:txXfrm>
        <a:off x="642722" y="907767"/>
        <a:ext cx="1023759" cy="10235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3077189" y="561413"/>
          <a:ext cx="1487466"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3126749"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kern="1200" dirty="0"/>
            <a:t>Two-Tower Model Training (Collaborative Filtering)</a:t>
          </a:r>
          <a:endParaRPr lang="en-SG" sz="1000" kern="1200" dirty="0"/>
        </a:p>
      </dsp:txBody>
      <dsp:txXfrm>
        <a:off x="3325320" y="809364"/>
        <a:ext cx="991533" cy="991542"/>
      </dsp:txXfrm>
    </dsp:sp>
    <dsp:sp modelId="{33591AED-BB9F-45EE-A325-54945AB29784}">
      <dsp:nvSpPr>
        <dsp:cNvPr id="0" name=""/>
        <dsp:cNvSpPr/>
      </dsp:nvSpPr>
      <dsp:spPr>
        <a:xfrm rot="2700000">
          <a:off x="1540303" y="561247"/>
          <a:ext cx="1487515" cy="1487515"/>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1590053"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i="0" kern="1200" dirty="0"/>
            <a:t>Feature Store</a:t>
          </a:r>
        </a:p>
      </dsp:txBody>
      <dsp:txXfrm>
        <a:off x="1788294" y="809364"/>
        <a:ext cx="991533" cy="99154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459E76-ECB2-469A-B22F-F37E50EF6DD3}">
      <dsp:nvSpPr>
        <dsp:cNvPr id="0" name=""/>
        <dsp:cNvSpPr/>
      </dsp:nvSpPr>
      <dsp:spPr>
        <a:xfrm>
          <a:off x="3844625" y="561413"/>
          <a:ext cx="1487169"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894003"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SG" sz="1300" b="0" kern="1200" dirty="0"/>
            <a:t>Top-K Retrieval</a:t>
          </a:r>
          <a:endParaRPr lang="en-SG" sz="1300" kern="1200" dirty="0"/>
        </a:p>
      </dsp:txBody>
      <dsp:txXfrm>
        <a:off x="4092486" y="809364"/>
        <a:ext cx="991446" cy="991542"/>
      </dsp:txXfrm>
    </dsp:sp>
    <dsp:sp modelId="{9B685F5E-EC48-4AED-83A8-FA1EAAD3CB5E}">
      <dsp:nvSpPr>
        <dsp:cNvPr id="0" name=""/>
        <dsp:cNvSpPr/>
      </dsp:nvSpPr>
      <dsp:spPr>
        <a:xfrm rot="2700000">
          <a:off x="2309383"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356971"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SG" sz="1300" b="0" kern="1200" dirty="0"/>
            <a:t>Dot Product Scoring</a:t>
          </a:r>
          <a:endParaRPr lang="en-SG" sz="1300" kern="1200" dirty="0"/>
        </a:p>
      </dsp:txBody>
      <dsp:txXfrm>
        <a:off x="2555454" y="809364"/>
        <a:ext cx="991446" cy="991542"/>
      </dsp:txXfrm>
    </dsp:sp>
    <dsp:sp modelId="{33591AED-BB9F-45EE-A325-54945AB29784}">
      <dsp:nvSpPr>
        <dsp:cNvPr id="0" name=""/>
        <dsp:cNvSpPr/>
      </dsp:nvSpPr>
      <dsp:spPr>
        <a:xfrm rot="2700000">
          <a:off x="772351"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819939"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SG" sz="1300" b="0" kern="1200" dirty="0"/>
            <a:t>User Embedding</a:t>
          </a:r>
          <a:endParaRPr lang="en-SG" sz="1300" kern="1200" dirty="0"/>
        </a:p>
      </dsp:txBody>
      <dsp:txXfrm>
        <a:off x="1018422" y="809364"/>
        <a:ext cx="991446" cy="991542"/>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5.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6.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343101-6731-49EA-9558-F09A055B6CC7}" type="datetimeFigureOut">
              <a:rPr lang="en-SG" smtClean="0"/>
              <a:t>25/2/2026</a:t>
            </a:fld>
            <a:endParaRPr lang="en-SG"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494BD5-7EB2-4B74-916E-2CB6F821BA1D}" type="slidenum">
              <a:rPr lang="en-SG" smtClean="0"/>
              <a:t>‹#›</a:t>
            </a:fld>
            <a:endParaRPr lang="en-SG" dirty="0"/>
          </a:p>
        </p:txBody>
      </p:sp>
    </p:spTree>
    <p:extLst>
      <p:ext uri="{BB962C8B-B14F-4D97-AF65-F5344CB8AC3E}">
        <p14:creationId xmlns:p14="http://schemas.microsoft.com/office/powerpoint/2010/main" val="21702283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3</a:t>
            </a:fld>
            <a:endParaRPr lang="en-SG" dirty="0"/>
          </a:p>
        </p:txBody>
      </p:sp>
    </p:spTree>
    <p:extLst>
      <p:ext uri="{BB962C8B-B14F-4D97-AF65-F5344CB8AC3E}">
        <p14:creationId xmlns:p14="http://schemas.microsoft.com/office/powerpoint/2010/main" val="42145351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3E5FA-9397-754F-D4A5-91DBC5CC7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791AE-14B4-3040-FA81-23DC32C1EA09}"/>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18D827A-14B1-0E47-9A25-08AA012EAC67}"/>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E20125E-9A80-4B28-7662-A7ABEAC5FD48}"/>
              </a:ext>
            </a:extLst>
          </p:cNvPr>
          <p:cNvSpPr>
            <a:spLocks noGrp="1"/>
          </p:cNvSpPr>
          <p:nvPr>
            <p:ph type="sldNum" sz="quarter" idx="5"/>
          </p:nvPr>
        </p:nvSpPr>
        <p:spPr/>
        <p:txBody>
          <a:bodyPr/>
          <a:lstStyle/>
          <a:p>
            <a:fld id="{40494BD5-7EB2-4B74-916E-2CB6F821BA1D}" type="slidenum">
              <a:rPr lang="en-SG" smtClean="0"/>
              <a:t>4</a:t>
            </a:fld>
            <a:endParaRPr lang="en-SG" dirty="0"/>
          </a:p>
        </p:txBody>
      </p:sp>
    </p:spTree>
    <p:extLst>
      <p:ext uri="{BB962C8B-B14F-4D97-AF65-F5344CB8AC3E}">
        <p14:creationId xmlns:p14="http://schemas.microsoft.com/office/powerpoint/2010/main" val="33283409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4529540"/>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71439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960231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2/25/2026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160928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2/25/2026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1"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21041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2/25/2026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3"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53708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2/25/2026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951985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2/25/2026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15177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2/25/2026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140353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2/25/2026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144448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2/25/2026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674355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2/25/2026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474808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2/25/2026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91473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2/25/2026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3622270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2/25/2026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429313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52629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887589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SG" dirty="0"/>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SG" dirty="0"/>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SG" dirty="0"/>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SG" dirty="0"/>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SG" dirty="0"/>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SG" dirty="0"/>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SG" dirty="0"/>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SG" dirty="0"/>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SG" dirty="0"/>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SG" dirty="0"/>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SG" dirty="0"/>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SG" dirty="0"/>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SG" dirty="0"/>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SG" dirty="0"/>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SG" dirty="0"/>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SG" dirty="0"/>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SG" dirty="0"/>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SG" dirty="0"/>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SG" dirty="0"/>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SG" dirty="0"/>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SG" dirty="0"/>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SG" dirty="0"/>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SG" dirty="0"/>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SG" dirty="0"/>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dirty="0"/>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2/25/2026</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00504642"/>
      </p:ext>
    </p:extLst>
  </p:cSld>
  <p:clrMap bg1="lt1" tx1="dk1" bg2="lt2" tx2="dk2" accent1="accent1" accent2="accent2" accent3="accent3" accent4="accent4" accent5="accent5" accent6="accent6" hlink="hlink" folHlink="folHlink"/>
  <p:sldLayoutIdLst>
    <p:sldLayoutId id="2147483784" r:id="rId1"/>
    <p:sldLayoutId id="2147483785" r:id="rId2"/>
    <p:sldLayoutId id="2147483786" r:id="rId3"/>
    <p:sldLayoutId id="2147483787" r:id="rId4"/>
    <p:sldLayoutId id="2147483788" r:id="rId5"/>
    <p:sldLayoutId id="2147483789" r:id="rId6"/>
    <p:sldLayoutId id="2147483790" r:id="rId7"/>
    <p:sldLayoutId id="2147483791" r:id="rId8"/>
    <p:sldLayoutId id="2147483792" r:id="rId9"/>
    <p:sldLayoutId id="2147483793" r:id="rId10"/>
    <p:sldLayoutId id="2147483794" r:id="rId11"/>
    <p:sldLayoutId id="2147483795" r:id="rId12"/>
    <p:sldLayoutId id="2147483796" r:id="rId13"/>
    <p:sldLayoutId id="2147483797" r:id="rId14"/>
    <p:sldLayoutId id="2147483798" r:id="rId15"/>
    <p:sldLayoutId id="2147483799"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diagramLayout" Target="../diagrams/layout2.xml"/><Relationship Id="rId13" Type="http://schemas.openxmlformats.org/officeDocument/2006/relationships/diagramLayout" Target="../diagrams/layout3.xml"/><Relationship Id="rId3" Type="http://schemas.openxmlformats.org/officeDocument/2006/relationships/diagramLayout" Target="../diagrams/layout1.xml"/><Relationship Id="rId7" Type="http://schemas.openxmlformats.org/officeDocument/2006/relationships/diagramData" Target="../diagrams/data2.xml"/><Relationship Id="rId12" Type="http://schemas.openxmlformats.org/officeDocument/2006/relationships/diagramData" Target="../diagrams/data3.xml"/><Relationship Id="rId2" Type="http://schemas.openxmlformats.org/officeDocument/2006/relationships/diagramData" Target="../diagrams/data1.xml"/><Relationship Id="rId16" Type="http://schemas.microsoft.com/office/2007/relationships/diagramDrawing" Target="../diagrams/drawing3.xml"/><Relationship Id="rId1" Type="http://schemas.openxmlformats.org/officeDocument/2006/relationships/slideLayout" Target="../slideLayouts/slideLayout2.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5" Type="http://schemas.openxmlformats.org/officeDocument/2006/relationships/diagramColors" Target="../diagrams/colors3.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 Id="rId14" Type="http://schemas.openxmlformats.org/officeDocument/2006/relationships/diagramQuickStyle" Target="../diagrams/quickStyle3.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5.xml"/><Relationship Id="rId3" Type="http://schemas.openxmlformats.org/officeDocument/2006/relationships/diagramData" Target="../diagrams/data4.xml"/><Relationship Id="rId7" Type="http://schemas.microsoft.com/office/2007/relationships/diagramDrawing" Target="../diagrams/drawing4.xml"/><Relationship Id="rId12" Type="http://schemas.microsoft.com/office/2007/relationships/diagramDrawing" Target="../diagrams/drawing5.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4.xml"/><Relationship Id="rId11" Type="http://schemas.openxmlformats.org/officeDocument/2006/relationships/diagramColors" Target="../diagrams/colors5.xml"/><Relationship Id="rId5" Type="http://schemas.openxmlformats.org/officeDocument/2006/relationships/diagramQuickStyle" Target="../diagrams/quickStyle4.xml"/><Relationship Id="rId10" Type="http://schemas.openxmlformats.org/officeDocument/2006/relationships/diagramQuickStyle" Target="../diagrams/quickStyle5.xml"/><Relationship Id="rId4" Type="http://schemas.openxmlformats.org/officeDocument/2006/relationships/diagramLayout" Target="../diagrams/layout4.xml"/><Relationship Id="rId9" Type="http://schemas.openxmlformats.org/officeDocument/2006/relationships/diagramLayout" Target="../diagrams/layout5.xml"/></Relationships>
</file>

<file path=ppt/slides/_rels/slide4.xml.rels><?xml version="1.0" encoding="UTF-8" standalone="yes"?>
<Relationships xmlns="http://schemas.openxmlformats.org/package/2006/relationships"><Relationship Id="rId8" Type="http://schemas.openxmlformats.org/officeDocument/2006/relationships/diagramData" Target="../diagrams/data7.xml"/><Relationship Id="rId3" Type="http://schemas.openxmlformats.org/officeDocument/2006/relationships/diagramData" Target="../diagrams/data6.xml"/><Relationship Id="rId7" Type="http://schemas.microsoft.com/office/2007/relationships/diagramDrawing" Target="../diagrams/drawing6.xml"/><Relationship Id="rId12" Type="http://schemas.microsoft.com/office/2007/relationships/diagramDrawing" Target="../diagrams/drawing7.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6.xml"/><Relationship Id="rId11" Type="http://schemas.openxmlformats.org/officeDocument/2006/relationships/diagramColors" Target="../diagrams/colors7.xml"/><Relationship Id="rId5" Type="http://schemas.openxmlformats.org/officeDocument/2006/relationships/diagramQuickStyle" Target="../diagrams/quickStyle6.xml"/><Relationship Id="rId10" Type="http://schemas.openxmlformats.org/officeDocument/2006/relationships/diagramQuickStyle" Target="../diagrams/quickStyle7.xml"/><Relationship Id="rId4" Type="http://schemas.openxmlformats.org/officeDocument/2006/relationships/diagramLayout" Target="../diagrams/layout6.xml"/><Relationship Id="rId9" Type="http://schemas.openxmlformats.org/officeDocument/2006/relationships/diagramLayout" Target="../diagrams/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A2E8F-8845-67A8-74ED-D98C2505416F}"/>
              </a:ext>
            </a:extLst>
          </p:cNvPr>
          <p:cNvSpPr>
            <a:spLocks noGrp="1"/>
          </p:cNvSpPr>
          <p:nvPr>
            <p:ph type="ctrTitle"/>
          </p:nvPr>
        </p:nvSpPr>
        <p:spPr/>
        <p:txBody>
          <a:bodyPr/>
          <a:lstStyle/>
          <a:p>
            <a:r>
              <a:rPr lang="en-SG" dirty="0"/>
              <a:t>Architecture</a:t>
            </a:r>
          </a:p>
        </p:txBody>
      </p:sp>
      <p:sp>
        <p:nvSpPr>
          <p:cNvPr id="3" name="Subtitle 2">
            <a:extLst>
              <a:ext uri="{FF2B5EF4-FFF2-40B4-BE49-F238E27FC236}">
                <a16:creationId xmlns:a16="http://schemas.microsoft.com/office/drawing/2014/main" id="{FCE74564-2FB7-C283-8E42-88B8940B87D2}"/>
              </a:ext>
            </a:extLst>
          </p:cNvPr>
          <p:cNvSpPr>
            <a:spLocks noGrp="1"/>
          </p:cNvSpPr>
          <p:nvPr>
            <p:ph type="subTitle" idx="1"/>
          </p:nvPr>
        </p:nvSpPr>
        <p:spPr/>
        <p:txBody>
          <a:bodyPr/>
          <a:lstStyle/>
          <a:p>
            <a:r>
              <a:rPr lang="en-SG" dirty="0"/>
              <a:t>Market growth levers with ML</a:t>
            </a:r>
          </a:p>
        </p:txBody>
      </p:sp>
    </p:spTree>
    <p:extLst>
      <p:ext uri="{BB962C8B-B14F-4D97-AF65-F5344CB8AC3E}">
        <p14:creationId xmlns:p14="http://schemas.microsoft.com/office/powerpoint/2010/main" val="15566938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1D5F8-24A7-E001-A198-842863CA806D}"/>
              </a:ext>
            </a:extLst>
          </p:cNvPr>
          <p:cNvSpPr>
            <a:spLocks noGrp="1"/>
          </p:cNvSpPr>
          <p:nvPr>
            <p:ph type="title"/>
          </p:nvPr>
        </p:nvSpPr>
        <p:spPr>
          <a:xfrm>
            <a:off x="1693765" y="624110"/>
            <a:ext cx="8911687" cy="1280890"/>
          </a:xfrm>
        </p:spPr>
        <p:txBody>
          <a:bodyPr/>
          <a:lstStyle/>
          <a:p>
            <a:r>
              <a:rPr lang="en-SG" dirty="0"/>
              <a:t>Overall Platform Architecture</a:t>
            </a:r>
          </a:p>
        </p:txBody>
      </p:sp>
      <p:graphicFrame>
        <p:nvGraphicFramePr>
          <p:cNvPr id="4" name="Content Placeholder 3">
            <a:extLst>
              <a:ext uri="{FF2B5EF4-FFF2-40B4-BE49-F238E27FC236}">
                <a16:creationId xmlns:a16="http://schemas.microsoft.com/office/drawing/2014/main" id="{E391E606-83B6-06E5-92A2-B33A89A06276}"/>
              </a:ext>
            </a:extLst>
          </p:cNvPr>
          <p:cNvGraphicFramePr>
            <a:graphicFrameLocks noGrp="1"/>
          </p:cNvGraphicFramePr>
          <p:nvPr>
            <p:ph idx="1"/>
            <p:extLst>
              <p:ext uri="{D42A27DB-BD31-4B8C-83A1-F6EECF244321}">
                <p14:modId xmlns:p14="http://schemas.microsoft.com/office/powerpoint/2010/main" val="4088074885"/>
              </p:ext>
            </p:extLst>
          </p:nvPr>
        </p:nvGraphicFramePr>
        <p:xfrm>
          <a:off x="4695290" y="1915380"/>
          <a:ext cx="7212458" cy="215689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pSp>
        <p:nvGrpSpPr>
          <p:cNvPr id="6" name="Group 5">
            <a:extLst>
              <a:ext uri="{FF2B5EF4-FFF2-40B4-BE49-F238E27FC236}">
                <a16:creationId xmlns:a16="http://schemas.microsoft.com/office/drawing/2014/main" id="{09D6350A-C62D-9AD3-AACC-8FDA0836965F}"/>
              </a:ext>
            </a:extLst>
          </p:cNvPr>
          <p:cNvGrpSpPr/>
          <p:nvPr/>
        </p:nvGrpSpPr>
        <p:grpSpPr>
          <a:xfrm>
            <a:off x="4695290" y="1406605"/>
            <a:ext cx="3129512" cy="634127"/>
            <a:chOff x="4483736" y="2868420"/>
            <a:chExt cx="1769634" cy="1875749"/>
          </a:xfrm>
        </p:grpSpPr>
        <p:sp>
          <p:nvSpPr>
            <p:cNvPr id="7" name="Rectangle 6">
              <a:extLst>
                <a:ext uri="{FF2B5EF4-FFF2-40B4-BE49-F238E27FC236}">
                  <a16:creationId xmlns:a16="http://schemas.microsoft.com/office/drawing/2014/main" id="{4D4AB476-23F7-4BE1-C534-44A66B4F499D}"/>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8" name="TextBox 7">
              <a:extLst>
                <a:ext uri="{FF2B5EF4-FFF2-40B4-BE49-F238E27FC236}">
                  <a16:creationId xmlns:a16="http://schemas.microsoft.com/office/drawing/2014/main" id="{2359E013-CBC5-6C77-893E-C45B462719CF}"/>
                </a:ext>
              </a:extLst>
            </p:cNvPr>
            <p:cNvSpPr txBox="1"/>
            <p:nvPr/>
          </p:nvSpPr>
          <p:spPr>
            <a:xfrm>
              <a:off x="4483736" y="2868420"/>
              <a:ext cx="1769634" cy="187574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Growth Decisioning</a:t>
              </a:r>
              <a:br>
                <a:rPr lang="en-SG" sz="1400" b="1" i="1" kern="1200" dirty="0"/>
              </a:br>
              <a:r>
                <a:rPr lang="en-SG" sz="1400" b="1" i="1" kern="1200" dirty="0"/>
                <a:t>(who to treat, how likely to buy and expected value)</a:t>
              </a:r>
            </a:p>
          </p:txBody>
        </p:sp>
      </p:grpSp>
      <p:grpSp>
        <p:nvGrpSpPr>
          <p:cNvPr id="9" name="Group 8">
            <a:extLst>
              <a:ext uri="{FF2B5EF4-FFF2-40B4-BE49-F238E27FC236}">
                <a16:creationId xmlns:a16="http://schemas.microsoft.com/office/drawing/2014/main" id="{AE30B082-03A0-E250-AAB0-C1F1CC079F8F}"/>
              </a:ext>
            </a:extLst>
          </p:cNvPr>
          <p:cNvGrpSpPr/>
          <p:nvPr/>
        </p:nvGrpSpPr>
        <p:grpSpPr>
          <a:xfrm>
            <a:off x="4695290" y="4082653"/>
            <a:ext cx="3125285" cy="458000"/>
            <a:chOff x="4483736" y="2868423"/>
            <a:chExt cx="1769634" cy="1039355"/>
          </a:xfrm>
        </p:grpSpPr>
        <p:sp>
          <p:nvSpPr>
            <p:cNvPr id="10" name="Rectangle 9">
              <a:extLst>
                <a:ext uri="{FF2B5EF4-FFF2-40B4-BE49-F238E27FC236}">
                  <a16:creationId xmlns:a16="http://schemas.microsoft.com/office/drawing/2014/main" id="{D67DD455-BF20-0754-4FB8-B8F377195B5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1" name="TextBox 10">
              <a:extLst>
                <a:ext uri="{FF2B5EF4-FFF2-40B4-BE49-F238E27FC236}">
                  <a16:creationId xmlns:a16="http://schemas.microsoft.com/office/drawing/2014/main" id="{70D13476-07DF-94B4-E941-088E7E7A769A}"/>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Content/Product Selection</a:t>
              </a:r>
              <a:br>
                <a:rPr lang="en-SG" sz="1400" b="1" i="1" kern="1200" dirty="0"/>
              </a:br>
              <a:r>
                <a:rPr lang="en-SG" sz="1400" b="1" i="1" kern="1200" dirty="0"/>
                <a:t>(what to show to end users)</a:t>
              </a:r>
            </a:p>
          </p:txBody>
        </p:sp>
      </p:grpSp>
      <p:graphicFrame>
        <p:nvGraphicFramePr>
          <p:cNvPr id="12" name="Content Placeholder 3">
            <a:extLst>
              <a:ext uri="{FF2B5EF4-FFF2-40B4-BE49-F238E27FC236}">
                <a16:creationId xmlns:a16="http://schemas.microsoft.com/office/drawing/2014/main" id="{5C59B2FF-27B9-AA73-CF27-200A48AEE7D9}"/>
              </a:ext>
            </a:extLst>
          </p:cNvPr>
          <p:cNvGraphicFramePr>
            <a:graphicFrameLocks/>
          </p:cNvGraphicFramePr>
          <p:nvPr>
            <p:extLst>
              <p:ext uri="{D42A27DB-BD31-4B8C-83A1-F6EECF244321}">
                <p14:modId xmlns:p14="http://schemas.microsoft.com/office/powerpoint/2010/main" val="4181580627"/>
              </p:ext>
            </p:extLst>
          </p:nvPr>
        </p:nvGraphicFramePr>
        <p:xfrm>
          <a:off x="998593" y="2176465"/>
          <a:ext cx="2648182" cy="3482942"/>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13" name="Content Placeholder 3">
            <a:extLst>
              <a:ext uri="{FF2B5EF4-FFF2-40B4-BE49-F238E27FC236}">
                <a16:creationId xmlns:a16="http://schemas.microsoft.com/office/drawing/2014/main" id="{DD87D2D7-9DB1-4761-3C21-0B2656A8DAF7}"/>
              </a:ext>
            </a:extLst>
          </p:cNvPr>
          <p:cNvGraphicFramePr>
            <a:graphicFrameLocks/>
          </p:cNvGraphicFramePr>
          <p:nvPr>
            <p:extLst>
              <p:ext uri="{D42A27DB-BD31-4B8C-83A1-F6EECF244321}">
                <p14:modId xmlns:p14="http://schemas.microsoft.com/office/powerpoint/2010/main" val="1821791951"/>
              </p:ext>
            </p:extLst>
          </p:nvPr>
        </p:nvGraphicFramePr>
        <p:xfrm>
          <a:off x="4695290" y="4540653"/>
          <a:ext cx="7212457" cy="1962889"/>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grpSp>
        <p:nvGrpSpPr>
          <p:cNvPr id="18" name="Group 17">
            <a:extLst>
              <a:ext uri="{FF2B5EF4-FFF2-40B4-BE49-F238E27FC236}">
                <a16:creationId xmlns:a16="http://schemas.microsoft.com/office/drawing/2014/main" id="{B951E650-B942-3158-9896-A3F7D1EB2E8F}"/>
              </a:ext>
            </a:extLst>
          </p:cNvPr>
          <p:cNvGrpSpPr/>
          <p:nvPr/>
        </p:nvGrpSpPr>
        <p:grpSpPr>
          <a:xfrm>
            <a:off x="3724830" y="3571686"/>
            <a:ext cx="621139" cy="739967"/>
            <a:chOff x="1478545" y="850322"/>
            <a:chExt cx="284531" cy="332847"/>
          </a:xfrm>
        </p:grpSpPr>
        <p:sp>
          <p:nvSpPr>
            <p:cNvPr id="19" name="Arrow: Right 18">
              <a:extLst>
                <a:ext uri="{FF2B5EF4-FFF2-40B4-BE49-F238E27FC236}">
                  <a16:creationId xmlns:a16="http://schemas.microsoft.com/office/drawing/2014/main" id="{AE8E649E-37A5-B2DB-C49C-0C76D7E4BFB7}"/>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0" name="Arrow: Right 4">
              <a:extLst>
                <a:ext uri="{FF2B5EF4-FFF2-40B4-BE49-F238E27FC236}">
                  <a16:creationId xmlns:a16="http://schemas.microsoft.com/office/drawing/2014/main" id="{B3EE6376-0C1D-C523-59A9-3ADB3CF31B87}"/>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33" name="TextBox 32">
            <a:extLst>
              <a:ext uri="{FF2B5EF4-FFF2-40B4-BE49-F238E27FC236}">
                <a16:creationId xmlns:a16="http://schemas.microsoft.com/office/drawing/2014/main" id="{401C60E0-E94D-7DB9-CE8A-B15A952EF65A}"/>
              </a:ext>
            </a:extLst>
          </p:cNvPr>
          <p:cNvSpPr txBox="1"/>
          <p:nvPr/>
        </p:nvSpPr>
        <p:spPr>
          <a:xfrm>
            <a:off x="3466687" y="2956746"/>
            <a:ext cx="1489228" cy="646331"/>
          </a:xfrm>
          <a:prstGeom prst="rect">
            <a:avLst/>
          </a:prstGeom>
          <a:noFill/>
        </p:spPr>
        <p:txBody>
          <a:bodyPr wrap="square">
            <a:spAutoFit/>
          </a:bodyPr>
          <a:lstStyle/>
          <a:p>
            <a:pPr lvl="0">
              <a:buNone/>
            </a:pPr>
            <a:r>
              <a:rPr lang="en-SG" sz="1200" b="0" i="1" dirty="0"/>
              <a:t>ML Engines operate independently</a:t>
            </a:r>
            <a:endParaRPr lang="en-SG" sz="1200" i="1" dirty="0"/>
          </a:p>
        </p:txBody>
      </p:sp>
    </p:spTree>
    <p:extLst>
      <p:ext uri="{BB962C8B-B14F-4D97-AF65-F5344CB8AC3E}">
        <p14:creationId xmlns:p14="http://schemas.microsoft.com/office/powerpoint/2010/main" val="28551013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6B4F7-707F-24A9-1D43-3BE9FDA4E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2C1F1-BAF9-51B4-1047-A992A6F229C4}"/>
              </a:ext>
            </a:extLst>
          </p:cNvPr>
          <p:cNvSpPr>
            <a:spLocks noGrp="1"/>
          </p:cNvSpPr>
          <p:nvPr>
            <p:ph type="title"/>
          </p:nvPr>
        </p:nvSpPr>
        <p:spPr>
          <a:xfrm>
            <a:off x="1625438" y="624110"/>
            <a:ext cx="8911687" cy="1280890"/>
          </a:xfrm>
        </p:spPr>
        <p:txBody>
          <a:bodyPr/>
          <a:lstStyle/>
          <a:p>
            <a:r>
              <a:rPr lang="en-SG" dirty="0"/>
              <a:t>Purchase Propensity Engine Flow</a:t>
            </a:r>
          </a:p>
        </p:txBody>
      </p:sp>
      <p:graphicFrame>
        <p:nvGraphicFramePr>
          <p:cNvPr id="4" name="Content Placeholder 3">
            <a:extLst>
              <a:ext uri="{FF2B5EF4-FFF2-40B4-BE49-F238E27FC236}">
                <a16:creationId xmlns:a16="http://schemas.microsoft.com/office/drawing/2014/main" id="{24713D13-677B-884E-3CF7-A0DC0CBF0D2C}"/>
              </a:ext>
            </a:extLst>
          </p:cNvPr>
          <p:cNvGraphicFramePr>
            <a:graphicFrameLocks noGrp="1"/>
          </p:cNvGraphicFramePr>
          <p:nvPr>
            <p:ph idx="1"/>
            <p:extLst>
              <p:ext uri="{D42A27DB-BD31-4B8C-83A1-F6EECF244321}">
                <p14:modId xmlns:p14="http://schemas.microsoft.com/office/powerpoint/2010/main" val="2295906282"/>
              </p:ext>
            </p:extLst>
          </p:nvPr>
        </p:nvGraphicFramePr>
        <p:xfrm>
          <a:off x="591680" y="1324120"/>
          <a:ext cx="8336563" cy="25951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46850E08-40F6-E483-A454-14C0C6F05EAF}"/>
              </a:ext>
            </a:extLst>
          </p:cNvPr>
          <p:cNvGrpSpPr/>
          <p:nvPr/>
        </p:nvGrpSpPr>
        <p:grpSpPr>
          <a:xfrm>
            <a:off x="620756" y="1324120"/>
            <a:ext cx="8138246" cy="393400"/>
            <a:chOff x="3694268" y="2868423"/>
            <a:chExt cx="2559102" cy="1039355"/>
          </a:xfrm>
        </p:grpSpPr>
        <p:sp>
          <p:nvSpPr>
            <p:cNvPr id="19" name="Rectangle 18">
              <a:extLst>
                <a:ext uri="{FF2B5EF4-FFF2-40B4-BE49-F238E27FC236}">
                  <a16:creationId xmlns:a16="http://schemas.microsoft.com/office/drawing/2014/main" id="{6FFF0076-758B-EDEB-8A33-3C84C5BACE2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5DA7D1F0-8685-68AE-D3E5-8468CE71D384}"/>
                </a:ext>
              </a:extLst>
            </p:cNvPr>
            <p:cNvSpPr txBox="1"/>
            <p:nvPr/>
          </p:nvSpPr>
          <p:spPr>
            <a:xfrm>
              <a:off x="3694268"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Purchase Propensity Modelling</a:t>
              </a:r>
            </a:p>
            <a:p>
              <a:pPr marL="0" lvl="1" defTabSz="444500">
                <a:lnSpc>
                  <a:spcPct val="90000"/>
                </a:lnSpc>
                <a:spcBef>
                  <a:spcPct val="0"/>
                </a:spcBef>
                <a:spcAft>
                  <a:spcPct val="15000"/>
                </a:spcAft>
              </a:pPr>
              <a:endParaRPr lang="en-SG" sz="1400" b="1" i="1" dirty="0"/>
            </a:p>
            <a:p>
              <a:pPr marL="0" lvl="1" algn="l" defTabSz="444500">
                <a:lnSpc>
                  <a:spcPct val="90000"/>
                </a:lnSpc>
                <a:spcBef>
                  <a:spcPct val="0"/>
                </a:spcBef>
                <a:spcAft>
                  <a:spcPct val="15000"/>
                </a:spcAft>
              </a:pPr>
              <a:endParaRPr lang="en-SG" sz="1400" b="1" i="1" kern="1200" dirty="0"/>
            </a:p>
          </p:txBody>
        </p:sp>
      </p:grpSp>
      <p:graphicFrame>
        <p:nvGraphicFramePr>
          <p:cNvPr id="42" name="Content Placeholder 3">
            <a:extLst>
              <a:ext uri="{FF2B5EF4-FFF2-40B4-BE49-F238E27FC236}">
                <a16:creationId xmlns:a16="http://schemas.microsoft.com/office/drawing/2014/main" id="{2A7C2445-1A70-4F63-70A0-E6815BC8026E}"/>
              </a:ext>
            </a:extLst>
          </p:cNvPr>
          <p:cNvGraphicFramePr>
            <a:graphicFrameLocks/>
          </p:cNvGraphicFramePr>
          <p:nvPr>
            <p:extLst>
              <p:ext uri="{D42A27DB-BD31-4B8C-83A1-F6EECF244321}">
                <p14:modId xmlns:p14="http://schemas.microsoft.com/office/powerpoint/2010/main" val="927617525"/>
              </p:ext>
            </p:extLst>
          </p:nvPr>
        </p:nvGraphicFramePr>
        <p:xfrm>
          <a:off x="591681" y="3981101"/>
          <a:ext cx="8336562" cy="283883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86C56604-E1B4-8384-8EF1-38FAABB1C783}"/>
              </a:ext>
            </a:extLst>
          </p:cNvPr>
          <p:cNvGrpSpPr/>
          <p:nvPr/>
        </p:nvGrpSpPr>
        <p:grpSpPr>
          <a:xfrm>
            <a:off x="591680" y="4037196"/>
            <a:ext cx="6037720" cy="393400"/>
            <a:chOff x="4483735" y="2868423"/>
            <a:chExt cx="4477884" cy="1039355"/>
          </a:xfrm>
        </p:grpSpPr>
        <p:sp>
          <p:nvSpPr>
            <p:cNvPr id="44" name="Rectangle 43">
              <a:extLst>
                <a:ext uri="{FF2B5EF4-FFF2-40B4-BE49-F238E27FC236}">
                  <a16:creationId xmlns:a16="http://schemas.microsoft.com/office/drawing/2014/main" id="{82AE1D10-8D32-CDE4-3560-00039426C04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E05085A2-C6D9-4D42-6251-871EE931BB45}"/>
                </a:ext>
              </a:extLst>
            </p:cNvPr>
            <p:cNvSpPr txBox="1"/>
            <p:nvPr/>
          </p:nvSpPr>
          <p:spPr>
            <a:xfrm>
              <a:off x="4483735" y="2868423"/>
              <a:ext cx="447788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(Policy) Pipeline: </a:t>
              </a:r>
              <a:r>
                <a:rPr lang="en-SG" sz="1400" b="1" i="1" dirty="0"/>
                <a:t>Incentive Allocation (Budget-Constrained)</a:t>
              </a:r>
            </a:p>
          </p:txBody>
        </p:sp>
      </p:grpSp>
      <p:grpSp>
        <p:nvGrpSpPr>
          <p:cNvPr id="46" name="Group 45">
            <a:extLst>
              <a:ext uri="{FF2B5EF4-FFF2-40B4-BE49-F238E27FC236}">
                <a16:creationId xmlns:a16="http://schemas.microsoft.com/office/drawing/2014/main" id="{6808C675-6AEE-0335-298D-9A253F564DD3}"/>
              </a:ext>
            </a:extLst>
          </p:cNvPr>
          <p:cNvGrpSpPr/>
          <p:nvPr/>
        </p:nvGrpSpPr>
        <p:grpSpPr>
          <a:xfrm>
            <a:off x="9399069" y="4864904"/>
            <a:ext cx="2276112" cy="254644"/>
            <a:chOff x="4483736" y="2868423"/>
            <a:chExt cx="1769634" cy="1039355"/>
          </a:xfrm>
        </p:grpSpPr>
        <p:sp>
          <p:nvSpPr>
            <p:cNvPr id="47" name="Rectangle 46">
              <a:extLst>
                <a:ext uri="{FF2B5EF4-FFF2-40B4-BE49-F238E27FC236}">
                  <a16:creationId xmlns:a16="http://schemas.microsoft.com/office/drawing/2014/main" id="{A7317167-50AA-4B64-FDF3-DA077D241F3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8" name="TextBox 47">
              <a:extLst>
                <a:ext uri="{FF2B5EF4-FFF2-40B4-BE49-F238E27FC236}">
                  <a16:creationId xmlns:a16="http://schemas.microsoft.com/office/drawing/2014/main" id="{9B9DEA4C-5696-59DA-AC50-D1BACD56DF3C}"/>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a:t>
              </a:r>
            </a:p>
          </p:txBody>
        </p:sp>
      </p:grpSp>
      <p:grpSp>
        <p:nvGrpSpPr>
          <p:cNvPr id="49" name="Group 48">
            <a:extLst>
              <a:ext uri="{FF2B5EF4-FFF2-40B4-BE49-F238E27FC236}">
                <a16:creationId xmlns:a16="http://schemas.microsoft.com/office/drawing/2014/main" id="{CF9D8E35-5F06-5171-2245-2632760AFBDB}"/>
              </a:ext>
            </a:extLst>
          </p:cNvPr>
          <p:cNvGrpSpPr/>
          <p:nvPr/>
        </p:nvGrpSpPr>
        <p:grpSpPr>
          <a:xfrm>
            <a:off x="9481670" y="5227321"/>
            <a:ext cx="2528063" cy="1619035"/>
            <a:chOff x="0" y="85649"/>
            <a:chExt cx="3225516" cy="1935309"/>
          </a:xfrm>
        </p:grpSpPr>
        <p:sp>
          <p:nvSpPr>
            <p:cNvPr id="50" name="Rectangle: Rounded Corners 49">
              <a:extLst>
                <a:ext uri="{FF2B5EF4-FFF2-40B4-BE49-F238E27FC236}">
                  <a16:creationId xmlns:a16="http://schemas.microsoft.com/office/drawing/2014/main" id="{D00524B2-8C49-4395-B15D-73696E4F5430}"/>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1" name="Rectangle: Rounded Corners 4">
              <a:extLst>
                <a:ext uri="{FF2B5EF4-FFF2-40B4-BE49-F238E27FC236}">
                  <a16:creationId xmlns:a16="http://schemas.microsoft.com/office/drawing/2014/main" id="{668B9C79-FCC9-3EAF-EDFE-4EE7ECAD690C}"/>
                </a:ext>
              </a:extLst>
            </p:cNvPr>
            <p:cNvSpPr txBox="1"/>
            <p:nvPr/>
          </p:nvSpPr>
          <p:spPr>
            <a:xfrm>
              <a:off x="56683" y="142332"/>
              <a:ext cx="3112150"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lnSpc>
                  <a:spcPct val="90000"/>
                </a:lnSpc>
                <a:spcBef>
                  <a:spcPct val="0"/>
                </a:spcBef>
                <a:spcAft>
                  <a:spcPct val="15000"/>
                </a:spcAft>
              </a:pPr>
              <a:r>
                <a:rPr lang="en-SG" sz="1000" b="1" kern="1200" dirty="0"/>
                <a:t>Compare</a:t>
              </a:r>
            </a:p>
            <a:p>
              <a:pPr marL="285750" lvl="1" indent="-285750" algn="l" defTabSz="711200">
                <a:lnSpc>
                  <a:spcPct val="90000"/>
                </a:lnSpc>
                <a:spcBef>
                  <a:spcPct val="0"/>
                </a:spcBef>
                <a:spcAft>
                  <a:spcPct val="15000"/>
                </a:spcAft>
                <a:buFont typeface="Wingdings" panose="05000000000000000000" pitchFamily="2" charset="2"/>
                <a:buChar char="Ø"/>
              </a:pPr>
              <a:r>
                <a:rPr lang="en-SG" sz="1000" kern="1200" dirty="0"/>
                <a:t>Policy A (ML-driven targeting): Target top 20% by expected value</a:t>
              </a:r>
            </a:p>
            <a:p>
              <a:pPr marL="285750" lvl="1" indent="-285750" algn="l" defTabSz="711200">
                <a:lnSpc>
                  <a:spcPct val="90000"/>
                </a:lnSpc>
                <a:spcBef>
                  <a:spcPct val="0"/>
                </a:spcBef>
                <a:spcAft>
                  <a:spcPct val="15000"/>
                </a:spcAft>
                <a:buFont typeface="Wingdings" panose="05000000000000000000" pitchFamily="2" charset="2"/>
                <a:buChar char="Ø"/>
              </a:pPr>
              <a:r>
                <a:rPr lang="en-SG" sz="1000" kern="1200" dirty="0"/>
                <a:t>Policy B (Native baseline): Target random 20%</a:t>
              </a:r>
            </a:p>
            <a:p>
              <a:pPr marL="285750" lvl="1" indent="-285750" algn="l" defTabSz="711200">
                <a:lnSpc>
                  <a:spcPct val="90000"/>
                </a:lnSpc>
                <a:spcBef>
                  <a:spcPct val="0"/>
                </a:spcBef>
                <a:spcAft>
                  <a:spcPct val="15000"/>
                </a:spcAft>
                <a:buFont typeface="Wingdings" panose="05000000000000000000" pitchFamily="2" charset="2"/>
                <a:buChar char="Ø"/>
              </a:pPr>
              <a:r>
                <a:rPr lang="en-SG" sz="1000" kern="1200" dirty="0"/>
                <a:t>Policy C (Business heuristic baseline): Target top RFM users</a:t>
              </a:r>
              <a:endParaRPr lang="en-SG" sz="1000" dirty="0"/>
            </a:p>
          </p:txBody>
        </p:sp>
      </p:grpSp>
      <p:grpSp>
        <p:nvGrpSpPr>
          <p:cNvPr id="53" name="Group 52">
            <a:extLst>
              <a:ext uri="{FF2B5EF4-FFF2-40B4-BE49-F238E27FC236}">
                <a16:creationId xmlns:a16="http://schemas.microsoft.com/office/drawing/2014/main" id="{886408C9-BB24-AE71-393F-7A2821F1F1E8}"/>
              </a:ext>
            </a:extLst>
          </p:cNvPr>
          <p:cNvGrpSpPr/>
          <p:nvPr/>
        </p:nvGrpSpPr>
        <p:grpSpPr>
          <a:xfrm>
            <a:off x="9287273" y="2300784"/>
            <a:ext cx="2179084" cy="702030"/>
            <a:chOff x="4015743" y="2868423"/>
            <a:chExt cx="2237627" cy="1039355"/>
          </a:xfrm>
        </p:grpSpPr>
        <p:sp>
          <p:nvSpPr>
            <p:cNvPr id="54" name="Rectangle 53">
              <a:extLst>
                <a:ext uri="{FF2B5EF4-FFF2-40B4-BE49-F238E27FC236}">
                  <a16:creationId xmlns:a16="http://schemas.microsoft.com/office/drawing/2014/main" id="{B23870B5-F200-AD97-3C2E-072D7D182270}"/>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55" name="TextBox 54">
              <a:extLst>
                <a:ext uri="{FF2B5EF4-FFF2-40B4-BE49-F238E27FC236}">
                  <a16:creationId xmlns:a16="http://schemas.microsoft.com/office/drawing/2014/main" id="{99276DC6-FC90-B7D3-E6E4-0E2E531E0C18}"/>
                </a:ext>
              </a:extLst>
            </p:cNvPr>
            <p:cNvSpPr txBox="1"/>
            <p:nvPr/>
          </p:nvSpPr>
          <p:spPr>
            <a:xfrm>
              <a:off x="4015743"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Periodic Retraining (If Production Environment)</a:t>
              </a:r>
            </a:p>
          </p:txBody>
        </p:sp>
      </p:grpSp>
      <p:grpSp>
        <p:nvGrpSpPr>
          <p:cNvPr id="62" name="Group 61">
            <a:extLst>
              <a:ext uri="{FF2B5EF4-FFF2-40B4-BE49-F238E27FC236}">
                <a16:creationId xmlns:a16="http://schemas.microsoft.com/office/drawing/2014/main" id="{3CE3DE68-2FF9-E531-6949-3B0910357F07}"/>
              </a:ext>
            </a:extLst>
          </p:cNvPr>
          <p:cNvGrpSpPr/>
          <p:nvPr/>
        </p:nvGrpSpPr>
        <p:grpSpPr>
          <a:xfrm>
            <a:off x="9032450" y="5349142"/>
            <a:ext cx="284531" cy="332847"/>
            <a:chOff x="1478545" y="850322"/>
            <a:chExt cx="284531" cy="332847"/>
          </a:xfrm>
        </p:grpSpPr>
        <p:sp>
          <p:nvSpPr>
            <p:cNvPr id="63" name="Arrow: Right 62">
              <a:extLst>
                <a:ext uri="{FF2B5EF4-FFF2-40B4-BE49-F238E27FC236}">
                  <a16:creationId xmlns:a16="http://schemas.microsoft.com/office/drawing/2014/main" id="{F2CF6544-5BFB-DE01-AE9B-0BAD845145B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64" name="Arrow: Right 4">
              <a:extLst>
                <a:ext uri="{FF2B5EF4-FFF2-40B4-BE49-F238E27FC236}">
                  <a16:creationId xmlns:a16="http://schemas.microsoft.com/office/drawing/2014/main" id="{70A7DE8F-06AE-ED3E-3CD4-8483F7A09DF1}"/>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65" name="Arrow: Bent 64">
            <a:extLst>
              <a:ext uri="{FF2B5EF4-FFF2-40B4-BE49-F238E27FC236}">
                <a16:creationId xmlns:a16="http://schemas.microsoft.com/office/drawing/2014/main" id="{2C07C256-D71B-01D8-7CF1-7058761CCF4B}"/>
              </a:ext>
            </a:extLst>
          </p:cNvPr>
          <p:cNvSpPr/>
          <p:nvPr/>
        </p:nvSpPr>
        <p:spPr>
          <a:xfrm flipH="1">
            <a:off x="9131105" y="2909194"/>
            <a:ext cx="606176" cy="1698315"/>
          </a:xfrm>
          <a:prstGeom prst="bentArrow">
            <a:avLst/>
          </a:prstGeom>
          <a:solidFill>
            <a:srgbClr val="A5301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grpSp>
        <p:nvGrpSpPr>
          <p:cNvPr id="66" name="Group 65">
            <a:extLst>
              <a:ext uri="{FF2B5EF4-FFF2-40B4-BE49-F238E27FC236}">
                <a16:creationId xmlns:a16="http://schemas.microsoft.com/office/drawing/2014/main" id="{B8E216D0-9742-F313-4789-1E38F18EAE12}"/>
              </a:ext>
            </a:extLst>
          </p:cNvPr>
          <p:cNvGrpSpPr/>
          <p:nvPr/>
        </p:nvGrpSpPr>
        <p:grpSpPr>
          <a:xfrm>
            <a:off x="6416561" y="6249637"/>
            <a:ext cx="2493680" cy="635935"/>
            <a:chOff x="4483736" y="2868423"/>
            <a:chExt cx="1769634" cy="1039355"/>
          </a:xfrm>
        </p:grpSpPr>
        <p:sp>
          <p:nvSpPr>
            <p:cNvPr id="67" name="Rectangle 66">
              <a:extLst>
                <a:ext uri="{FF2B5EF4-FFF2-40B4-BE49-F238E27FC236}">
                  <a16:creationId xmlns:a16="http://schemas.microsoft.com/office/drawing/2014/main" id="{605C7F8E-1A94-C266-284A-CF04F0D719E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68" name="TextBox 67">
              <a:extLst>
                <a:ext uri="{FF2B5EF4-FFF2-40B4-BE49-F238E27FC236}">
                  <a16:creationId xmlns:a16="http://schemas.microsoft.com/office/drawing/2014/main" id="{02B5E0E6-BB23-F4DC-3B99-4E0D27D83BCE}"/>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000" i="1" dirty="0"/>
                <a:t>Policy is evaluated on actual holdout outcomes (historical realized revenue) across out-of-time snapshot slices</a:t>
              </a:r>
              <a:endParaRPr lang="en-SG" sz="1000" b="1" i="1" kern="1200" dirty="0"/>
            </a:p>
          </p:txBody>
        </p:sp>
      </p:grpSp>
      <p:sp>
        <p:nvSpPr>
          <p:cNvPr id="86" name="TextBox 85">
            <a:extLst>
              <a:ext uri="{FF2B5EF4-FFF2-40B4-BE49-F238E27FC236}">
                <a16:creationId xmlns:a16="http://schemas.microsoft.com/office/drawing/2014/main" id="{27E3D404-5B31-F03C-F812-01930AB01FCD}"/>
              </a:ext>
            </a:extLst>
          </p:cNvPr>
          <p:cNvSpPr txBox="1"/>
          <p:nvPr/>
        </p:nvSpPr>
        <p:spPr>
          <a:xfrm>
            <a:off x="538255" y="2176302"/>
            <a:ext cx="2179941" cy="707886"/>
          </a:xfrm>
          <a:prstGeom prst="rect">
            <a:avLst/>
          </a:prstGeom>
          <a:noFill/>
        </p:spPr>
        <p:txBody>
          <a:bodyPr wrap="square">
            <a:spAutoFit/>
          </a:bodyPr>
          <a:lstStyle/>
          <a:p>
            <a:pPr lvl="0"/>
            <a:r>
              <a:rPr lang="en-SG" sz="1000" b="1" i="1" dirty="0"/>
              <a:t>Preprocessing in Feature Store:</a:t>
            </a:r>
            <a:r>
              <a:rPr lang="en-SG" sz="1000" i="1" dirty="0"/>
              <a:t> </a:t>
            </a:r>
            <a:br>
              <a:rPr lang="en-SG" sz="1000" i="1" dirty="0"/>
            </a:br>
            <a:r>
              <a:rPr lang="en-SG" sz="1000" i="1" dirty="0"/>
              <a:t>Feature engineering includes derived </a:t>
            </a:r>
            <a:r>
              <a:rPr lang="en-SG" sz="1000" b="1" i="1" dirty="0"/>
              <a:t>RFM-style </a:t>
            </a:r>
            <a:r>
              <a:rPr lang="en-SG" sz="1000" i="1" dirty="0"/>
              <a:t>behavioural aggregation at </a:t>
            </a:r>
            <a:r>
              <a:rPr lang="en-SG" sz="1000" b="1" i="1" dirty="0"/>
              <a:t>user level</a:t>
            </a:r>
          </a:p>
        </p:txBody>
      </p:sp>
      <p:sp>
        <p:nvSpPr>
          <p:cNvPr id="6" name="TextBox 5">
            <a:extLst>
              <a:ext uri="{FF2B5EF4-FFF2-40B4-BE49-F238E27FC236}">
                <a16:creationId xmlns:a16="http://schemas.microsoft.com/office/drawing/2014/main" id="{D628A3E5-0910-85BC-4259-9DE399A340E3}"/>
              </a:ext>
            </a:extLst>
          </p:cNvPr>
          <p:cNvSpPr txBox="1"/>
          <p:nvPr/>
        </p:nvSpPr>
        <p:spPr>
          <a:xfrm>
            <a:off x="591680" y="6144741"/>
            <a:ext cx="5738676" cy="707886"/>
          </a:xfrm>
          <a:prstGeom prst="rect">
            <a:avLst/>
          </a:prstGeom>
          <a:noFill/>
        </p:spPr>
        <p:txBody>
          <a:bodyPr wrap="square">
            <a:spAutoFit/>
          </a:bodyPr>
          <a:lstStyle/>
          <a:p>
            <a:pPr lvl="0">
              <a:buNone/>
            </a:pPr>
            <a:r>
              <a:rPr lang="en-SG" sz="1000" i="1" dirty="0"/>
              <a:t>ML targeting policy ranks users based on expected value (predicted purchase probability × predicted revenue) on each prediction window and monthly snapshot slice.</a:t>
            </a:r>
          </a:p>
          <a:p>
            <a:pPr lvl="0">
              <a:buNone/>
            </a:pPr>
            <a:endParaRPr lang="en-SG" sz="1000" i="1" dirty="0"/>
          </a:p>
          <a:p>
            <a:pPr lvl="0">
              <a:buNone/>
            </a:pPr>
            <a:r>
              <a:rPr lang="en-SG" sz="1000" i="1" dirty="0"/>
              <a:t>Non-ML policies (Random, RFM) use their own non-EV ranking rules.</a:t>
            </a:r>
          </a:p>
        </p:txBody>
      </p:sp>
      <p:sp>
        <p:nvSpPr>
          <p:cNvPr id="7" name="TextBox 6">
            <a:extLst>
              <a:ext uri="{FF2B5EF4-FFF2-40B4-BE49-F238E27FC236}">
                <a16:creationId xmlns:a16="http://schemas.microsoft.com/office/drawing/2014/main" id="{5C2ACEE9-046D-1B46-F5FD-0B86899B6C00}"/>
              </a:ext>
            </a:extLst>
          </p:cNvPr>
          <p:cNvSpPr txBox="1"/>
          <p:nvPr/>
        </p:nvSpPr>
        <p:spPr>
          <a:xfrm>
            <a:off x="10154682" y="2932145"/>
            <a:ext cx="2003325" cy="1938992"/>
          </a:xfrm>
          <a:prstGeom prst="rect">
            <a:avLst/>
          </a:prstGeom>
          <a:solidFill>
            <a:schemeClr val="accent4">
              <a:lumMod val="20000"/>
              <a:lumOff val="80000"/>
            </a:schemeClr>
          </a:solidFill>
        </p:spPr>
        <p:txBody>
          <a:bodyPr wrap="square">
            <a:spAutoFit/>
          </a:bodyPr>
          <a:lstStyle/>
          <a:p>
            <a:pPr lvl="0">
              <a:buNone/>
            </a:pPr>
            <a:r>
              <a:rPr lang="en-SG" sz="1000" b="1" i="1" dirty="0"/>
              <a:t>No causality incrementality is inferred</a:t>
            </a:r>
            <a:endParaRPr lang="en-SG" sz="1000" i="1" dirty="0"/>
          </a:p>
          <a:p>
            <a:pPr lvl="0">
              <a:buNone/>
            </a:pPr>
            <a:endParaRPr lang="en-SG" sz="1000" i="1" dirty="0"/>
          </a:p>
          <a:p>
            <a:pPr lvl="0">
              <a:buNone/>
            </a:pPr>
            <a:r>
              <a:rPr lang="en-SG" sz="1000" i="1" dirty="0"/>
              <a:t>Offline back testing compares allocation policies on a future holdout window. </a:t>
            </a:r>
          </a:p>
          <a:p>
            <a:pPr lvl="0">
              <a:buNone/>
            </a:pPr>
            <a:endParaRPr lang="en-SG" sz="1000" i="1" dirty="0"/>
          </a:p>
          <a:p>
            <a:pPr lvl="0">
              <a:buNone/>
            </a:pPr>
            <a:r>
              <a:rPr lang="en-SG" sz="1000" i="1" dirty="0"/>
              <a:t>True incremental impact would require randomized online experimentation (A/B Testing), which is out of scope for this repository.</a:t>
            </a:r>
          </a:p>
        </p:txBody>
      </p:sp>
      <p:sp>
        <p:nvSpPr>
          <p:cNvPr id="11" name="TextBox 10">
            <a:extLst>
              <a:ext uri="{FF2B5EF4-FFF2-40B4-BE49-F238E27FC236}">
                <a16:creationId xmlns:a16="http://schemas.microsoft.com/office/drawing/2014/main" id="{2A263AAF-7D8C-DA4A-A44C-A617143939E7}"/>
              </a:ext>
            </a:extLst>
          </p:cNvPr>
          <p:cNvSpPr txBox="1"/>
          <p:nvPr/>
        </p:nvSpPr>
        <p:spPr>
          <a:xfrm>
            <a:off x="7110902" y="2297607"/>
            <a:ext cx="1838819" cy="861774"/>
          </a:xfrm>
          <a:prstGeom prst="rect">
            <a:avLst/>
          </a:prstGeom>
          <a:noFill/>
        </p:spPr>
        <p:txBody>
          <a:bodyPr wrap="square">
            <a:spAutoFit/>
          </a:bodyPr>
          <a:lstStyle/>
          <a:p>
            <a:pPr lvl="0">
              <a:buNone/>
            </a:pPr>
            <a:r>
              <a:rPr lang="en-SG" sz="1000" b="1" i="1" dirty="0"/>
              <a:t>Prediction window validation with inter-purchase distribution analysis</a:t>
            </a:r>
            <a:br>
              <a:rPr lang="en-SG" sz="1000" b="1" i="1" dirty="0"/>
            </a:br>
            <a:r>
              <a:rPr lang="en-SG" sz="1000" i="1" dirty="0"/>
              <a:t>Test 30/60/90 days horizon</a:t>
            </a:r>
          </a:p>
        </p:txBody>
      </p:sp>
      <p:sp>
        <p:nvSpPr>
          <p:cNvPr id="13" name="TextBox 12">
            <a:extLst>
              <a:ext uri="{FF2B5EF4-FFF2-40B4-BE49-F238E27FC236}">
                <a16:creationId xmlns:a16="http://schemas.microsoft.com/office/drawing/2014/main" id="{B299EA73-0A5F-BD25-53E4-B23978073C43}"/>
              </a:ext>
            </a:extLst>
          </p:cNvPr>
          <p:cNvSpPr txBox="1"/>
          <p:nvPr/>
        </p:nvSpPr>
        <p:spPr>
          <a:xfrm>
            <a:off x="7110902" y="3221232"/>
            <a:ext cx="1870766" cy="707886"/>
          </a:xfrm>
          <a:prstGeom prst="rect">
            <a:avLst/>
          </a:prstGeom>
          <a:noFill/>
        </p:spPr>
        <p:txBody>
          <a:bodyPr wrap="square">
            <a:spAutoFit/>
          </a:bodyPr>
          <a:lstStyle/>
          <a:p>
            <a:pPr lvl="0">
              <a:buNone/>
            </a:pPr>
            <a:r>
              <a:rPr lang="en-SG" sz="1000" b="1" i="1" dirty="0"/>
              <a:t>Feature window validate with model evaluation metrics</a:t>
            </a:r>
          </a:p>
          <a:p>
            <a:pPr lvl="0">
              <a:buNone/>
            </a:pPr>
            <a:r>
              <a:rPr lang="en-SG" sz="1000" i="1" dirty="0"/>
              <a:t>Test 60/90/120 days horizon</a:t>
            </a:r>
          </a:p>
        </p:txBody>
      </p:sp>
      <p:sp>
        <p:nvSpPr>
          <p:cNvPr id="14" name="TextBox 13">
            <a:extLst>
              <a:ext uri="{FF2B5EF4-FFF2-40B4-BE49-F238E27FC236}">
                <a16:creationId xmlns:a16="http://schemas.microsoft.com/office/drawing/2014/main" id="{39EFF3B9-1E18-3E71-4A2D-D3B6203C9F69}"/>
              </a:ext>
            </a:extLst>
          </p:cNvPr>
          <p:cNvSpPr txBox="1"/>
          <p:nvPr/>
        </p:nvSpPr>
        <p:spPr>
          <a:xfrm>
            <a:off x="2645124" y="3365877"/>
            <a:ext cx="3436157" cy="553998"/>
          </a:xfrm>
          <a:prstGeom prst="rect">
            <a:avLst/>
          </a:prstGeom>
          <a:noFill/>
        </p:spPr>
        <p:txBody>
          <a:bodyPr wrap="square">
            <a:spAutoFit/>
          </a:bodyPr>
          <a:lstStyle/>
          <a:p>
            <a:pPr lvl="0"/>
            <a:r>
              <a:rPr lang="en-SG" sz="1000" b="1" i="1" dirty="0"/>
              <a:t>Historical rolling behavioural features </a:t>
            </a:r>
            <a:r>
              <a:rPr lang="en-SG" sz="1000" i="1" dirty="0"/>
              <a:t>(say 90 days windows) -&gt; </a:t>
            </a:r>
            <a:r>
              <a:rPr lang="en-SG" sz="1000" b="1" i="1" dirty="0"/>
              <a:t>Future purchase probability</a:t>
            </a:r>
            <a:r>
              <a:rPr lang="en-SG" sz="1000" i="1" dirty="0"/>
              <a:t> (say 30 days windows) for </a:t>
            </a:r>
            <a:r>
              <a:rPr lang="en-SG" sz="1000" b="1" i="1" dirty="0"/>
              <a:t>each monthly snapshot slice</a:t>
            </a:r>
          </a:p>
        </p:txBody>
      </p:sp>
      <p:sp>
        <p:nvSpPr>
          <p:cNvPr id="10" name="TextBox 9">
            <a:extLst>
              <a:ext uri="{FF2B5EF4-FFF2-40B4-BE49-F238E27FC236}">
                <a16:creationId xmlns:a16="http://schemas.microsoft.com/office/drawing/2014/main" id="{FFF13BFA-AE1D-7269-AFF3-54F656E71E4E}"/>
              </a:ext>
            </a:extLst>
          </p:cNvPr>
          <p:cNvSpPr txBox="1"/>
          <p:nvPr/>
        </p:nvSpPr>
        <p:spPr>
          <a:xfrm>
            <a:off x="8981668" y="473161"/>
            <a:ext cx="3069950" cy="1785104"/>
          </a:xfrm>
          <a:prstGeom prst="rect">
            <a:avLst/>
          </a:prstGeom>
          <a:solidFill>
            <a:schemeClr val="accent4">
              <a:lumMod val="20000"/>
              <a:lumOff val="80000"/>
            </a:schemeClr>
          </a:solidFill>
        </p:spPr>
        <p:txBody>
          <a:bodyPr wrap="square">
            <a:spAutoFit/>
          </a:bodyPr>
          <a:lstStyle/>
          <a:p>
            <a:pPr lvl="0">
              <a:buNone/>
            </a:pPr>
            <a:r>
              <a:rPr lang="en-SG" sz="1000" b="1" i="1" dirty="0"/>
              <a:t>Out-of-time Model Validation</a:t>
            </a:r>
            <a:br>
              <a:rPr lang="en-SG" sz="1000" b="1" i="1" dirty="0"/>
            </a:br>
            <a:r>
              <a:rPr lang="en-SG" sz="1000" b="1" i="1" dirty="0"/>
              <a:t>(Does probability model generalize?)</a:t>
            </a:r>
          </a:p>
          <a:p>
            <a:pPr lvl="0">
              <a:buNone/>
            </a:pPr>
            <a:r>
              <a:rPr lang="en-SG" sz="1000" b="1" i="1" dirty="0"/>
              <a:t>ROC-AUC: </a:t>
            </a:r>
            <a:r>
              <a:rPr lang="en-SG" sz="1000" i="1" dirty="0">
                <a:solidFill>
                  <a:srgbClr val="FF0000"/>
                </a:solidFill>
              </a:rPr>
              <a:t>Ranking discrimination across thresholds</a:t>
            </a:r>
          </a:p>
          <a:p>
            <a:pPr lvl="0">
              <a:buNone/>
            </a:pPr>
            <a:r>
              <a:rPr lang="en-SG" sz="1000" b="1" i="1" dirty="0"/>
              <a:t>PR-AUC: </a:t>
            </a:r>
            <a:r>
              <a:rPr lang="en-SG" sz="1000" i="1" dirty="0"/>
              <a:t>Precision/recall performance for the positive class</a:t>
            </a:r>
          </a:p>
          <a:p>
            <a:pPr lvl="0">
              <a:buNone/>
            </a:pPr>
            <a:r>
              <a:rPr lang="en-SG" sz="1000" b="1" i="1" dirty="0"/>
              <a:t>Top-decile lift: </a:t>
            </a:r>
            <a:r>
              <a:rPr lang="en-SG" sz="1000" i="1" dirty="0"/>
              <a:t>Buyer-rate concentration in top X% vs base rate</a:t>
            </a:r>
          </a:p>
          <a:p>
            <a:pPr lvl="0">
              <a:buNone/>
            </a:pPr>
            <a:r>
              <a:rPr lang="en-SG" sz="1000" b="1" i="1" dirty="0"/>
              <a:t>Brier score: </a:t>
            </a:r>
            <a:r>
              <a:rPr lang="en-SG" sz="1000" i="1" dirty="0"/>
              <a:t>Probability error (lower is better)</a:t>
            </a:r>
          </a:p>
          <a:p>
            <a:pPr lvl="0">
              <a:buNone/>
            </a:pPr>
            <a:r>
              <a:rPr lang="en-SG" sz="1000" b="1" i="1" dirty="0"/>
              <a:t>ECE: </a:t>
            </a:r>
            <a:r>
              <a:rPr lang="en-SG" sz="1000" i="1" dirty="0">
                <a:solidFill>
                  <a:srgbClr val="FF0000"/>
                </a:solidFill>
              </a:rPr>
              <a:t>Calibration gap between predicted and observed rates</a:t>
            </a:r>
          </a:p>
        </p:txBody>
      </p:sp>
      <p:sp>
        <p:nvSpPr>
          <p:cNvPr id="12" name="TextBox 11">
            <a:extLst>
              <a:ext uri="{FF2B5EF4-FFF2-40B4-BE49-F238E27FC236}">
                <a16:creationId xmlns:a16="http://schemas.microsoft.com/office/drawing/2014/main" id="{0FCC7E79-88CA-0B9E-1E81-7594040FEB3D}"/>
              </a:ext>
            </a:extLst>
          </p:cNvPr>
          <p:cNvSpPr txBox="1"/>
          <p:nvPr/>
        </p:nvSpPr>
        <p:spPr>
          <a:xfrm>
            <a:off x="12192000" y="184011"/>
            <a:ext cx="2510601" cy="1477328"/>
          </a:xfrm>
          <a:prstGeom prst="rect">
            <a:avLst/>
          </a:prstGeom>
          <a:solidFill>
            <a:srgbClr val="FFFF00"/>
          </a:solidFill>
        </p:spPr>
        <p:txBody>
          <a:bodyPr wrap="square">
            <a:spAutoFit/>
          </a:bodyPr>
          <a:lstStyle/>
          <a:p>
            <a:pPr lvl="0">
              <a:buNone/>
            </a:pPr>
            <a:r>
              <a:rPr lang="en-SG" sz="1000" b="1" i="1" dirty="0"/>
              <a:t>To update architecture: </a:t>
            </a:r>
          </a:p>
          <a:p>
            <a:pPr lvl="0">
              <a:buNone/>
            </a:pPr>
            <a:r>
              <a:rPr lang="en-SG" sz="1000" i="1" dirty="0"/>
              <a:t>Both models by default trains on features including RMF of _30d and _90d because prediction window defaults 30d and feature lookback window defaults 90d. Other RMF days features are ignored for model training even if they are in feature store for windows sensitivity analysis</a:t>
            </a:r>
            <a:endParaRPr lang="en-SG" sz="1000" i="1" dirty="0">
              <a:solidFill>
                <a:srgbClr val="FF0000"/>
              </a:solidFill>
            </a:endParaRPr>
          </a:p>
        </p:txBody>
      </p:sp>
      <p:sp>
        <p:nvSpPr>
          <p:cNvPr id="16" name="TextBox 15">
            <a:extLst>
              <a:ext uri="{FF2B5EF4-FFF2-40B4-BE49-F238E27FC236}">
                <a16:creationId xmlns:a16="http://schemas.microsoft.com/office/drawing/2014/main" id="{07876227-EBCB-6B95-2734-835A7ED03620}"/>
              </a:ext>
            </a:extLst>
          </p:cNvPr>
          <p:cNvSpPr txBox="1"/>
          <p:nvPr/>
        </p:nvSpPr>
        <p:spPr>
          <a:xfrm>
            <a:off x="12254480" y="1975342"/>
            <a:ext cx="2530405" cy="1785104"/>
          </a:xfrm>
          <a:prstGeom prst="rect">
            <a:avLst/>
          </a:prstGeom>
          <a:solidFill>
            <a:srgbClr val="FFFF00"/>
          </a:solidFill>
        </p:spPr>
        <p:txBody>
          <a:bodyPr wrap="square">
            <a:spAutoFit/>
          </a:bodyPr>
          <a:lstStyle/>
          <a:p>
            <a:pPr lvl="0">
              <a:buNone/>
            </a:pPr>
            <a:r>
              <a:rPr lang="en-SG" sz="1000" b="1" i="1" dirty="0"/>
              <a:t>Training Features (30d prediction window, 90d feature lookback window):</a:t>
            </a:r>
          </a:p>
          <a:p>
            <a:pPr lvl="0">
              <a:buNone/>
            </a:pPr>
            <a:r>
              <a:rPr lang="en-SG" sz="1000" i="1" dirty="0"/>
              <a:t>recency_days</a:t>
            </a:r>
          </a:p>
          <a:p>
            <a:pPr lvl="0">
              <a:buNone/>
            </a:pPr>
            <a:r>
              <a:rPr lang="en-SG" sz="1000" i="1" dirty="0"/>
              <a:t>frequency_30d</a:t>
            </a:r>
          </a:p>
          <a:p>
            <a:pPr lvl="0">
              <a:buNone/>
            </a:pPr>
            <a:r>
              <a:rPr lang="en-SG" sz="1000" i="1" dirty="0"/>
              <a:t>frequency_90d</a:t>
            </a:r>
          </a:p>
          <a:p>
            <a:pPr lvl="0">
              <a:buNone/>
            </a:pPr>
            <a:r>
              <a:rPr lang="en-SG" sz="1000" i="1" dirty="0"/>
              <a:t>monetary_30d</a:t>
            </a:r>
          </a:p>
          <a:p>
            <a:pPr lvl="0">
              <a:buNone/>
            </a:pPr>
            <a:r>
              <a:rPr lang="en-SG" sz="1000" i="1" dirty="0"/>
              <a:t>monetary_90d (capped by spend_cap_quantile)</a:t>
            </a:r>
          </a:p>
          <a:p>
            <a:pPr lvl="0">
              <a:buNone/>
            </a:pPr>
            <a:r>
              <a:rPr lang="en-SG" sz="1000" i="1" dirty="0"/>
              <a:t>avg_basket_value_90d</a:t>
            </a:r>
          </a:p>
          <a:p>
            <a:pPr lvl="0">
              <a:buNone/>
            </a:pPr>
            <a:r>
              <a:rPr lang="en-SG" sz="1000" i="1" dirty="0"/>
              <a:t>country</a:t>
            </a:r>
            <a:endParaRPr lang="en-SG" sz="1000" i="1" dirty="0">
              <a:solidFill>
                <a:srgbClr val="FF0000"/>
              </a:solidFill>
            </a:endParaRPr>
          </a:p>
        </p:txBody>
      </p:sp>
      <p:sp>
        <p:nvSpPr>
          <p:cNvPr id="17" name="TextBox 16">
            <a:extLst>
              <a:ext uri="{FF2B5EF4-FFF2-40B4-BE49-F238E27FC236}">
                <a16:creationId xmlns:a16="http://schemas.microsoft.com/office/drawing/2014/main" id="{B94CEA20-0DB1-2334-8133-A5537C12F7B7}"/>
              </a:ext>
            </a:extLst>
          </p:cNvPr>
          <p:cNvSpPr txBox="1"/>
          <p:nvPr/>
        </p:nvSpPr>
        <p:spPr>
          <a:xfrm>
            <a:off x="9632546" y="15711"/>
            <a:ext cx="2530405" cy="400110"/>
          </a:xfrm>
          <a:prstGeom prst="rect">
            <a:avLst/>
          </a:prstGeom>
          <a:solidFill>
            <a:srgbClr val="FFFF00"/>
          </a:solidFill>
        </p:spPr>
        <p:txBody>
          <a:bodyPr wrap="square">
            <a:spAutoFit/>
          </a:bodyPr>
          <a:lstStyle/>
          <a:p>
            <a:pPr lvl="0">
              <a:buNone/>
            </a:pPr>
            <a:r>
              <a:rPr lang="en-SG" sz="1000" b="1" i="1" dirty="0"/>
              <a:t>To update metrics descriptions (red fonts) to be more executive-friendly</a:t>
            </a:r>
            <a:endParaRPr lang="en-SG" sz="1000" i="1" dirty="0">
              <a:solidFill>
                <a:srgbClr val="FF0000"/>
              </a:solidFill>
            </a:endParaRPr>
          </a:p>
        </p:txBody>
      </p:sp>
      <p:sp>
        <p:nvSpPr>
          <p:cNvPr id="21" name="TextBox 20">
            <a:extLst>
              <a:ext uri="{FF2B5EF4-FFF2-40B4-BE49-F238E27FC236}">
                <a16:creationId xmlns:a16="http://schemas.microsoft.com/office/drawing/2014/main" id="{17661300-CAC8-8503-ADF4-C642FB727E38}"/>
              </a:ext>
            </a:extLst>
          </p:cNvPr>
          <p:cNvSpPr txBox="1"/>
          <p:nvPr/>
        </p:nvSpPr>
        <p:spPr>
          <a:xfrm>
            <a:off x="12274284" y="3961702"/>
            <a:ext cx="2530405" cy="4708981"/>
          </a:xfrm>
          <a:prstGeom prst="rect">
            <a:avLst/>
          </a:prstGeom>
          <a:solidFill>
            <a:srgbClr val="FFFF00"/>
          </a:solidFill>
        </p:spPr>
        <p:txBody>
          <a:bodyPr wrap="square">
            <a:spAutoFit/>
          </a:bodyPr>
          <a:lstStyle/>
          <a:p>
            <a:pPr lvl="0">
              <a:buNone/>
            </a:pPr>
            <a:r>
              <a:rPr lang="en-SG" sz="1000" b="1" i="1" dirty="0"/>
              <a:t>To update architecture (consider add new slide for illustrative with more details):</a:t>
            </a:r>
          </a:p>
          <a:p>
            <a:pPr lvl="0">
              <a:buNone/>
            </a:pPr>
            <a:r>
              <a:rPr lang="en-SG" sz="1000" i="1" dirty="0"/>
              <a:t>window sensitivity analysis uses more features for comparisons</a:t>
            </a:r>
          </a:p>
          <a:p>
            <a:pPr lvl="0">
              <a:buNone/>
            </a:pPr>
            <a:endParaRPr lang="en-SG" sz="1000" i="1" dirty="0"/>
          </a:p>
          <a:p>
            <a:pPr lvl="0">
              <a:buNone/>
            </a:pPr>
            <a:r>
              <a:rPr lang="en-SG" sz="1000" i="1" dirty="0"/>
              <a:t>It reruns training/eval with alternate feature profiles while keeping the same split logic.</a:t>
            </a:r>
          </a:p>
          <a:p>
            <a:pPr lvl="0">
              <a:buNone/>
            </a:pPr>
            <a:endParaRPr lang="en-SG" sz="1000" i="1" dirty="0"/>
          </a:p>
          <a:p>
            <a:pPr lvl="0">
              <a:buNone/>
            </a:pPr>
            <a:r>
              <a:rPr lang="en-SG" sz="1000" i="1" dirty="0"/>
              <a:t>For feature-lookback test (with 30d target), it uses:</a:t>
            </a:r>
          </a:p>
          <a:p>
            <a:pPr marL="171450" lvl="0" indent="-171450">
              <a:buFont typeface="Wingdings" panose="05000000000000000000" pitchFamily="2" charset="2"/>
              <a:buChar char="Ø"/>
            </a:pPr>
            <a:r>
              <a:rPr lang="en-SG" sz="1000" i="1" dirty="0"/>
              <a:t>60d profile: frequency_60d, monetary_60d, avg_basket_value_60d</a:t>
            </a:r>
          </a:p>
          <a:p>
            <a:pPr marL="171450" lvl="0" indent="-171450">
              <a:buFont typeface="Wingdings" panose="05000000000000000000" pitchFamily="2" charset="2"/>
              <a:buChar char="Ø"/>
            </a:pPr>
            <a:r>
              <a:rPr lang="en-SG" sz="1000" i="1" dirty="0"/>
              <a:t>90d profile: frequency_90d, monetary_90d, avg_basket_value_90d</a:t>
            </a:r>
          </a:p>
          <a:p>
            <a:pPr marL="171450" lvl="0" indent="-171450">
              <a:buFont typeface="Wingdings" panose="05000000000000000000" pitchFamily="2" charset="2"/>
              <a:buChar char="Ø"/>
            </a:pPr>
            <a:r>
              <a:rPr lang="en-SG" sz="1000" i="1" dirty="0"/>
              <a:t>120d profile: frequency_120d, monetary_120d, avg_basket_value_120d</a:t>
            </a:r>
          </a:p>
          <a:p>
            <a:pPr lvl="0"/>
            <a:endParaRPr lang="en-SG" sz="1000" i="1" dirty="0"/>
          </a:p>
          <a:p>
            <a:pPr lvl="0">
              <a:buNone/>
            </a:pPr>
            <a:r>
              <a:rPr lang="en-SG" sz="1000" i="1" dirty="0"/>
              <a:t>Then it compares metrics (PR-AUC, ROC-AUC, lift, Brier, ECE) across these profiles.</a:t>
            </a:r>
          </a:p>
          <a:p>
            <a:pPr lvl="0">
              <a:buNone/>
            </a:pPr>
            <a:endParaRPr lang="en-SG" sz="1000" i="1" dirty="0"/>
          </a:p>
          <a:p>
            <a:pPr lvl="0">
              <a:buNone/>
            </a:pPr>
            <a:r>
              <a:rPr lang="en-SG" sz="1000" i="1" dirty="0"/>
              <a:t>So 60d/120d are used as alternative feature windows for comparison experiments, not in the default serving/train path.</a:t>
            </a:r>
          </a:p>
        </p:txBody>
      </p:sp>
      <p:sp>
        <p:nvSpPr>
          <p:cNvPr id="22" name="TextBox 21">
            <a:extLst>
              <a:ext uri="{FF2B5EF4-FFF2-40B4-BE49-F238E27FC236}">
                <a16:creationId xmlns:a16="http://schemas.microsoft.com/office/drawing/2014/main" id="{A01DE2F4-8C11-3F89-FBF6-EFF372CD6B45}"/>
              </a:ext>
            </a:extLst>
          </p:cNvPr>
          <p:cNvSpPr txBox="1"/>
          <p:nvPr/>
        </p:nvSpPr>
        <p:spPr>
          <a:xfrm>
            <a:off x="7371349" y="7139673"/>
            <a:ext cx="3720546" cy="2246769"/>
          </a:xfrm>
          <a:prstGeom prst="rect">
            <a:avLst/>
          </a:prstGeom>
          <a:solidFill>
            <a:srgbClr val="FFFF00"/>
          </a:solidFill>
        </p:spPr>
        <p:txBody>
          <a:bodyPr wrap="square">
            <a:spAutoFit/>
          </a:bodyPr>
          <a:lstStyle/>
          <a:p>
            <a:pPr lvl="0">
              <a:buNone/>
            </a:pPr>
            <a:r>
              <a:rPr lang="en-SG" sz="1000" b="1" i="1" dirty="0"/>
              <a:t>Consider update in both architecture + implementation: clean pre-specified train-val-test time split for each retraining</a:t>
            </a:r>
          </a:p>
          <a:p>
            <a:pPr lvl="0">
              <a:buNone/>
            </a:pPr>
            <a:endParaRPr lang="en-SG" sz="1000" b="1" i="1" dirty="0"/>
          </a:p>
          <a:p>
            <a:r>
              <a:rPr lang="en-SG" sz="1000" b="1" i="1" dirty="0"/>
              <a:t>e.g. 10M training, 1M validation, 1M testing</a:t>
            </a:r>
          </a:p>
          <a:p>
            <a:pPr lvl="0">
              <a:buNone/>
            </a:pPr>
            <a:endParaRPr lang="en-SG" sz="1000" b="1" i="1" dirty="0"/>
          </a:p>
          <a:p>
            <a:pPr lvl="0">
              <a:buNone/>
            </a:pPr>
            <a:r>
              <a:rPr lang="en-SG" sz="1000" b="1" i="1" dirty="0"/>
              <a:t>Then consider add quarterly retraining but lightweight infra since there’s ~2 years worth of dataset</a:t>
            </a:r>
          </a:p>
          <a:p>
            <a:pPr lvl="0">
              <a:buNone/>
            </a:pPr>
            <a:endParaRPr lang="en-SG" sz="1000" b="1" i="1" dirty="0"/>
          </a:p>
          <a:p>
            <a:pPr lvl="0">
              <a:buNone/>
            </a:pPr>
            <a:endParaRPr lang="en-SG" sz="1000" b="1" i="1" dirty="0"/>
          </a:p>
          <a:p>
            <a:pPr lvl="0">
              <a:buNone/>
            </a:pPr>
            <a:r>
              <a:rPr lang="en-SG" sz="1000" b="1" i="1" dirty="0"/>
              <a:t>Consider include test set in current architecture (current implementation only do policy back testing on validation set. For best practice, it is recommended to have a different time split for test set for policy back testing too)</a:t>
            </a:r>
            <a:endParaRPr lang="en-SG" sz="1000" i="1" dirty="0"/>
          </a:p>
        </p:txBody>
      </p:sp>
    </p:spTree>
    <p:extLst>
      <p:ext uri="{BB962C8B-B14F-4D97-AF65-F5344CB8AC3E}">
        <p14:creationId xmlns:p14="http://schemas.microsoft.com/office/powerpoint/2010/main" val="23599907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E523F-6315-8ABE-9E02-48BD2A00B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876A6E-DA06-CC5A-FAF4-268A04576F06}"/>
              </a:ext>
            </a:extLst>
          </p:cNvPr>
          <p:cNvSpPr>
            <a:spLocks noGrp="1"/>
          </p:cNvSpPr>
          <p:nvPr>
            <p:ph type="title"/>
          </p:nvPr>
        </p:nvSpPr>
        <p:spPr>
          <a:xfrm>
            <a:off x="1640156" y="624110"/>
            <a:ext cx="8911687" cy="1280890"/>
          </a:xfrm>
        </p:spPr>
        <p:txBody>
          <a:bodyPr/>
          <a:lstStyle/>
          <a:p>
            <a:r>
              <a:rPr lang="en-SG" dirty="0"/>
              <a:t>Retrieval &amp; Ranking Engine Flow</a:t>
            </a:r>
          </a:p>
        </p:txBody>
      </p:sp>
      <p:graphicFrame>
        <p:nvGraphicFramePr>
          <p:cNvPr id="4" name="Content Placeholder 3">
            <a:extLst>
              <a:ext uri="{FF2B5EF4-FFF2-40B4-BE49-F238E27FC236}">
                <a16:creationId xmlns:a16="http://schemas.microsoft.com/office/drawing/2014/main" id="{E5FC3F1C-38C4-A54A-C60A-2A9EB8E9748D}"/>
              </a:ext>
            </a:extLst>
          </p:cNvPr>
          <p:cNvGraphicFramePr>
            <a:graphicFrameLocks noGrp="1"/>
          </p:cNvGraphicFramePr>
          <p:nvPr>
            <p:ph idx="1"/>
            <p:extLst>
              <p:ext uri="{D42A27DB-BD31-4B8C-83A1-F6EECF244321}">
                <p14:modId xmlns:p14="http://schemas.microsoft.com/office/powerpoint/2010/main" val="926089307"/>
              </p:ext>
            </p:extLst>
          </p:nvPr>
        </p:nvGraphicFramePr>
        <p:xfrm>
          <a:off x="3131358" y="1324120"/>
          <a:ext cx="5796885" cy="26100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0042A5DF-25E0-EEF5-952C-367E2F9BBF40}"/>
              </a:ext>
            </a:extLst>
          </p:cNvPr>
          <p:cNvGrpSpPr/>
          <p:nvPr/>
        </p:nvGrpSpPr>
        <p:grpSpPr>
          <a:xfrm>
            <a:off x="3131358" y="1324120"/>
            <a:ext cx="5627645" cy="398885"/>
            <a:chOff x="4483736" y="2868422"/>
            <a:chExt cx="1769634" cy="1039356"/>
          </a:xfrm>
        </p:grpSpPr>
        <p:sp>
          <p:nvSpPr>
            <p:cNvPr id="19" name="Rectangle 18">
              <a:extLst>
                <a:ext uri="{FF2B5EF4-FFF2-40B4-BE49-F238E27FC236}">
                  <a16:creationId xmlns:a16="http://schemas.microsoft.com/office/drawing/2014/main" id="{3EDAEDA5-500C-3385-B1BC-BBFB94BAB9A1}"/>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B7188EE1-6551-B19F-903D-33D0F8B39794}"/>
                </a:ext>
              </a:extLst>
            </p:cNvPr>
            <p:cNvSpPr txBox="1"/>
            <p:nvPr/>
          </p:nvSpPr>
          <p:spPr>
            <a:xfrm>
              <a:off x="4483736" y="2868422"/>
              <a:ext cx="1769634" cy="86160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Two-Tower Collaborative Filtering</a:t>
              </a:r>
              <a:endParaRPr lang="en-SG" sz="1400" b="1" i="1" kern="1200" dirty="0"/>
            </a:p>
          </p:txBody>
        </p:sp>
      </p:grpSp>
      <p:graphicFrame>
        <p:nvGraphicFramePr>
          <p:cNvPr id="42" name="Content Placeholder 3">
            <a:extLst>
              <a:ext uri="{FF2B5EF4-FFF2-40B4-BE49-F238E27FC236}">
                <a16:creationId xmlns:a16="http://schemas.microsoft.com/office/drawing/2014/main" id="{C85F7CF3-93FD-6194-23DE-19C0476E7719}"/>
              </a:ext>
            </a:extLst>
          </p:cNvPr>
          <p:cNvGraphicFramePr>
            <a:graphicFrameLocks/>
          </p:cNvGraphicFramePr>
          <p:nvPr>
            <p:extLst>
              <p:ext uri="{D42A27DB-BD31-4B8C-83A1-F6EECF244321}">
                <p14:modId xmlns:p14="http://schemas.microsoft.com/office/powerpoint/2010/main" val="1103947060"/>
              </p:ext>
            </p:extLst>
          </p:nvPr>
        </p:nvGraphicFramePr>
        <p:xfrm>
          <a:off x="3131357" y="4080395"/>
          <a:ext cx="5796885" cy="2610010"/>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66B34FE7-D558-16C3-5BF7-66CBC04802C5}"/>
              </a:ext>
            </a:extLst>
          </p:cNvPr>
          <p:cNvGrpSpPr/>
          <p:nvPr/>
        </p:nvGrpSpPr>
        <p:grpSpPr>
          <a:xfrm>
            <a:off x="3241883" y="4136489"/>
            <a:ext cx="5337038" cy="390956"/>
            <a:chOff x="4483735" y="2868423"/>
            <a:chExt cx="3474763" cy="1039355"/>
          </a:xfrm>
        </p:grpSpPr>
        <p:sp>
          <p:nvSpPr>
            <p:cNvPr id="44" name="Rectangle 43">
              <a:extLst>
                <a:ext uri="{FF2B5EF4-FFF2-40B4-BE49-F238E27FC236}">
                  <a16:creationId xmlns:a16="http://schemas.microsoft.com/office/drawing/2014/main" id="{A5186C26-8634-923F-38BE-FC6F8DB82864}"/>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5E185327-B886-034E-931E-1F50F7050D78}"/>
                </a:ext>
              </a:extLst>
            </p:cNvPr>
            <p:cNvSpPr txBox="1"/>
            <p:nvPr/>
          </p:nvSpPr>
          <p:spPr>
            <a:xfrm>
              <a:off x="4483735" y="2868423"/>
              <a:ext cx="3474763"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(Retrieval) Pipeline: User-Item Dot Product Scoring</a:t>
              </a:r>
            </a:p>
          </p:txBody>
        </p:sp>
      </p:grpSp>
      <p:grpSp>
        <p:nvGrpSpPr>
          <p:cNvPr id="53" name="Group 52">
            <a:extLst>
              <a:ext uri="{FF2B5EF4-FFF2-40B4-BE49-F238E27FC236}">
                <a16:creationId xmlns:a16="http://schemas.microsoft.com/office/drawing/2014/main" id="{38AA8AE8-ED10-4BBF-4130-68763B5FC2C2}"/>
              </a:ext>
            </a:extLst>
          </p:cNvPr>
          <p:cNvGrpSpPr/>
          <p:nvPr/>
        </p:nvGrpSpPr>
        <p:grpSpPr>
          <a:xfrm>
            <a:off x="9879276" y="2210836"/>
            <a:ext cx="1723335" cy="702030"/>
            <a:chOff x="4483736" y="2868423"/>
            <a:chExt cx="1769634" cy="1039355"/>
          </a:xfrm>
        </p:grpSpPr>
        <p:sp>
          <p:nvSpPr>
            <p:cNvPr id="54" name="Rectangle 53">
              <a:extLst>
                <a:ext uri="{FF2B5EF4-FFF2-40B4-BE49-F238E27FC236}">
                  <a16:creationId xmlns:a16="http://schemas.microsoft.com/office/drawing/2014/main" id="{0A53E38E-B8EA-4642-F481-DC1D3E310B10}"/>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55" name="TextBox 54">
              <a:extLst>
                <a:ext uri="{FF2B5EF4-FFF2-40B4-BE49-F238E27FC236}">
                  <a16:creationId xmlns:a16="http://schemas.microsoft.com/office/drawing/2014/main" id="{64BAC682-4EAD-E04A-4648-D85E9DEB0A22}"/>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Periodic Retraining (If Production Environment)</a:t>
              </a:r>
            </a:p>
          </p:txBody>
        </p:sp>
      </p:grpSp>
      <p:sp>
        <p:nvSpPr>
          <p:cNvPr id="65" name="Arrow: Bent 64">
            <a:extLst>
              <a:ext uri="{FF2B5EF4-FFF2-40B4-BE49-F238E27FC236}">
                <a16:creationId xmlns:a16="http://schemas.microsoft.com/office/drawing/2014/main" id="{64EAEDE7-0289-2B8C-7807-86A6147D5724}"/>
              </a:ext>
            </a:extLst>
          </p:cNvPr>
          <p:cNvSpPr/>
          <p:nvPr/>
        </p:nvSpPr>
        <p:spPr>
          <a:xfrm flipH="1">
            <a:off x="9163588" y="2831374"/>
            <a:ext cx="606176" cy="1698315"/>
          </a:xfrm>
          <a:prstGeom prst="bentArrow">
            <a:avLst/>
          </a:prstGeom>
          <a:solidFill>
            <a:srgbClr val="A5301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grpSp>
        <p:nvGrpSpPr>
          <p:cNvPr id="5" name="Group 4">
            <a:extLst>
              <a:ext uri="{FF2B5EF4-FFF2-40B4-BE49-F238E27FC236}">
                <a16:creationId xmlns:a16="http://schemas.microsoft.com/office/drawing/2014/main" id="{69881087-05F0-7796-1ACA-9E3DD649F79A}"/>
              </a:ext>
            </a:extLst>
          </p:cNvPr>
          <p:cNvGrpSpPr/>
          <p:nvPr/>
        </p:nvGrpSpPr>
        <p:grpSpPr>
          <a:xfrm>
            <a:off x="9032450" y="5074822"/>
            <a:ext cx="284531" cy="332847"/>
            <a:chOff x="1478545" y="850322"/>
            <a:chExt cx="284531" cy="332847"/>
          </a:xfrm>
        </p:grpSpPr>
        <p:sp>
          <p:nvSpPr>
            <p:cNvPr id="6" name="Arrow: Right 5">
              <a:extLst>
                <a:ext uri="{FF2B5EF4-FFF2-40B4-BE49-F238E27FC236}">
                  <a16:creationId xmlns:a16="http://schemas.microsoft.com/office/drawing/2014/main" id="{EF2C012B-2B75-408E-FC2F-3053B3E1B4D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 name="Arrow: Right 4">
              <a:extLst>
                <a:ext uri="{FF2B5EF4-FFF2-40B4-BE49-F238E27FC236}">
                  <a16:creationId xmlns:a16="http://schemas.microsoft.com/office/drawing/2014/main" id="{07FE2FD6-E7C5-B478-7494-66C4F62D2855}"/>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8" name="Group 7">
            <a:extLst>
              <a:ext uri="{FF2B5EF4-FFF2-40B4-BE49-F238E27FC236}">
                <a16:creationId xmlns:a16="http://schemas.microsoft.com/office/drawing/2014/main" id="{8345A68D-7823-11C4-751A-B5C17CAA21C5}"/>
              </a:ext>
            </a:extLst>
          </p:cNvPr>
          <p:cNvGrpSpPr/>
          <p:nvPr/>
        </p:nvGrpSpPr>
        <p:grpSpPr>
          <a:xfrm>
            <a:off x="9316981" y="4622762"/>
            <a:ext cx="2683236" cy="425556"/>
            <a:chOff x="4483736" y="2868423"/>
            <a:chExt cx="1769634" cy="1039355"/>
          </a:xfrm>
        </p:grpSpPr>
        <p:sp>
          <p:nvSpPr>
            <p:cNvPr id="9" name="Rectangle 8">
              <a:extLst>
                <a:ext uri="{FF2B5EF4-FFF2-40B4-BE49-F238E27FC236}">
                  <a16:creationId xmlns:a16="http://schemas.microsoft.com/office/drawing/2014/main" id="{4B6F77BE-C997-2EF0-5EEB-402351E0310E}"/>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0" name="TextBox 9">
              <a:extLst>
                <a:ext uri="{FF2B5EF4-FFF2-40B4-BE49-F238E27FC236}">
                  <a16:creationId xmlns:a16="http://schemas.microsoft.com/office/drawing/2014/main" id="{79B6C517-E484-72E9-7BB5-F06B79C724F4}"/>
                </a:ext>
              </a:extLst>
            </p:cNvPr>
            <p:cNvSpPr txBox="1"/>
            <p:nvPr/>
          </p:nvSpPr>
          <p:spPr>
            <a:xfrm>
              <a:off x="4483736" y="2868423"/>
              <a:ext cx="1769634" cy="80655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Evaluation </a:t>
              </a:r>
            </a:p>
          </p:txBody>
        </p:sp>
      </p:grpSp>
      <p:grpSp>
        <p:nvGrpSpPr>
          <p:cNvPr id="11" name="Group 10">
            <a:extLst>
              <a:ext uri="{FF2B5EF4-FFF2-40B4-BE49-F238E27FC236}">
                <a16:creationId xmlns:a16="http://schemas.microsoft.com/office/drawing/2014/main" id="{DF31B023-9B65-8FBF-C915-B5911855AB2B}"/>
              </a:ext>
            </a:extLst>
          </p:cNvPr>
          <p:cNvGrpSpPr/>
          <p:nvPr/>
        </p:nvGrpSpPr>
        <p:grpSpPr>
          <a:xfrm>
            <a:off x="9421189" y="4953001"/>
            <a:ext cx="2518546" cy="1417114"/>
            <a:chOff x="0" y="85649"/>
            <a:chExt cx="3225516" cy="1935309"/>
          </a:xfrm>
        </p:grpSpPr>
        <p:sp>
          <p:nvSpPr>
            <p:cNvPr id="12" name="Rectangle: Rounded Corners 11">
              <a:extLst>
                <a:ext uri="{FF2B5EF4-FFF2-40B4-BE49-F238E27FC236}">
                  <a16:creationId xmlns:a16="http://schemas.microsoft.com/office/drawing/2014/main" id="{F71DCC3A-1CFC-FD99-7D0F-798AC99F30A4}"/>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13" name="Rectangle: Rounded Corners 4">
              <a:extLst>
                <a:ext uri="{FF2B5EF4-FFF2-40B4-BE49-F238E27FC236}">
                  <a16:creationId xmlns:a16="http://schemas.microsoft.com/office/drawing/2014/main" id="{7F21738A-6ECD-D72F-C776-C3208442DF7D}"/>
                </a:ext>
              </a:extLst>
            </p:cNvPr>
            <p:cNvSpPr txBox="1"/>
            <p:nvPr/>
          </p:nvSpPr>
          <p:spPr>
            <a:xfrm>
              <a:off x="56683" y="142332"/>
              <a:ext cx="3112150"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defTabSz="711200">
                <a:lnSpc>
                  <a:spcPct val="90000"/>
                </a:lnSpc>
                <a:spcBef>
                  <a:spcPct val="0"/>
                </a:spcBef>
                <a:spcAft>
                  <a:spcPct val="15000"/>
                </a:spcAft>
              </a:pPr>
              <a:r>
                <a:rPr lang="en-SG" sz="1400" dirty="0"/>
                <a:t>Proxy metrics for commercial engagement</a:t>
              </a:r>
              <a:endParaRPr lang="en-SG" sz="1400" kern="1200" dirty="0"/>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Recall</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NDCG Evaluation</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Hit Rate</a:t>
              </a:r>
            </a:p>
          </p:txBody>
        </p:sp>
      </p:grpSp>
      <p:sp>
        <p:nvSpPr>
          <p:cNvPr id="14" name="TextBox 13">
            <a:extLst>
              <a:ext uri="{FF2B5EF4-FFF2-40B4-BE49-F238E27FC236}">
                <a16:creationId xmlns:a16="http://schemas.microsoft.com/office/drawing/2014/main" id="{BFAA6854-1939-B7C6-2A39-5E9D39B67A0C}"/>
              </a:ext>
            </a:extLst>
          </p:cNvPr>
          <p:cNvSpPr txBox="1"/>
          <p:nvPr/>
        </p:nvSpPr>
        <p:spPr>
          <a:xfrm>
            <a:off x="3131357" y="3314715"/>
            <a:ext cx="3163279" cy="553998"/>
          </a:xfrm>
          <a:prstGeom prst="rect">
            <a:avLst/>
          </a:prstGeom>
          <a:noFill/>
        </p:spPr>
        <p:txBody>
          <a:bodyPr wrap="square">
            <a:spAutoFit/>
          </a:bodyPr>
          <a:lstStyle/>
          <a:p>
            <a:pPr lvl="0"/>
            <a:r>
              <a:rPr lang="en-SG" sz="1000" b="1" i="1" dirty="0"/>
              <a:t>Preprocessing in Feature Store:</a:t>
            </a:r>
            <a:r>
              <a:rPr lang="en-SG" sz="1000" i="1" dirty="0"/>
              <a:t> </a:t>
            </a:r>
            <a:br>
              <a:rPr lang="en-SG" sz="1000" i="1" dirty="0"/>
            </a:br>
            <a:r>
              <a:rPr lang="en-SG" sz="1000" i="1" dirty="0"/>
              <a:t>Interaction Matrix Construction (User–Item Interactions with time-based data)</a:t>
            </a:r>
          </a:p>
        </p:txBody>
      </p:sp>
      <p:sp>
        <p:nvSpPr>
          <p:cNvPr id="15" name="TextBox 14">
            <a:extLst>
              <a:ext uri="{FF2B5EF4-FFF2-40B4-BE49-F238E27FC236}">
                <a16:creationId xmlns:a16="http://schemas.microsoft.com/office/drawing/2014/main" id="{C1752EBF-2C0F-14B9-7A9C-AB7372903286}"/>
              </a:ext>
            </a:extLst>
          </p:cNvPr>
          <p:cNvSpPr txBox="1"/>
          <p:nvPr/>
        </p:nvSpPr>
        <p:spPr>
          <a:xfrm>
            <a:off x="6450114" y="3328223"/>
            <a:ext cx="1413826" cy="400110"/>
          </a:xfrm>
          <a:prstGeom prst="rect">
            <a:avLst/>
          </a:prstGeom>
          <a:noFill/>
        </p:spPr>
        <p:txBody>
          <a:bodyPr wrap="square">
            <a:spAutoFit/>
          </a:bodyPr>
          <a:lstStyle/>
          <a:p>
            <a:pPr lvl="0"/>
            <a:r>
              <a:rPr lang="en-SG" sz="1000" b="1" i="1" dirty="0"/>
              <a:t>Time-based split (Train/Val/Test)</a:t>
            </a:r>
          </a:p>
        </p:txBody>
      </p:sp>
      <p:sp>
        <p:nvSpPr>
          <p:cNvPr id="16" name="TextBox 15">
            <a:extLst>
              <a:ext uri="{FF2B5EF4-FFF2-40B4-BE49-F238E27FC236}">
                <a16:creationId xmlns:a16="http://schemas.microsoft.com/office/drawing/2014/main" id="{5DBE317E-09DD-E978-C40E-A59F7303E440}"/>
              </a:ext>
            </a:extLst>
          </p:cNvPr>
          <p:cNvSpPr txBox="1"/>
          <p:nvPr/>
        </p:nvSpPr>
        <p:spPr>
          <a:xfrm>
            <a:off x="5353104" y="6115993"/>
            <a:ext cx="1724782" cy="400110"/>
          </a:xfrm>
          <a:prstGeom prst="rect">
            <a:avLst/>
          </a:prstGeom>
          <a:noFill/>
        </p:spPr>
        <p:txBody>
          <a:bodyPr wrap="square">
            <a:spAutoFit/>
          </a:bodyPr>
          <a:lstStyle/>
          <a:p>
            <a:pPr lvl="0"/>
            <a:r>
              <a:rPr lang="en-SG" sz="1000" i="1" dirty="0"/>
              <a:t>With precomputed item embeddings</a:t>
            </a:r>
          </a:p>
        </p:txBody>
      </p:sp>
      <p:sp>
        <p:nvSpPr>
          <p:cNvPr id="17" name="TextBox 16">
            <a:extLst>
              <a:ext uri="{FF2B5EF4-FFF2-40B4-BE49-F238E27FC236}">
                <a16:creationId xmlns:a16="http://schemas.microsoft.com/office/drawing/2014/main" id="{7621586B-2D1B-4192-689D-C703D920888D}"/>
              </a:ext>
            </a:extLst>
          </p:cNvPr>
          <p:cNvSpPr txBox="1"/>
          <p:nvPr/>
        </p:nvSpPr>
        <p:spPr>
          <a:xfrm>
            <a:off x="262405" y="1769545"/>
            <a:ext cx="2452098" cy="1785104"/>
          </a:xfrm>
          <a:prstGeom prst="rect">
            <a:avLst/>
          </a:prstGeom>
          <a:solidFill>
            <a:schemeClr val="accent4">
              <a:lumMod val="20000"/>
              <a:lumOff val="80000"/>
            </a:schemeClr>
          </a:solidFill>
        </p:spPr>
        <p:txBody>
          <a:bodyPr wrap="square">
            <a:spAutoFit/>
          </a:bodyPr>
          <a:lstStyle/>
          <a:p>
            <a:pPr lvl="0"/>
            <a:r>
              <a:rPr lang="en-SG" sz="1000" b="1" i="1" u="sng" dirty="0"/>
              <a:t>Terms for reference</a:t>
            </a:r>
          </a:p>
          <a:p>
            <a:pPr lvl="0"/>
            <a:endParaRPr lang="en-SG" sz="1000" b="1" i="1" dirty="0"/>
          </a:p>
          <a:p>
            <a:pPr lvl="0"/>
            <a:r>
              <a:rPr lang="en-SG" sz="1000" b="1" i="1" dirty="0"/>
              <a:t>Collaborative Filtering:</a:t>
            </a:r>
            <a:r>
              <a:rPr lang="en-SG" sz="1000" i="1" dirty="0"/>
              <a:t> Behaviour-driven learning from User-Item Interactions</a:t>
            </a:r>
          </a:p>
          <a:p>
            <a:pPr lvl="0"/>
            <a:endParaRPr lang="en-SG" sz="1000" i="1" dirty="0"/>
          </a:p>
          <a:p>
            <a:r>
              <a:rPr lang="en-SG" sz="1000" b="1" i="1" dirty="0"/>
              <a:t>Two-Tower Model Training: </a:t>
            </a:r>
          </a:p>
          <a:p>
            <a:pPr lvl="0"/>
            <a:r>
              <a:rPr lang="en-SG" sz="1000" i="1" dirty="0"/>
              <a:t>Generate embeddings for both users and items in shared embedding space for recommendations</a:t>
            </a:r>
          </a:p>
        </p:txBody>
      </p:sp>
      <p:sp>
        <p:nvSpPr>
          <p:cNvPr id="21" name="TextBox 20">
            <a:extLst>
              <a:ext uri="{FF2B5EF4-FFF2-40B4-BE49-F238E27FC236}">
                <a16:creationId xmlns:a16="http://schemas.microsoft.com/office/drawing/2014/main" id="{2B6ECFDD-E1D2-C572-2713-33281C1AD597}"/>
              </a:ext>
            </a:extLst>
          </p:cNvPr>
          <p:cNvSpPr txBox="1"/>
          <p:nvPr/>
        </p:nvSpPr>
        <p:spPr>
          <a:xfrm>
            <a:off x="7110765" y="6115992"/>
            <a:ext cx="1883331" cy="400110"/>
          </a:xfrm>
          <a:prstGeom prst="rect">
            <a:avLst/>
          </a:prstGeom>
          <a:noFill/>
        </p:spPr>
        <p:txBody>
          <a:bodyPr wrap="square">
            <a:spAutoFit/>
          </a:bodyPr>
          <a:lstStyle/>
          <a:p>
            <a:pPr lvl="0"/>
            <a:r>
              <a:rPr lang="en-SG" sz="1000" i="1" dirty="0"/>
              <a:t>What content/product to show to end users</a:t>
            </a:r>
          </a:p>
        </p:txBody>
      </p:sp>
    </p:spTree>
    <p:extLst>
      <p:ext uri="{BB962C8B-B14F-4D97-AF65-F5344CB8AC3E}">
        <p14:creationId xmlns:p14="http://schemas.microsoft.com/office/powerpoint/2010/main" val="1774856587"/>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816</TotalTime>
  <Words>916</Words>
  <Application>Microsoft Office PowerPoint</Application>
  <PresentationFormat>Widescreen</PresentationFormat>
  <Paragraphs>115</Paragraphs>
  <Slides>4</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Arial</vt:lpstr>
      <vt:lpstr>Century Gothic</vt:lpstr>
      <vt:lpstr>Wingdings</vt:lpstr>
      <vt:lpstr>Wingdings 3</vt:lpstr>
      <vt:lpstr>Wisp</vt:lpstr>
      <vt:lpstr>Architecture</vt:lpstr>
      <vt:lpstr>Overall Platform Architecture</vt:lpstr>
      <vt:lpstr>Purchase Propensity Engine Flow</vt:lpstr>
      <vt:lpstr>Retrieval &amp; Ranking Engine Flow</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Humphrey Tan</dc:creator>
  <cp:lastModifiedBy>Humphrey Tan</cp:lastModifiedBy>
  <cp:revision>330</cp:revision>
  <dcterms:created xsi:type="dcterms:W3CDTF">2026-02-22T04:36:36Z</dcterms:created>
  <dcterms:modified xsi:type="dcterms:W3CDTF">2026-02-25T07:20:04Z</dcterms:modified>
</cp:coreProperties>
</file>