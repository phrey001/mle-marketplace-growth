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6"/>
  </p:notesMasterIdLst>
  <p:sldIdLst>
    <p:sldId id="256" r:id="rId2"/>
    <p:sldId id="271" r:id="rId3"/>
    <p:sldId id="257" r:id="rId4"/>
    <p:sldId id="258" r:id="rId5"/>
    <p:sldId id="260" r:id="rId6"/>
    <p:sldId id="262" r:id="rId7"/>
    <p:sldId id="272" r:id="rId8"/>
    <p:sldId id="273" r:id="rId9"/>
    <p:sldId id="268" r:id="rId10"/>
    <p:sldId id="270" r:id="rId11"/>
    <p:sldId id="269" r:id="rId12"/>
    <p:sldId id="264" r:id="rId13"/>
    <p:sldId id="267" r:id="rId14"/>
    <p:sldId id="263"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D17C3D5E-C80A-43A9-9E6D-B27078164170}">
          <p14:sldIdLst>
            <p14:sldId id="256"/>
            <p14:sldId id="271"/>
            <p14:sldId id="257"/>
            <p14:sldId id="258"/>
            <p14:sldId id="260"/>
          </p14:sldIdLst>
        </p14:section>
        <p14:section name="Appendix - Purchase Propensity" id="{178CFB41-C5C4-4518-84B2-9E9202496C7D}">
          <p14:sldIdLst>
            <p14:sldId id="262"/>
            <p14:sldId id="272"/>
            <p14:sldId id="273"/>
            <p14:sldId id="268"/>
            <p14:sldId id="270"/>
            <p14:sldId id="269"/>
          </p14:sldIdLst>
        </p14:section>
        <p14:section name="Appendix - Recommender" id="{99D03F2A-6781-4F12-8C2B-1879A730BFE2}">
          <p14:sldIdLst>
            <p14:sldId id="264"/>
            <p14:sldId id="267"/>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EEE9"/>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033" autoAdjust="0"/>
    <p:restoredTop sz="96247" autoAdjust="0"/>
  </p:normalViewPr>
  <p:slideViewPr>
    <p:cSldViewPr snapToGrid="0">
      <p:cViewPr>
        <p:scale>
          <a:sx n="100" d="100"/>
          <a:sy n="100" d="100"/>
        </p:scale>
        <p:origin x="-18" y="9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pPr>
            <a:lnSpc>
              <a:spcPct val="100000"/>
            </a:lnSpc>
            <a:spcAft>
              <a:spcPts val="600"/>
            </a:spcAft>
          </a:pPr>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pPr>
            <a:lnSpc>
              <a:spcPct val="100000"/>
            </a:lnSpc>
            <a:spcAft>
              <a:spcPts val="600"/>
            </a:spcAft>
          </a:pPr>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pPr>
            <a:lnSpc>
              <a:spcPct val="100000"/>
            </a:lnSpc>
            <a:spcAft>
              <a:spcPts val="600"/>
            </a:spcAft>
          </a:pPr>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pPr>
            <a:lnSpc>
              <a:spcPct val="100000"/>
            </a:lnSpc>
            <a:spcAft>
              <a:spcPts val="600"/>
            </a:spcAft>
          </a:pPr>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pPr>
            <a:lnSpc>
              <a:spcPct val="100000"/>
            </a:lnSpc>
            <a:spcAft>
              <a:spcPts val="600"/>
            </a:spcAft>
          </a:pPr>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pPr>
            <a:lnSpc>
              <a:spcPct val="100000"/>
            </a:lnSpc>
            <a:spcAft>
              <a:spcPts val="600"/>
            </a:spcAft>
          </a:pPr>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F0AECC4-6EC5-4491-B0A7-0946402170DD}">
      <dgm:prSet/>
      <dgm:spPr/>
      <dgm:t>
        <a:bodyPr/>
        <a:lstStyle/>
        <a:p>
          <a:pPr>
            <a:lnSpc>
              <a:spcPct val="100000"/>
            </a:lnSpc>
            <a:spcAft>
              <a:spcPts val="600"/>
            </a:spcAft>
          </a:pPr>
          <a:r>
            <a:rPr lang="en-SG" dirty="0"/>
            <a:t>See repo for documentations, including </a:t>
          </a:r>
          <a:r>
            <a:rPr lang="en-SG" b="1" dirty="0"/>
            <a:t>Target Data Model, Data Dictionary</a:t>
          </a:r>
          <a:r>
            <a:rPr lang="en-SG" dirty="0"/>
            <a:t> and respective </a:t>
          </a:r>
          <a:r>
            <a:rPr lang="en-SG" b="1" i="1" dirty="0"/>
            <a:t>quickstart.md</a:t>
          </a:r>
        </a:p>
      </dgm:t>
    </dgm:pt>
    <dgm:pt modelId="{AD1BF38F-F3AB-4C22-8A32-DDA4BC993736}" type="parTrans" cxnId="{AFDE59F6-C7D9-4544-A985-27DE61C81B33}">
      <dgm:prSet/>
      <dgm:spPr/>
      <dgm:t>
        <a:bodyPr/>
        <a:lstStyle/>
        <a:p>
          <a:endParaRPr lang="en-SG"/>
        </a:p>
      </dgm:t>
    </dgm:pt>
    <dgm:pt modelId="{02336BE7-D22A-485F-B412-2DC44A674BE8}" type="sibTrans" cxnId="{AFDE59F6-C7D9-4544-A985-27DE61C81B3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B25B543-50C6-4457-9096-5BED2A9C6758}" type="presOf" srcId="{BF0AECC4-6EC5-4491-B0A7-0946402170DD}" destId="{4A4F7823-EAE9-46C3-ABC1-34D954A204CF}" srcOrd="0" destOrd="2"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AFDE59F6-C7D9-4544-A985-27DE61C81B33}" srcId="{3AEE3E50-0B70-4E20-8A23-DF2C94A810C5}" destId="{BF0AECC4-6EC5-4491-B0A7-0946402170DD}" srcOrd="2" destOrd="0" parTransId="{AD1BF38F-F3AB-4C22-8A32-DDA4BC993736}" sibTransId="{02336BE7-D22A-485F-B412-2DC44A674BE8}"/>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pPr>
            <a:lnSpc>
              <a:spcPct val="100000"/>
            </a:lnSpc>
            <a:spcAft>
              <a:spcPts val="600"/>
            </a:spcAft>
          </a:pPr>
          <a:r>
            <a:rPr lang="en-SG" sz="1400" b="1" dirty="0"/>
            <a:t>Recommender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pPr>
            <a:lnSpc>
              <a:spcPct val="100000"/>
            </a:lnSpc>
            <a:spcAft>
              <a:spcPts val="600"/>
            </a:spcAft>
          </a:pPr>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pPr>
            <a:lnSpc>
              <a:spcPct val="100000"/>
            </a:lnSpc>
            <a:spcAft>
              <a:spcPts val="600"/>
            </a:spcAft>
          </a:pPr>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pPr>
            <a:lnSpc>
              <a:spcPct val="100000"/>
            </a:lnSpc>
            <a:spcAft>
              <a:spcPts val="600"/>
            </a:spcAft>
          </a:pPr>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Retrieval (via ANN index, e.g., FAISS)</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1C702618-8514-4424-BDEF-270599E69135}" type="presParOf" srcId="{04AA666C-C578-48EA-AE10-51E0CB9A2732}" destId="{EFB0D1DF-01AE-412D-951C-CB3056E20CBE}" srcOrd="0"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1"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2" destOrd="0" presId="urn:microsoft.com/office/officeart/2011/layout/CircleProcess"/>
    <dgm:cxn modelId="{479713B9-A341-4B9F-9B1F-3B33E6D50EFC}" type="presParOf" srcId="{04AA666C-C578-48EA-AE10-51E0CB9A2732}" destId="{3CF456E5-F5FD-4528-8243-622B65B9866B}" srcOrd="3"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4"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5" destOrd="0" presId="urn:microsoft.com/office/officeart/2011/layout/CircleProcess"/>
    <dgm:cxn modelId="{64229E5B-833E-44CB-B4A5-D77C8ACF29F3}" type="presParOf" srcId="{04AA666C-C578-48EA-AE10-51E0CB9A2732}" destId="{7BE6644B-3AB6-4114-8B52-3F8FEEDB9F5A}" srcOrd="6"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7"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Purchase Propensity Engine</a:t>
          </a:r>
        </a:p>
        <a:p>
          <a:pPr marL="114300" lvl="1" indent="-114300" algn="l" defTabSz="533400">
            <a:lnSpc>
              <a:spcPct val="100000"/>
            </a:lnSpc>
            <a:spcBef>
              <a:spcPct val="0"/>
            </a:spcBef>
            <a:spcAft>
              <a:spcPts val="600"/>
            </a:spcAft>
            <a:buChar char="•"/>
          </a:pPr>
          <a:r>
            <a:rPr lang="en-SG" sz="1200" kern="1200" dirty="0"/>
            <a:t>Training Pipeline (Offline): Purchase Propensity Modelling</a:t>
          </a:r>
        </a:p>
        <a:p>
          <a:pPr marL="114300" lvl="1" indent="-114300" algn="l" defTabSz="533400">
            <a:lnSpc>
              <a:spcPct val="100000"/>
            </a:lnSpc>
            <a:spcBef>
              <a:spcPct val="0"/>
            </a:spcBef>
            <a:spcAft>
              <a:spcPts val="600"/>
            </a:spcAft>
            <a:buChar char="•"/>
          </a:pPr>
          <a:r>
            <a:rPr lang="en-SG" sz="1200" kern="1200" dirty="0"/>
            <a:t>Serving (Policy) Pipeline: Incentive Allocation (Budget-Constrained)</a:t>
          </a:r>
        </a:p>
        <a:p>
          <a:pPr marL="114300" lvl="1" indent="-114300" algn="l" defTabSz="533400">
            <a:lnSpc>
              <a:spcPct val="100000"/>
            </a:lnSpc>
            <a:spcBef>
              <a:spcPct val="0"/>
            </a:spcBef>
            <a:spcAft>
              <a:spcPts val="6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7355" y="0"/>
          <a:ext cx="3297231" cy="329723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117153" y="110028"/>
          <a:ext cx="3077305" cy="307717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marL="0" lvl="0" indent="0" algn="ctr" defTabSz="1955800">
            <a:lnSpc>
              <a:spcPct val="90000"/>
            </a:lnSpc>
            <a:spcBef>
              <a:spcPct val="0"/>
            </a:spcBef>
            <a:spcAft>
              <a:spcPct val="35000"/>
            </a:spcAft>
            <a:buNone/>
          </a:pPr>
          <a:r>
            <a:rPr lang="en-SG" sz="4400" kern="1200" dirty="0"/>
            <a:t>Feature Store</a:t>
          </a:r>
        </a:p>
      </dsp:txBody>
      <dsp:txXfrm>
        <a:off x="557003" y="549624"/>
        <a:ext cx="2198264" cy="2197981"/>
      </dsp:txXfrm>
    </dsp:sp>
    <dsp:sp modelId="{4A4F7823-EAE9-46C3-ABC1-34D954A204CF}">
      <dsp:nvSpPr>
        <dsp:cNvPr id="0" name=""/>
        <dsp:cNvSpPr/>
      </dsp:nvSpPr>
      <dsp:spPr>
        <a:xfrm>
          <a:off x="117153" y="3395895"/>
          <a:ext cx="3077305" cy="1769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100000"/>
            </a:lnSpc>
            <a:spcBef>
              <a:spcPct val="0"/>
            </a:spcBef>
            <a:spcAft>
              <a:spcPts val="6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100000"/>
            </a:lnSpc>
            <a:spcBef>
              <a:spcPct val="0"/>
            </a:spcBef>
            <a:spcAft>
              <a:spcPts val="600"/>
            </a:spcAft>
            <a:buChar char="•"/>
          </a:pPr>
          <a:r>
            <a:rPr lang="en-SG" sz="1100" kern="1200" dirty="0"/>
            <a:t>Shared Feature Engineering Layer (bronze/silver)</a:t>
          </a:r>
        </a:p>
        <a:p>
          <a:pPr marL="57150" lvl="1" indent="-57150" algn="l" defTabSz="488950">
            <a:lnSpc>
              <a:spcPct val="100000"/>
            </a:lnSpc>
            <a:spcBef>
              <a:spcPct val="0"/>
            </a:spcBef>
            <a:spcAft>
              <a:spcPts val="600"/>
            </a:spcAft>
            <a:buChar char="•"/>
          </a:pPr>
          <a:r>
            <a:rPr lang="en-SG" sz="1100" kern="1200" dirty="0"/>
            <a:t>See repo for documentations, including </a:t>
          </a:r>
          <a:r>
            <a:rPr lang="en-SG" sz="1100" b="1" kern="1200" dirty="0"/>
            <a:t>Target Data Model, Data Dictionary</a:t>
          </a:r>
          <a:r>
            <a:rPr lang="en-SG" sz="1100" kern="1200" dirty="0"/>
            <a:t> and respective </a:t>
          </a:r>
          <a:r>
            <a:rPr lang="en-SG" sz="1100" b="1" i="1" kern="1200" dirty="0"/>
            <a:t>quickstart.md</a:t>
          </a:r>
        </a:p>
      </dsp:txBody>
      <dsp:txXfrm>
        <a:off x="117153" y="3395895"/>
        <a:ext cx="3077305" cy="17697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Recommender Engine</a:t>
          </a:r>
        </a:p>
        <a:p>
          <a:pPr marL="114300" lvl="1" indent="-114300" algn="l" defTabSz="533400">
            <a:lnSpc>
              <a:spcPct val="100000"/>
            </a:lnSpc>
            <a:spcBef>
              <a:spcPct val="0"/>
            </a:spcBef>
            <a:spcAft>
              <a:spcPts val="600"/>
            </a:spcAft>
            <a:buChar char="•"/>
          </a:pPr>
          <a:r>
            <a:rPr lang="en-SG" sz="1200" kern="1200" dirty="0"/>
            <a:t>Training Pipeline (Offline): Two-Tower Collaborative Filtering</a:t>
          </a:r>
        </a:p>
        <a:p>
          <a:pPr marL="114300" lvl="1" indent="-114300" algn="l" defTabSz="533400">
            <a:lnSpc>
              <a:spcPct val="100000"/>
            </a:lnSpc>
            <a:spcBef>
              <a:spcPct val="0"/>
            </a:spcBef>
            <a:spcAft>
              <a:spcPts val="600"/>
            </a:spcAft>
            <a:buChar char="•"/>
          </a:pPr>
          <a:r>
            <a:rPr lang="en-SG" sz="1200" kern="1200" dirty="0"/>
            <a:t>Serving (Retrieval) Pipeline: Stage 1 Candidate Retrieval (Two-Tower Dot Product + ANN)</a:t>
          </a:r>
        </a:p>
        <a:p>
          <a:pPr marL="114300" lvl="1" indent="-114300" algn="l" defTabSz="533400">
            <a:lnSpc>
              <a:spcPct val="100000"/>
            </a:lnSpc>
            <a:spcBef>
              <a:spcPct val="0"/>
            </a:spcBef>
            <a:spcAft>
              <a:spcPts val="6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Retrieval (via ANN index, e.g., FAISS)</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12/3/2026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2</a:t>
            </a:fld>
            <a:endParaRPr lang="en-SG" dirty="0"/>
          </a:p>
        </p:txBody>
      </p:sp>
    </p:spTree>
    <p:extLst>
      <p:ext uri="{BB962C8B-B14F-4D97-AF65-F5344CB8AC3E}">
        <p14:creationId xmlns:p14="http://schemas.microsoft.com/office/powerpoint/2010/main" val="11404201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24126940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6</a:t>
            </a:fld>
            <a:endParaRPr lang="en-SG" dirty="0"/>
          </a:p>
        </p:txBody>
      </p:sp>
    </p:spTree>
    <p:extLst>
      <p:ext uri="{BB962C8B-B14F-4D97-AF65-F5344CB8AC3E}">
        <p14:creationId xmlns:p14="http://schemas.microsoft.com/office/powerpoint/2010/main" val="35007120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FA15D-D326-87C3-966C-A831E1CF13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AF84C-4276-DE21-71C5-E9112E7960A1}"/>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08F4067-2632-431B-B461-AA036F2E9B5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6C296233-C269-8ADF-BF76-89D22567E938}"/>
              </a:ext>
            </a:extLst>
          </p:cNvPr>
          <p:cNvSpPr>
            <a:spLocks noGrp="1"/>
          </p:cNvSpPr>
          <p:nvPr>
            <p:ph type="sldNum" sz="quarter" idx="5"/>
          </p:nvPr>
        </p:nvSpPr>
        <p:spPr/>
        <p:txBody>
          <a:bodyPr/>
          <a:lstStyle/>
          <a:p>
            <a:fld id="{40494BD5-7EB2-4B74-916E-2CB6F821BA1D}" type="slidenum">
              <a:rPr lang="en-SG" smtClean="0"/>
              <a:t>7</a:t>
            </a:fld>
            <a:endParaRPr lang="en-SG" dirty="0"/>
          </a:p>
        </p:txBody>
      </p:sp>
    </p:spTree>
    <p:extLst>
      <p:ext uri="{BB962C8B-B14F-4D97-AF65-F5344CB8AC3E}">
        <p14:creationId xmlns:p14="http://schemas.microsoft.com/office/powerpoint/2010/main" val="21510766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E4782-4853-D71F-15FA-5DC9EA9EE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AFA24E-E602-BD18-5A1A-C2C16CBB40FD}"/>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C7343E49-AD27-93DA-AABD-A552B1A3F21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0160B945-F7A6-EDAC-2495-59ACFD24AAF6}"/>
              </a:ext>
            </a:extLst>
          </p:cNvPr>
          <p:cNvSpPr>
            <a:spLocks noGrp="1"/>
          </p:cNvSpPr>
          <p:nvPr>
            <p:ph type="sldNum" sz="quarter" idx="5"/>
          </p:nvPr>
        </p:nvSpPr>
        <p:spPr/>
        <p:txBody>
          <a:bodyPr/>
          <a:lstStyle/>
          <a:p>
            <a:fld id="{40494BD5-7EB2-4B74-916E-2CB6F821BA1D}" type="slidenum">
              <a:rPr lang="en-SG" smtClean="0"/>
              <a:t>8</a:t>
            </a:fld>
            <a:endParaRPr lang="en-SG" dirty="0"/>
          </a:p>
        </p:txBody>
      </p:sp>
    </p:spTree>
    <p:extLst>
      <p:ext uri="{BB962C8B-B14F-4D97-AF65-F5344CB8AC3E}">
        <p14:creationId xmlns:p14="http://schemas.microsoft.com/office/powerpoint/2010/main" val="1098472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C4934-8D92-9C2E-89D6-44E9818EC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F352D6-0C42-894A-567F-51A7B846B37E}"/>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F876135-7F04-B5A4-0E2A-2214A195185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424D209B-D790-C105-F666-03F63753311A}"/>
              </a:ext>
            </a:extLst>
          </p:cNvPr>
          <p:cNvSpPr>
            <a:spLocks noGrp="1"/>
          </p:cNvSpPr>
          <p:nvPr>
            <p:ph type="sldNum" sz="quarter" idx="5"/>
          </p:nvPr>
        </p:nvSpPr>
        <p:spPr/>
        <p:txBody>
          <a:bodyPr/>
          <a:lstStyle/>
          <a:p>
            <a:fld id="{40494BD5-7EB2-4B74-916E-2CB6F821BA1D}" type="slidenum">
              <a:rPr lang="en-SG" smtClean="0"/>
              <a:t>9</a:t>
            </a:fld>
            <a:endParaRPr lang="en-SG" dirty="0"/>
          </a:p>
        </p:txBody>
      </p:sp>
    </p:spTree>
    <p:extLst>
      <p:ext uri="{BB962C8B-B14F-4D97-AF65-F5344CB8AC3E}">
        <p14:creationId xmlns:p14="http://schemas.microsoft.com/office/powerpoint/2010/main" val="6076255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1A3C-EA63-F60E-4710-A3AB4D72F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E8FD49-6635-2E16-302F-38656F891EA0}"/>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EACD9AA-F14A-F5E4-C195-DF32D88C2D5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5949738A-D112-3D42-06FA-0DBD0D4E07E2}"/>
              </a:ext>
            </a:extLst>
          </p:cNvPr>
          <p:cNvSpPr>
            <a:spLocks noGrp="1"/>
          </p:cNvSpPr>
          <p:nvPr>
            <p:ph type="sldNum" sz="quarter" idx="5"/>
          </p:nvPr>
        </p:nvSpPr>
        <p:spPr/>
        <p:txBody>
          <a:bodyPr/>
          <a:lstStyle/>
          <a:p>
            <a:fld id="{40494BD5-7EB2-4B74-916E-2CB6F821BA1D}" type="slidenum">
              <a:rPr lang="en-SG" smtClean="0"/>
              <a:t>10</a:t>
            </a:fld>
            <a:endParaRPr lang="en-SG" dirty="0"/>
          </a:p>
        </p:txBody>
      </p:sp>
    </p:spTree>
    <p:extLst>
      <p:ext uri="{BB962C8B-B14F-4D97-AF65-F5344CB8AC3E}">
        <p14:creationId xmlns:p14="http://schemas.microsoft.com/office/powerpoint/2010/main" val="2735650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94BE-CB98-A8D1-AFF6-9B5B7495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68E19-8C53-1F4C-79B9-FB7C2983F7CF}"/>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8D5DCE98-2C01-31CD-2968-4EF73FC72CC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en-SG" b="1" dirty="0"/>
              <a:t>Large MAPE </a:t>
            </a:r>
            <a:r>
              <a:rPr lang="en-SG" dirty="0"/>
              <a:t>(Mean Absolute Percentage Error)</a:t>
            </a:r>
            <a:r>
              <a:rPr lang="en-SG" b="1" dirty="0"/>
              <a:t>: </a:t>
            </a:r>
            <a:r>
              <a:rPr lang="en-SG" dirty="0"/>
              <a:t>MAPE appears relatively large because transaction revenue data often contains many small purchases, which can inflate percentage errors. </a:t>
            </a:r>
          </a:p>
          <a:p>
            <a:pPr marL="0" marR="0" lvl="0" indent="0" algn="l" defTabSz="914400" rtl="0" eaLnBrk="0" fontAlgn="base" latinLnBrk="0" hangingPunct="0">
              <a:lnSpc>
                <a:spcPct val="100000"/>
              </a:lnSpc>
              <a:spcBef>
                <a:spcPct val="0"/>
              </a:spcBef>
              <a:spcAft>
                <a:spcPct val="0"/>
              </a:spcAft>
              <a:buClrTx/>
              <a:buSzTx/>
              <a:buFontTx/>
              <a:buNone/>
              <a:tabLst/>
            </a:pPr>
            <a:endParaRPr lang="en-SG" dirty="0"/>
          </a:p>
          <a:p>
            <a:pPr marL="0" marR="0" lvl="0" indent="0" algn="l" defTabSz="914400" rtl="0" eaLnBrk="0" fontAlgn="base" latinLnBrk="0" hangingPunct="0">
              <a:lnSpc>
                <a:spcPct val="100000"/>
              </a:lnSpc>
              <a:spcBef>
                <a:spcPct val="0"/>
              </a:spcBef>
              <a:spcAft>
                <a:spcPct val="0"/>
              </a:spcAft>
              <a:buClrTx/>
              <a:buSzTx/>
              <a:buFontTx/>
              <a:buNone/>
              <a:tabLst/>
            </a:pPr>
            <a:r>
              <a:rPr lang="en-SG" dirty="0"/>
              <a:t>In this system the revenue model is primarily used to </a:t>
            </a:r>
            <a:r>
              <a:rPr lang="en-SG" b="1" dirty="0"/>
              <a:t>estimate expected value for ranking</a:t>
            </a:r>
            <a:r>
              <a:rPr lang="en-SG" dirty="0"/>
              <a:t>, so the </a:t>
            </a:r>
            <a:r>
              <a:rPr lang="en-SG" b="1" dirty="0"/>
              <a:t>policy backtest </a:t>
            </a:r>
            <a:r>
              <a:rPr lang="en-SG" dirty="0"/>
              <a:t>results are </a:t>
            </a:r>
            <a:r>
              <a:rPr lang="en-SG" b="1" dirty="0"/>
              <a:t>more informative </a:t>
            </a:r>
            <a:r>
              <a:rPr lang="en-SG" dirty="0"/>
              <a:t>for evaluating the targeting strategy than the regression error metrics alone.</a:t>
            </a: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234484BB-DA00-4746-8D74-5D7BADC94CC2}"/>
              </a:ext>
            </a:extLst>
          </p:cNvPr>
          <p:cNvSpPr>
            <a:spLocks noGrp="1"/>
          </p:cNvSpPr>
          <p:nvPr>
            <p:ph type="sldNum" sz="quarter" idx="5"/>
          </p:nvPr>
        </p:nvSpPr>
        <p:spPr/>
        <p:txBody>
          <a:bodyPr/>
          <a:lstStyle/>
          <a:p>
            <a:fld id="{40494BD5-7EB2-4B74-916E-2CB6F821BA1D}" type="slidenum">
              <a:rPr lang="en-SG" smtClean="0"/>
              <a:t>11</a:t>
            </a:fld>
            <a:endParaRPr lang="en-SG" dirty="0"/>
          </a:p>
        </p:txBody>
      </p:sp>
    </p:spTree>
    <p:extLst>
      <p:ext uri="{BB962C8B-B14F-4D97-AF65-F5344CB8AC3E}">
        <p14:creationId xmlns:p14="http://schemas.microsoft.com/office/powerpoint/2010/main" val="3153306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p:cNvSpPr>
            <a:spLocks noGrp="1"/>
          </p:cNvSpPr>
          <p:nvPr>
            <p:ph type="sldNum" sz="quarter" idx="5"/>
          </p:nvPr>
        </p:nvSpPr>
        <p:spPr/>
        <p:txBody>
          <a:bodyPr/>
          <a:lstStyle/>
          <a:p>
            <a:fld id="{40494BD5-7EB2-4B74-916E-2CB6F821BA1D}" type="slidenum">
              <a:rPr lang="en-SG" smtClean="0"/>
              <a:t>14</a:t>
            </a:fld>
            <a:endParaRPr lang="en-SG" dirty="0"/>
          </a:p>
        </p:txBody>
      </p:sp>
    </p:spTree>
    <p:extLst>
      <p:ext uri="{BB962C8B-B14F-4D97-AF65-F5344CB8AC3E}">
        <p14:creationId xmlns:p14="http://schemas.microsoft.com/office/powerpoint/2010/main" val="30038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3/12/2026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B7097-C020-C2C2-9107-8364BA35B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E0F2-AFBA-D480-8CF2-84B89675A4B9}"/>
              </a:ext>
            </a:extLst>
          </p:cNvPr>
          <p:cNvSpPr>
            <a:spLocks noGrp="1"/>
          </p:cNvSpPr>
          <p:nvPr>
            <p:ph type="title"/>
          </p:nvPr>
        </p:nvSpPr>
        <p:spPr>
          <a:xfrm>
            <a:off x="1693765" y="624110"/>
            <a:ext cx="8911687" cy="625092"/>
          </a:xfrm>
        </p:spPr>
        <p:txBody>
          <a:bodyPr>
            <a:normAutofit/>
          </a:bodyPr>
          <a:lstStyle/>
          <a:p>
            <a:r>
              <a:rPr lang="en-SG" sz="2800" dirty="0"/>
              <a:t>Marketplace Growth Optimization with ML</a:t>
            </a:r>
          </a:p>
        </p:txBody>
      </p:sp>
      <p:sp>
        <p:nvSpPr>
          <p:cNvPr id="14" name="TextBox 13">
            <a:extLst>
              <a:ext uri="{FF2B5EF4-FFF2-40B4-BE49-F238E27FC236}">
                <a16:creationId xmlns:a16="http://schemas.microsoft.com/office/drawing/2014/main" id="{4519BB5C-23A6-F5DE-81AE-FC96F1AF1FCB}"/>
              </a:ext>
            </a:extLst>
          </p:cNvPr>
          <p:cNvSpPr txBox="1"/>
          <p:nvPr/>
        </p:nvSpPr>
        <p:spPr>
          <a:xfrm>
            <a:off x="1693765" y="1249202"/>
            <a:ext cx="9796393" cy="5109091"/>
          </a:xfrm>
          <a:prstGeom prst="rect">
            <a:avLst/>
          </a:prstGeom>
          <a:noFill/>
        </p:spPr>
        <p:txBody>
          <a:bodyPr wrap="square">
            <a:spAutoFit/>
          </a:bodyPr>
          <a:lstStyle/>
          <a:p>
            <a:r>
              <a:rPr lang="en-SG" sz="1400" b="1" u="sng" dirty="0"/>
              <a:t>Key Problems</a:t>
            </a:r>
          </a:p>
          <a:p>
            <a:pPr marL="285750" indent="-285750">
              <a:buFont typeface="Wingdings" panose="05000000000000000000" pitchFamily="2" charset="2"/>
              <a:buChar char="Ø"/>
            </a:pPr>
            <a:r>
              <a:rPr lang="en-SG" sz="1400" dirty="0"/>
              <a:t>Marketing budgets (e.g., vouchers or promotions) are limited.</a:t>
            </a:r>
          </a:p>
          <a:p>
            <a:pPr marL="285750" indent="-285750">
              <a:buFont typeface="Wingdings" panose="05000000000000000000" pitchFamily="2" charset="2"/>
              <a:buChar char="Ø"/>
            </a:pPr>
            <a:r>
              <a:rPr lang="en-SG" sz="1400" dirty="0"/>
              <a:t>Poor targeting wastes spend and reduces campaign ROI.</a:t>
            </a:r>
          </a:p>
          <a:p>
            <a:pPr marL="285750" indent="-285750">
              <a:buFont typeface="Wingdings" panose="05000000000000000000" pitchFamily="2" charset="2"/>
              <a:buChar char="Ø"/>
            </a:pPr>
            <a:endParaRPr lang="en-SG" sz="1400" dirty="0"/>
          </a:p>
          <a:p>
            <a:r>
              <a:rPr lang="en-SG" sz="1400" dirty="0"/>
              <a:t>Common baseline approaches:</a:t>
            </a:r>
          </a:p>
          <a:p>
            <a:pPr marL="285750" indent="-285750">
              <a:buFont typeface="Wingdings" panose="05000000000000000000" pitchFamily="2" charset="2"/>
              <a:buChar char="Ø"/>
            </a:pPr>
            <a:r>
              <a:rPr lang="en-SG" sz="1400" dirty="0"/>
              <a:t>Random targeting</a:t>
            </a:r>
          </a:p>
          <a:p>
            <a:pPr marL="285750" indent="-285750">
              <a:buFont typeface="Wingdings" panose="05000000000000000000" pitchFamily="2" charset="2"/>
              <a:buChar char="Ø"/>
            </a:pPr>
            <a:r>
              <a:rPr lang="en-SG" sz="1400" dirty="0"/>
              <a:t>Simple heuristics (e.g., RFM rules)</a:t>
            </a:r>
          </a:p>
          <a:p>
            <a:endParaRPr lang="en-SG" sz="1400" b="1" dirty="0"/>
          </a:p>
          <a:p>
            <a:r>
              <a:rPr lang="en-SG" sz="1400" b="1" u="sng" dirty="0"/>
              <a:t>Proposed ML Solution</a:t>
            </a:r>
          </a:p>
          <a:p>
            <a:r>
              <a:rPr lang="en-SG" sz="1400" dirty="0"/>
              <a:t>Two ML engines support growth decisions.</a:t>
            </a:r>
          </a:p>
          <a:p>
            <a:endParaRPr lang="en-SG" sz="1400" dirty="0"/>
          </a:p>
          <a:p>
            <a:r>
              <a:rPr lang="en-SG" sz="1400" b="1" dirty="0"/>
              <a:t>1. Purchase Propensity Engine </a:t>
            </a:r>
            <a:endParaRPr lang="en-SG" sz="1400" dirty="0"/>
          </a:p>
          <a:p>
            <a:pPr marL="285750" indent="-285750">
              <a:buFont typeface="Wingdings" panose="05000000000000000000" pitchFamily="2" charset="2"/>
              <a:buChar char="Ø"/>
            </a:pPr>
            <a:r>
              <a:rPr lang="en-SG" sz="1400" dirty="0"/>
              <a:t>Predict purchase probability and expected revenue at user-level</a:t>
            </a:r>
          </a:p>
          <a:p>
            <a:pPr marL="285750" indent="-285750">
              <a:buFont typeface="Wingdings" panose="05000000000000000000" pitchFamily="2" charset="2"/>
              <a:buChar char="Ø"/>
            </a:pPr>
            <a:r>
              <a:rPr lang="en-SG" sz="1400" b="1" dirty="0"/>
              <a:t>Rank users by expected value to allocate marketing budget more efficiently</a:t>
            </a:r>
          </a:p>
          <a:p>
            <a:pPr marL="285750" indent="-285750">
              <a:buFont typeface="Wingdings" panose="05000000000000000000" pitchFamily="2" charset="2"/>
              <a:buChar char="Ø"/>
            </a:pPr>
            <a:endParaRPr lang="en-SG" sz="1400" dirty="0"/>
          </a:p>
          <a:p>
            <a:r>
              <a:rPr lang="en-SG" sz="1400" b="1" dirty="0"/>
              <a:t>2. Recommender Engine</a:t>
            </a:r>
            <a:endParaRPr lang="en-SG" sz="1400" dirty="0"/>
          </a:p>
          <a:p>
            <a:pPr marL="285750" indent="-285750">
              <a:buFont typeface="Wingdings" panose="05000000000000000000" pitchFamily="2" charset="2"/>
              <a:buChar char="Ø"/>
            </a:pPr>
            <a:r>
              <a:rPr lang="en-SG" sz="1400" dirty="0"/>
              <a:t>Recommend relevant products to users</a:t>
            </a:r>
          </a:p>
          <a:p>
            <a:pPr marL="285750" indent="-285750">
              <a:buFont typeface="Wingdings" panose="05000000000000000000" pitchFamily="2" charset="2"/>
              <a:buChar char="Ø"/>
            </a:pPr>
            <a:r>
              <a:rPr lang="en-SG" sz="1400" b="1" dirty="0"/>
              <a:t>Improve discovery and engagement</a:t>
            </a:r>
          </a:p>
          <a:p>
            <a:endParaRPr lang="en-SG" sz="1400" b="1" dirty="0"/>
          </a:p>
          <a:p>
            <a:r>
              <a:rPr lang="en-SG" sz="1400" b="1" u="sng" dirty="0"/>
              <a:t>Outcome</a:t>
            </a:r>
            <a:r>
              <a:rPr lang="en-SG" sz="1400" u="sng" dirty="0"/>
              <a:t> –</a:t>
            </a:r>
            <a:r>
              <a:rPr lang="en-SG" sz="1400" b="1" u="sng" dirty="0"/>
              <a:t> Purchase Propensity Improves Budget Allocation</a:t>
            </a:r>
          </a:p>
          <a:p>
            <a:pPr marL="285750" indent="-285750">
              <a:buFont typeface="Wingdings" panose="05000000000000000000" pitchFamily="2" charset="2"/>
              <a:buChar char="Ø"/>
            </a:pPr>
            <a:r>
              <a:rPr lang="en-SG" sz="1400" dirty="0"/>
              <a:t>ML targeting </a:t>
            </a:r>
            <a:r>
              <a:rPr lang="en-SG" sz="1400" b="1" dirty="0"/>
              <a:t>consistently beats random targeting</a:t>
            </a:r>
          </a:p>
          <a:p>
            <a:pPr marL="285750" indent="-285750">
              <a:buFont typeface="Wingdings" panose="05000000000000000000" pitchFamily="2" charset="2"/>
              <a:buChar char="Ø"/>
            </a:pPr>
            <a:r>
              <a:rPr lang="en-SG" sz="1400" dirty="0"/>
              <a:t>ML targeting </a:t>
            </a:r>
            <a:r>
              <a:rPr lang="en-SG" sz="1400" b="1" dirty="0"/>
              <a:t>remains competitive with heuristic RFM</a:t>
            </a:r>
          </a:p>
          <a:p>
            <a:pPr marL="285750" indent="-285750">
              <a:buFont typeface="Wingdings" panose="05000000000000000000" pitchFamily="2" charset="2"/>
              <a:buChar char="Ø"/>
            </a:pPr>
            <a:r>
              <a:rPr lang="en-SG" sz="1400" dirty="0"/>
              <a:t>ML provides a </a:t>
            </a:r>
            <a:r>
              <a:rPr lang="en-SG" sz="1400" b="1" dirty="0"/>
              <a:t>scalable framework as richer data becomes available</a:t>
            </a:r>
          </a:p>
        </p:txBody>
      </p:sp>
    </p:spTree>
    <p:extLst>
      <p:ext uri="{BB962C8B-B14F-4D97-AF65-F5344CB8AC3E}">
        <p14:creationId xmlns:p14="http://schemas.microsoft.com/office/powerpoint/2010/main" val="930765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4074211914"/>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748393268"/>
              </p:ext>
            </p:extLst>
          </p:nvPr>
        </p:nvGraphicFramePr>
        <p:xfrm>
          <a:off x="284252" y="1406605"/>
          <a:ext cx="3311942" cy="516564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493753767"/>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575624" y="2999351"/>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 Engine</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540735"/>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a:p>
              <a:pPr marL="0" lvl="1" defTabSz="444500">
                <a:lnSpc>
                  <a:spcPct val="90000"/>
                </a:lnSpc>
                <a:spcBef>
                  <a:spcPct val="0"/>
                </a:spcBef>
                <a:spcAft>
                  <a:spcPct val="15000"/>
                </a:spcAft>
              </a:pPr>
              <a:r>
                <a:rPr lang="en-SG" sz="1400" i="1" dirty="0"/>
                <a:t>(Used for Both Offline Backtesting and Serving)</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716378"/>
            <a:ext cx="2112420" cy="2103553"/>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Policies</a:t>
              </a:r>
              <a:br>
                <a:rPr lang="en-SG" sz="1000" b="1" dirty="0"/>
              </a:br>
              <a:r>
                <a:rPr lang="en-SG" sz="1000" b="1" kern="1200" dirty="0"/>
                <a:t>(Budget-Constrained)</a:t>
              </a:r>
            </a:p>
            <a:p>
              <a:pPr marL="285750" lvl="1" indent="-285750" algn="l" defTabSz="711200">
                <a:spcBef>
                  <a:spcPct val="0"/>
                </a:spcBef>
                <a:spcAft>
                  <a:spcPts val="6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spcBef>
                  <a:spcPct val="0"/>
                </a:spcBef>
                <a:spcAft>
                  <a:spcPts val="600"/>
                </a:spcAft>
                <a:buFont typeface="Wingdings" panose="05000000000000000000" pitchFamily="2" charset="2"/>
                <a:buChar char="Ø"/>
              </a:pPr>
              <a:r>
                <a:rPr lang="en-SG" sz="1000" kern="1200" dirty="0"/>
                <a:t>Policy B (Native baseline): Target random</a:t>
              </a:r>
            </a:p>
            <a:p>
              <a:pPr marL="285750" lvl="1" indent="-285750" algn="l" defTabSz="711200">
                <a:spcBef>
                  <a:spcPct val="0"/>
                </a:spcBef>
                <a:spcAft>
                  <a:spcPts val="6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policy ranks users based on expected value (predicted purchase probability × predicted revenue) on each prediction window and monthly snapshot slice.</a:t>
            </a:r>
          </a:p>
          <a:p>
            <a:pPr lvl="0">
              <a:buNone/>
            </a:pP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254492"/>
            <a:ext cx="3420296" cy="1323439"/>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68294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841356"/>
            <a:ext cx="1762222" cy="1785104"/>
          </a:xfrm>
          <a:prstGeom prst="rect">
            <a:avLst/>
          </a:prstGeom>
          <a:noFill/>
        </p:spPr>
        <p:txBody>
          <a:bodyPr wrap="square">
            <a:spAutoFit/>
          </a:bodyPr>
          <a:lstStyle/>
          <a:p>
            <a:pPr lvl="0"/>
            <a:r>
              <a:rPr lang="en-SG" sz="1000" b="1" dirty="0"/>
              <a:t>Purchase Propensity Model (logistic/xgboost + calibration)</a:t>
            </a:r>
            <a:br>
              <a:rPr lang="en-SG" sz="1000" b="1" dirty="0"/>
            </a:br>
            <a:r>
              <a:rPr lang="en-SG" sz="1000" dirty="0"/>
              <a:t>ROC-AUC / PR-AUC / Top-decile lift / Brier score / ECE</a:t>
            </a:r>
          </a:p>
          <a:p>
            <a:pPr lvl="0"/>
            <a:endParaRPr lang="en-SG" sz="1000" dirty="0"/>
          </a:p>
          <a:p>
            <a:pPr lvl="0"/>
            <a:r>
              <a:rPr lang="en-SG" sz="1000" b="1" dirty="0"/>
              <a:t>Revenue Prediction Model (xgboost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868590" y="2009238"/>
            <a:ext cx="2790010" cy="44998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Experiments</a:t>
              </a:r>
              <a:br>
                <a:rPr lang="en-SG" sz="1400" b="1" i="1" dirty="0"/>
              </a:br>
              <a:r>
                <a:rPr lang="en-SG" sz="1400" b="1" i="1" dirty="0"/>
                <a:t>(Train +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2006425"/>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472672"/>
            <a:ext cx="3422720" cy="1477327"/>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900" b="1" kern="1200" dirty="0"/>
                <a:t>Compare Model &amp; Assumptions (Freeze After </a:t>
              </a:r>
              <a:r>
                <a:rPr lang="en-SG" sz="900" b="1" dirty="0"/>
                <a:t>V</a:t>
              </a:r>
              <a:r>
                <a:rPr lang="en-SG" sz="900" b="1" kern="1200" dirty="0"/>
                <a:t>alidation)</a:t>
              </a:r>
            </a:p>
            <a:p>
              <a:pPr marL="285750" lvl="1" indent="-285750" algn="l" defTabSz="711200">
                <a:spcBef>
                  <a:spcPct val="0"/>
                </a:spcBef>
                <a:spcAft>
                  <a:spcPts val="600"/>
                </a:spcAft>
                <a:buFont typeface="Wingdings" panose="05000000000000000000" pitchFamily="2" charset="2"/>
                <a:buChar char="Ø"/>
              </a:pPr>
              <a:r>
                <a:rPr lang="en-SG" sz="900" b="1" dirty="0"/>
                <a:t>Propensity: logistic/xgboost </a:t>
              </a:r>
              <a:r>
                <a:rPr lang="en-SG" sz="900" dirty="0"/>
                <a:t>with different windows</a:t>
              </a:r>
            </a:p>
            <a:p>
              <a:pPr marL="285750" lvl="1" indent="-285750" algn="l" defTabSz="711200">
                <a:spcBef>
                  <a:spcPct val="0"/>
                </a:spcBef>
                <a:spcAft>
                  <a:spcPts val="600"/>
                </a:spcAft>
                <a:buFont typeface="Wingdings" panose="05000000000000000000" pitchFamily="2" charset="2"/>
                <a:buChar char="Ø"/>
              </a:pPr>
              <a:r>
                <a:rPr lang="en-SG" sz="900" b="1" dirty="0"/>
                <a:t>Prediction window </a:t>
              </a:r>
              <a:r>
                <a:rPr lang="en-SG" sz="900" dirty="0"/>
                <a:t>validation with inter-purchase distribution analysis (30d/60d/90d)</a:t>
              </a:r>
            </a:p>
            <a:p>
              <a:pPr marL="285750" lvl="1" indent="-285750" algn="l" defTabSz="711200">
                <a:spcBef>
                  <a:spcPct val="0"/>
                </a:spcBef>
                <a:spcAft>
                  <a:spcPts val="600"/>
                </a:spcAft>
                <a:buFont typeface="Wingdings" panose="05000000000000000000" pitchFamily="2" charset="2"/>
                <a:buChar char="Ø"/>
              </a:pPr>
              <a:r>
                <a:rPr lang="en-SG" sz="900" b="1" i="1" dirty="0"/>
                <a:t>Feature lookback window </a:t>
              </a:r>
              <a:r>
                <a:rPr lang="en-SG" sz="900" i="1" dirty="0"/>
                <a:t>validate with model evaluation metrics (long term 60d/90d/120d + always include short-term 30d)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560524"/>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6058953" y="3687356"/>
            <a:ext cx="1138118" cy="707886"/>
          </a:xfrm>
          <a:prstGeom prst="rect">
            <a:avLst/>
          </a:prstGeom>
          <a:noFill/>
        </p:spPr>
        <p:txBody>
          <a:bodyPr wrap="square">
            <a:spAutoFit/>
          </a:bodyPr>
          <a:lstStyle/>
          <a:p>
            <a:pPr lvl="0"/>
            <a:r>
              <a:rPr lang="en-SG" sz="1000" b="1" dirty="0"/>
              <a:t>Frozen models and windows after model validation</a:t>
            </a:r>
            <a:endParaRPr lang="en-SG" sz="1000" dirty="0"/>
          </a:p>
        </p:txBody>
      </p:sp>
      <p:sp>
        <p:nvSpPr>
          <p:cNvPr id="11" name="TextBox 10">
            <a:extLst>
              <a:ext uri="{FF2B5EF4-FFF2-40B4-BE49-F238E27FC236}">
                <a16:creationId xmlns:a16="http://schemas.microsoft.com/office/drawing/2014/main" id="{BA566144-1FB7-4A81-3DF3-1B59707D835B}"/>
              </a:ext>
            </a:extLst>
          </p:cNvPr>
          <p:cNvSpPr txBox="1"/>
          <p:nvPr/>
        </p:nvSpPr>
        <p:spPr>
          <a:xfrm>
            <a:off x="7373739" y="3687356"/>
            <a:ext cx="1138118" cy="553998"/>
          </a:xfrm>
          <a:prstGeom prst="rect">
            <a:avLst/>
          </a:prstGeom>
          <a:noFill/>
        </p:spPr>
        <p:txBody>
          <a:bodyPr wrap="square">
            <a:spAutoFit/>
          </a:bodyPr>
          <a:lstStyle/>
          <a:p>
            <a:pPr lvl="0"/>
            <a:r>
              <a:rPr lang="en-SG" sz="1000" b="1" dirty="0"/>
              <a:t>Test: refit model on train + val data</a:t>
            </a:r>
            <a:endParaRPr lang="en-SG" sz="1000" dirty="0"/>
          </a:p>
        </p:txBody>
      </p:sp>
    </p:spTree>
    <p:extLst>
      <p:ext uri="{BB962C8B-B14F-4D97-AF65-F5344CB8AC3E}">
        <p14:creationId xmlns:p14="http://schemas.microsoft.com/office/powerpoint/2010/main" val="2359990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 Engine</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955606075"/>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353104" y="6115993"/>
            <a:ext cx="172478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262405" y="1324120"/>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110765" y="6115992"/>
            <a:ext cx="1883331"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769764" y="2305959"/>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7113100" y="6450431"/>
            <a:ext cx="3289053" cy="400110"/>
          </a:xfrm>
          <a:prstGeom prst="rect">
            <a:avLst/>
          </a:prstGeom>
          <a:noFill/>
        </p:spPr>
        <p:txBody>
          <a:bodyPr wrap="square">
            <a:spAutoFit/>
          </a:bodyPr>
          <a:lstStyle/>
          <a:p>
            <a:pPr lvl="0"/>
            <a:r>
              <a:rPr lang="en-SG" sz="1000" b="1" i="1" dirty="0"/>
              <a:t>ANN: </a:t>
            </a:r>
            <a:r>
              <a:rPr lang="en-SG" sz="1000" i="1" dirty="0"/>
              <a:t>Efficient approximate nearest neighbour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4058814"/>
            <a:ext cx="2634778" cy="1415929"/>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u="sng" dirty="0">
                <a:solidFill>
                  <a:schemeClr val="tx1"/>
                </a:solidFill>
              </a:rPr>
              <a:t>Experiments</a:t>
            </a:r>
          </a:p>
          <a:p>
            <a:endParaRPr lang="en-SG" sz="1000" b="1" dirty="0">
              <a:solidFill>
                <a:schemeClr val="tx1"/>
              </a:solidFill>
            </a:endParaRPr>
          </a:p>
          <a:p>
            <a:r>
              <a:rPr lang="en-SG" sz="1000" b="1" dirty="0">
                <a:solidFill>
                  <a:schemeClr val="tx1"/>
                </a:solidFill>
              </a:rPr>
              <a:t>Popularity</a:t>
            </a:r>
            <a:r>
              <a:rPr lang="en-SG" sz="1000" dirty="0">
                <a:solidFill>
                  <a:schemeClr val="tx1"/>
                </a:solidFill>
              </a:rPr>
              <a:t>: recommends globally most-bought items.</a:t>
            </a:r>
          </a:p>
          <a:p>
            <a:r>
              <a:rPr lang="en-SG" sz="1000" b="1" dirty="0">
                <a:solidFill>
                  <a:schemeClr val="tx1"/>
                </a:solidFill>
              </a:rPr>
              <a:t>MF: </a:t>
            </a:r>
            <a:r>
              <a:rPr lang="en-SG" sz="1000" dirty="0">
                <a:solidFill>
                  <a:schemeClr val="tx1"/>
                </a:solidFill>
              </a:rPr>
              <a:t>Matrix factorization (TruncatedSVD) on user-item interactions.</a:t>
            </a:r>
          </a:p>
          <a:p>
            <a:r>
              <a:rPr lang="en-SG" sz="1000" b="1" dirty="0">
                <a:solidFill>
                  <a:schemeClr val="tx1"/>
                </a:solidFill>
              </a:rPr>
              <a:t>Two-Tower (ML-default): </a:t>
            </a:r>
            <a:r>
              <a:rPr lang="en-SG" sz="10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57784" y="5573621"/>
            <a:ext cx="2634778" cy="476638"/>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dirty="0">
                <a:solidFill>
                  <a:schemeClr val="tx1"/>
                </a:solidFill>
              </a:rPr>
              <a:t>Out-of-scope: Stage 2 Re-ranking </a:t>
            </a:r>
            <a:r>
              <a:rPr lang="en-SG" sz="1000" dirty="0">
                <a:solidFill>
                  <a:schemeClr val="tx1"/>
                </a:solidFill>
              </a:rPr>
              <a:t>to improve recall</a:t>
            </a:r>
          </a:p>
        </p:txBody>
      </p:sp>
      <p:sp>
        <p:nvSpPr>
          <p:cNvPr id="22" name="Rectangle 21">
            <a:extLst>
              <a:ext uri="{FF2B5EF4-FFF2-40B4-BE49-F238E27FC236}">
                <a16:creationId xmlns:a16="http://schemas.microsoft.com/office/drawing/2014/main" id="{4AD1588E-2502-031D-D41D-94791FAC1C39}"/>
              </a:ext>
            </a:extLst>
          </p:cNvPr>
          <p:cNvSpPr/>
          <p:nvPr/>
        </p:nvSpPr>
        <p:spPr>
          <a:xfrm>
            <a:off x="1" y="0"/>
            <a:ext cx="6096000" cy="807741"/>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dirty="0">
                <a:solidFill>
                  <a:srgbClr val="FF0000"/>
                </a:solidFill>
              </a:rPr>
              <a:t>- To review and update stricter train/serve split in implementation</a:t>
            </a:r>
          </a:p>
          <a:p>
            <a:r>
              <a:rPr lang="en-SG" sz="1000" dirty="0">
                <a:solidFill>
                  <a:srgbClr val="FF0000"/>
                </a:solidFill>
              </a:rPr>
              <a:t>- Also to rerun pipeline/artifacts to see if appendix key results and analysis reports need refresh</a:t>
            </a:r>
          </a:p>
          <a:p>
            <a:r>
              <a:rPr lang="en-SG" sz="1000">
                <a:solidFill>
                  <a:srgbClr val="FF0000"/>
                </a:solidFill>
              </a:rPr>
              <a:t>- Consider </a:t>
            </a:r>
            <a:r>
              <a:rPr lang="en-SG" sz="1000" dirty="0">
                <a:solidFill>
                  <a:srgbClr val="FF0000"/>
                </a:solidFill>
              </a:rPr>
              <a:t>add a technical slide on how ANN works </a:t>
            </a:r>
          </a:p>
        </p:txBody>
      </p:sp>
    </p:spTree>
    <p:extLst>
      <p:ext uri="{BB962C8B-B14F-4D97-AF65-F5344CB8AC3E}">
        <p14:creationId xmlns:p14="http://schemas.microsoft.com/office/powerpoint/2010/main" val="1774856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0"/>
            <a:ext cx="3085269" cy="5119519"/>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(Example Profile: 30d prediction window, 90d feature lookback window)</a:t>
            </a:r>
          </a:p>
          <a:p>
            <a:pPr marL="0" indent="0">
              <a:buNone/>
            </a:pPr>
            <a:r>
              <a:rPr lang="en-SG" sz="900" b="1" dirty="0"/>
              <a:t>Example features/profile (30d prediction/90d lookback):</a:t>
            </a:r>
          </a:p>
          <a:p>
            <a:pPr>
              <a:spcBef>
                <a:spcPts val="0"/>
              </a:spcBef>
              <a:buFont typeface="Wingdings" panose="05000000000000000000" pitchFamily="2" charset="2"/>
              <a:buChar char="Ø"/>
            </a:pPr>
            <a:r>
              <a:rPr lang="en-SG" sz="900" dirty="0"/>
              <a:t>recency_days</a:t>
            </a:r>
          </a:p>
          <a:p>
            <a:pPr>
              <a:spcBef>
                <a:spcPts val="0"/>
              </a:spcBef>
              <a:buFont typeface="Wingdings" panose="05000000000000000000" pitchFamily="2" charset="2"/>
              <a:buChar char="Ø"/>
            </a:pPr>
            <a:r>
              <a:rPr lang="en-SG" sz="900" dirty="0"/>
              <a:t>frequency_30d </a:t>
            </a:r>
            <a:r>
              <a:rPr lang="en-SG" sz="900" b="1" i="1" dirty="0"/>
              <a:t>(Note 1)</a:t>
            </a:r>
          </a:p>
          <a:p>
            <a:pPr>
              <a:spcBef>
                <a:spcPts val="0"/>
              </a:spcBef>
              <a:buFont typeface="Wingdings" panose="05000000000000000000" pitchFamily="2" charset="2"/>
              <a:buChar char="Ø"/>
            </a:pPr>
            <a:r>
              <a:rPr lang="en-SG" sz="900" dirty="0"/>
              <a:t>monetary_30d</a:t>
            </a:r>
            <a:r>
              <a:rPr lang="en-SG" sz="900" b="1" i="1" dirty="0"/>
              <a:t> (Note 1)</a:t>
            </a:r>
            <a:endParaRPr lang="en-SG" sz="900" b="1" dirty="0"/>
          </a:p>
          <a:p>
            <a:pPr>
              <a:spcBef>
                <a:spcPts val="0"/>
              </a:spcBef>
              <a:buFont typeface="Wingdings" panose="05000000000000000000" pitchFamily="2" charset="2"/>
              <a:buChar char="Ø"/>
            </a:pPr>
            <a:r>
              <a:rPr lang="en-SG" sz="900" dirty="0"/>
              <a:t>frequency_90d</a:t>
            </a:r>
            <a:r>
              <a:rPr lang="en-SG" sz="900" b="1" i="1" dirty="0"/>
              <a:t> (Note 2)</a:t>
            </a:r>
            <a:endParaRPr lang="en-SG" sz="900" b="1" dirty="0"/>
          </a:p>
          <a:p>
            <a:pPr>
              <a:spcBef>
                <a:spcPts val="0"/>
              </a:spcBef>
              <a:buFont typeface="Wingdings" panose="05000000000000000000" pitchFamily="2" charset="2"/>
              <a:buChar char="Ø"/>
            </a:pPr>
            <a:r>
              <a:rPr lang="en-SG" sz="900" dirty="0"/>
              <a:t>monetary_90d capped</a:t>
            </a:r>
            <a:r>
              <a:rPr lang="en-SG" sz="900" i="1" dirty="0"/>
              <a:t> </a:t>
            </a:r>
            <a:r>
              <a:rPr lang="en-SG" sz="900" b="1" i="1" dirty="0"/>
              <a:t>(Note 2,3)</a:t>
            </a:r>
            <a:endParaRPr lang="en-SG" sz="900" b="1" i="1" baseline="30000" dirty="0"/>
          </a:p>
          <a:p>
            <a:pPr>
              <a:spcBef>
                <a:spcPts val="0"/>
              </a:spcBef>
              <a:buFont typeface="Wingdings" panose="05000000000000000000" pitchFamily="2" charset="2"/>
              <a:buChar char="Ø"/>
            </a:pPr>
            <a:r>
              <a:rPr lang="en-SG" sz="900" dirty="0"/>
              <a:t>avg_basket_value_90d </a:t>
            </a:r>
            <a:r>
              <a:rPr lang="en-SG" sz="900" b="1" i="1" dirty="0"/>
              <a:t>(Note 2)</a:t>
            </a:r>
            <a:endParaRPr lang="en-SG" sz="900" b="1" dirty="0"/>
          </a:p>
          <a:p>
            <a:pPr>
              <a:spcBef>
                <a:spcPts val="0"/>
              </a:spcBef>
              <a:buFont typeface="Wingdings" panose="05000000000000000000" pitchFamily="2" charset="2"/>
              <a:buChar char="Ø"/>
            </a:pPr>
            <a:r>
              <a:rPr lang="en-SG" sz="900" dirty="0"/>
              <a:t>country</a:t>
            </a:r>
          </a:p>
          <a:p>
            <a:pPr>
              <a:spcBef>
                <a:spcPts val="0"/>
              </a:spcBef>
              <a:buFont typeface="Wingdings" panose="05000000000000000000" pitchFamily="2" charset="2"/>
              <a:buChar char="Ø"/>
            </a:pPr>
            <a:r>
              <a:rPr lang="en-SG" sz="900" dirty="0"/>
              <a:t>label_net_revenue_30d </a:t>
            </a:r>
            <a:r>
              <a:rPr lang="en-SG" sz="900" b="1" i="1" dirty="0"/>
              <a:t>(Note 5)</a:t>
            </a:r>
            <a:endParaRPr lang="en-SG" sz="900" dirty="0"/>
          </a:p>
          <a:p>
            <a:pPr>
              <a:spcBef>
                <a:spcPts val="0"/>
              </a:spcBef>
              <a:buFont typeface="Wingdings" panose="05000000000000000000" pitchFamily="2" charset="2"/>
              <a:buChar char="Ø"/>
            </a:pPr>
            <a:r>
              <a:rPr lang="en-SG" sz="900" dirty="0"/>
              <a:t>label_purchase_30d </a:t>
            </a:r>
            <a:r>
              <a:rPr lang="en-SG" sz="900" b="1" i="1" dirty="0"/>
              <a:t>(Note 5)</a:t>
            </a:r>
          </a:p>
          <a:p>
            <a:pPr marL="0" indent="0">
              <a:buNone/>
            </a:pPr>
            <a:r>
              <a:rPr lang="en-SG" sz="900" b="1" i="1" dirty="0"/>
              <a:t>Note 1: 30d short-term lookback windows (frequency_30d, monetary_30d) – Always include</a:t>
            </a:r>
            <a:endParaRPr lang="en-SG" sz="900" b="1" dirty="0"/>
          </a:p>
          <a:p>
            <a:pPr marL="0" indent="0">
              <a:buNone/>
            </a:pPr>
            <a:r>
              <a:rPr lang="en-SG" sz="900" b="1" dirty="0"/>
              <a:t>Note 2: Longer-term feature lookback window days (frequency, monetary) - Include depending on lookback window config (e.g. 90d)</a:t>
            </a:r>
            <a:endParaRPr lang="en-SG" sz="900" dirty="0"/>
          </a:p>
          <a:p>
            <a:pPr marL="0" indent="0">
              <a:spcBef>
                <a:spcPts val="0"/>
              </a:spcBef>
              <a:buNone/>
            </a:pPr>
            <a:endParaRPr lang="en-SG" sz="900" b="1" i="1" dirty="0"/>
          </a:p>
          <a:p>
            <a:pPr marL="0" indent="0">
              <a:spcBef>
                <a:spcPts val="0"/>
              </a:spcBef>
              <a:buNone/>
            </a:pPr>
            <a:r>
              <a:rPr lang="en-SG" sz="900" b="1" i="1" dirty="0"/>
              <a:t>Note 3: Cap longer-term monetary lookback by excluding outliers during training/serving to reduce skew to fit model towards majority of users.</a:t>
            </a:r>
          </a:p>
          <a:p>
            <a:pPr marL="0" indent="0">
              <a:spcBef>
                <a:spcPts val="0"/>
              </a:spcBef>
              <a:buNone/>
            </a:pPr>
            <a:endParaRPr lang="en-SG" sz="900" b="1" i="1" dirty="0"/>
          </a:p>
          <a:p>
            <a:pPr marL="0" indent="0">
              <a:spcBef>
                <a:spcPts val="0"/>
              </a:spcBef>
              <a:buNone/>
            </a:pPr>
            <a:r>
              <a:rPr lang="en-SG" sz="900" b="1" i="1" dirty="0"/>
              <a:t>Note 4: Skip 30‑day average basket size because most users have too few purchases in 30 days for a stable average. </a:t>
            </a:r>
            <a:r>
              <a:rPr lang="en-SG" sz="900" i="1" dirty="0"/>
              <a:t>Still keep 30‑day counts and spend totals because even small activity in the last 30d is a useful signal.</a:t>
            </a:r>
          </a:p>
          <a:p>
            <a:pPr marL="0" indent="0">
              <a:spcBef>
                <a:spcPts val="0"/>
              </a:spcBef>
              <a:buNone/>
            </a:pPr>
            <a:endParaRPr lang="en-SG" sz="900" i="1" dirty="0"/>
          </a:p>
          <a:p>
            <a:pPr marL="0" indent="0">
              <a:spcBef>
                <a:spcPts val="0"/>
              </a:spcBef>
              <a:buNone/>
            </a:pPr>
            <a:r>
              <a:rPr lang="en-SG" sz="900" b="1" i="1" dirty="0"/>
              <a:t>Note 5: label_* features – Include depending on prediction window config</a:t>
            </a:r>
            <a:endParaRPr lang="en-SG" sz="900" i="1" dirty="0"/>
          </a:p>
          <a:p>
            <a:pPr marL="0" indent="0">
              <a:spcBef>
                <a:spcPts val="0"/>
              </a:spcBef>
              <a:buNone/>
            </a:pPr>
            <a:endParaRPr lang="en-SG" sz="900" b="1"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511951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900" b="1" dirty="0"/>
              <a:t>Example feature-lookback features extract</a:t>
            </a:r>
            <a:r>
              <a:rPr lang="en-SG" sz="900" dirty="0"/>
              <a:t> </a:t>
            </a:r>
            <a:r>
              <a:rPr lang="en-SG" sz="900" b="1" dirty="0"/>
              <a:t>(with 30d prediction window)</a:t>
            </a:r>
            <a:r>
              <a:rPr lang="en-SG" sz="900" dirty="0"/>
              <a:t>:</a:t>
            </a:r>
          </a:p>
          <a:p>
            <a:pPr>
              <a:buFont typeface="Wingdings" panose="05000000000000000000" pitchFamily="2" charset="2"/>
              <a:buChar char="Ø"/>
            </a:pPr>
            <a:r>
              <a:rPr lang="en-SG" sz="900" b="1" dirty="0"/>
              <a:t>60d lookback profile: </a:t>
            </a:r>
            <a:r>
              <a:rPr lang="en-SG" sz="900" dirty="0"/>
              <a:t>frequency_60d, monetary_60d capped, avg_basket_value_60d, label_net_revenue_30d, label_purchase_30d </a:t>
            </a:r>
          </a:p>
          <a:p>
            <a:pPr>
              <a:buFont typeface="Wingdings" panose="05000000000000000000" pitchFamily="2" charset="2"/>
              <a:buChar char="Ø"/>
            </a:pPr>
            <a:r>
              <a:rPr lang="en-SG" sz="900" b="1" dirty="0"/>
              <a:t>90d lookback profile: </a:t>
            </a:r>
            <a:r>
              <a:rPr lang="en-SG" sz="900" dirty="0"/>
              <a:t>frequency_90d, monetary_90d capped, avg_basket_value_90d, label_net_revenue_30d, label_purchase_30d</a:t>
            </a:r>
          </a:p>
          <a:p>
            <a:pPr>
              <a:buFont typeface="Wingdings" panose="05000000000000000000" pitchFamily="2" charset="2"/>
              <a:buChar char="Ø"/>
            </a:pPr>
            <a:r>
              <a:rPr lang="en-SG" sz="900" b="1" dirty="0"/>
              <a:t>120d lookback profile:</a:t>
            </a:r>
            <a:r>
              <a:rPr lang="en-SG" sz="900" dirty="0"/>
              <a:t> frequency_120d, monetary_120d capped, avg_basket_value_120d, label_net_revenue_30d, label_purchase_30d</a:t>
            </a:r>
          </a:p>
          <a:p>
            <a:pPr marL="0" indent="0">
              <a:buNone/>
            </a:pPr>
            <a:r>
              <a:rPr lang="en-SG" sz="1000" dirty="0"/>
              <a:t>Then it compares model validation metrics (PR-AUC, ROC-AUC, lift, Brier, ECE) across these profiles.</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59784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 </a:t>
            </a:r>
            <a:br>
              <a:rPr lang="en-SG" sz="1000" dirty="0"/>
            </a:br>
            <a:r>
              <a:rPr lang="en-SG" sz="1000" i="1" dirty="0"/>
              <a:t>(top decile positive rate / base positive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70440" y="5370629"/>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 snapshots per cycle: 10M training, 1M validation, 1M testing</a:t>
            </a:r>
          </a:p>
          <a:p>
            <a:pPr>
              <a:buFont typeface="Wingdings" panose="05000000000000000000" pitchFamily="2" charset="2"/>
              <a:buChar char="Ø"/>
            </a:pPr>
            <a:r>
              <a:rPr lang="en-SG" sz="1000" dirty="0"/>
              <a:t>We then included </a:t>
            </a:r>
            <a:r>
              <a:rPr lang="en-SG" sz="1000" b="1" dirty="0"/>
              <a:t>overlapping quarterly retraining on a rolling basis </a:t>
            </a:r>
            <a:r>
              <a:rPr lang="en-SG" sz="1000" dirty="0"/>
              <a:t>with lightweight infra in this project demo since we have ~2 years dataset. For demo purposes, we only perform retraining for 1 quarterly cycle after the initial training cycle..</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178E2-0624-3086-5239-62EA00A2B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285F1-D9A9-A989-A868-FFA69A9DCB8F}"/>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B185BD4-6B9A-B0AC-98CD-AA6EFB14E76E}"/>
                  </a:ext>
                </a:extLst>
              </p:cNvPr>
              <p:cNvSpPr txBox="1"/>
              <p:nvPr/>
            </p:nvSpPr>
            <p:spPr>
              <a:xfrm>
                <a:off x="351026" y="2196072"/>
                <a:ext cx="3253674" cy="4566956"/>
              </a:xfrm>
              <a:prstGeom prst="rect">
                <a:avLst/>
              </a:prstGeom>
              <a:solidFill>
                <a:schemeClr val="accent6">
                  <a:lumMod val="20000"/>
                  <a:lumOff val="80000"/>
                </a:schemeClr>
              </a:solidFill>
            </p:spPr>
            <p:txBody>
              <a:bodyPr wrap="square">
                <a:spAutoFit/>
              </a:bodyPr>
              <a:lstStyle/>
              <a:p>
                <a:r>
                  <a:rPr lang="en-SG" sz="1000" b="1" u="sng" dirty="0"/>
                  <a:t>Inputs</a:t>
                </a:r>
                <a:endParaRPr lang="en-SG" sz="1000" b="1" i="1" u="sng" dirty="0">
                  <a:latin typeface="Cambria Math" panose="02040503050406030204" pitchFamily="18" charset="0"/>
                </a:endParaRPr>
              </a:p>
              <a:p>
                <a:pPr marL="171450" indent="-171450">
                  <a:buFont typeface="Wingdings" panose="05000000000000000000" pitchFamily="2" charset="2"/>
                  <a:buChar char="Ø"/>
                </a:pPr>
                <a:r>
                  <a:rPr lang="en-SG" sz="1000" dirty="0"/>
                  <a:t>User feature snapshot (as_of_date)</a:t>
                </a:r>
              </a:p>
              <a:p>
                <a:pPr marL="171450" indent="-171450">
                  <a:buFont typeface="Wingdings" panose="05000000000000000000" pitchFamily="2" charset="2"/>
                  <a:buChar char="Ø"/>
                </a:pPr>
                <a:r>
                  <a:rPr lang="en-SG" sz="1000" dirty="0"/>
                  <a:t>Frozen model artifacts</a:t>
                </a:r>
              </a:p>
              <a:p>
                <a:pPr marL="171450" indent="-171450">
                  <a:buFont typeface="Wingdings" panose="05000000000000000000" pitchFamily="2" charset="2"/>
                  <a:buChar char="Ø"/>
                </a:pPr>
                <a:endParaRPr lang="en-SG" sz="1000" dirty="0"/>
              </a:p>
              <a:p>
                <a:r>
                  <a:rPr lang="en-SG" sz="1000" b="1" u="sng" dirty="0"/>
                  <a:t>Steps</a:t>
                </a:r>
                <a:endParaRPr lang="en-SG" sz="1000" b="1" i="1" u="sng" dirty="0">
                  <a:latin typeface="Cambria Math" panose="02040503050406030204" pitchFamily="18" charset="0"/>
                </a:endParaRPr>
              </a:p>
              <a:p>
                <a:r>
                  <a:rPr lang="en-SG" sz="1000" b="1" dirty="0"/>
                  <a:t>1. Load trained models</a:t>
                </a:r>
                <a:endParaRPr lang="en-SG" sz="1000" dirty="0"/>
              </a:p>
              <a:p>
                <a:pPr marL="171450" indent="-171450">
                  <a:buFont typeface="Wingdings" panose="05000000000000000000" pitchFamily="2" charset="2"/>
                  <a:buChar char="Ø"/>
                </a:pPr>
                <a:r>
                  <a:rPr lang="en-SG" sz="1000" dirty="0"/>
                  <a:t>Propensity model</a:t>
                </a:r>
              </a:p>
              <a:p>
                <a:pPr marL="171450" indent="-171450">
                  <a:buFont typeface="Wingdings" panose="05000000000000000000" pitchFamily="2" charset="2"/>
                  <a:buChar char="Ø"/>
                </a:pPr>
                <a:r>
                  <a:rPr lang="en-SG" sz="1000" dirty="0"/>
                  <a:t>Revenue model</a:t>
                </a:r>
              </a:p>
              <a:p>
                <a:endParaRPr lang="en-SG" sz="1000" b="1" dirty="0"/>
              </a:p>
              <a:p>
                <a:r>
                  <a:rPr lang="en-SG" sz="1000" dirty="0"/>
                  <a:t>Let  </a:t>
                </a:r>
                <a14:m>
                  <m:oMath xmlns:m="http://schemas.openxmlformats.org/officeDocument/2006/math">
                    <m:r>
                      <a:rPr lang="en-SG" sz="1000" b="1" i="1" dirty="0">
                        <a:latin typeface="Cambria Math" panose="02040503050406030204" pitchFamily="18" charset="0"/>
                      </a:rPr>
                      <m:t>𝒙</m:t>
                    </m:r>
                    <m:r>
                      <a:rPr lang="en-SG" sz="1000" b="1" i="1" dirty="0">
                        <a:latin typeface="Cambria Math" panose="02040503050406030204" pitchFamily="18" charset="0"/>
                      </a:rPr>
                      <m:t>=</m:t>
                    </m:r>
                    <m:r>
                      <a:rPr lang="en-SG" sz="1000" b="1" i="1" dirty="0">
                        <a:latin typeface="Cambria Math" panose="02040503050406030204" pitchFamily="18" charset="0"/>
                      </a:rPr>
                      <m:t>𝒖𝒔𝒆𝒓</m:t>
                    </m:r>
                    <m:r>
                      <a:rPr lang="en-SG" sz="1000" b="1" i="1" dirty="0">
                        <a:latin typeface="Cambria Math" panose="02040503050406030204" pitchFamily="18" charset="0"/>
                      </a:rPr>
                      <m:t> </m:t>
                    </m:r>
                    <m:r>
                      <a:rPr lang="en-SG" sz="1000" b="1" i="1" dirty="0">
                        <a:latin typeface="Cambria Math" panose="02040503050406030204" pitchFamily="18" charset="0"/>
                      </a:rPr>
                      <m:t>𝒇𝒆𝒂𝒕𝒖𝒓𝒆𝒔</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𝒊𝒏𝒄𝒍𝒖𝒅𝒊𝒏𝒈</m:t>
                    </m:r>
                    <m:r>
                      <a:rPr lang="en-SG" sz="1000" b="1" i="1" dirty="0" smtClean="0">
                        <a:latin typeface="Cambria Math" panose="02040503050406030204" pitchFamily="18" charset="0"/>
                      </a:rPr>
                      <m:t> </m:t>
                    </m:r>
                    <m:r>
                      <a:rPr lang="en-SG" sz="1000" b="1" i="1" dirty="0" smtClean="0">
                        <a:latin typeface="Cambria Math" panose="02040503050406030204" pitchFamily="18" charset="0"/>
                      </a:rPr>
                      <m:t>𝑹𝑭𝑴</m:t>
                    </m:r>
                    <m:r>
                      <a:rPr lang="en-SG" sz="1000" b="1" i="1" dirty="0" smtClean="0">
                        <a:latin typeface="Cambria Math" panose="02040503050406030204" pitchFamily="18" charset="0"/>
                      </a:rPr>
                      <m:t>+</m:t>
                    </m:r>
                    <m:r>
                      <a:rPr lang="en-SG" sz="1000" b="1" i="1" dirty="0" smtClean="0">
                        <a:latin typeface="Cambria Math" panose="02040503050406030204" pitchFamily="18" charset="0"/>
                      </a:rPr>
                      <m:t>𝒄𝒐𝒖𝒏𝒕𝒓𝒚</m:t>
                    </m:r>
                  </m:oMath>
                </a14:m>
                <a:endParaRPr lang="en-SG" sz="1000" b="1" dirty="0"/>
              </a:p>
              <a:p>
                <a:endParaRPr lang="en-SG" sz="1000" b="1" dirty="0"/>
              </a:p>
              <a:p>
                <a:r>
                  <a:rPr lang="en-SG" sz="1000" b="1" dirty="0"/>
                  <a:t>2. Predict purchase probability (Propensity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𝑝</m:t>
                      </m:r>
                      <m:r>
                        <a:rPr lang="en-SG" sz="1000" i="1" dirty="0">
                          <a:latin typeface="Cambria Math" panose="02040503050406030204" pitchFamily="18" charset="0"/>
                        </a:rPr>
                        <m:t>= </m:t>
                      </m:r>
                      <m:r>
                        <a:rPr lang="en-SG" sz="1000" i="1" dirty="0">
                          <a:latin typeface="Cambria Math" panose="02040503050406030204" pitchFamily="18" charset="0"/>
                        </a:rPr>
                        <m:t>𝑃</m:t>
                      </m:r>
                      <m:r>
                        <a:rPr lang="en-SG" sz="1000" i="1" dirty="0">
                          <a:latin typeface="Cambria Math" panose="02040503050406030204" pitchFamily="18" charset="0"/>
                        </a:rPr>
                        <m:t>(</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Calibrated (see next slide)</a:t>
                </a:r>
                <a:endParaRPr lang="en-SG" sz="1000" dirty="0"/>
              </a:p>
              <a:p>
                <a:endParaRPr lang="en-SG" sz="1000" dirty="0"/>
              </a:p>
              <a:p>
                <a:r>
                  <a:rPr lang="en-SG" sz="1000" b="1" dirty="0"/>
                  <a:t>3. Predict expected revenue if purchase occurs (Revenue Prediction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𝑟</m:t>
                      </m:r>
                      <m:r>
                        <a:rPr lang="en-SG" sz="1000" i="1" dirty="0">
                          <a:latin typeface="Cambria Math" panose="02040503050406030204" pitchFamily="18" charset="0"/>
                        </a:rPr>
                        <m:t> = </m:t>
                      </m:r>
                      <m:r>
                        <a:rPr lang="en-SG" sz="1000" i="1" dirty="0">
                          <a:latin typeface="Cambria Math" panose="02040503050406030204" pitchFamily="18" charset="0"/>
                        </a:rPr>
                        <m:t>𝐸</m:t>
                      </m:r>
                      <m:d>
                        <m:dPr>
                          <m:endChr m:val="|"/>
                          <m:ctrlPr>
                            <a:rPr lang="en-SG" sz="1000" i="1" dirty="0">
                              <a:latin typeface="Cambria Math" panose="02040503050406030204" pitchFamily="18" charset="0"/>
                            </a:rPr>
                          </m:ctrlPr>
                        </m:dPr>
                        <m:e>
                          <m:r>
                            <a:rPr lang="en-SG" sz="1000" i="1" dirty="0">
                              <a:latin typeface="Cambria Math" panose="02040503050406030204" pitchFamily="18" charset="0"/>
                            </a:rPr>
                            <m:t>𝑟𝑒𝑣𝑒𝑛𝑢𝑒</m:t>
                          </m:r>
                          <m:r>
                            <a:rPr lang="en-SG" sz="1000" i="1" dirty="0">
                              <a:latin typeface="Cambria Math" panose="02040503050406030204" pitchFamily="18" charset="0"/>
                            </a:rPr>
                            <m:t> </m:t>
                          </m:r>
                        </m:e>
                      </m:d>
                      <m:r>
                        <a:rPr lang="en-SG" sz="1000" i="1" dirty="0">
                          <a:latin typeface="Cambria Math" panose="02040503050406030204" pitchFamily="18" charset="0"/>
                        </a:rPr>
                        <m:t> </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XGBoost (Regression)</a:t>
                </a:r>
              </a:p>
              <a:p>
                <a:pPr marL="171450" indent="-171450">
                  <a:buFont typeface="Wingdings" panose="05000000000000000000" pitchFamily="2" charset="2"/>
                  <a:buChar char="Ø"/>
                </a:pPr>
                <a:r>
                  <a:rPr lang="en-SG" sz="1000" i="1" dirty="0"/>
                  <a:t>Fallback</a:t>
                </a:r>
                <a:r>
                  <a:rPr lang="en-SG" sz="1000" b="1" i="1" dirty="0"/>
                  <a:t> </a:t>
                </a:r>
                <a:r>
                  <a:rPr lang="en-SG" sz="1000" i="1" dirty="0"/>
                  <a:t>mean revenue if insufficient data (rare in practice)</a:t>
                </a:r>
                <a:endParaRPr lang="en-SG" sz="1000" dirty="0"/>
              </a:p>
              <a:p>
                <a:endParaRPr lang="en-SG" sz="1000" b="1" dirty="0"/>
              </a:p>
              <a:p>
                <a:r>
                  <a:rPr lang="en-SG" sz="1000" b="1" dirty="0"/>
                  <a:t>4. Compute expected value</a:t>
                </a:r>
                <a:br>
                  <a:rPr lang="en-SG" sz="1000" b="1" dirty="0"/>
                </a:br>
                <a:r>
                  <a:rPr lang="en-SG" sz="1000" b="1" dirty="0"/>
                  <a:t>(For user-level ranking during policy evaluation)</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𝐸𝑉</m:t>
                      </m:r>
                      <m:r>
                        <a:rPr lang="en-SG" sz="1000" i="1" dirty="0">
                          <a:latin typeface="Cambria Math" panose="02040503050406030204" pitchFamily="18" charset="0"/>
                        </a:rPr>
                        <m:t>=</m:t>
                      </m:r>
                      <m:r>
                        <a:rPr lang="en-SG" sz="1000" i="1" dirty="0">
                          <a:latin typeface="Cambria Math" panose="02040503050406030204" pitchFamily="18" charset="0"/>
                        </a:rPr>
                        <m:t>𝑝</m:t>
                      </m:r>
                      <m:r>
                        <a:rPr lang="en-SG" sz="1000" i="1" dirty="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ea typeface="Cambria Math" panose="02040503050406030204" pitchFamily="18" charset="0"/>
                        </a:rPr>
                        <m:t>𝑟</m:t>
                      </m:r>
                    </m:oMath>
                  </m:oMathPara>
                </a14:m>
                <a:endParaRPr lang="en-SG" sz="1000" dirty="0"/>
              </a:p>
              <a:p>
                <a:endParaRPr lang="en-SG" sz="1000" dirty="0"/>
              </a:p>
              <a:p>
                <a:r>
                  <a:rPr lang="en-SG" sz="1000" b="1" dirty="0"/>
                  <a:t>5. Output user-level scores</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m:t>
                      </m:r>
                      <m:r>
                        <a:rPr lang="en-SG" sz="1000" i="1" dirty="0">
                          <a:latin typeface="Cambria Math" panose="02040503050406030204" pitchFamily="18" charset="0"/>
                        </a:rPr>
                        <m:t>𝑢𝑠𝑒𝑟</m:t>
                      </m:r>
                      <m:r>
                        <a:rPr lang="en-SG" sz="1000" i="1" dirty="0">
                          <a:latin typeface="Cambria Math" panose="02040503050406030204" pitchFamily="18" charset="0"/>
                        </a:rPr>
                        <m:t>, </m:t>
                      </m:r>
                      <m:r>
                        <a:rPr lang="en-SG" sz="1000" i="1" dirty="0">
                          <a:latin typeface="Cambria Math" panose="02040503050406030204" pitchFamily="18" charset="0"/>
                        </a:rPr>
                        <m:t>𝑝𝑟𝑜𝑝𝑒𝑛𝑠𝑖𝑡𝑦</m:t>
                      </m:r>
                      <m:r>
                        <a:rPr lang="en-SG" sz="1000" i="1" dirty="0">
                          <a:latin typeface="Cambria Math" panose="02040503050406030204" pitchFamily="18" charset="0"/>
                        </a:rPr>
                        <m:t>, </m:t>
                      </m:r>
                      <m:r>
                        <a:rPr lang="en-SG" sz="1000" i="1" dirty="0">
                          <a:latin typeface="Cambria Math" panose="02040503050406030204" pitchFamily="18" charset="0"/>
                        </a:rPr>
                        <m:t>𝑟𝑒𝑣𝑒𝑛𝑢</m:t>
                      </m:r>
                      <m:sSub>
                        <m:sSubPr>
                          <m:ctrlPr>
                            <a:rPr lang="en-SG" sz="1000" i="1" dirty="0">
                              <a:latin typeface="Cambria Math" panose="02040503050406030204" pitchFamily="18" charset="0"/>
                            </a:rPr>
                          </m:ctrlPr>
                        </m:sSubPr>
                        <m:e>
                          <m:r>
                            <a:rPr lang="en-SG" sz="1000" i="1" dirty="0">
                              <a:latin typeface="Cambria Math" panose="02040503050406030204" pitchFamily="18" charset="0"/>
                            </a:rPr>
                            <m:t>𝑒</m:t>
                          </m:r>
                        </m:e>
                        <m:sub>
                          <m:r>
                            <a:rPr lang="en-SG" sz="1000" i="1" dirty="0">
                              <a:latin typeface="Cambria Math" panose="02040503050406030204" pitchFamily="18" charset="0"/>
                            </a:rPr>
                            <m:t>𝑝𝑟𝑒𝑑</m:t>
                          </m:r>
                        </m:sub>
                      </m:sSub>
                      <m:r>
                        <a:rPr lang="en-SG" sz="1000" i="1" dirty="0">
                          <a:latin typeface="Cambria Math" panose="02040503050406030204" pitchFamily="18" charset="0"/>
                        </a:rPr>
                        <m:t>, </m:t>
                      </m:r>
                      <m:r>
                        <a:rPr lang="en-SG" sz="1000" i="1" dirty="0">
                          <a:latin typeface="Cambria Math" panose="02040503050406030204" pitchFamily="18" charset="0"/>
                        </a:rPr>
                        <m:t>𝐸𝑉</m:t>
                      </m:r>
                      <m:r>
                        <a:rPr lang="en-SG" sz="1000" i="1" dirty="0">
                          <a:latin typeface="Cambria Math" panose="02040503050406030204" pitchFamily="18" charset="0"/>
                        </a:rPr>
                        <m:t>)</m:t>
                      </m:r>
                    </m:oMath>
                  </m:oMathPara>
                </a14:m>
                <a:endParaRPr lang="en-SG" sz="1000" dirty="0"/>
              </a:p>
            </p:txBody>
          </p:sp>
        </mc:Choice>
        <mc:Fallback>
          <p:sp>
            <p:nvSpPr>
              <p:cNvPr id="6" name="TextBox 5">
                <a:extLst>
                  <a:ext uri="{FF2B5EF4-FFF2-40B4-BE49-F238E27FC236}">
                    <a16:creationId xmlns:a16="http://schemas.microsoft.com/office/drawing/2014/main" id="{1B185BD4-6B9A-B0AC-98CD-AA6EFB14E76E}"/>
                  </a:ext>
                </a:extLst>
              </p:cNvPr>
              <p:cNvSpPr txBox="1">
                <a:spLocks noRot="1" noChangeAspect="1" noMove="1" noResize="1" noEditPoints="1" noAdjustHandles="1" noChangeArrowheads="1" noChangeShapeType="1" noTextEdit="1"/>
              </p:cNvSpPr>
              <p:nvPr/>
            </p:nvSpPr>
            <p:spPr>
              <a:xfrm>
                <a:off x="351026" y="2196072"/>
                <a:ext cx="3253674" cy="4566956"/>
              </a:xfrm>
              <a:prstGeom prst="rect">
                <a:avLst/>
              </a:prstGeom>
              <a:blipFill>
                <a:blip r:embed="rId3"/>
                <a:stretch>
                  <a:fillRect/>
                </a:stretch>
              </a:blipFill>
            </p:spPr>
            <p:txBody>
              <a:bodyPr/>
              <a:lstStyle/>
              <a:p>
                <a:r>
                  <a:rPr lang="en-SG">
                    <a:noFill/>
                  </a:rPr>
                  <a:t> </a:t>
                </a:r>
              </a:p>
            </p:txBody>
          </p:sp>
        </mc:Fallback>
      </mc:AlternateContent>
      <p:sp>
        <p:nvSpPr>
          <p:cNvPr id="8" name="TextBox 7">
            <a:extLst>
              <a:ext uri="{FF2B5EF4-FFF2-40B4-BE49-F238E27FC236}">
                <a16:creationId xmlns:a16="http://schemas.microsoft.com/office/drawing/2014/main" id="{083685E0-BA58-CD2A-C1E6-B9A92EE2D78F}"/>
              </a:ext>
            </a:extLst>
          </p:cNvPr>
          <p:cNvSpPr txBox="1"/>
          <p:nvPr/>
        </p:nvSpPr>
        <p:spPr>
          <a:xfrm>
            <a:off x="421951" y="1791279"/>
            <a:ext cx="3111824" cy="461665"/>
          </a:xfrm>
          <a:prstGeom prst="rect">
            <a:avLst/>
          </a:prstGeom>
          <a:noFill/>
        </p:spPr>
        <p:txBody>
          <a:bodyPr wrap="square">
            <a:spAutoFit/>
          </a:bodyPr>
          <a:lstStyle/>
          <a:p>
            <a:r>
              <a:rPr lang="en-SG" sz="1200" b="1" dirty="0"/>
              <a:t>Policy A (Default ML-driven targeting): Target top ranked by Expected Value</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CE1585F-6840-E688-8CB5-6F430CA47693}"/>
                  </a:ext>
                </a:extLst>
              </p:cNvPr>
              <p:cNvSpPr txBox="1"/>
              <p:nvPr/>
            </p:nvSpPr>
            <p:spPr>
              <a:xfrm>
                <a:off x="8279424" y="2196072"/>
                <a:ext cx="3805750" cy="3526030"/>
              </a:xfrm>
              <a:prstGeom prst="rect">
                <a:avLst/>
              </a:prstGeom>
              <a:solidFill>
                <a:schemeClr val="accent6">
                  <a:lumMod val="20000"/>
                  <a:lumOff val="80000"/>
                </a:schemeClr>
              </a:solidFill>
            </p:spPr>
            <p:txBody>
              <a:bodyPr wrap="square">
                <a:spAutoFit/>
              </a:bodyPr>
              <a:lstStyle/>
              <a:p>
                <a:r>
                  <a:rPr lang="en-SG" sz="1000" b="1" u="sng" dirty="0"/>
                  <a:t>Formula</a:t>
                </a:r>
              </a:p>
              <a:p>
                <a:pPr/>
                <a14:m>
                  <m:oMathPara xmlns:m="http://schemas.openxmlformats.org/officeDocument/2006/math">
                    <m:oMathParaPr>
                      <m:jc m:val="centerGroup"/>
                    </m:oMathParaPr>
                    <m:oMath xmlns:m="http://schemas.openxmlformats.org/officeDocument/2006/math">
                      <m:r>
                        <a:rPr lang="en-SG" sz="1000" b="0" i="1" dirty="0" smtClean="0">
                          <a:latin typeface="Cambria Math" panose="02040503050406030204" pitchFamily="18" charset="0"/>
                        </a:rPr>
                        <m:t>𝑠𝑐𝑜𝑟𝑒</m:t>
                      </m:r>
                      <m:r>
                        <a:rPr lang="en-SG" sz="1000" i="1" dirty="0">
                          <a:latin typeface="Cambria Math" panose="02040503050406030204" pitchFamily="18" charset="0"/>
                        </a:rPr>
                        <m:t>=</m:t>
                      </m:r>
                      <m:r>
                        <a:rPr lang="en-SG" sz="1000" b="0" i="1" dirty="0" smtClean="0">
                          <a:latin typeface="Cambria Math" panose="02040503050406030204" pitchFamily="18" charset="0"/>
                        </a:rPr>
                        <m:t>h𝑒𝑢𝑟𝑖𝑠𝑡𝑖𝑐</m:t>
                      </m:r>
                      <m:d>
                        <m:dPr>
                          <m:ctrlPr>
                            <a:rPr lang="en-SG" sz="1000" b="0" i="1" dirty="0" smtClean="0">
                              <a:latin typeface="Cambria Math" panose="02040503050406030204" pitchFamily="18" charset="0"/>
                            </a:rPr>
                          </m:ctrlPr>
                        </m:dPr>
                        <m:e>
                          <m:r>
                            <a:rPr lang="en-SG" sz="1000" b="0" i="1" dirty="0" smtClean="0">
                              <a:latin typeface="Cambria Math" panose="02040503050406030204" pitchFamily="18" charset="0"/>
                            </a:rPr>
                            <m:t>𝑅</m:t>
                          </m:r>
                          <m:r>
                            <a:rPr lang="en-SG" sz="1000" b="0" i="1" dirty="0" smtClean="0">
                              <a:latin typeface="Cambria Math" panose="02040503050406030204" pitchFamily="18" charset="0"/>
                            </a:rPr>
                            <m:t>, </m:t>
                          </m:r>
                          <m:r>
                            <a:rPr lang="en-SG" sz="1000" b="0" i="1" dirty="0" smtClean="0">
                              <a:latin typeface="Cambria Math" panose="02040503050406030204" pitchFamily="18" charset="0"/>
                            </a:rPr>
                            <m:t>𝐹</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𝑀</m:t>
                          </m:r>
                        </m:e>
                      </m:d>
                    </m:oMath>
                  </m:oMathPara>
                </a14:m>
                <a:endParaRPr lang="en-SG" sz="1000" b="0" dirty="0"/>
              </a:p>
              <a:p>
                <a:pPr/>
                <a14:m>
                  <m:oMathPara xmlns:m="http://schemas.openxmlformats.org/officeDocument/2006/math">
                    <m:oMathParaPr>
                      <m:jc m:val="centerGroup"/>
                    </m:oMathParaPr>
                    <m:oMath xmlns:m="http://schemas.openxmlformats.org/officeDocument/2006/math">
                      <m:r>
                        <a:rPr lang="en-SG" sz="1000" i="1" dirty="0" smtClean="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rPr>
                        <m:t>𝑟𝑓𝑚</m:t>
                      </m:r>
                      <m:r>
                        <a:rPr lang="en-SG" sz="1000" b="0" i="1" dirty="0" smtClean="0">
                          <a:latin typeface="Cambria Math" panose="02040503050406030204" pitchFamily="18" charset="0"/>
                        </a:rPr>
                        <m:t> </m:t>
                      </m:r>
                      <m:r>
                        <a:rPr lang="en-SG" sz="1000" i="1" dirty="0">
                          <a:latin typeface="Cambria Math" panose="02040503050406030204" pitchFamily="18" charset="0"/>
                        </a:rPr>
                        <m:t>𝑝𝑜𝑙𝑖𝑐𝑦</m:t>
                      </m:r>
                      <m:r>
                        <a:rPr lang="en-SG" sz="1000" b="0" i="1" dirty="0" smtClean="0">
                          <a:latin typeface="Cambria Math" panose="02040503050406030204" pitchFamily="18" charset="0"/>
                        </a:rPr>
                        <m:t> </m:t>
                      </m:r>
                      <m:r>
                        <a:rPr lang="en-SG" sz="1000" i="1" dirty="0">
                          <a:latin typeface="Cambria Math" panose="02040503050406030204" pitchFamily="18" charset="0"/>
                        </a:rPr>
                        <m:t>𝑠𝑐𝑜𝑟𝑒</m:t>
                      </m:r>
                      <m:r>
                        <a:rPr lang="en-SG" sz="1000" i="1" dirty="0">
                          <a:latin typeface="Cambria Math" panose="02040503050406030204" pitchFamily="18" charset="0"/>
                        </a:rPr>
                        <m:t>= </m:t>
                      </m:r>
                      <m:f>
                        <m:fPr>
                          <m:ctrlPr>
                            <a:rPr lang="en-SG" sz="1000" b="0" i="1" dirty="0" smtClean="0">
                              <a:latin typeface="Cambria Math" panose="02040503050406030204" pitchFamily="18" charset="0"/>
                            </a:rPr>
                          </m:ctrlPr>
                        </m:fPr>
                        <m:num>
                          <m:r>
                            <a:rPr lang="en-SG" sz="1000" b="0" i="1" dirty="0" smtClean="0">
                              <a:latin typeface="Cambria Math" panose="02040503050406030204" pitchFamily="18" charset="0"/>
                            </a:rPr>
                            <m:t>1</m:t>
                          </m:r>
                        </m:num>
                        <m:den>
                          <m:r>
                            <a:rPr lang="en-SG" sz="1000" b="0" i="1" dirty="0" smtClean="0">
                              <a:latin typeface="Cambria Math" panose="02040503050406030204" pitchFamily="18" charset="0"/>
                            </a:rPr>
                            <m:t>1+</m:t>
                          </m:r>
                          <m:r>
                            <a:rPr lang="en-SG" sz="1000" b="0" i="1" dirty="0" smtClean="0">
                              <a:latin typeface="Cambria Math" panose="02040503050406030204" pitchFamily="18" charset="0"/>
                            </a:rPr>
                            <m:t>𝑟</m:t>
                          </m:r>
                        </m:den>
                      </m:f>
                      <m:r>
                        <a:rPr lang="en-SG" sz="1000" b="0" i="1" dirty="0" smtClean="0">
                          <a:latin typeface="Cambria Math" panose="02040503050406030204" pitchFamily="18" charset="0"/>
                        </a:rPr>
                        <m:t>+0.5</m:t>
                      </m:r>
                      <m:r>
                        <a:rPr lang="en-SG" sz="1000" b="0" i="1" dirty="0" smtClean="0">
                          <a:latin typeface="Cambria Math" panose="02040503050406030204" pitchFamily="18" charset="0"/>
                        </a:rPr>
                        <m:t>𝑓</m:t>
                      </m:r>
                      <m:r>
                        <a:rPr lang="en-SG" sz="1000" b="0" i="1" dirty="0" smtClean="0">
                          <a:latin typeface="Cambria Math" panose="02040503050406030204" pitchFamily="18" charset="0"/>
                        </a:rPr>
                        <m:t>+0.01</m:t>
                      </m:r>
                      <m:r>
                        <a:rPr lang="en-SG" sz="1000" b="0" i="1" dirty="0" smtClean="0">
                          <a:latin typeface="Cambria Math" panose="02040503050406030204" pitchFamily="18" charset="0"/>
                        </a:rPr>
                        <m:t>𝑚</m:t>
                      </m:r>
                    </m:oMath>
                  </m:oMathPara>
                </a14:m>
                <a:endParaRPr lang="en-SG" sz="1000" dirty="0"/>
              </a:p>
              <a:p>
                <a:r>
                  <a:rPr lang="en-SG" sz="1000" b="1" dirty="0"/>
                  <a:t>Where:</a:t>
                </a:r>
              </a:p>
              <a:p>
                <a:pPr algn="ctr"/>
                <a14:m>
                  <m:oMathPara xmlns:m="http://schemas.openxmlformats.org/officeDocument/2006/math">
                    <m:oMathParaPr>
                      <m:jc m:val="left"/>
                    </m:oMathParaPr>
                    <m:oMath xmlns:m="http://schemas.openxmlformats.org/officeDocument/2006/math">
                      <m:r>
                        <a:rPr lang="en-SG" sz="1000" b="1" i="1" dirty="0">
                          <a:latin typeface="Cambria Math" panose="02040503050406030204" pitchFamily="18" charset="0"/>
                        </a:rPr>
                        <m:t>𝒓</m:t>
                      </m:r>
                      <m:r>
                        <a:rPr lang="en-SG" sz="1000" b="1" i="1" dirty="0" smtClean="0">
                          <a:latin typeface="Cambria Math" panose="02040503050406030204" pitchFamily="18" charset="0"/>
                        </a:rPr>
                        <m:t>:</m:t>
                      </m:r>
                      <m:r>
                        <a:rPr lang="en-SG" sz="1000" b="0" i="1" dirty="0" smtClean="0">
                          <a:latin typeface="Cambria Math" panose="02040503050406030204" pitchFamily="18" charset="0"/>
                        </a:rPr>
                        <m:t>𝑟𝑒𝑐𝑒𝑛𝑐𝑦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𝒇</m:t>
                      </m:r>
                      <m:r>
                        <a:rPr lang="en-SG" sz="1000" b="1" i="1" dirty="0">
                          <a:latin typeface="Cambria Math" panose="02040503050406030204" pitchFamily="18" charset="0"/>
                        </a:rPr>
                        <m:t>:</m:t>
                      </m:r>
                      <m:r>
                        <a:rPr lang="en-SG" sz="1000" b="0" i="1" dirty="0" smtClean="0">
                          <a:latin typeface="Cambria Math" panose="02040503050406030204" pitchFamily="18" charset="0"/>
                        </a:rPr>
                        <m:t>𝑓𝑟𝑒𝑞𝑢𝑒𝑛𝑐𝑦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𝒎</m:t>
                      </m:r>
                      <m:r>
                        <a:rPr lang="en-SG" sz="1000" b="1" i="1" dirty="0">
                          <a:latin typeface="Cambria Math" panose="02040503050406030204" pitchFamily="18" charset="0"/>
                        </a:rPr>
                        <m:t>:</m:t>
                      </m:r>
                      <m:r>
                        <a:rPr lang="en-SG" sz="1000" b="0" i="1" dirty="0" smtClean="0">
                          <a:latin typeface="Cambria Math" panose="02040503050406030204" pitchFamily="18" charset="0"/>
                        </a:rPr>
                        <m:t>𝑚𝑜𝑛𝑒𝑡𝑎𝑟𝑦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𝑎𝑚𝑜𝑢𝑛𝑡</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𝑜𝑣𝑒𝑟</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𝒍𝒐𝒐𝒌𝒃𝒂𝒄𝒌</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𝒅𝒂𝒚𝒔</m:t>
                      </m:r>
                      <m:r>
                        <a:rPr lang="en-SG" sz="1000" b="1" i="1" dirty="0" smtClean="0">
                          <a:latin typeface="Cambria Math" panose="02040503050406030204" pitchFamily="18" charset="0"/>
                        </a:rPr>
                        <m:t>:</m:t>
                      </m:r>
                    </m:oMath>
                  </m:oMathPara>
                </a14:m>
                <a:endParaRPr lang="en-SG" sz="1000" b="1" i="1" dirty="0">
                  <a:latin typeface="Cambria Math" panose="02040503050406030204" pitchFamily="18" charset="0"/>
                </a:endParaRPr>
              </a:p>
              <a:p>
                <a:pPr marL="171450" indent="-171450">
                  <a:buFont typeface="Wingdings" panose="05000000000000000000" pitchFamily="2" charset="2"/>
                  <a:buChar char="Ø"/>
                </a:pPr>
                <a:r>
                  <a:rPr lang="en-SG" sz="1000" b="0" dirty="0"/>
                  <a:t>If window sensitivity experiments, try 60d|90d|120d</a:t>
                </a:r>
              </a:p>
              <a:p>
                <a:pPr marL="171450" indent="-171450">
                  <a:buFont typeface="Wingdings" panose="05000000000000000000" pitchFamily="2" charset="2"/>
                  <a:buChar char="Ø"/>
                </a:pPr>
                <a:r>
                  <a:rPr lang="en-SG" sz="1000" b="0" dirty="0"/>
                  <a:t>Else, use fr</a:t>
                </a:r>
                <a:r>
                  <a:rPr lang="en-SG" sz="1000" dirty="0"/>
                  <a:t>ozen lookback</a:t>
                </a:r>
                <a:endParaRPr lang="en-SG" sz="1000" b="0" dirty="0"/>
              </a:p>
              <a:p>
                <a:endParaRPr lang="en-SG" sz="1000" dirty="0"/>
              </a:p>
              <a:p>
                <a:r>
                  <a:rPr lang="en-SG" sz="1000" b="1" dirty="0"/>
                  <a:t>Parameter factors trade-off:</a:t>
                </a:r>
              </a:p>
              <a:p>
                <a:pPr marL="171450" indent="-171450">
                  <a:buFont typeface="Wingdings" panose="05000000000000000000" pitchFamily="2" charset="2"/>
                  <a:buChar char="Ø"/>
                </a:pPr>
                <a:r>
                  <a:rPr lang="en-SG" sz="1000" b="1" dirty="0"/>
                  <a:t>Recency </a:t>
                </a:r>
                <a:r>
                  <a:rPr lang="en-SG" sz="1000" dirty="0"/>
                  <a:t>decay non-linearly </a:t>
                </a:r>
                <a14:m>
                  <m:oMath xmlns:m="http://schemas.openxmlformats.org/officeDocument/2006/math">
                    <m:f>
                      <m:fPr>
                        <m:ctrlPr>
                          <a:rPr lang="en-SG" sz="1000" i="1" dirty="0">
                            <a:latin typeface="Cambria Math" panose="02040503050406030204" pitchFamily="18" charset="0"/>
                          </a:rPr>
                        </m:ctrlPr>
                      </m:fPr>
                      <m:num>
                        <m:r>
                          <a:rPr lang="en-SG" sz="1000" i="1" dirty="0">
                            <a:latin typeface="Cambria Math" panose="02040503050406030204" pitchFamily="18" charset="0"/>
                          </a:rPr>
                          <m:t>1</m:t>
                        </m:r>
                      </m:num>
                      <m:den>
                        <m:r>
                          <a:rPr lang="en-SG" sz="1000" i="1" dirty="0">
                            <a:latin typeface="Cambria Math" panose="02040503050406030204" pitchFamily="18" charset="0"/>
                          </a:rPr>
                          <m:t>1+</m:t>
                        </m:r>
                        <m:r>
                          <a:rPr lang="en-SG" sz="1000" i="1" dirty="0">
                            <a:latin typeface="Cambria Math" panose="02040503050406030204" pitchFamily="18" charset="0"/>
                          </a:rPr>
                          <m:t>𝑟</m:t>
                        </m:r>
                      </m:den>
                    </m:f>
                  </m:oMath>
                </a14:m>
                <a:endParaRPr lang="en-SG" sz="1000" dirty="0"/>
              </a:p>
              <a:p>
                <a:pPr marL="171450" indent="-171450">
                  <a:buFont typeface="Wingdings" panose="05000000000000000000" pitchFamily="2" charset="2"/>
                  <a:buChar char="Ø"/>
                </a:pPr>
                <a:r>
                  <a:rPr lang="en-SG" sz="1000" dirty="0"/>
                  <a:t>Medium weight (0,5) to </a:t>
                </a:r>
                <a:r>
                  <a:rPr lang="en-SG" sz="1000" b="1" dirty="0"/>
                  <a:t>frequency</a:t>
                </a:r>
              </a:p>
              <a:p>
                <a:pPr marL="171450" indent="-171450">
                  <a:buFont typeface="Wingdings" panose="05000000000000000000" pitchFamily="2" charset="2"/>
                  <a:buChar char="Ø"/>
                </a:pPr>
                <a:r>
                  <a:rPr lang="en-SG" sz="1000" dirty="0"/>
                  <a:t>Low weight (0.01) to </a:t>
                </a:r>
                <a:r>
                  <a:rPr lang="en-SG" sz="1000" b="1" dirty="0"/>
                  <a:t>monetary</a:t>
                </a:r>
                <a:r>
                  <a:rPr lang="en-SG" sz="1000" dirty="0"/>
                  <a:t> so outliers skew don’t dominate</a:t>
                </a:r>
                <a:endParaRPr lang="en-SG" sz="1000" b="1" dirty="0"/>
              </a:p>
              <a:p>
                <a:endParaRPr lang="en-SG" sz="1000" dirty="0"/>
              </a:p>
              <a:p>
                <a:r>
                  <a:rPr lang="en-SG" sz="1000" b="1" dirty="0"/>
                  <a:t>Score increase from below:</a:t>
                </a:r>
              </a:p>
              <a:p>
                <a:pPr marL="171450" indent="-171450">
                  <a:buFont typeface="Wingdings" panose="05000000000000000000" pitchFamily="2" charset="2"/>
                  <a:buChar char="Ø"/>
                </a:pPr>
                <a:r>
                  <a:rPr lang="en-SG" sz="1000" dirty="0"/>
                  <a:t>higher frequency</a:t>
                </a:r>
              </a:p>
              <a:p>
                <a:pPr marL="171450" indent="-171450">
                  <a:buFont typeface="Wingdings" panose="05000000000000000000" pitchFamily="2" charset="2"/>
                  <a:buChar char="Ø"/>
                </a:pPr>
                <a:r>
                  <a:rPr lang="en-SG" sz="1000" dirty="0"/>
                  <a:t>higher monetary</a:t>
                </a:r>
              </a:p>
              <a:p>
                <a:pPr marL="171450" indent="-171450">
                  <a:buFont typeface="Wingdings" panose="05000000000000000000" pitchFamily="2" charset="2"/>
                  <a:buChar char="Ø"/>
                </a:pPr>
                <a:r>
                  <a:rPr lang="en-SG" sz="1000" dirty="0"/>
                  <a:t>more recent purchase</a:t>
                </a:r>
              </a:p>
            </p:txBody>
          </p:sp>
        </mc:Choice>
        <mc:Fallback xmlns="">
          <p:sp>
            <p:nvSpPr>
              <p:cNvPr id="9" name="TextBox 8">
                <a:extLst>
                  <a:ext uri="{FF2B5EF4-FFF2-40B4-BE49-F238E27FC236}">
                    <a16:creationId xmlns:a16="http://schemas.microsoft.com/office/drawing/2014/main" id="{ECE1585F-6840-E688-8CB5-6F430CA47693}"/>
                  </a:ext>
                </a:extLst>
              </p:cNvPr>
              <p:cNvSpPr txBox="1">
                <a:spLocks noRot="1" noChangeAspect="1" noMove="1" noResize="1" noEditPoints="1" noAdjustHandles="1" noChangeArrowheads="1" noChangeShapeType="1" noTextEdit="1"/>
              </p:cNvSpPr>
              <p:nvPr/>
            </p:nvSpPr>
            <p:spPr>
              <a:xfrm>
                <a:off x="8279424" y="2196072"/>
                <a:ext cx="3805750" cy="3526030"/>
              </a:xfrm>
              <a:prstGeom prst="rect">
                <a:avLst/>
              </a:prstGeom>
              <a:blipFill>
                <a:blip r:embed="rId4"/>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AA60F309-69BF-F0CE-C414-B6A261D3ECF5}"/>
              </a:ext>
            </a:extLst>
          </p:cNvPr>
          <p:cNvSpPr txBox="1"/>
          <p:nvPr/>
        </p:nvSpPr>
        <p:spPr>
          <a:xfrm>
            <a:off x="8208499" y="1791279"/>
            <a:ext cx="3253673" cy="461665"/>
          </a:xfrm>
          <a:prstGeom prst="rect">
            <a:avLst/>
          </a:prstGeom>
          <a:noFill/>
        </p:spPr>
        <p:txBody>
          <a:bodyPr wrap="square">
            <a:spAutoFit/>
          </a:bodyPr>
          <a:lstStyle/>
          <a:p>
            <a:r>
              <a:rPr lang="en-SG" sz="1200" b="1" dirty="0"/>
              <a:t>Policy C (Business heuristic baseline): Target top ranked RFM users</a:t>
            </a:r>
          </a:p>
        </p:txBody>
      </p:sp>
      <p:sp>
        <p:nvSpPr>
          <p:cNvPr id="13" name="TextBox 12">
            <a:extLst>
              <a:ext uri="{FF2B5EF4-FFF2-40B4-BE49-F238E27FC236}">
                <a16:creationId xmlns:a16="http://schemas.microsoft.com/office/drawing/2014/main" id="{0101EFF1-185C-C568-2FF6-25BC2612F650}"/>
              </a:ext>
            </a:extLst>
          </p:cNvPr>
          <p:cNvSpPr txBox="1"/>
          <p:nvPr/>
        </p:nvSpPr>
        <p:spPr>
          <a:xfrm>
            <a:off x="3876675" y="1940472"/>
            <a:ext cx="3340424" cy="276999"/>
          </a:xfrm>
          <a:prstGeom prst="rect">
            <a:avLst/>
          </a:prstGeom>
          <a:noFill/>
        </p:spPr>
        <p:txBody>
          <a:bodyPr wrap="square">
            <a:spAutoFit/>
          </a:bodyPr>
          <a:lstStyle/>
          <a:p>
            <a:r>
              <a:rPr lang="en-SG" sz="1200" b="1" dirty="0"/>
              <a:t>Policy B (Native baseline): Target random</a:t>
            </a:r>
          </a:p>
        </p:txBody>
      </p:sp>
      <p:sp>
        <p:nvSpPr>
          <p:cNvPr id="14" name="TextBox 13">
            <a:extLst>
              <a:ext uri="{FF2B5EF4-FFF2-40B4-BE49-F238E27FC236}">
                <a16:creationId xmlns:a16="http://schemas.microsoft.com/office/drawing/2014/main" id="{7BA4785F-139C-5735-94ED-0C468472C5CC}"/>
              </a:ext>
            </a:extLst>
          </p:cNvPr>
          <p:cNvSpPr txBox="1"/>
          <p:nvPr/>
        </p:nvSpPr>
        <p:spPr>
          <a:xfrm>
            <a:off x="3947600" y="2196072"/>
            <a:ext cx="4189974" cy="1015663"/>
          </a:xfrm>
          <a:prstGeom prst="rect">
            <a:avLst/>
          </a:prstGeom>
          <a:solidFill>
            <a:schemeClr val="accent6">
              <a:lumMod val="20000"/>
              <a:lumOff val="80000"/>
            </a:schemeClr>
          </a:solidFill>
        </p:spPr>
        <p:txBody>
          <a:bodyPr wrap="square">
            <a:spAutoFit/>
          </a:bodyPr>
          <a:lstStyle/>
          <a:p>
            <a:r>
              <a:rPr lang="en-SG" sz="1000" b="1" u="sng" dirty="0"/>
              <a:t>Formula</a:t>
            </a:r>
            <a:endParaRPr lang="en-SG" sz="1000" b="1" dirty="0"/>
          </a:p>
          <a:p>
            <a:r>
              <a:rPr lang="en-SG" sz="1000" b="1" dirty="0"/>
              <a:t>Deterministic pseudo-random: </a:t>
            </a:r>
          </a:p>
          <a:p>
            <a:pPr marL="228600" indent="-228600">
              <a:buFont typeface="+mj-lt"/>
              <a:buAutoNum type="arabicPeriod"/>
            </a:pPr>
            <a:r>
              <a:rPr lang="en-SG" sz="1000" b="1" dirty="0"/>
              <a:t>Ratio = Hash to [0,1] by (user id, as_of_date. "policy_random")</a:t>
            </a:r>
          </a:p>
          <a:p>
            <a:pPr marL="228600" indent="-228600">
              <a:buFont typeface="+mj-lt"/>
              <a:buAutoNum type="arabicPeriod"/>
            </a:pPr>
            <a:r>
              <a:rPr lang="en-SG" sz="1000" b="1" dirty="0"/>
              <a:t>score = 1 - ratio</a:t>
            </a:r>
          </a:p>
          <a:p>
            <a:endParaRPr lang="en-SG" sz="1000" b="1" dirty="0"/>
          </a:p>
          <a:p>
            <a:r>
              <a:rPr lang="en-SG" sz="1000" b="1" dirty="0"/>
              <a:t>Purpose: </a:t>
            </a:r>
            <a:r>
              <a:rPr lang="en-SG" sz="1000" dirty="0"/>
              <a:t>Sanity baseline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A6A739C-D42C-722B-F8D5-AA4046CE4E8A}"/>
                  </a:ext>
                </a:extLst>
              </p:cNvPr>
              <p:cNvSpPr txBox="1"/>
              <p:nvPr/>
            </p:nvSpPr>
            <p:spPr>
              <a:xfrm>
                <a:off x="3912577" y="3635921"/>
                <a:ext cx="3178499" cy="646331"/>
              </a:xfrm>
              <a:prstGeom prst="rect">
                <a:avLst/>
              </a:prstGeom>
              <a:solidFill>
                <a:schemeClr val="accent2">
                  <a:lumMod val="20000"/>
                  <a:lumOff val="80000"/>
                </a:schemeClr>
              </a:solidFill>
            </p:spPr>
            <p:txBody>
              <a:bodyPr wrap="square">
                <a:spAutoFit/>
              </a:bodyPr>
              <a:lstStyle/>
              <a:p>
                <a:r>
                  <a:rPr lang="en-SG" sz="1200" b="1" dirty="0"/>
                  <a:t>Decision Rule (shared across policies): </a:t>
                </a:r>
                <a:r>
                  <a:rPr lang="en-SG" sz="1200" dirty="0"/>
                  <a:t>Rank users by policy score </a:t>
                </a:r>
                <a14:m>
                  <m:oMath xmlns:m="http://schemas.openxmlformats.org/officeDocument/2006/math">
                    <m:r>
                      <a:rPr lang="en-SG" sz="1200" b="0" i="1" dirty="0">
                        <a:latin typeface="Cambria Math" panose="02040503050406030204" pitchFamily="18" charset="0"/>
                        <a:ea typeface="Cambria Math" panose="02040503050406030204" pitchFamily="18" charset="0"/>
                      </a:rPr>
                      <m:t>→</m:t>
                    </m:r>
                  </m:oMath>
                </a14:m>
                <a:r>
                  <a:rPr lang="en-SG" sz="1200" dirty="0"/>
                  <a:t> Select Top K users under budget constraint</a:t>
                </a:r>
              </a:p>
            </p:txBody>
          </p:sp>
        </mc:Choice>
        <mc:Fallback xmlns="">
          <p:sp>
            <p:nvSpPr>
              <p:cNvPr id="16" name="TextBox 15">
                <a:extLst>
                  <a:ext uri="{FF2B5EF4-FFF2-40B4-BE49-F238E27FC236}">
                    <a16:creationId xmlns:a16="http://schemas.microsoft.com/office/drawing/2014/main" id="{BA6A739C-D42C-722B-F8D5-AA4046CE4E8A}"/>
                  </a:ext>
                </a:extLst>
              </p:cNvPr>
              <p:cNvSpPr txBox="1">
                <a:spLocks noRot="1" noChangeAspect="1" noMove="1" noResize="1" noEditPoints="1" noAdjustHandles="1" noChangeArrowheads="1" noChangeShapeType="1" noTextEdit="1"/>
              </p:cNvSpPr>
              <p:nvPr/>
            </p:nvSpPr>
            <p:spPr>
              <a:xfrm>
                <a:off x="3912577" y="3635921"/>
                <a:ext cx="3178499" cy="646331"/>
              </a:xfrm>
              <a:prstGeom prst="rect">
                <a:avLst/>
              </a:prstGeom>
              <a:blipFill>
                <a:blip r:embed="rId5"/>
                <a:stretch>
                  <a:fillRect l="-192" b="-6604"/>
                </a:stretch>
              </a:blipFill>
            </p:spPr>
            <p:txBody>
              <a:bodyPr/>
              <a:lstStyle/>
              <a:p>
                <a:r>
                  <a:rPr lang="en-SG">
                    <a:noFill/>
                  </a:rPr>
                  <a:t> </a:t>
                </a:r>
              </a:p>
            </p:txBody>
          </p:sp>
        </mc:Fallback>
      </mc:AlternateContent>
    </p:spTree>
    <p:extLst>
      <p:ext uri="{BB962C8B-B14F-4D97-AF65-F5344CB8AC3E}">
        <p14:creationId xmlns:p14="http://schemas.microsoft.com/office/powerpoint/2010/main" val="1851388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4CE1A-222A-95DE-E490-5A401FAB90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77EF3C-681F-A540-DA08-BF462DB9E50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p:sp>
        <p:nvSpPr>
          <p:cNvPr id="3" name="TextBox 2">
            <a:extLst>
              <a:ext uri="{FF2B5EF4-FFF2-40B4-BE49-F238E27FC236}">
                <a16:creationId xmlns:a16="http://schemas.microsoft.com/office/drawing/2014/main" id="{45BD69C9-2101-6D92-3E7B-BDBDF1B1D291}"/>
              </a:ext>
            </a:extLst>
          </p:cNvPr>
          <p:cNvSpPr txBox="1"/>
          <p:nvPr/>
        </p:nvSpPr>
        <p:spPr>
          <a:xfrm>
            <a:off x="1502879" y="1905000"/>
            <a:ext cx="5450581" cy="4862870"/>
          </a:xfrm>
          <a:prstGeom prst="rect">
            <a:avLst/>
          </a:prstGeom>
          <a:solidFill>
            <a:schemeClr val="accent6">
              <a:lumMod val="20000"/>
              <a:lumOff val="80000"/>
            </a:schemeClr>
          </a:solidFill>
        </p:spPr>
        <p:txBody>
          <a:bodyPr wrap="square">
            <a:spAutoFit/>
          </a:bodyPr>
          <a:lstStyle/>
          <a:p>
            <a:r>
              <a:rPr lang="en-SG" sz="1000" dirty="0"/>
              <a:t>    </a:t>
            </a:r>
            <a:r>
              <a:rPr lang="en-SG" sz="1000" b="1" dirty="0"/>
              <a:t>Note: </a:t>
            </a:r>
            <a:r>
              <a:rPr lang="en-SG" sz="1000" dirty="0"/>
              <a:t>Calibration is important because the predicted probability is used</a:t>
            </a:r>
          </a:p>
          <a:p>
            <a:r>
              <a:rPr lang="en-SG" sz="1000" dirty="0"/>
              <a:t>    directly in expected-value ranking downstream.</a:t>
            </a:r>
            <a:br>
              <a:rPr lang="en-SG" sz="1000" dirty="0"/>
            </a:br>
            <a:endParaRPr lang="en-SG" sz="1000" dirty="0"/>
          </a:p>
          <a:p>
            <a:r>
              <a:rPr lang="en-SG" sz="1000" dirty="0"/>
              <a:t>    </a:t>
            </a:r>
            <a:r>
              <a:rPr lang="en-SG" sz="1000" b="1" dirty="0"/>
              <a:t>Calibration:</a:t>
            </a:r>
          </a:p>
          <a:p>
            <a:r>
              <a:rPr lang="en-SG" sz="1000" dirty="0"/>
              <a:t>        Classification models often output probabilities that are poorly calibrated</a:t>
            </a:r>
          </a:p>
          <a:p>
            <a:r>
              <a:rPr lang="en-SG" sz="1000" dirty="0"/>
              <a:t>        (e.g., a predicted 0.8 probability may only correspond to ~0.6 actual event</a:t>
            </a:r>
          </a:p>
          <a:p>
            <a:r>
              <a:rPr lang="en-SG" sz="1000" dirty="0"/>
              <a:t>        frequency). Calibration adjusts these predicted probabilities so they better</a:t>
            </a:r>
          </a:p>
          <a:p>
            <a:r>
              <a:rPr lang="en-SG" sz="1000" dirty="0"/>
              <a:t>        reflect true outcome frequencies.</a:t>
            </a:r>
          </a:p>
          <a:p>
            <a:endParaRPr lang="en-SG" sz="1000" dirty="0"/>
          </a:p>
          <a:p>
            <a:r>
              <a:rPr lang="en-SG" sz="1000" dirty="0"/>
              <a:t>        This implementation uses Platt scaling via</a:t>
            </a:r>
          </a:p>
          <a:p>
            <a:r>
              <a:rPr lang="en-SG" sz="1000" dirty="0"/>
              <a:t>        `CalibratedClassifierCV(method="sigmoid", cv=3)`.</a:t>
            </a:r>
            <a:br>
              <a:rPr lang="en-SG" sz="1000" dirty="0"/>
            </a:br>
            <a:endParaRPr lang="en-SG" sz="1000" dirty="0"/>
          </a:p>
          <a:p>
            <a:r>
              <a:rPr lang="en-SG" sz="1000" dirty="0"/>
              <a:t>        </a:t>
            </a:r>
            <a:r>
              <a:rPr lang="en-SG" sz="1000" b="1" dirty="0"/>
              <a:t>Internally:</a:t>
            </a:r>
          </a:p>
          <a:p>
            <a:r>
              <a:rPr lang="en-SG" sz="1000" dirty="0"/>
              <a:t>            1) Split (X_fit, y_fit) into 3 folds</a:t>
            </a:r>
          </a:p>
          <a:p>
            <a:r>
              <a:rPr lang="en-SG" sz="1000" dirty="0"/>
              <a:t>            2) Train the base model on 2 folds</a:t>
            </a:r>
          </a:p>
          <a:p>
            <a:r>
              <a:rPr lang="en-SG" sz="1000" dirty="0"/>
              <a:t>            3) Predict probabilities on the held-out fold</a:t>
            </a:r>
          </a:p>
          <a:p>
            <a:r>
              <a:rPr lang="en-SG" sz="1000" dirty="0"/>
              <a:t>            4) Collect out-of-fold predictions</a:t>
            </a:r>
          </a:p>
          <a:p>
            <a:r>
              <a:rPr lang="en-SG" sz="1000" dirty="0"/>
              <a:t>            5) Fit a sigmoid mapping that adjusts the model's pre-calibrated predicted </a:t>
            </a:r>
          </a:p>
          <a:p>
            <a:r>
              <a:rPr lang="en-SG" sz="1000" dirty="0"/>
              <a:t>                probabilities to calibrated probabilities</a:t>
            </a:r>
          </a:p>
          <a:p>
            <a:endParaRPr lang="en-SG" sz="1000" dirty="0"/>
          </a:p>
          <a:p>
            <a:r>
              <a:rPr lang="en-SG" sz="1000" dirty="0"/>
              <a:t>    </a:t>
            </a:r>
            <a:r>
              <a:rPr lang="en-SG" sz="1000" b="1" dirty="0"/>
              <a:t>Temporal caveat:</a:t>
            </a:r>
          </a:p>
          <a:p>
            <a:r>
              <a:rPr lang="en-SG" sz="1000" dirty="0"/>
              <a:t>        The 3-fold CV used inside `CalibratedClassifierCV` ignores temporal ordering</a:t>
            </a:r>
          </a:p>
          <a:p>
            <a:r>
              <a:rPr lang="en-SG" sz="1000" dirty="0"/>
              <a:t>        and may mix rows from different snapshot timestamps within (X_fit, y_fit).</a:t>
            </a:r>
            <a:br>
              <a:rPr lang="en-SG" sz="1000" dirty="0"/>
            </a:br>
            <a:endParaRPr lang="en-SG" sz="1000" dirty="0"/>
          </a:p>
          <a:p>
            <a:r>
              <a:rPr lang="en-SG" sz="1000" dirty="0"/>
              <a:t>        The leakage impact is limited because it occurs only within the training partition</a:t>
            </a:r>
          </a:p>
          <a:p>
            <a:r>
              <a:rPr lang="en-SG" sz="1000" dirty="0"/>
              <a:t>        and does not affect downstream validation or test evaluation:</a:t>
            </a:r>
          </a:p>
          <a:p>
            <a:r>
              <a:rPr lang="en-SG" sz="1000" dirty="0"/>
              <a:t>        a) Calibration only adjusts the model's pre-calibrated predicted probabilities.</a:t>
            </a:r>
          </a:p>
          <a:p>
            <a:r>
              <a:rPr lang="en-SG" sz="1000" dirty="0"/>
              <a:t>        b) The temporal mixing arises from the CV folds used to generate</a:t>
            </a:r>
          </a:p>
          <a:p>
            <a:r>
              <a:rPr lang="en-SG" sz="1000" dirty="0"/>
              <a:t>           out-of-fold predictions.</a:t>
            </a:r>
          </a:p>
          <a:p>
            <a:r>
              <a:rPr lang="en-SG" sz="1000" dirty="0"/>
              <a:t>        c) True model evaluation (validation/test) still respects the</a:t>
            </a:r>
          </a:p>
          <a:p>
            <a:r>
              <a:rPr lang="en-SG" sz="1000" dirty="0"/>
              <a:t>           temporal split and therefore remains leakage-free.</a:t>
            </a:r>
          </a:p>
        </p:txBody>
      </p:sp>
    </p:spTree>
    <p:extLst>
      <p:ext uri="{BB962C8B-B14F-4D97-AF65-F5344CB8AC3E}">
        <p14:creationId xmlns:p14="http://schemas.microsoft.com/office/powerpoint/2010/main" val="33843275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C3934-A786-90DB-EDA7-75BBBD67F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8C3CF-0643-2207-9A88-48D2ED83C2E6}"/>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5" name="TextBox 4">
            <a:extLst>
              <a:ext uri="{FF2B5EF4-FFF2-40B4-BE49-F238E27FC236}">
                <a16:creationId xmlns:a16="http://schemas.microsoft.com/office/drawing/2014/main" id="{034713A9-7F42-6D9C-4B33-86ADD1881846}"/>
              </a:ext>
            </a:extLst>
          </p:cNvPr>
          <p:cNvSpPr txBox="1"/>
          <p:nvPr/>
        </p:nvSpPr>
        <p:spPr>
          <a:xfrm>
            <a:off x="1625438" y="1905000"/>
            <a:ext cx="9740950" cy="4524315"/>
          </a:xfrm>
          <a:prstGeom prst="rect">
            <a:avLst/>
          </a:prstGeom>
          <a:noFill/>
        </p:spPr>
        <p:txBody>
          <a:bodyPr wrap="square">
            <a:spAutoFit/>
          </a:bodyPr>
          <a:lstStyle/>
          <a:p>
            <a:r>
              <a:rPr lang="en-SG" sz="1200" b="1" u="sng" dirty="0"/>
              <a:t>Executive Takeaway</a:t>
            </a:r>
          </a:p>
          <a:p>
            <a:pPr marL="285750" indent="-285750">
              <a:buFont typeface="Wingdings" panose="05000000000000000000" pitchFamily="2" charset="2"/>
              <a:buChar char="Ø"/>
            </a:pPr>
            <a:r>
              <a:rPr lang="en-SG" sz="12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200" dirty="0"/>
              <a:t>ML targeting is competitive with heuristic RFM and provides a more extensible framework as richer data features become available (Why ML may be preferred over heuristic approaches).</a:t>
            </a:r>
          </a:p>
          <a:p>
            <a:pPr marL="285750" indent="-285750">
              <a:buFont typeface="Wingdings" panose="05000000000000000000" pitchFamily="2" charset="2"/>
              <a:buChar char="Ø"/>
            </a:pPr>
            <a:r>
              <a:rPr lang="en-SG" sz="1200" dirty="0"/>
              <a:t>Continue benchmarking against RFM each retraining cycle to maintain performance guardrails.</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a:p>
            <a:endParaRPr lang="en-SG" sz="1200" dirty="0">
              <a:solidFill>
                <a:srgbClr val="FF0000"/>
              </a:solidFill>
            </a:endParaRPr>
          </a:p>
          <a:p>
            <a:r>
              <a:rPr lang="en-SG" sz="1200" b="1" u="sng" dirty="0"/>
              <a:t>Key Steps &amp; Reporting</a:t>
            </a:r>
          </a:p>
          <a:p>
            <a:pPr marL="228600" indent="-228600">
              <a:buFont typeface="+mj-lt"/>
              <a:buAutoNum type="arabicPeriod"/>
            </a:pPr>
            <a:r>
              <a:rPr lang="en-SG" sz="1200" dirty="0"/>
              <a:t>Window Sensitivity + Freeze Decision (Train + Validation)</a:t>
            </a:r>
          </a:p>
          <a:p>
            <a:pPr marL="228600" indent="-228600">
              <a:buFont typeface="+mj-lt"/>
              <a:buAutoNum type="arabicPeriod"/>
            </a:pPr>
            <a:r>
              <a:rPr lang="en-SG" sz="1200" dirty="0"/>
              <a:t>Frozen Model Quality (Validation Slice; Drift Signal Monitor)</a:t>
            </a:r>
          </a:p>
          <a:p>
            <a:pPr marL="228600" indent="-228600">
              <a:buFont typeface="+mj-lt"/>
              <a:buAutoNum type="arabicPeriod"/>
            </a:pPr>
            <a:r>
              <a:rPr lang="en-SG" sz="1200" dirty="0"/>
              <a:t>Policy Comparison Under Budget Constraint (Test Slice)</a:t>
            </a:r>
          </a:p>
          <a:p>
            <a:endParaRPr lang="en-SG" sz="1200" dirty="0"/>
          </a:p>
          <a:p>
            <a:r>
              <a:rPr lang="en-SG" sz="1200" b="1" u="sng" dirty="0"/>
              <a:t>Key Setup</a:t>
            </a:r>
          </a:p>
          <a:p>
            <a:r>
              <a:rPr lang="en-SG" sz="1200" dirty="0"/>
              <a:t>Each cycle has 12 snapshots 10M-1M-1M train-validate-test split. Subsequent retraining cycles are quarterly overlapping.</a:t>
            </a:r>
          </a:p>
          <a:p>
            <a:pPr marL="171450" indent="-171450">
              <a:buFont typeface="Wingdings" panose="05000000000000000000" pitchFamily="2" charset="2"/>
              <a:buChar char="Ø"/>
            </a:pPr>
            <a:r>
              <a:rPr lang="en-SG" sz="1200" dirty="0"/>
              <a:t>Initial cycle ending 2010-11-01</a:t>
            </a:r>
          </a:p>
          <a:p>
            <a:pPr marL="171450" indent="-171450">
              <a:buFont typeface="Wingdings" panose="05000000000000000000" pitchFamily="2" charset="2"/>
              <a:buChar char="Ø"/>
            </a:pPr>
            <a:r>
              <a:rPr lang="en-SG" sz="1200" dirty="0"/>
              <a:t>Retrain cycle ending 2011-02-01</a:t>
            </a:r>
          </a:p>
          <a:p>
            <a:pPr marL="171450" indent="-171450">
              <a:buFont typeface="Wingdings" panose="05000000000000000000" pitchFamily="2" charset="2"/>
              <a:buChar char="Ø"/>
            </a:pPr>
            <a:endParaRPr lang="en-SG" sz="1200" dirty="0"/>
          </a:p>
          <a:p>
            <a:r>
              <a:rPr lang="en-SG" sz="1200" dirty="0"/>
              <a:t>Window Sensitivity is only performed on initial cycle and decision freeze once, unless there is significant need to retrain with different configurations.</a:t>
            </a:r>
          </a:p>
        </p:txBody>
      </p:sp>
    </p:spTree>
    <p:extLst>
      <p:ext uri="{BB962C8B-B14F-4D97-AF65-F5344CB8AC3E}">
        <p14:creationId xmlns:p14="http://schemas.microsoft.com/office/powerpoint/2010/main" val="13126706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8911-679D-43AC-DCCF-D22CE9FFB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4E315-C835-C18A-46BE-18669D085CD2}"/>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6" name="TextBox 5">
            <a:extLst>
              <a:ext uri="{FF2B5EF4-FFF2-40B4-BE49-F238E27FC236}">
                <a16:creationId xmlns:a16="http://schemas.microsoft.com/office/drawing/2014/main" id="{FD6858D0-52F2-D013-A9E3-F16520EC6B32}"/>
              </a:ext>
            </a:extLst>
          </p:cNvPr>
          <p:cNvSpPr txBox="1"/>
          <p:nvPr/>
        </p:nvSpPr>
        <p:spPr>
          <a:xfrm>
            <a:off x="398145" y="2044005"/>
            <a:ext cx="4495800" cy="1384995"/>
          </a:xfrm>
          <a:prstGeom prst="rect">
            <a:avLst/>
          </a:prstGeom>
          <a:solidFill>
            <a:schemeClr val="accent5">
              <a:lumMod val="20000"/>
              <a:lumOff val="80000"/>
            </a:schemeClr>
          </a:solidFill>
        </p:spPr>
        <p:txBody>
          <a:bodyPr wrap="square">
            <a:spAutoFit/>
          </a:bodyPr>
          <a:lstStyle/>
          <a:p>
            <a:r>
              <a:rPr lang="en-SG" sz="1200" b="1" u="sng" dirty="0"/>
              <a:t>Window Sensitivity + Freeze Decision (Train + Validation)</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p:txBody>
      </p:sp>
      <p:pic>
        <p:nvPicPr>
          <p:cNvPr id="18" name="Picture 17">
            <a:extLst>
              <a:ext uri="{FF2B5EF4-FFF2-40B4-BE49-F238E27FC236}">
                <a16:creationId xmlns:a16="http://schemas.microsoft.com/office/drawing/2014/main" id="{4C053D9C-48E1-1560-5138-61379A3B1ACC}"/>
              </a:ext>
            </a:extLst>
          </p:cNvPr>
          <p:cNvPicPr>
            <a:picLocks noChangeAspect="1"/>
          </p:cNvPicPr>
          <p:nvPr/>
        </p:nvPicPr>
        <p:blipFill>
          <a:blip r:embed="rId3"/>
          <a:stretch>
            <a:fillRect/>
          </a:stretch>
        </p:blipFill>
        <p:spPr>
          <a:xfrm>
            <a:off x="5021580" y="1789614"/>
            <a:ext cx="6772275" cy="4925291"/>
          </a:xfrm>
          <a:prstGeom prst="rect">
            <a:avLst/>
          </a:prstGeom>
        </p:spPr>
      </p:pic>
      <p:sp>
        <p:nvSpPr>
          <p:cNvPr id="3" name="TextBox 2">
            <a:extLst>
              <a:ext uri="{FF2B5EF4-FFF2-40B4-BE49-F238E27FC236}">
                <a16:creationId xmlns:a16="http://schemas.microsoft.com/office/drawing/2014/main" id="{62F3C295-D88A-627A-60A6-F1B978E28957}"/>
              </a:ext>
            </a:extLst>
          </p:cNvPr>
          <p:cNvSpPr txBox="1"/>
          <p:nvPr/>
        </p:nvSpPr>
        <p:spPr>
          <a:xfrm>
            <a:off x="398145" y="3613667"/>
            <a:ext cx="3440430"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Primary metric: PR-AUC</a:t>
            </a:r>
            <a:r>
              <a:rPr lang="en-SG" sz="1000" dirty="0"/>
              <a:t> (positive-class targeting)</a:t>
            </a:r>
          </a:p>
          <a:p>
            <a:pPr marL="171450" indent="-171450">
              <a:buFont typeface="Wingdings" panose="05000000000000000000" pitchFamily="2" charset="2"/>
              <a:buChar char="Ø"/>
            </a:pPr>
            <a:r>
              <a:rPr lang="en-SG" sz="1000" b="1" dirty="0"/>
              <a:t>Guardrail metrics: </a:t>
            </a:r>
            <a:r>
              <a:rPr lang="en-SG" sz="1000" dirty="0"/>
              <a:t>Others listed</a:t>
            </a:r>
            <a:endParaRPr lang="en-SG" sz="1000" b="1" dirty="0"/>
          </a:p>
        </p:txBody>
      </p:sp>
    </p:spTree>
    <p:extLst>
      <p:ext uri="{BB962C8B-B14F-4D97-AF65-F5344CB8AC3E}">
        <p14:creationId xmlns:p14="http://schemas.microsoft.com/office/powerpoint/2010/main" val="829358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4508-C8DF-E54C-4F8B-B3CE06CAA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6B833-35F5-C4A1-589C-A30FDE3C13AD}"/>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graphicFrame>
        <p:nvGraphicFramePr>
          <p:cNvPr id="3" name="Table 2">
            <a:extLst>
              <a:ext uri="{FF2B5EF4-FFF2-40B4-BE49-F238E27FC236}">
                <a16:creationId xmlns:a16="http://schemas.microsoft.com/office/drawing/2014/main" id="{BAC83FF5-345C-5B93-250B-CF649EBADCBF}"/>
              </a:ext>
            </a:extLst>
          </p:cNvPr>
          <p:cNvGraphicFramePr>
            <a:graphicFrameLocks noGrp="1"/>
          </p:cNvGraphicFramePr>
          <p:nvPr>
            <p:extLst>
              <p:ext uri="{D42A27DB-BD31-4B8C-83A1-F6EECF244321}">
                <p14:modId xmlns:p14="http://schemas.microsoft.com/office/powerpoint/2010/main" val="528168271"/>
              </p:ext>
            </p:extLst>
          </p:nvPr>
        </p:nvGraphicFramePr>
        <p:xfrm>
          <a:off x="207644" y="5483463"/>
          <a:ext cx="9029899" cy="1351101"/>
        </p:xfrm>
        <a:graphic>
          <a:graphicData uri="http://schemas.openxmlformats.org/drawingml/2006/table">
            <a:tbl>
              <a:tblPr firstRow="1" bandRow="1">
                <a:tableStyleId>{5C22544A-7EE6-4342-B048-85BDC9FD1C3A}</a:tableStyleId>
              </a:tblPr>
              <a:tblGrid>
                <a:gridCol w="1009081">
                  <a:extLst>
                    <a:ext uri="{9D8B030D-6E8A-4147-A177-3AD203B41FA5}">
                      <a16:colId xmlns:a16="http://schemas.microsoft.com/office/drawing/2014/main" val="1578905552"/>
                    </a:ext>
                  </a:extLst>
                </a:gridCol>
                <a:gridCol w="780727">
                  <a:extLst>
                    <a:ext uri="{9D8B030D-6E8A-4147-A177-3AD203B41FA5}">
                      <a16:colId xmlns:a16="http://schemas.microsoft.com/office/drawing/2014/main" val="2062257706"/>
                    </a:ext>
                  </a:extLst>
                </a:gridCol>
                <a:gridCol w="780727">
                  <a:extLst>
                    <a:ext uri="{9D8B030D-6E8A-4147-A177-3AD203B41FA5}">
                      <a16:colId xmlns:a16="http://schemas.microsoft.com/office/drawing/2014/main" val="1376440620"/>
                    </a:ext>
                  </a:extLst>
                </a:gridCol>
                <a:gridCol w="780727">
                  <a:extLst>
                    <a:ext uri="{9D8B030D-6E8A-4147-A177-3AD203B41FA5}">
                      <a16:colId xmlns:a16="http://schemas.microsoft.com/office/drawing/2014/main" val="2345419753"/>
                    </a:ext>
                  </a:extLst>
                </a:gridCol>
                <a:gridCol w="780727">
                  <a:extLst>
                    <a:ext uri="{9D8B030D-6E8A-4147-A177-3AD203B41FA5}">
                      <a16:colId xmlns:a16="http://schemas.microsoft.com/office/drawing/2014/main" val="732468506"/>
                    </a:ext>
                  </a:extLst>
                </a:gridCol>
                <a:gridCol w="780727">
                  <a:extLst>
                    <a:ext uri="{9D8B030D-6E8A-4147-A177-3AD203B41FA5}">
                      <a16:colId xmlns:a16="http://schemas.microsoft.com/office/drawing/2014/main" val="2691792509"/>
                    </a:ext>
                  </a:extLst>
                </a:gridCol>
                <a:gridCol w="261108">
                  <a:extLst>
                    <a:ext uri="{9D8B030D-6E8A-4147-A177-3AD203B41FA5}">
                      <a16:colId xmlns:a16="http://schemas.microsoft.com/office/drawing/2014/main" val="1399751869"/>
                    </a:ext>
                  </a:extLst>
                </a:gridCol>
                <a:gridCol w="771215">
                  <a:extLst>
                    <a:ext uri="{9D8B030D-6E8A-4147-A177-3AD203B41FA5}">
                      <a16:colId xmlns:a16="http://schemas.microsoft.com/office/drawing/2014/main" val="1981105691"/>
                    </a:ext>
                  </a:extLst>
                </a:gridCol>
                <a:gridCol w="771215">
                  <a:extLst>
                    <a:ext uri="{9D8B030D-6E8A-4147-A177-3AD203B41FA5}">
                      <a16:colId xmlns:a16="http://schemas.microsoft.com/office/drawing/2014/main" val="3071759914"/>
                    </a:ext>
                  </a:extLst>
                </a:gridCol>
                <a:gridCol w="771215">
                  <a:extLst>
                    <a:ext uri="{9D8B030D-6E8A-4147-A177-3AD203B41FA5}">
                      <a16:colId xmlns:a16="http://schemas.microsoft.com/office/drawing/2014/main" val="3553065861"/>
                    </a:ext>
                  </a:extLst>
                </a:gridCol>
                <a:gridCol w="771215">
                  <a:extLst>
                    <a:ext uri="{9D8B030D-6E8A-4147-A177-3AD203B41FA5}">
                      <a16:colId xmlns:a16="http://schemas.microsoft.com/office/drawing/2014/main" val="2094940533"/>
                    </a:ext>
                  </a:extLst>
                </a:gridCol>
                <a:gridCol w="771215">
                  <a:extLst>
                    <a:ext uri="{9D8B030D-6E8A-4147-A177-3AD203B41FA5}">
                      <a16:colId xmlns:a16="http://schemas.microsoft.com/office/drawing/2014/main" val="4271781969"/>
                    </a:ext>
                  </a:extLst>
                </a:gridCol>
              </a:tblGrid>
              <a:tr h="255830">
                <a:tc>
                  <a:txBody>
                    <a:bodyPr/>
                    <a:lstStyle/>
                    <a:p>
                      <a:r>
                        <a:rPr lang="en-SG" sz="1000" dirty="0"/>
                        <a:t>Cycle</a:t>
                      </a:r>
                    </a:p>
                  </a:txBody>
                  <a:tcPr/>
                </a:tc>
                <a:tc gridSpan="5">
                  <a:txBody>
                    <a:bodyPr/>
                    <a:lstStyle/>
                    <a:p>
                      <a:pPr algn="ctr"/>
                      <a:r>
                        <a:rPr lang="en-SG" sz="1000" dirty="0"/>
                        <a:t>Revenue per Targeted User (Historical Realized)</a:t>
                      </a: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dirty="0"/>
                    </a:p>
                  </a:txBody>
                  <a:tcPr/>
                </a:tc>
                <a:tc>
                  <a:txBody>
                    <a:bodyPr/>
                    <a:lstStyle/>
                    <a:p>
                      <a:endParaRPr lang="en-SG" sz="1000" dirty="0"/>
                    </a:p>
                  </a:txBody>
                  <a:tcPr/>
                </a:tc>
                <a:tc gridSpan="5">
                  <a:txBody>
                    <a:bodyPr/>
                    <a:lstStyle/>
                    <a:p>
                      <a:pPr algn="ctr"/>
                      <a:r>
                        <a:rPr lang="en-SG" sz="1000" dirty="0"/>
                        <a:t>Purchase Rate (Historical Realized)</a:t>
                      </a:r>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extLst>
                  <a:ext uri="{0D108BD9-81ED-4DB2-BD59-A6C34878D82A}">
                    <a16:rowId xmlns:a16="http://schemas.microsoft.com/office/drawing/2014/main" val="1796225289"/>
                  </a:ext>
                </a:extLst>
              </a:tr>
              <a:tr h="575617">
                <a:tc>
                  <a:txBody>
                    <a:bodyPr/>
                    <a:lstStyle/>
                    <a:p>
                      <a:endParaRPr lang="en-SG" sz="1000"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tc>
                  <a:txBody>
                    <a:bodyPr/>
                    <a:lstStyle/>
                    <a:p>
                      <a:endParaRPr lang="en-SG" sz="1000" b="1"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extLst>
                  <a:ext uri="{0D108BD9-81ED-4DB2-BD59-A6C34878D82A}">
                    <a16:rowId xmlns:a16="http://schemas.microsoft.com/office/drawing/2014/main" val="2130758308"/>
                  </a:ext>
                </a:extLst>
              </a:tr>
              <a:tr h="259827">
                <a:tc>
                  <a:txBody>
                    <a:bodyPr/>
                    <a:lstStyle/>
                    <a:p>
                      <a:r>
                        <a:rPr lang="en-SG" sz="1000" dirty="0">
                          <a:solidFill>
                            <a:schemeClr val="tx1"/>
                          </a:solidFill>
                        </a:rPr>
                        <a:t>Initial</a:t>
                      </a: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1432.0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505.8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1444.4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+926.2</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-12.3</a:t>
                      </a:r>
                    </a:p>
                  </a:txBody>
                  <a:tcPr marL="95250" marR="95250" marT="47625" marB="47625" anchor="ctr"/>
                </a:tc>
                <a:tc>
                  <a:txBody>
                    <a:bodyPr/>
                    <a:lstStyle/>
                    <a:p>
                      <a:endParaRPr lang="en-SG" sz="1000"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0.41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0.70</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+0.27</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-0.02</a:t>
                      </a:r>
                    </a:p>
                  </a:txBody>
                  <a:tcPr marL="95250" marR="95250" marT="47625" marB="47625" anchor="ctr"/>
                </a:tc>
                <a:extLst>
                  <a:ext uri="{0D108BD9-81ED-4DB2-BD59-A6C34878D82A}">
                    <a16:rowId xmlns:a16="http://schemas.microsoft.com/office/drawing/2014/main" val="2952646974"/>
                  </a:ext>
                </a:extLst>
              </a:tr>
              <a:tr h="259827">
                <a:tc>
                  <a:txBody>
                    <a:bodyPr/>
                    <a:lstStyle/>
                    <a:p>
                      <a:r>
                        <a:rPr lang="en-SG" sz="1000" b="0" dirty="0">
                          <a:solidFill>
                            <a:schemeClr val="tx1"/>
                          </a:solidFill>
                        </a:rPr>
                        <a:t>Retrain</a:t>
                      </a:r>
                      <a:endParaRPr lang="en-SG" sz="1000" b="0" baseline="30000" dirty="0">
                        <a:solidFill>
                          <a:schemeClr val="tx1"/>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956.0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307.7</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949.3</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+648.4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+6.7</a:t>
                      </a:r>
                    </a:p>
                  </a:txBody>
                  <a:tcPr marL="95250" marR="95250" marT="47625" marB="47625" anchor="ctr"/>
                </a:tc>
                <a:tc>
                  <a:txBody>
                    <a:bodyPr/>
                    <a:lstStyle/>
                    <a:p>
                      <a:endParaRPr lang="en-SG" sz="1000" b="1"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0.66</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0.35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0.65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+0.31</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+0.01</a:t>
                      </a:r>
                    </a:p>
                  </a:txBody>
                  <a:tcPr marL="95250" marR="95250" marT="47625" marB="47625" anchor="ctr"/>
                </a:tc>
                <a:extLst>
                  <a:ext uri="{0D108BD9-81ED-4DB2-BD59-A6C34878D82A}">
                    <a16:rowId xmlns:a16="http://schemas.microsoft.com/office/drawing/2014/main" val="1452641054"/>
                  </a:ext>
                </a:extLst>
              </a:tr>
            </a:tbl>
          </a:graphicData>
        </a:graphic>
      </p:graphicFrame>
      <p:graphicFrame>
        <p:nvGraphicFramePr>
          <p:cNvPr id="9" name="Table 8">
            <a:extLst>
              <a:ext uri="{FF2B5EF4-FFF2-40B4-BE49-F238E27FC236}">
                <a16:creationId xmlns:a16="http://schemas.microsoft.com/office/drawing/2014/main" id="{00CDA52A-AB67-E5D3-EA02-3C580E6B363F}"/>
              </a:ext>
            </a:extLst>
          </p:cNvPr>
          <p:cNvGraphicFramePr>
            <a:graphicFrameLocks noGrp="1"/>
          </p:cNvGraphicFramePr>
          <p:nvPr>
            <p:extLst>
              <p:ext uri="{D42A27DB-BD31-4B8C-83A1-F6EECF244321}">
                <p14:modId xmlns:p14="http://schemas.microsoft.com/office/powerpoint/2010/main" val="3856167075"/>
              </p:ext>
            </p:extLst>
          </p:nvPr>
        </p:nvGraphicFramePr>
        <p:xfrm>
          <a:off x="207644" y="2768144"/>
          <a:ext cx="6826174" cy="1584959"/>
        </p:xfrm>
        <a:graphic>
          <a:graphicData uri="http://schemas.openxmlformats.org/drawingml/2006/table">
            <a:tbl>
              <a:tblPr firstRow="1" bandRow="1">
                <a:tableStyleId>{5C22544A-7EE6-4342-B048-85BDC9FD1C3A}</a:tableStyleId>
              </a:tblPr>
              <a:tblGrid>
                <a:gridCol w="1362394">
                  <a:extLst>
                    <a:ext uri="{9D8B030D-6E8A-4147-A177-3AD203B41FA5}">
                      <a16:colId xmlns:a16="http://schemas.microsoft.com/office/drawing/2014/main" val="1578905552"/>
                    </a:ext>
                  </a:extLst>
                </a:gridCol>
                <a:gridCol w="1092756">
                  <a:extLst>
                    <a:ext uri="{9D8B030D-6E8A-4147-A177-3AD203B41FA5}">
                      <a16:colId xmlns:a16="http://schemas.microsoft.com/office/drawing/2014/main" val="2062257706"/>
                    </a:ext>
                  </a:extLst>
                </a:gridCol>
                <a:gridCol w="1092756">
                  <a:extLst>
                    <a:ext uri="{9D8B030D-6E8A-4147-A177-3AD203B41FA5}">
                      <a16:colId xmlns:a16="http://schemas.microsoft.com/office/drawing/2014/main" val="1376440620"/>
                    </a:ext>
                  </a:extLst>
                </a:gridCol>
                <a:gridCol w="1092756">
                  <a:extLst>
                    <a:ext uri="{9D8B030D-6E8A-4147-A177-3AD203B41FA5}">
                      <a16:colId xmlns:a16="http://schemas.microsoft.com/office/drawing/2014/main" val="4154908257"/>
                    </a:ext>
                  </a:extLst>
                </a:gridCol>
                <a:gridCol w="1092756">
                  <a:extLst>
                    <a:ext uri="{9D8B030D-6E8A-4147-A177-3AD203B41FA5}">
                      <a16:colId xmlns:a16="http://schemas.microsoft.com/office/drawing/2014/main" val="1626176295"/>
                    </a:ext>
                  </a:extLst>
                </a:gridCol>
                <a:gridCol w="1092756">
                  <a:extLst>
                    <a:ext uri="{9D8B030D-6E8A-4147-A177-3AD203B41FA5}">
                      <a16:colId xmlns:a16="http://schemas.microsoft.com/office/drawing/2014/main" val="3684245219"/>
                    </a:ext>
                  </a:extLst>
                </a:gridCol>
              </a:tblGrid>
              <a:tr h="607006">
                <a:tc>
                  <a:txBody>
                    <a:bodyPr/>
                    <a:lstStyle/>
                    <a:p>
                      <a:r>
                        <a:rPr lang="en-SG" sz="1000" u="sng" dirty="0"/>
                        <a:t>Propensity Model</a:t>
                      </a:r>
                      <a:r>
                        <a:rPr lang="en-SG" sz="1000" dirty="0"/>
                        <a:t> Propensity Ranking Quality</a:t>
                      </a:r>
                    </a:p>
                  </a:txBody>
                  <a:tcPr/>
                </a:tc>
                <a:tc>
                  <a:txBody>
                    <a:bodyPr/>
                    <a:lstStyle/>
                    <a:p>
                      <a:r>
                        <a:rPr lang="en-SG" sz="1000" dirty="0"/>
                        <a:t>PR-AUC</a:t>
                      </a:r>
                    </a:p>
                  </a:txBody>
                  <a:tcPr/>
                </a:tc>
                <a:tc>
                  <a:txBody>
                    <a:bodyPr/>
                    <a:lstStyle/>
                    <a:p>
                      <a:r>
                        <a:rPr lang="en-SG" sz="1000" dirty="0"/>
                        <a:t>ROC-AUC</a:t>
                      </a:r>
                    </a:p>
                  </a:txBody>
                  <a:tcPr/>
                </a:tc>
                <a:tc>
                  <a:txBody>
                    <a:bodyPr/>
                    <a:lstStyle/>
                    <a:p>
                      <a:r>
                        <a:rPr lang="en-SG" sz="1000" dirty="0"/>
                        <a:t>Top-Decile Lift</a:t>
                      </a:r>
                    </a:p>
                  </a:txBody>
                  <a:tcPr/>
                </a:tc>
                <a:tc>
                  <a:txBody>
                    <a:bodyPr/>
                    <a:lstStyle/>
                    <a:p>
                      <a:r>
                        <a:rPr lang="en-SG" sz="1000" dirty="0"/>
                        <a:t>Brier</a:t>
                      </a:r>
                    </a:p>
                  </a:txBody>
                  <a:tcPr/>
                </a:tc>
                <a:tc>
                  <a:txBody>
                    <a:bodyPr/>
                    <a:lstStyle/>
                    <a:p>
                      <a:r>
                        <a:rPr lang="en-SG" sz="1000" dirty="0"/>
                        <a:t>ECE</a:t>
                      </a:r>
                    </a:p>
                  </a:txBody>
                  <a:tcPr/>
                </a:tc>
                <a:extLst>
                  <a:ext uri="{0D108BD9-81ED-4DB2-BD59-A6C34878D82A}">
                    <a16:rowId xmlns:a16="http://schemas.microsoft.com/office/drawing/2014/main" val="1796225289"/>
                  </a:ext>
                </a:extLst>
              </a:tr>
              <a:tr h="269780">
                <a:tc>
                  <a:txBody>
                    <a:bodyPr/>
                    <a:lstStyle/>
                    <a:p>
                      <a:r>
                        <a:rPr lang="en-SG" sz="1000" b="0" dirty="0"/>
                        <a:t>Initial</a:t>
                      </a:r>
                    </a:p>
                  </a:txBody>
                  <a:tcPr/>
                </a:tc>
                <a:tc>
                  <a:txBody>
                    <a:bodyPr/>
                    <a:lstStyle/>
                    <a:p>
                      <a:r>
                        <a:rPr lang="en-SG" sz="1000" b="1" dirty="0"/>
                        <a:t>0.75</a:t>
                      </a:r>
                    </a:p>
                  </a:txBody>
                  <a:tcPr/>
                </a:tc>
                <a:tc>
                  <a:txBody>
                    <a:bodyPr/>
                    <a:lstStyle/>
                    <a:p>
                      <a:r>
                        <a:rPr lang="en-SG" sz="1000" b="0" dirty="0"/>
                        <a:t>0.71</a:t>
                      </a:r>
                      <a:endParaRPr lang="en-SG" sz="1000" b="1" dirty="0"/>
                    </a:p>
                  </a:txBody>
                  <a:tcPr/>
                </a:tc>
                <a:tc>
                  <a:txBody>
                    <a:bodyPr/>
                    <a:lstStyle/>
                    <a:p>
                      <a:r>
                        <a:rPr lang="en-SG" sz="1000" b="0" dirty="0"/>
                        <a:t>1.75</a:t>
                      </a:r>
                    </a:p>
                  </a:txBody>
                  <a:tcPr/>
                </a:tc>
                <a:tc>
                  <a:txBody>
                    <a:bodyPr/>
                    <a:lstStyle/>
                    <a:p>
                      <a:r>
                        <a:rPr lang="en-SG" sz="1000" b="0" dirty="0"/>
                        <a:t>0.22</a:t>
                      </a:r>
                    </a:p>
                  </a:txBody>
                  <a:tcPr/>
                </a:tc>
                <a:tc>
                  <a:txBody>
                    <a:bodyPr/>
                    <a:lstStyle/>
                    <a:p>
                      <a:r>
                        <a:rPr lang="en-SG" sz="1000" b="1" dirty="0"/>
                        <a:t>0.03</a:t>
                      </a:r>
                    </a:p>
                  </a:txBody>
                  <a:tcPr/>
                </a:tc>
                <a:extLst>
                  <a:ext uri="{0D108BD9-81ED-4DB2-BD59-A6C34878D82A}">
                    <a16:rowId xmlns:a16="http://schemas.microsoft.com/office/drawing/2014/main" val="2952646974"/>
                  </a:ext>
                </a:extLst>
              </a:tr>
              <a:tr h="269780">
                <a:tc>
                  <a:txBody>
                    <a:bodyPr/>
                    <a:lstStyle/>
                    <a:p>
                      <a:r>
                        <a:rPr lang="en-SG" sz="1000" dirty="0"/>
                        <a:t>Retrain</a:t>
                      </a:r>
                    </a:p>
                  </a:txBody>
                  <a:tcPr/>
                </a:tc>
                <a:tc>
                  <a:txBody>
                    <a:bodyPr/>
                    <a:lstStyle/>
                    <a:p>
                      <a:r>
                        <a:rPr lang="en-SG" sz="1000" b="0" dirty="0"/>
                        <a:t>0.66</a:t>
                      </a:r>
                    </a:p>
                  </a:txBody>
                  <a:tcPr/>
                </a:tc>
                <a:tc>
                  <a:txBody>
                    <a:bodyPr/>
                    <a:lstStyle/>
                    <a:p>
                      <a:r>
                        <a:rPr lang="en-SG" sz="1000" b="1" dirty="0"/>
                        <a:t>0.77</a:t>
                      </a:r>
                    </a:p>
                  </a:txBody>
                  <a:tcPr/>
                </a:tc>
                <a:tc>
                  <a:txBody>
                    <a:bodyPr/>
                    <a:lstStyle/>
                    <a:p>
                      <a:r>
                        <a:rPr lang="en-SG" sz="1000" b="1" dirty="0"/>
                        <a:t>2.52</a:t>
                      </a:r>
                    </a:p>
                  </a:txBody>
                  <a:tcPr/>
                </a:tc>
                <a:tc>
                  <a:txBody>
                    <a:bodyPr/>
                    <a:lstStyle/>
                    <a:p>
                      <a:r>
                        <a:rPr lang="en-SG" sz="1000" b="1" dirty="0"/>
                        <a:t>0.20</a:t>
                      </a:r>
                    </a:p>
                  </a:txBody>
                  <a:tcPr/>
                </a:tc>
                <a:tc>
                  <a:txBody>
                    <a:bodyPr/>
                    <a:lstStyle/>
                    <a:p>
                      <a:r>
                        <a:rPr lang="en-SG" sz="1000" dirty="0"/>
                        <a:t>0.15</a:t>
                      </a:r>
                    </a:p>
                  </a:txBody>
                  <a:tcPr/>
                </a:tc>
                <a:extLst>
                  <a:ext uri="{0D108BD9-81ED-4DB2-BD59-A6C34878D82A}">
                    <a16:rowId xmlns:a16="http://schemas.microsoft.com/office/drawing/2014/main" val="1452641054"/>
                  </a:ext>
                </a:extLst>
              </a:tr>
              <a:tr h="438393">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Initial better</a:t>
                      </a:r>
                    </a:p>
                  </a:txBody>
                  <a:tcPr/>
                </a:tc>
                <a:extLst>
                  <a:ext uri="{0D108BD9-81ED-4DB2-BD59-A6C34878D82A}">
                    <a16:rowId xmlns:a16="http://schemas.microsoft.com/office/drawing/2014/main" val="464861382"/>
                  </a:ext>
                </a:extLst>
              </a:tr>
            </a:tbl>
          </a:graphicData>
        </a:graphic>
      </p:graphicFrame>
      <p:sp>
        <p:nvSpPr>
          <p:cNvPr id="11" name="TextBox 10">
            <a:extLst>
              <a:ext uri="{FF2B5EF4-FFF2-40B4-BE49-F238E27FC236}">
                <a16:creationId xmlns:a16="http://schemas.microsoft.com/office/drawing/2014/main" id="{AEF290A5-84FD-4B00-CEEA-B71CF8E71D85}"/>
              </a:ext>
            </a:extLst>
          </p:cNvPr>
          <p:cNvSpPr txBox="1"/>
          <p:nvPr/>
        </p:nvSpPr>
        <p:spPr>
          <a:xfrm>
            <a:off x="207644" y="4464477"/>
            <a:ext cx="6826174" cy="1015663"/>
          </a:xfrm>
          <a:prstGeom prst="rect">
            <a:avLst/>
          </a:prstGeom>
          <a:solidFill>
            <a:schemeClr val="accent5">
              <a:lumMod val="20000"/>
              <a:lumOff val="80000"/>
            </a:schemeClr>
          </a:solidFill>
        </p:spPr>
        <p:txBody>
          <a:bodyPr wrap="square">
            <a:spAutoFit/>
          </a:bodyPr>
          <a:lstStyle/>
          <a:p>
            <a:r>
              <a:rPr lang="en-SG" sz="1000" b="1" u="sng" dirty="0"/>
              <a:t>Policy Comparison Under Budget Constraint (Test Slice)</a:t>
            </a:r>
          </a:p>
          <a:p>
            <a:pPr marL="285750" indent="-285750">
              <a:buFont typeface="Wingdings" panose="05000000000000000000" pitchFamily="2" charset="2"/>
              <a:buChar char="Ø"/>
            </a:pPr>
            <a:r>
              <a:rPr lang="en-SG" sz="10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000" dirty="0"/>
              <a:t>ML targeting is competitive with heuristic RFM and provides a more extensible framework as richer data features become available (Why may choose ML over heuristic approach).</a:t>
            </a:r>
          </a:p>
          <a:p>
            <a:pPr marL="285750" indent="-285750">
              <a:buFont typeface="Wingdings" panose="05000000000000000000" pitchFamily="2" charset="2"/>
              <a:buChar char="Ø"/>
            </a:pPr>
            <a:r>
              <a:rPr lang="en-SG" sz="1000" dirty="0"/>
              <a:t>Continue benchmarking against RFM each retraining cycle to maintain performance guardrails.</a:t>
            </a:r>
          </a:p>
        </p:txBody>
      </p:sp>
      <p:sp>
        <p:nvSpPr>
          <p:cNvPr id="12" name="TextBox 11">
            <a:extLst>
              <a:ext uri="{FF2B5EF4-FFF2-40B4-BE49-F238E27FC236}">
                <a16:creationId xmlns:a16="http://schemas.microsoft.com/office/drawing/2014/main" id="{C45FAA5B-049F-F8DE-C5E6-CDEC01CC5CD7}"/>
              </a:ext>
            </a:extLst>
          </p:cNvPr>
          <p:cNvSpPr txBox="1"/>
          <p:nvPr/>
        </p:nvSpPr>
        <p:spPr>
          <a:xfrm>
            <a:off x="207644" y="1767164"/>
            <a:ext cx="6826174" cy="1015663"/>
          </a:xfrm>
          <a:prstGeom prst="rect">
            <a:avLst/>
          </a:prstGeom>
          <a:solidFill>
            <a:schemeClr val="accent5">
              <a:lumMod val="20000"/>
              <a:lumOff val="80000"/>
            </a:schemeClr>
          </a:solidFill>
        </p:spPr>
        <p:txBody>
          <a:bodyPr wrap="square">
            <a:spAutoFit/>
          </a:bodyPr>
          <a:lstStyle/>
          <a:p>
            <a:r>
              <a:rPr lang="en-SG" sz="1000" b="1" u="sng" dirty="0"/>
              <a:t>Frozen Model Quality (Validation Slice; Drift Signal Monitor)</a:t>
            </a:r>
          </a:p>
          <a:p>
            <a:r>
              <a:rPr lang="en-SG" sz="1000" b="1" dirty="0"/>
              <a:t>Drift monitoring (data/model): </a:t>
            </a:r>
          </a:p>
          <a:p>
            <a:pPr marL="171450" indent="-171450">
              <a:buFont typeface="Wingdings" panose="05000000000000000000" pitchFamily="2" charset="2"/>
              <a:buChar char="Ø"/>
            </a:pPr>
            <a:r>
              <a:rPr lang="en-SG" sz="1000" dirty="0"/>
              <a:t>Validation errors increase in retrain cycle — possible data/model drift signal; monitor alongside policy outcomes.</a:t>
            </a:r>
          </a:p>
          <a:p>
            <a:pPr marL="171450" indent="-171450">
              <a:buFont typeface="Wingdings" panose="05000000000000000000" pitchFamily="2" charset="2"/>
              <a:buChar char="Ø"/>
            </a:pPr>
            <a:r>
              <a:rPr lang="en-SG" sz="1000" dirty="0"/>
              <a:t>Retrained model seems to concentrate buyers more effectively in top segments </a:t>
            </a:r>
            <a:r>
              <a:rPr lang="en-SG" sz="1000" b="1" dirty="0"/>
              <a:t>(Top-Decile Lift improves)</a:t>
            </a:r>
            <a:r>
              <a:rPr lang="en-SG" sz="1000" dirty="0"/>
              <a:t>, although </a:t>
            </a:r>
            <a:r>
              <a:rPr lang="en-SG" sz="1000" b="1" dirty="0"/>
              <a:t>ranking (PR-AUC) and calibration (ECE) declined</a:t>
            </a:r>
            <a:r>
              <a:rPr lang="en-SG" sz="1000" dirty="0"/>
              <a:t>.</a:t>
            </a:r>
          </a:p>
        </p:txBody>
      </p:sp>
      <p:graphicFrame>
        <p:nvGraphicFramePr>
          <p:cNvPr id="15" name="Table 14">
            <a:extLst>
              <a:ext uri="{FF2B5EF4-FFF2-40B4-BE49-F238E27FC236}">
                <a16:creationId xmlns:a16="http://schemas.microsoft.com/office/drawing/2014/main" id="{B71E60CE-3C16-BE0E-6021-71E0F5E1CDFA}"/>
              </a:ext>
            </a:extLst>
          </p:cNvPr>
          <p:cNvGraphicFramePr>
            <a:graphicFrameLocks noGrp="1"/>
          </p:cNvGraphicFramePr>
          <p:nvPr>
            <p:extLst>
              <p:ext uri="{D42A27DB-BD31-4B8C-83A1-F6EECF244321}">
                <p14:modId xmlns:p14="http://schemas.microsoft.com/office/powerpoint/2010/main" val="4253195766"/>
              </p:ext>
            </p:extLst>
          </p:nvPr>
        </p:nvGraphicFramePr>
        <p:xfrm>
          <a:off x="7256704" y="2768145"/>
          <a:ext cx="4727652" cy="1584960"/>
        </p:xfrm>
        <a:graphic>
          <a:graphicData uri="http://schemas.openxmlformats.org/drawingml/2006/table">
            <a:tbl>
              <a:tblPr firstRow="1" bandRow="1">
                <a:tableStyleId>{5C22544A-7EE6-4342-B048-85BDC9FD1C3A}</a:tableStyleId>
              </a:tblPr>
              <a:tblGrid>
                <a:gridCol w="1424574">
                  <a:extLst>
                    <a:ext uri="{9D8B030D-6E8A-4147-A177-3AD203B41FA5}">
                      <a16:colId xmlns:a16="http://schemas.microsoft.com/office/drawing/2014/main" val="2444121692"/>
                    </a:ext>
                  </a:extLst>
                </a:gridCol>
                <a:gridCol w="1101026">
                  <a:extLst>
                    <a:ext uri="{9D8B030D-6E8A-4147-A177-3AD203B41FA5}">
                      <a16:colId xmlns:a16="http://schemas.microsoft.com/office/drawing/2014/main" val="1796582741"/>
                    </a:ext>
                  </a:extLst>
                </a:gridCol>
                <a:gridCol w="1101026">
                  <a:extLst>
                    <a:ext uri="{9D8B030D-6E8A-4147-A177-3AD203B41FA5}">
                      <a16:colId xmlns:a16="http://schemas.microsoft.com/office/drawing/2014/main" val="3043283912"/>
                    </a:ext>
                  </a:extLst>
                </a:gridCol>
                <a:gridCol w="1101026">
                  <a:extLst>
                    <a:ext uri="{9D8B030D-6E8A-4147-A177-3AD203B41FA5}">
                      <a16:colId xmlns:a16="http://schemas.microsoft.com/office/drawing/2014/main" val="2318209426"/>
                    </a:ext>
                  </a:extLst>
                </a:gridCol>
              </a:tblGrid>
              <a:tr h="548640">
                <a:tc>
                  <a:txBody>
                    <a:bodyPr/>
                    <a:lstStyle/>
                    <a:p>
                      <a:r>
                        <a:rPr lang="en-SG" sz="1000" u="sng" dirty="0"/>
                        <a:t>Revenue Prediction Model</a:t>
                      </a:r>
                    </a:p>
                    <a:p>
                      <a:r>
                        <a:rPr lang="en-SG" sz="1000" dirty="0"/>
                        <a:t>Revenue Regression Error</a:t>
                      </a:r>
                    </a:p>
                  </a:txBody>
                  <a:tcPr/>
                </a:tc>
                <a:tc>
                  <a:txBody>
                    <a:bodyPr/>
                    <a:lstStyle/>
                    <a:p>
                      <a:r>
                        <a:rPr lang="en-SG" sz="1000" dirty="0"/>
                        <a:t>RMSE</a:t>
                      </a:r>
                    </a:p>
                  </a:txBody>
                  <a:tcPr/>
                </a:tc>
                <a:tc>
                  <a:txBody>
                    <a:bodyPr/>
                    <a:lstStyle/>
                    <a:p>
                      <a:r>
                        <a:rPr lang="en-SG" sz="1000" dirty="0"/>
                        <a:t>MAE</a:t>
                      </a:r>
                    </a:p>
                  </a:txBody>
                  <a:tcPr/>
                </a:tc>
                <a:tc>
                  <a:txBody>
                    <a:bodyPr/>
                    <a:lstStyle/>
                    <a:p>
                      <a:r>
                        <a:rPr lang="en-SG" sz="1000" dirty="0"/>
                        <a:t>MAPE</a:t>
                      </a:r>
                    </a:p>
                  </a:txBody>
                  <a:tcPr/>
                </a:tc>
                <a:extLst>
                  <a:ext uri="{0D108BD9-81ED-4DB2-BD59-A6C34878D82A}">
                    <a16:rowId xmlns:a16="http://schemas.microsoft.com/office/drawing/2014/main" val="911247395"/>
                  </a:ext>
                </a:extLst>
              </a:tr>
              <a:tr h="243840">
                <a:tc>
                  <a:txBody>
                    <a:bodyPr/>
                    <a:lstStyle/>
                    <a:p>
                      <a:r>
                        <a:rPr lang="en-SG" sz="1000" b="0" dirty="0"/>
                        <a:t>Initial</a:t>
                      </a:r>
                    </a:p>
                  </a:txBody>
                  <a:tcPr/>
                </a:tc>
                <a:tc>
                  <a:txBody>
                    <a:bodyPr/>
                    <a:lstStyle/>
                    <a:p>
                      <a:r>
                        <a:rPr lang="en-SG" sz="1000" b="1" dirty="0"/>
                        <a:t>2019</a:t>
                      </a:r>
                    </a:p>
                  </a:txBody>
                  <a:tcPr/>
                </a:tc>
                <a:tc>
                  <a:txBody>
                    <a:bodyPr/>
                    <a:lstStyle/>
                    <a:p>
                      <a:r>
                        <a:rPr lang="en-SG" sz="1000" b="1" dirty="0"/>
                        <a:t>692</a:t>
                      </a:r>
                    </a:p>
                  </a:txBody>
                  <a:tcPr/>
                </a:tc>
                <a:tc>
                  <a:txBody>
                    <a:bodyPr/>
                    <a:lstStyle/>
                    <a:p>
                      <a:r>
                        <a:rPr lang="en-SG" sz="1000" b="1" dirty="0"/>
                        <a:t>1.2</a:t>
                      </a:r>
                    </a:p>
                  </a:txBody>
                  <a:tcPr/>
                </a:tc>
                <a:extLst>
                  <a:ext uri="{0D108BD9-81ED-4DB2-BD59-A6C34878D82A}">
                    <a16:rowId xmlns:a16="http://schemas.microsoft.com/office/drawing/2014/main" val="2861243702"/>
                  </a:ext>
                </a:extLst>
              </a:tr>
              <a:tr h="243840">
                <a:tc>
                  <a:txBody>
                    <a:bodyPr/>
                    <a:lstStyle/>
                    <a:p>
                      <a:r>
                        <a:rPr lang="en-SG" sz="1000" dirty="0"/>
                        <a:t>Retrain</a:t>
                      </a:r>
                    </a:p>
                  </a:txBody>
                  <a:tcPr/>
                </a:tc>
                <a:tc>
                  <a:txBody>
                    <a:bodyPr/>
                    <a:lstStyle/>
                    <a:p>
                      <a:r>
                        <a:rPr lang="en-SG" sz="1000" b="0" dirty="0"/>
                        <a:t>2873</a:t>
                      </a:r>
                    </a:p>
                  </a:txBody>
                  <a:tcPr/>
                </a:tc>
                <a:tc>
                  <a:txBody>
                    <a:bodyPr/>
                    <a:lstStyle/>
                    <a:p>
                      <a:r>
                        <a:rPr lang="en-SG" sz="1000" b="0" dirty="0"/>
                        <a:t>801</a:t>
                      </a:r>
                    </a:p>
                  </a:txBody>
                  <a:tcPr/>
                </a:tc>
                <a:tc>
                  <a:txBody>
                    <a:bodyPr/>
                    <a:lstStyle/>
                    <a:p>
                      <a:r>
                        <a:rPr lang="en-SG" sz="1000" b="0" dirty="0"/>
                        <a:t>2.7</a:t>
                      </a:r>
                    </a:p>
                  </a:txBody>
                  <a:tcPr/>
                </a:tc>
                <a:extLst>
                  <a:ext uri="{0D108BD9-81ED-4DB2-BD59-A6C34878D82A}">
                    <a16:rowId xmlns:a16="http://schemas.microsoft.com/office/drawing/2014/main" val="2491070102"/>
                  </a:ext>
                </a:extLst>
              </a:tr>
              <a:tr h="39624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Initial better</a:t>
                      </a:r>
                    </a:p>
                  </a:txBody>
                  <a:tcPr/>
                </a:tc>
                <a:tc>
                  <a:txBody>
                    <a:bodyPr/>
                    <a:lstStyle/>
                    <a:p>
                      <a:r>
                        <a:rPr lang="en-SG" sz="1000" b="1" dirty="0"/>
                        <a:t>Initial better</a:t>
                      </a:r>
                    </a:p>
                  </a:txBody>
                  <a:tcPr/>
                </a:tc>
                <a:extLst>
                  <a:ext uri="{0D108BD9-81ED-4DB2-BD59-A6C34878D82A}">
                    <a16:rowId xmlns:a16="http://schemas.microsoft.com/office/drawing/2014/main" val="2195298637"/>
                  </a:ext>
                </a:extLst>
              </a:tr>
            </a:tbl>
          </a:graphicData>
        </a:graphic>
      </p:graphicFrame>
      <p:sp>
        <p:nvSpPr>
          <p:cNvPr id="8" name="TextBox 7">
            <a:extLst>
              <a:ext uri="{FF2B5EF4-FFF2-40B4-BE49-F238E27FC236}">
                <a16:creationId xmlns:a16="http://schemas.microsoft.com/office/drawing/2014/main" id="{740617C8-E75E-1062-B441-752A5BC46210}"/>
              </a:ext>
            </a:extLst>
          </p:cNvPr>
          <p:cNvSpPr txBox="1"/>
          <p:nvPr/>
        </p:nvSpPr>
        <p:spPr>
          <a:xfrm>
            <a:off x="7256704" y="1765330"/>
            <a:ext cx="4935296" cy="861774"/>
          </a:xfrm>
          <a:prstGeom prst="rect">
            <a:avLst/>
          </a:prstGeom>
          <a:solidFill>
            <a:schemeClr val="accent6">
              <a:lumMod val="20000"/>
              <a:lumOff val="80000"/>
            </a:schemeClr>
          </a:solidFill>
        </p:spPr>
        <p:txBody>
          <a:bodyPr wrap="square">
            <a:spAutoFit/>
          </a:bodyPr>
          <a:lstStyle/>
          <a:p>
            <a:r>
              <a:rPr lang="en-SG" sz="1000" b="1" dirty="0"/>
              <a:t>Primary metric: PR-AUC</a:t>
            </a:r>
            <a:r>
              <a:rPr lang="en-SG" sz="1000" dirty="0"/>
              <a:t> (positive-class targeting)</a:t>
            </a:r>
          </a:p>
          <a:p>
            <a:r>
              <a:rPr lang="en-SG" sz="1000" b="1" dirty="0"/>
              <a:t>Other guardrail metrics</a:t>
            </a:r>
          </a:p>
          <a:p>
            <a:pPr marL="171450" indent="-171450">
              <a:buFont typeface="Wingdings" panose="05000000000000000000" pitchFamily="2" charset="2"/>
              <a:buChar char="Ø"/>
            </a:pPr>
            <a:r>
              <a:rPr lang="en-SG" sz="1000" b="1" dirty="0"/>
              <a:t>Ranking (AUC, Top-Decile Lift): </a:t>
            </a:r>
            <a:r>
              <a:rPr lang="en-SG" sz="1000" dirty="0"/>
              <a:t>Whether buyers rank above non-buyers</a:t>
            </a:r>
          </a:p>
          <a:p>
            <a:pPr marL="171450" indent="-171450">
              <a:buFont typeface="Wingdings" panose="05000000000000000000" pitchFamily="2" charset="2"/>
              <a:buChar char="Ø"/>
            </a:pPr>
            <a:r>
              <a:rPr lang="en-SG" sz="1000" b="1" dirty="0"/>
              <a:t>Calibration (Brier, ECE): </a:t>
            </a:r>
            <a:r>
              <a:rPr lang="en-SG" sz="1000" dirty="0"/>
              <a:t>Whether predicted probabilities are accurate</a:t>
            </a:r>
          </a:p>
          <a:p>
            <a:pPr marL="171450" indent="-171450">
              <a:buFont typeface="Wingdings" panose="05000000000000000000" pitchFamily="2" charset="2"/>
              <a:buChar char="Ø"/>
            </a:pPr>
            <a:r>
              <a:rPr lang="en-SG" sz="1000" b="1" dirty="0"/>
              <a:t>Revenue error metrics</a:t>
            </a:r>
          </a:p>
        </p:txBody>
      </p:sp>
      <p:sp>
        <p:nvSpPr>
          <p:cNvPr id="10" name="TextBox 9">
            <a:extLst>
              <a:ext uri="{FF2B5EF4-FFF2-40B4-BE49-F238E27FC236}">
                <a16:creationId xmlns:a16="http://schemas.microsoft.com/office/drawing/2014/main" id="{EA1A2570-42A7-DE58-513A-832A526CDD07}"/>
              </a:ext>
            </a:extLst>
          </p:cNvPr>
          <p:cNvSpPr txBox="1"/>
          <p:nvPr/>
        </p:nvSpPr>
        <p:spPr>
          <a:xfrm>
            <a:off x="7256704" y="4480074"/>
            <a:ext cx="4935296"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Selection Rule:</a:t>
            </a:r>
            <a:r>
              <a:rPr lang="en-SG" sz="1000" dirty="0"/>
              <a:t> Maximize </a:t>
            </a:r>
            <a:r>
              <a:rPr lang="en-SG" sz="1000" b="1" dirty="0"/>
              <a:t>Revenue per Targeted User (Historical Realized)</a:t>
            </a:r>
          </a:p>
          <a:p>
            <a:pPr marL="171450" indent="-171450">
              <a:buFont typeface="Wingdings" panose="05000000000000000000" pitchFamily="2" charset="2"/>
              <a:buChar char="Ø"/>
            </a:pPr>
            <a:r>
              <a:rPr lang="en-SG" sz="1000" b="1" dirty="0"/>
              <a:t>Secondary Metric: Purchase Rate (Historical Realized)</a:t>
            </a:r>
          </a:p>
        </p:txBody>
      </p:sp>
    </p:spTree>
    <p:extLst>
      <p:ext uri="{BB962C8B-B14F-4D97-AF65-F5344CB8AC3E}">
        <p14:creationId xmlns:p14="http://schemas.microsoft.com/office/powerpoint/2010/main" val="34345352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817360434"/>
              </p:ext>
            </p:extLst>
          </p:nvPr>
        </p:nvGraphicFramePr>
        <p:xfrm>
          <a:off x="218025" y="1961434"/>
          <a:ext cx="4642017" cy="4896567"/>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dirty="0">
                          <a:latin typeface="+mj-lt"/>
                        </a:rPr>
                        <a:t>all interactions except the latest two</a:t>
                      </a:r>
                    </a:p>
                    <a:p>
                      <a:pPr marL="171450" indent="-171450">
                        <a:buFont typeface="Wingdings" panose="05000000000000000000" pitchFamily="2" charset="2"/>
                        <a:buChar char="Ø"/>
                      </a:pPr>
                      <a:r>
                        <a:rPr lang="en-SG" sz="800" b="1" i="1" dirty="0">
                          <a:latin typeface="+mj-lt"/>
                        </a:rPr>
                        <a:t>`validation:`</a:t>
                      </a:r>
                      <a:r>
                        <a:rPr lang="en-SG" sz="800" dirty="0">
                          <a:latin typeface="+mj-lt"/>
                        </a:rPr>
                        <a:t> the second-latest interaction</a:t>
                      </a:r>
                    </a:p>
                    <a:p>
                      <a:pPr marL="171450" indent="-171450">
                        <a:buFont typeface="Wingdings" panose="05000000000000000000" pitchFamily="2" charset="2"/>
                        <a:buChar char="Ø"/>
                      </a:pPr>
                      <a:r>
                        <a:rPr lang="en-SG" sz="800" b="1" i="1" dirty="0">
                          <a:latin typeface="+mj-lt"/>
                        </a:rPr>
                        <a:t>`test:`</a:t>
                      </a:r>
                      <a:r>
                        <a:rPr lang="en-SG" sz="800" dirty="0">
                          <a:latin typeface="+mj-lt"/>
                        </a:rPr>
                        <a:t> the latest interaction</a:t>
                      </a:r>
                    </a:p>
                    <a:p>
                      <a:pPr marL="171450" indent="-171450">
                        <a:buFont typeface="Wingdings" panose="05000000000000000000" pitchFamily="2" charset="2"/>
                        <a:buChar char="Ø"/>
                      </a:pPr>
                      <a:r>
                        <a:rPr lang="en-SG" sz="800" dirty="0">
                          <a:latin typeface="+mj-lt"/>
                        </a:rPr>
                        <a:t>users with fewer than 3 interactions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`K={10,20}`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Scoring Mechanics)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D7EC224-8D80-A7FE-79C2-55BC8616EB70}"/>
                  </a:ext>
                </a:extLst>
              </p:cNvPr>
              <p:cNvSpPr txBox="1"/>
              <p:nvPr/>
            </p:nvSpPr>
            <p:spPr>
              <a:xfrm>
                <a:off x="2739380" y="1844040"/>
                <a:ext cx="1908820" cy="2704908"/>
              </a:xfrm>
              <a:prstGeom prst="rect">
                <a:avLst/>
              </a:prstGeom>
              <a:solidFill>
                <a:schemeClr val="accent6">
                  <a:lumMod val="20000"/>
                  <a:lumOff val="80000"/>
                </a:schemeClr>
              </a:solidFill>
            </p:spPr>
            <p:txBody>
              <a:bodyPr wrap="square">
                <a:spAutoFit/>
              </a:bodyPr>
              <a:lstStyle/>
              <a:p>
                <a:r>
                  <a:rPr lang="en-SG" sz="1000" b="1" u="sng" dirty="0"/>
                  <a:t>Popularity</a:t>
                </a:r>
              </a:p>
              <a:p>
                <a:endParaRPr lang="en-SG" sz="1000" b="1" i="1" u="sng" dirty="0">
                  <a:latin typeface="Cambria Math" panose="02040503050406030204" pitchFamily="18" charset="0"/>
                </a:endParaRPr>
              </a:p>
              <a:p>
                <a:r>
                  <a:rPr lang="en-SG" sz="1000" b="1" dirty="0"/>
                  <a:t>Core Idea</a:t>
                </a:r>
              </a:p>
              <a:p>
                <a:r>
                  <a:rPr lang="en-SG" sz="1000" dirty="0"/>
                  <a:t>Global ranking based on item frequency.</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i="1">
                          <a:latin typeface="Cambria Math" panose="02040503050406030204" pitchFamily="18" charset="0"/>
                        </a:rPr>
                        <m:t>𝑖</m:t>
                      </m:r>
                      <m:r>
                        <a:rPr lang="en-SG" sz="1000" i="1">
                          <a:latin typeface="Cambria Math" panose="02040503050406030204" pitchFamily="18" charset="0"/>
                        </a:rPr>
                        <m:t>)=</m:t>
                      </m:r>
                      <m:r>
                        <a:rPr lang="en-SG" sz="1000" i="1">
                          <a:latin typeface="Cambria Math" panose="02040503050406030204" pitchFamily="18" charset="0"/>
                        </a:rPr>
                        <m:t>𝑙𝑜𝑔</m:t>
                      </m:r>
                      <m:r>
                        <a:rPr lang="en-SG" sz="1000" i="1">
                          <a:latin typeface="Cambria Math" panose="02040503050406030204" pitchFamily="18" charset="0"/>
                        </a:rPr>
                        <m:t>(1+</m:t>
                      </m:r>
                      <m:sSub>
                        <m:sSubPr>
                          <m:ctrlPr>
                            <a:rPr lang="en-SG" sz="1000" i="1">
                              <a:latin typeface="Cambria Math" panose="02040503050406030204" pitchFamily="18" charset="0"/>
                            </a:rPr>
                          </m:ctrlPr>
                        </m:sSubPr>
                        <m:e>
                          <m:r>
                            <a:rPr lang="en-SG" sz="1000" i="1">
                              <a:latin typeface="Cambria Math" panose="02040503050406030204" pitchFamily="18" charset="0"/>
                            </a:rPr>
                            <m:t>𝑖𝑛𝑡𝑒𝑟𝑎𝑐𝑡𝑖𝑜𝑛</m:t>
                          </m:r>
                          <m:r>
                            <a:rPr lang="en-SG" sz="1000" i="1">
                              <a:latin typeface="Cambria Math" panose="02040503050406030204" pitchFamily="18" charset="0"/>
                            </a:rPr>
                            <m:t>_</m:t>
                          </m:r>
                          <m:r>
                            <a:rPr lang="en-SG" sz="1000" i="1">
                              <a:latin typeface="Cambria Math" panose="02040503050406030204" pitchFamily="18" charset="0"/>
                            </a:rPr>
                            <m:t>𝑐𝑜𝑢𝑛𝑡</m:t>
                          </m:r>
                        </m:e>
                        <m:sub>
                          <m:r>
                            <a:rPr lang="en-SG" sz="1000" i="1">
                              <a:latin typeface="Cambria Math" panose="02040503050406030204" pitchFamily="18" charset="0"/>
                            </a:rPr>
                            <m:t>𝑖</m:t>
                          </m:r>
                        </m:sub>
                      </m:sSub>
                      <m:r>
                        <a:rPr lang="en-SG" sz="1000" i="1">
                          <a:latin typeface="Cambria Math" panose="02040503050406030204" pitchFamily="18" charset="0"/>
                        </a:rPr>
                        <m:t>​)</m:t>
                      </m:r>
                    </m:oMath>
                  </m:oMathPara>
                </a14:m>
                <a:endParaRPr lang="en-SG" sz="1000" b="1" dirty="0"/>
              </a:p>
              <a:p>
                <a:endParaRPr lang="en-SG" sz="1000" dirty="0"/>
              </a:p>
              <a:p>
                <a:r>
                  <a:rPr lang="en-SG" sz="1000" b="1" dirty="0"/>
                  <a:t>What This Means</a:t>
                </a:r>
              </a:p>
              <a:p>
                <a:r>
                  <a:rPr lang="en-SG" sz="1000" dirty="0"/>
                  <a:t>Rate item popularity globally.</a:t>
                </a:r>
              </a:p>
              <a:p>
                <a:endParaRPr lang="en-SG" sz="1000" b="1" dirty="0"/>
              </a:p>
              <a:p>
                <a:r>
                  <a:rPr lang="en-SG" sz="1000" b="1" dirty="0"/>
                  <a:t>Key Limitation</a:t>
                </a:r>
              </a:p>
              <a:p>
                <a:r>
                  <a:rPr lang="en-SG" sz="1000" dirty="0"/>
                  <a:t>No personalization (global ranking only).</a:t>
                </a:r>
              </a:p>
            </p:txBody>
          </p:sp>
        </mc:Choice>
        <mc:Fallback xmlns="">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9380" y="1844040"/>
                <a:ext cx="1908820" cy="2704908"/>
              </a:xfrm>
              <a:prstGeom prst="rect">
                <a:avLst/>
              </a:prstGeom>
              <a:blipFill>
                <a:blip r:embed="rId2"/>
                <a:stretch>
                  <a:fillRect b="-451"/>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3003203820"/>
              </p:ext>
            </p:extLst>
          </p:nvPr>
        </p:nvGraphicFramePr>
        <p:xfrm>
          <a:off x="176358" y="4829175"/>
          <a:ext cx="4471842" cy="1798320"/>
        </p:xfrm>
        <a:graphic>
          <a:graphicData uri="http://schemas.openxmlformats.org/drawingml/2006/table">
            <a:tbl>
              <a:tblPr firstRow="1" bandRow="1">
                <a:tableStyleId>{5C22544A-7EE6-4342-B048-85BDC9FD1C3A}</a:tableStyleId>
              </a:tblPr>
              <a:tblGrid>
                <a:gridCol w="1490614">
                  <a:extLst>
                    <a:ext uri="{9D8B030D-6E8A-4147-A177-3AD203B41FA5}">
                      <a16:colId xmlns:a16="http://schemas.microsoft.com/office/drawing/2014/main" val="4060743706"/>
                    </a:ext>
                  </a:extLst>
                </a:gridCol>
                <a:gridCol w="1490614">
                  <a:extLst>
                    <a:ext uri="{9D8B030D-6E8A-4147-A177-3AD203B41FA5}">
                      <a16:colId xmlns:a16="http://schemas.microsoft.com/office/drawing/2014/main" val="515727559"/>
                    </a:ext>
                  </a:extLst>
                </a:gridCol>
                <a:gridCol w="1490614">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87EB407-9A19-5C20-3542-FAC00F9F2D80}"/>
                  </a:ext>
                </a:extLst>
              </p:cNvPr>
              <p:cNvSpPr txBox="1"/>
              <p:nvPr/>
            </p:nvSpPr>
            <p:spPr>
              <a:xfrm>
                <a:off x="4757647" y="1844040"/>
                <a:ext cx="3406040" cy="4862870"/>
              </a:xfrm>
              <a:prstGeom prst="rect">
                <a:avLst/>
              </a:prstGeom>
              <a:solidFill>
                <a:schemeClr val="accent6">
                  <a:lumMod val="20000"/>
                  <a:lumOff val="80000"/>
                </a:schemeClr>
              </a:solidFill>
            </p:spPr>
            <p:txBody>
              <a:bodyPr wrap="square">
                <a:spAutoFit/>
              </a:bodyPr>
              <a:lstStyle/>
              <a:p>
                <a:r>
                  <a:rPr lang="en-SG" sz="1000" b="1" u="sng" dirty="0"/>
                  <a:t>Matrix Factorization (MF); Latent Collaborative Filtering (CF)</a:t>
                </a:r>
              </a:p>
              <a:p>
                <a:endParaRPr lang="en-SG" sz="1000" b="1" i="1" u="sng" dirty="0">
                  <a:latin typeface="Cambria Math" panose="02040503050406030204" pitchFamily="18" charset="0"/>
                </a:endParaRPr>
              </a:p>
              <a:p>
                <a:r>
                  <a:rPr lang="en-SG" sz="1000" b="1" dirty="0"/>
                  <a:t>Core Idea</a:t>
                </a:r>
              </a:p>
              <a:p>
                <a:r>
                  <a:rPr lang="en-SG" sz="1000" dirty="0"/>
                  <a:t>Factorize sparse interaction matrix:</a:t>
                </a:r>
              </a:p>
              <a:p>
                <a:pPr/>
                <a14:m>
                  <m:oMathPara xmlns:m="http://schemas.openxmlformats.org/officeDocument/2006/math">
                    <m:oMathParaPr>
                      <m:jc m:val="centerGroup"/>
                    </m:oMathParaPr>
                    <m:oMath xmlns:m="http://schemas.openxmlformats.org/officeDocument/2006/math">
                      <m:r>
                        <a:rPr lang="en-SG" sz="1000" b="0" i="1" smtClean="0">
                          <a:latin typeface="Cambria Math" panose="02040503050406030204" pitchFamily="18" charset="0"/>
                        </a:rPr>
                        <m:t>𝑅</m:t>
                      </m:r>
                      <m:r>
                        <a:rPr lang="en-SG" sz="1000" i="1" smtClean="0">
                          <a:latin typeface="Cambria Math" panose="02040503050406030204" pitchFamily="18" charset="0"/>
                          <a:ea typeface="Cambria Math" panose="02040503050406030204" pitchFamily="18" charset="0"/>
                        </a:rPr>
                        <m:t>≈</m:t>
                      </m:r>
                      <m:r>
                        <a:rPr lang="en-SG" sz="1000" b="0" i="1" smtClean="0">
                          <a:latin typeface="Cambria Math" panose="02040503050406030204" pitchFamily="18" charset="0"/>
                        </a:rPr>
                        <m:t>𝑈</m:t>
                      </m:r>
                      <m:sSup>
                        <m:sSupPr>
                          <m:ctrlPr>
                            <a:rPr lang="en-SG" sz="1000" b="0" i="1" smtClean="0">
                              <a:latin typeface="Cambria Math" panose="02040503050406030204" pitchFamily="18" charset="0"/>
                            </a:rPr>
                          </m:ctrlPr>
                        </m:sSupPr>
                        <m:e>
                          <m:r>
                            <a:rPr lang="en-SG" sz="1000" b="0" i="1" smtClean="0">
                              <a:latin typeface="Cambria Math" panose="02040503050406030204" pitchFamily="18" charset="0"/>
                            </a:rPr>
                            <m:t>𝑉</m:t>
                          </m:r>
                        </m:e>
                        <m:sup>
                          <m:r>
                            <a:rPr lang="en-SG" sz="1000" b="0" i="1" smtClean="0">
                              <a:latin typeface="Cambria Math" panose="02040503050406030204" pitchFamily="18" charset="0"/>
                            </a:rPr>
                            <m:t>𝑇</m:t>
                          </m:r>
                        </m:sup>
                      </m:sSup>
                    </m:oMath>
                  </m:oMathPara>
                </a14:m>
                <a:endParaRPr lang="en-SG" sz="1000" b="1" dirty="0"/>
              </a:p>
              <a:p>
                <a14:m>
                  <m:oMath xmlns:m="http://schemas.openxmlformats.org/officeDocument/2006/math">
                    <m:sSub>
                      <m:sSubPr>
                        <m:ctrlPr>
                          <a:rPr lang="en-SG" sz="1000" b="1" i="1" smtClean="0">
                            <a:latin typeface="Cambria Math" panose="02040503050406030204" pitchFamily="18" charset="0"/>
                          </a:rPr>
                        </m:ctrlPr>
                      </m:sSubPr>
                      <m:e>
                        <m:r>
                          <a:rPr lang="en-SG" sz="1000" b="1" i="1" smtClean="0">
                            <a:latin typeface="Cambria Math" panose="02040503050406030204" pitchFamily="18" charset="0"/>
                          </a:rPr>
                          <m:t>𝑼</m:t>
                        </m:r>
                      </m:e>
                      <m:sub>
                        <m:r>
                          <a:rPr lang="en-SG" sz="1000" b="1" i="1" smtClean="0">
                            <a:latin typeface="Cambria Math" panose="02040503050406030204" pitchFamily="18" charset="0"/>
                          </a:rPr>
                          <m:t>𝑼</m:t>
                        </m:r>
                      </m:sub>
                    </m:sSub>
                    <m:r>
                      <a:rPr lang="en-SG" sz="1000" b="1" i="1" smtClean="0">
                        <a:latin typeface="Cambria Math" panose="02040503050406030204" pitchFamily="18" charset="0"/>
                      </a:rPr>
                      <m:t>:</m:t>
                    </m:r>
                    <m:r>
                      <a:rPr lang="en-SG" sz="1000" b="0" i="1" smtClean="0">
                        <a:latin typeface="Cambria Math" panose="02040503050406030204" pitchFamily="18" charset="0"/>
                      </a:rPr>
                      <m:t>𝑢𝑠𝑒𝑟</m:t>
                    </m:r>
                    <m:r>
                      <a:rPr lang="en-SG" sz="1000" b="0" i="1" smtClean="0">
                        <a:latin typeface="Cambria Math" panose="02040503050406030204" pitchFamily="18" charset="0"/>
                      </a:rPr>
                      <m:t> </m:t>
                    </m:r>
                    <m:r>
                      <a:rPr lang="en-SG" sz="1000" b="0" i="1" smtClean="0">
                        <a:latin typeface="Cambria Math" panose="02040503050406030204" pitchFamily="18" charset="0"/>
                      </a:rPr>
                      <m:t>𝑙𝑎𝑡𝑒𝑛𝑡</m:t>
                    </m:r>
                    <m:r>
                      <a:rPr lang="en-SG" sz="1000" b="0" i="1" smtClean="0">
                        <a:latin typeface="Cambria Math" panose="02040503050406030204" pitchFamily="18" charset="0"/>
                      </a:rPr>
                      <m:t> </m:t>
                    </m:r>
                    <m:r>
                      <a:rPr lang="en-SG" sz="1000" b="0" i="1" smtClean="0">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m:t>
                    </m:r>
                  </m:oMath>
                </a14:m>
                <a:r>
                  <a:rPr lang="en-SG" sz="10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1000" b="1" i="1">
                              <a:latin typeface="Cambria Math" panose="02040503050406030204" pitchFamily="18" charset="0"/>
                            </a:rPr>
                          </m:ctrlPr>
                        </m:sSubPr>
                        <m:e>
                          <m:r>
                            <a:rPr lang="en-SG" sz="1000" b="1" i="1" smtClean="0">
                              <a:latin typeface="Cambria Math" panose="02040503050406030204" pitchFamily="18" charset="0"/>
                            </a:rPr>
                            <m:t>𝑽</m:t>
                          </m:r>
                        </m:e>
                        <m:sub>
                          <m:r>
                            <a:rPr lang="en-SG" sz="1000" b="1" i="1">
                              <a:latin typeface="Cambria Math" panose="02040503050406030204" pitchFamily="18" charset="0"/>
                            </a:rPr>
                            <m:t>𝑼</m:t>
                          </m:r>
                        </m:sub>
                      </m:sSub>
                      <m:r>
                        <a:rPr lang="en-SG" sz="1000" b="1" i="1">
                          <a:latin typeface="Cambria Math" panose="02040503050406030204" pitchFamily="18" charset="0"/>
                        </a:rPr>
                        <m:t>:</m:t>
                      </m:r>
                      <m:r>
                        <a:rPr lang="en-SG" sz="1000" b="0" i="1" smtClean="0">
                          <a:latin typeface="Cambria Math" panose="02040503050406030204" pitchFamily="18" charset="0"/>
                        </a:rPr>
                        <m:t>𝑖𝑡𝑒𝑚</m:t>
                      </m:r>
                      <m:r>
                        <a:rPr lang="en-SG" sz="1000" i="1">
                          <a:latin typeface="Cambria Math" panose="02040503050406030204" pitchFamily="18" charset="0"/>
                        </a:rPr>
                        <m:t> </m:t>
                      </m:r>
                      <m:r>
                        <a:rPr lang="en-SG" sz="1000" i="1">
                          <a:latin typeface="Cambria Math" panose="02040503050406030204" pitchFamily="18" charset="0"/>
                        </a:rPr>
                        <m:t>𝑙𝑎𝑡𝑒𝑛𝑡</m:t>
                      </m:r>
                      <m:r>
                        <a:rPr lang="en-SG" sz="1000" i="1">
                          <a:latin typeface="Cambria Math" panose="02040503050406030204" pitchFamily="18" charset="0"/>
                        </a:rPr>
                        <m:t> </m:t>
                      </m:r>
                      <m:r>
                        <a:rPr lang="en-SG" sz="1000" i="1">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 (</m:t>
                      </m:r>
                      <m:r>
                        <m:rPr>
                          <m:nor/>
                        </m:rPr>
                        <a:rPr lang="en-SG" sz="1000" b="0" i="1" dirty="0" smtClean="0">
                          <a:latin typeface="Cambria Math" panose="02040503050406030204" pitchFamily="18" charset="0"/>
                        </a:rPr>
                        <m:t>items</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x</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k</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shape</m:t>
                      </m:r>
                    </m:oMath>
                  </m:oMathPara>
                </a14:m>
                <a:endParaRPr lang="en-SG" sz="1000" i="1" dirty="0">
                  <a:latin typeface="Cambria Math" panose="02040503050406030204" pitchFamily="18" charset="0"/>
                </a:endParaRPr>
              </a:p>
              <a:p>
                <a14:m>
                  <m:oMath xmlns:m="http://schemas.openxmlformats.org/officeDocument/2006/math">
                    <m:r>
                      <a:rPr lang="en-SG" sz="1000" b="1" i="1" smtClean="0">
                        <a:latin typeface="Cambria Math" panose="02040503050406030204" pitchFamily="18" charset="0"/>
                      </a:rPr>
                      <m:t>𝑹</m:t>
                    </m:r>
                    <m:r>
                      <a:rPr lang="en-SG" sz="1000" b="1" i="1">
                        <a:latin typeface="Cambria Math" panose="02040503050406030204" pitchFamily="18" charset="0"/>
                      </a:rPr>
                      <m:t>:</m:t>
                    </m:r>
                  </m:oMath>
                </a14:m>
                <a:r>
                  <a:rPr lang="en-SG" sz="10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𝒌</m:t>
                      </m:r>
                      <m:r>
                        <a:rPr lang="en-SG" sz="1000" b="1" i="1">
                          <a:latin typeface="Cambria Math" panose="02040503050406030204" pitchFamily="18" charset="0"/>
                        </a:rPr>
                        <m:t>:</m:t>
                      </m:r>
                      <m:r>
                        <a:rPr lang="en-SG" sz="1000" b="0" i="1" smtClean="0">
                          <a:latin typeface="Cambria Math" panose="02040503050406030204" pitchFamily="18" charset="0"/>
                        </a:rPr>
                        <m:t>𝑒𝑚𝑏𝑒𝑑𝑑𝑖𝑛𝑔</m:t>
                      </m:r>
                      <m:r>
                        <a:rPr lang="en-SG" sz="1000" b="0" i="1" smtClean="0">
                          <a:latin typeface="Cambria Math" panose="02040503050406030204" pitchFamily="18" charset="0"/>
                        </a:rPr>
                        <m:t> </m:t>
                      </m:r>
                      <m:r>
                        <a:rPr lang="en-SG" sz="1000" b="0" i="1" smtClean="0">
                          <a:latin typeface="Cambria Math" panose="02040503050406030204" pitchFamily="18" charset="0"/>
                        </a:rPr>
                        <m:t>𝑠𝑖𝑧𝑒</m:t>
                      </m:r>
                    </m:oMath>
                  </m:oMathPara>
                </a14:m>
                <a:endParaRPr lang="en-SG" sz="1000" dirty="0"/>
              </a:p>
              <a:p>
                <a:endParaRPr lang="en-SG" sz="1000" dirty="0"/>
              </a:p>
              <a:p>
                <a:r>
                  <a:rPr lang="en-SG" sz="1000" dirty="0"/>
                  <a:t>Implemented via TruncatedSVD (computes top-k singular vectors for low-rank approximation). Full-rank = min(#users, #items); MF constraints rank to k </a:t>
                </a:r>
                <a14:m>
                  <m:oMath xmlns:m="http://schemas.openxmlformats.org/officeDocument/2006/math">
                    <m:r>
                      <a:rPr lang="en-SG" sz="1000" i="1" smtClean="0">
                        <a:latin typeface="Cambria Math" panose="02040503050406030204" pitchFamily="18" charset="0"/>
                        <a:ea typeface="Cambria Math" panose="02040503050406030204" pitchFamily="18" charset="0"/>
                      </a:rPr>
                      <m:t>≪</m:t>
                    </m:r>
                  </m:oMath>
                </a14:m>
                <a:r>
                  <a:rPr lang="en-SG" sz="1000" dirty="0"/>
                  <a:t> full rank.</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b="0" i="1" smtClean="0">
                          <a:latin typeface="Cambria Math" panose="02040503050406030204" pitchFamily="18" charset="0"/>
                        </a:rPr>
                        <m:t>𝑢</m:t>
                      </m:r>
                      <m:r>
                        <a:rPr lang="en-SG" sz="1000" b="0" i="1" smtClean="0">
                          <a:latin typeface="Cambria Math" panose="02040503050406030204" pitchFamily="18" charset="0"/>
                        </a:rPr>
                        <m:t>, </m:t>
                      </m:r>
                      <m:r>
                        <a:rPr lang="en-SG" sz="1000" i="1">
                          <a:latin typeface="Cambria Math" panose="02040503050406030204" pitchFamily="18" charset="0"/>
                        </a:rPr>
                        <m:t>𝑖</m:t>
                      </m:r>
                      <m:r>
                        <a:rPr lang="en-SG" sz="1000" i="1">
                          <a:latin typeface="Cambria Math" panose="02040503050406030204" pitchFamily="18" charset="0"/>
                        </a:rPr>
                        <m:t>)=</m:t>
                      </m:r>
                      <m:sSub>
                        <m:sSubPr>
                          <m:ctrlPr>
                            <a:rPr lang="en-SG" sz="1000" i="1" smtClean="0">
                              <a:latin typeface="Cambria Math" panose="02040503050406030204" pitchFamily="18" charset="0"/>
                            </a:rPr>
                          </m:ctrlPr>
                        </m:sSubPr>
                        <m:e>
                          <m:r>
                            <a:rPr lang="en-SG" sz="1000" b="0" i="1" smtClean="0">
                              <a:latin typeface="Cambria Math" panose="02040503050406030204" pitchFamily="18" charset="0"/>
                            </a:rPr>
                            <m:t>𝑈</m:t>
                          </m:r>
                        </m:e>
                        <m:sub>
                          <m:r>
                            <a:rPr lang="en-SG" sz="1000" b="0" i="1" smtClean="0">
                              <a:latin typeface="Cambria Math" panose="02040503050406030204" pitchFamily="18" charset="0"/>
                            </a:rPr>
                            <m:t>𝑢</m:t>
                          </m:r>
                        </m:sub>
                      </m:sSub>
                      <m:r>
                        <a:rPr lang="en-SG" sz="1000" i="1" smtClean="0">
                          <a:latin typeface="Cambria Math" panose="02040503050406030204" pitchFamily="18" charset="0"/>
                          <a:ea typeface="Cambria Math" panose="02040503050406030204" pitchFamily="18" charset="0"/>
                        </a:rPr>
                        <m:t>∙</m:t>
                      </m:r>
                      <m:sSub>
                        <m:sSubPr>
                          <m:ctrlPr>
                            <a:rPr lang="en-SG" sz="1000" i="1">
                              <a:latin typeface="Cambria Math" panose="02040503050406030204" pitchFamily="18" charset="0"/>
                            </a:rPr>
                          </m:ctrlPr>
                        </m:sSubPr>
                        <m:e>
                          <m:r>
                            <a:rPr lang="en-SG" sz="1000" b="0" i="1" smtClean="0">
                              <a:latin typeface="Cambria Math" panose="02040503050406030204" pitchFamily="18" charset="0"/>
                            </a:rPr>
                            <m:t>𝑉</m:t>
                          </m:r>
                        </m:e>
                        <m:sub>
                          <m:r>
                            <a:rPr lang="en-SG" sz="1000" b="0" i="1" smtClean="0">
                              <a:latin typeface="Cambria Math" panose="02040503050406030204" pitchFamily="18" charset="0"/>
                            </a:rPr>
                            <m:t>𝑖</m:t>
                          </m:r>
                        </m:sub>
                      </m:sSub>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Personalized ranking</a:t>
                </a:r>
              </a:p>
              <a:p>
                <a:pPr marL="171450" indent="-171450">
                  <a:buFont typeface="Wingdings" panose="05000000000000000000" pitchFamily="2" charset="2"/>
                  <a:buChar char="Ø"/>
                </a:pPr>
                <a:r>
                  <a:rPr lang="en-SG" sz="1000" dirty="0"/>
                  <a:t>Based on shared latent factors</a:t>
                </a:r>
              </a:p>
              <a:p>
                <a:pPr marL="171450" indent="-171450">
                  <a:buFont typeface="Wingdings" panose="05000000000000000000" pitchFamily="2" charset="2"/>
                  <a:buChar char="Ø"/>
                </a:pPr>
                <a:r>
                  <a:rPr lang="en-SG" sz="1000" dirty="0"/>
                  <a:t>Learned from co-interaction</a:t>
                </a:r>
                <a:endParaRPr lang="en-SG" sz="1000" b="1" dirty="0"/>
              </a:p>
              <a:p>
                <a:endParaRPr lang="en-SG" sz="1000" b="1" dirty="0"/>
              </a:p>
              <a:p>
                <a:r>
                  <a:rPr lang="en-SG" sz="1000" b="1" dirty="0"/>
                  <a:t>Key Limitation</a:t>
                </a:r>
              </a:p>
              <a:p>
                <a:r>
                  <a:rPr lang="en-SG" sz="1000" dirty="0"/>
                  <a:t>Assumes linear low-rank structure which has limited expressiveness vs neural models </a:t>
                </a:r>
                <a:r>
                  <a:rPr lang="en-SG" sz="1000" b="1" dirty="0"/>
                  <a:t>(but can be a strength because it is a stable low-complexity model with less noise when compared to neural training).</a:t>
                </a:r>
              </a:p>
            </p:txBody>
          </p:sp>
        </mc:Choice>
        <mc:Fallback xmlns="">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4757647" y="1844040"/>
                <a:ext cx="3406040" cy="486287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E46001F-9023-0651-BB03-40CAF7BCAC84}"/>
                  </a:ext>
                </a:extLst>
              </p:cNvPr>
              <p:cNvSpPr txBox="1"/>
              <p:nvPr/>
            </p:nvSpPr>
            <p:spPr>
              <a:xfrm>
                <a:off x="8273133" y="1844040"/>
                <a:ext cx="3833141" cy="4900893"/>
              </a:xfrm>
              <a:prstGeom prst="rect">
                <a:avLst/>
              </a:prstGeom>
              <a:solidFill>
                <a:schemeClr val="accent6">
                  <a:lumMod val="20000"/>
                  <a:lumOff val="80000"/>
                </a:schemeClr>
              </a:solidFill>
            </p:spPr>
            <p:txBody>
              <a:bodyPr wrap="square">
                <a:spAutoFit/>
              </a:bodyPr>
              <a:lstStyle/>
              <a:p>
                <a:r>
                  <a:rPr lang="en-SG" sz="1000" b="1" u="sng" dirty="0"/>
                  <a:t>Two-Tower Neural Retrieval</a:t>
                </a:r>
              </a:p>
              <a:p>
                <a:endParaRPr lang="en-SG" sz="1000" b="1" i="1" u="sng" dirty="0">
                  <a:latin typeface="Cambria Math" panose="02040503050406030204" pitchFamily="18" charset="0"/>
                </a:endParaRPr>
              </a:p>
              <a:p>
                <a:r>
                  <a:rPr lang="en-SG" sz="1000" b="1" dirty="0"/>
                  <a:t>Core Idea</a:t>
                </a:r>
              </a:p>
              <a:p>
                <a:r>
                  <a:rPr lang="en-SG" sz="1000" dirty="0"/>
                  <a:t>Generalizes MF with learned neural parameterization.</a:t>
                </a:r>
              </a:p>
              <a:p>
                <a:endParaRPr lang="en-SG" sz="1000" b="1" dirty="0"/>
              </a:p>
              <a:p>
                <a:r>
                  <a:rPr lang="en-SG" sz="1000" dirty="0"/>
                  <a:t>Learn embeddings via supervised contrastive training (User Tower, Item Tower).</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𝑙𝑜𝑔𝑖𝑡</m:t>
                      </m:r>
                      <m:r>
                        <a:rPr lang="en-SG" sz="1000" i="1">
                          <a:latin typeface="Cambria Math" panose="02040503050406030204" pitchFamily="18" charset="0"/>
                        </a:rPr>
                        <m:t> </m:t>
                      </m:r>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i="1">
                          <a:latin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𝑢</m:t>
                          </m:r>
                        </m:e>
                      </m:acc>
                      <m:r>
                        <a:rPr lang="en-SG" sz="1000" i="1">
                          <a:latin typeface="Cambria Math" panose="02040503050406030204" pitchFamily="18" charset="0"/>
                          <a:ea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𝑣</m:t>
                          </m:r>
                        </m:e>
                      </m:acc>
                    </m:oMath>
                  </m:oMathPara>
                </a14:m>
                <a:endParaRPr lang="en-SG" sz="10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m:t>
                      </m:r>
                      <m:r>
                        <a:rPr lang="en-SG" sz="1000" b="1" i="1" smtClean="0">
                          <a:latin typeface="Cambria Math" panose="02040503050406030204" pitchFamily="18" charset="0"/>
                        </a:rPr>
                        <m:t> </m:t>
                      </m:r>
                      <m:r>
                        <a:rPr lang="en-SG" sz="1000" b="1" i="1" smtClean="0">
                          <a:latin typeface="Cambria Math" panose="02040503050406030204" pitchFamily="18" charset="0"/>
                        </a:rPr>
                        <m:t>𝒔𝒄𝒐𝒓𝒆</m:t>
                      </m:r>
                      <m:r>
                        <a:rPr lang="en-SG" sz="1000" b="1" i="1" smtClean="0">
                          <a:latin typeface="Cambria Math" panose="02040503050406030204" pitchFamily="18" charset="0"/>
                        </a:rPr>
                        <m:t>:</m:t>
                      </m:r>
                      <m:r>
                        <a:rPr lang="en-SG" sz="1000" i="1">
                          <a:latin typeface="Cambria Math" panose="02040503050406030204" pitchFamily="18" charset="0"/>
                        </a:rPr>
                        <m:t>𝐿</m:t>
                      </m:r>
                      <m:r>
                        <a:rPr lang="en-SG" sz="1000" i="1">
                          <a:latin typeface="Cambria Math" panose="02040503050406030204" pitchFamily="18" charset="0"/>
                        </a:rPr>
                        <m:t>2−</m:t>
                      </m:r>
                      <m:r>
                        <a:rPr lang="en-SG" sz="1000" i="1">
                          <a:latin typeface="Cambria Math" panose="02040503050406030204" pitchFamily="18" charset="0"/>
                        </a:rPr>
                        <m:t>𝑛𝑜𝑟𝑚𝑎𝑙𝑖𝑧𝑒𝑑</m:t>
                      </m:r>
                      <m:r>
                        <a:rPr lang="en-SG" sz="1000" i="1">
                          <a:latin typeface="Cambria Math" panose="02040503050406030204" pitchFamily="18" charset="0"/>
                        </a:rPr>
                        <m:t> </m:t>
                      </m:r>
                      <m:r>
                        <a:rPr lang="en-SG" sz="1000" i="1">
                          <a:latin typeface="Cambria Math" panose="02040503050406030204" pitchFamily="18" charset="0"/>
                        </a:rPr>
                        <m:t>𝑐𝑜𝑠𝑖𝑛𝑒</m:t>
                      </m:r>
                      <m:r>
                        <a:rPr lang="en-SG" sz="1000" i="1">
                          <a:latin typeface="Cambria Math" panose="02040503050406030204" pitchFamily="18" charset="0"/>
                        </a:rPr>
                        <m:t>−</m:t>
                      </m:r>
                      <m:r>
                        <a:rPr lang="en-SG" sz="1000" i="1">
                          <a:latin typeface="Cambria Math" panose="02040503050406030204" pitchFamily="18" charset="0"/>
                        </a:rPr>
                        <m:t>𝑠𝑡𝑦𝑙𝑒</m:t>
                      </m:r>
                      <m:r>
                        <a:rPr lang="en-SG" sz="1000" i="1">
                          <a:latin typeface="Cambria Math" panose="02040503050406030204" pitchFamily="18" charset="0"/>
                        </a:rPr>
                        <m:t> </m:t>
                      </m:r>
                      <m:r>
                        <a:rPr lang="en-SG" sz="1000" i="1">
                          <a:latin typeface="Cambria Math" panose="02040503050406030204" pitchFamily="18" charset="0"/>
                        </a:rPr>
                        <m:t>𝑑𝑜𝑡</m:t>
                      </m:r>
                      <m:r>
                        <a:rPr lang="en-SG" sz="1000" i="1">
                          <a:latin typeface="Cambria Math" panose="02040503050406030204" pitchFamily="18" charset="0"/>
                        </a:rPr>
                        <m:t> </m:t>
                      </m:r>
                      <m:r>
                        <a:rPr lang="en-SG" sz="1000" i="1">
                          <a:latin typeface="Cambria Math" panose="02040503050406030204" pitchFamily="18" charset="0"/>
                        </a:rPr>
                        <m:t>𝑝𝑟𝑜𝑑𝑢𝑐𝑡</m:t>
                      </m:r>
                    </m:oMath>
                  </m:oMathPara>
                </a14:m>
                <a:endParaRPr lang="en-SG" sz="1000" i="1" dirty="0">
                  <a:latin typeface="Cambria Math" panose="02040503050406030204" pitchFamily="18" charset="0"/>
                </a:endParaRPr>
              </a:p>
              <a:p>
                <a:endParaRPr lang="en-SG" sz="10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b="1" i="1" smtClean="0">
                          <a:latin typeface="Cambria Math" panose="02040503050406030204" pitchFamily="18" charset="0"/>
                        </a:rPr>
                        <m:t>𝑻𝒓𝒂𝒊𝒏𝒊𝒏𝒈</m:t>
                      </m:r>
                      <m:r>
                        <a:rPr lang="en-SG" sz="1000" b="1" i="1" smtClean="0">
                          <a:latin typeface="Cambria Math" panose="02040503050406030204" pitchFamily="18" charset="0"/>
                        </a:rPr>
                        <m:t> </m:t>
                      </m:r>
                      <m:r>
                        <a:rPr lang="en-SG" sz="1000" b="1" i="1" smtClean="0">
                          <a:latin typeface="Cambria Math" panose="02040503050406030204" pitchFamily="18" charset="0"/>
                        </a:rPr>
                        <m:t>𝒐𝒏𝒍𝒚</m:t>
                      </m:r>
                      <m:r>
                        <a:rPr lang="en-SG" sz="1000" b="1" i="1" smtClean="0">
                          <a:latin typeface="Cambria Math" panose="02040503050406030204" pitchFamily="18" charset="0"/>
                        </a:rPr>
                        <m:t>: </m:t>
                      </m:r>
                      <m:r>
                        <a:rPr lang="en-SG" sz="1000" b="0" i="1" smtClean="0">
                          <a:latin typeface="Cambria Math" panose="02040503050406030204" pitchFamily="18" charset="0"/>
                        </a:rPr>
                        <m:t>𝑠𝑜𝑓𝑡𝑚𝑎𝑥</m:t>
                      </m:r>
                      <m:d>
                        <m:dPr>
                          <m:ctrlPr>
                            <a:rPr lang="en-SG" sz="1000" b="0" i="1" smtClean="0">
                              <a:latin typeface="Cambria Math" panose="02040503050406030204" pitchFamily="18" charset="0"/>
                            </a:rPr>
                          </m:ctrlPr>
                        </m:dPr>
                        <m:e>
                          <m:f>
                            <m:fPr>
                              <m:ctrlPr>
                                <a:rPr lang="en-SG" sz="1000" b="0" i="1" smtClean="0">
                                  <a:latin typeface="Cambria Math" panose="02040503050406030204" pitchFamily="18" charset="0"/>
                                </a:rPr>
                              </m:ctrlPr>
                            </m:fPr>
                            <m:num>
                              <m:r>
                                <a:rPr lang="en-SG" sz="1000" b="0" i="1" smtClean="0">
                                  <a:latin typeface="Cambria Math" panose="02040503050406030204" pitchFamily="18" charset="0"/>
                                </a:rPr>
                                <m:t>𝑙𝑜𝑔𝑖𝑡𝑠</m:t>
                              </m:r>
                            </m:num>
                            <m:den>
                              <m:r>
                                <a:rPr lang="en-SG" sz="1000" b="0" i="1" smtClean="0">
                                  <a:latin typeface="Cambria Math" panose="02040503050406030204" pitchFamily="18" charset="0"/>
                                </a:rPr>
                                <m:t>𝑇</m:t>
                              </m:r>
                            </m:den>
                          </m:f>
                        </m:e>
                      </m:d>
                    </m:oMath>
                  </m:oMathPara>
                </a14:m>
                <a:endParaRPr lang="en-SG" sz="1000" dirty="0"/>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𝒍𝒐𝒈𝒊𝒕𝒔</m:t>
                      </m:r>
                      <m:r>
                        <a:rPr lang="en-SG" sz="1000" b="1" i="1" smtClean="0">
                          <a:latin typeface="Cambria Math" panose="02040503050406030204" pitchFamily="18" charset="0"/>
                        </a:rPr>
                        <m:t>:</m:t>
                      </m:r>
                      <m:r>
                        <a:rPr lang="en-SG" sz="1000" i="1">
                          <a:latin typeface="Cambria Math" panose="02040503050406030204" pitchFamily="18" charset="0"/>
                        </a:rPr>
                        <m:t>𝑝𝑜𝑠𝑖𝑡𝑖𝑣𝑒</m:t>
                      </m:r>
                      <m:r>
                        <a:rPr lang="en-SG" sz="1000" i="1">
                          <a:latin typeface="Cambria Math" panose="02040503050406030204" pitchFamily="18" charset="0"/>
                        </a:rPr>
                        <m:t> </m:t>
                      </m:r>
                      <m:r>
                        <a:rPr lang="en-SG" sz="1000" i="1">
                          <a:latin typeface="Cambria Math" panose="02040503050406030204" pitchFamily="18" charset="0"/>
                        </a:rPr>
                        <m:t>𝑎𝑛𝑑</m:t>
                      </m:r>
                      <m:r>
                        <a:rPr lang="en-SG" sz="1000" i="1">
                          <a:latin typeface="Cambria Math" panose="02040503050406030204" pitchFamily="18" charset="0"/>
                        </a:rPr>
                        <m:t> </m:t>
                      </m:r>
                      <m:r>
                        <a:rPr lang="en-SG" sz="1000" i="1">
                          <a:latin typeface="Cambria Math" panose="02040503050406030204" pitchFamily="18" charset="0"/>
                        </a:rPr>
                        <m:t>𝑛𝑒𝑔𝑎𝑡𝑖𝑣𝑒</m:t>
                      </m:r>
                      <m:r>
                        <a:rPr lang="en-SG" sz="1000" i="1">
                          <a:latin typeface="Cambria Math" panose="02040503050406030204" pitchFamily="18" charset="0"/>
                        </a:rPr>
                        <m:t> </m:t>
                      </m:r>
                      <m:r>
                        <a:rPr lang="en-SG" sz="1000" i="1">
                          <a:latin typeface="Cambria Math" panose="02040503050406030204" pitchFamily="18" charset="0"/>
                        </a:rPr>
                        <m:t>𝑙𝑜𝑔𝑖𝑡𝑠</m:t>
                      </m:r>
                      <m:r>
                        <a:rPr lang="en-SG" sz="1000" i="1">
                          <a:latin typeface="Cambria Math" panose="02040503050406030204" pitchFamily="18" charset="0"/>
                        </a:rPr>
                        <m:t> (</m:t>
                      </m:r>
                      <m:r>
                        <a:rPr lang="en-SG" sz="1000" i="1">
                          <a:latin typeface="Cambria Math" panose="02040503050406030204" pitchFamily="18" charset="0"/>
                        </a:rPr>
                        <m:t>𝑖𝑛</m:t>
                      </m:r>
                      <m:r>
                        <a:rPr lang="en-SG" sz="1000" i="1">
                          <a:latin typeface="Cambria Math" panose="02040503050406030204" pitchFamily="18" charset="0"/>
                        </a:rPr>
                        <m:t>−</m:t>
                      </m:r>
                      <m:r>
                        <a:rPr lang="en-SG" sz="1000" i="1">
                          <a:latin typeface="Cambria Math" panose="02040503050406030204" pitchFamily="18" charset="0"/>
                        </a:rPr>
                        <m:t>𝑏𝑎𝑡𝑐h</m:t>
                      </m:r>
                      <m:r>
                        <a:rPr lang="en-SG" sz="1000" i="1">
                          <a:latin typeface="Cambria Math" panose="02040503050406030204" pitchFamily="18" charset="0"/>
                        </a:rPr>
                        <m:t> + </m:t>
                      </m:r>
                      <m:r>
                        <a:rPr lang="en-SG" sz="1000" i="1">
                          <a:latin typeface="Cambria Math" panose="02040503050406030204" pitchFamily="18" charset="0"/>
                        </a:rPr>
                        <m:t>𝑠𝑎𝑚𝑝𝑙𝑒𝑑</m:t>
                      </m:r>
                      <m:r>
                        <a:rPr lang="en-SG" sz="1000" i="1">
                          <a:latin typeface="Cambria Math" panose="02040503050406030204" pitchFamily="18" charset="0"/>
                        </a:rPr>
                        <m:t>)</m:t>
                      </m:r>
                    </m:oMath>
                  </m:oMathPara>
                </a14:m>
                <a:endParaRPr lang="en-SG" sz="1000" i="1" dirty="0">
                  <a:latin typeface="Cambria Math" panose="02040503050406030204" pitchFamily="18" charset="0"/>
                </a:endParaRPr>
              </a:p>
              <a:p>
                <a:endParaRPr lang="en-SG" sz="1000" dirty="0"/>
              </a:p>
              <a:p>
                <a:r>
                  <a:rPr lang="en-SG" sz="1000" b="1" dirty="0"/>
                  <a:t>Optimization during training: </a:t>
                </a:r>
                <a:r>
                  <a:rPr lang="en-SG" sz="1000" dirty="0"/>
                  <a:t>Mini-batch gradient descent on contrastive cross-entropy loss; maximize relative score separation between positive (u, i) pairs and negatives.</a:t>
                </a:r>
              </a:p>
              <a:p>
                <a:endParaRPr lang="en-SG" sz="1000" dirty="0"/>
              </a:p>
              <a:p>
                <a:r>
                  <a:rPr lang="en-SG" sz="1000" b="1" dirty="0"/>
                  <a:t>What This Means</a:t>
                </a:r>
                <a:endParaRPr lang="en-SG" sz="1000" dirty="0"/>
              </a:p>
              <a:p>
                <a:pPr marL="171450" indent="-171450">
                  <a:buFont typeface="Wingdings" panose="05000000000000000000" pitchFamily="2" charset="2"/>
                  <a:buChar char="Ø"/>
                </a:pPr>
                <a:r>
                  <a:rPr lang="en-SG" sz="1000" b="1" dirty="0"/>
                  <a:t>Generalizes MF with flexible parameterization and scalable training.</a:t>
                </a:r>
              </a:p>
              <a:p>
                <a:endParaRPr lang="en-SG" sz="1000" b="1" dirty="0"/>
              </a:p>
              <a:p>
                <a:r>
                  <a:rPr lang="en-SG" sz="1000" b="1" dirty="0"/>
                  <a:t>Key Limitation</a:t>
                </a:r>
              </a:p>
              <a:p>
                <a:r>
                  <a:rPr lang="en-SG" sz="1000" dirty="0"/>
                  <a:t>May underperform classical MF especially on limited datasets due to higher optimization complexity in neural training.</a:t>
                </a:r>
              </a:p>
              <a:p>
                <a:endParaRPr lang="en-SG" sz="1000" dirty="0"/>
              </a:p>
              <a:p>
                <a:endParaRPr lang="en-SG" sz="1000" dirty="0"/>
              </a:p>
              <a:p>
                <a:endParaRPr lang="en-SG" sz="1000" dirty="0"/>
              </a:p>
            </p:txBody>
          </p:sp>
        </mc:Choice>
        <mc:Fallback xmlns="">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273133" y="1844040"/>
                <a:ext cx="3833141" cy="4900893"/>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D39FC1-E7FE-0653-7013-031429C5330E}"/>
                  </a:ext>
                </a:extLst>
              </p:cNvPr>
              <p:cNvSpPr txBox="1"/>
              <p:nvPr/>
            </p:nvSpPr>
            <p:spPr>
              <a:xfrm>
                <a:off x="176360" y="1836420"/>
                <a:ext cx="2453573" cy="2708434"/>
              </a:xfrm>
              <a:prstGeom prst="rect">
                <a:avLst/>
              </a:prstGeom>
              <a:solidFill>
                <a:schemeClr val="accent6">
                  <a:lumMod val="20000"/>
                  <a:lumOff val="80000"/>
                </a:schemeClr>
              </a:solidFill>
            </p:spPr>
            <p:txBody>
              <a:bodyPr wrap="square">
                <a:spAutoFit/>
              </a:bodyPr>
              <a:lstStyle/>
              <a:p>
                <a:r>
                  <a:rPr lang="en-SG" sz="1000" b="1" u="sng" dirty="0"/>
                  <a:t>Random Baseline (Null Model)</a:t>
                </a:r>
              </a:p>
              <a:p>
                <a:endParaRPr lang="en-SG" sz="1000" b="1" i="1" u="sng" dirty="0">
                  <a:latin typeface="Cambria Math" panose="02040503050406030204" pitchFamily="18" charset="0"/>
                </a:endParaRPr>
              </a:p>
              <a:p>
                <a:r>
                  <a:rPr lang="en-SG" sz="1000" b="1" dirty="0"/>
                  <a:t>Core Idea</a:t>
                </a:r>
              </a:p>
              <a:p>
                <a:r>
                  <a:rPr lang="en-SG" sz="1000" dirty="0"/>
                  <a:t>Random uniform scoring for any user-item pairing.</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b="0" i="1" smtClean="0">
                          <a:latin typeface="Cambria Math" panose="02040503050406030204" pitchFamily="18" charset="0"/>
                        </a:rPr>
                        <m:t> ~ </m:t>
                      </m:r>
                      <m:r>
                        <a:rPr lang="en-SG" sz="1000" b="0" i="1" smtClean="0">
                          <a:latin typeface="Cambria Math" panose="02040503050406030204" pitchFamily="18" charset="0"/>
                        </a:rPr>
                        <m:t>𝑈𝑛𝑖𝑓𝑜𝑟𝑚</m:t>
                      </m:r>
                      <m:r>
                        <a:rPr lang="en-SG" sz="1000" b="0" i="1" smtClean="0">
                          <a:latin typeface="Cambria Math" panose="02040503050406030204" pitchFamily="18" charset="0"/>
                        </a:rPr>
                        <m:t>(0.1)</m:t>
                      </m:r>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Zero-information No-preference model</a:t>
                </a:r>
              </a:p>
              <a:p>
                <a:pPr marL="171450" indent="-171450">
                  <a:buFont typeface="Wingdings" panose="05000000000000000000" pitchFamily="2" charset="2"/>
                  <a:buChar char="Ø"/>
                </a:pPr>
                <a:r>
                  <a:rPr lang="en-SG" sz="1000" dirty="0"/>
                  <a:t>Establish theoretical floor</a:t>
                </a:r>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p:txBody>
          </p:sp>
        </mc:Choice>
        <mc:Fallback xmlns="">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176360" y="1836420"/>
                <a:ext cx="2453573" cy="2708434"/>
              </a:xfrm>
              <a:prstGeom prst="rect">
                <a:avLst/>
              </a:prstGeom>
              <a:blipFill>
                <a:blip r:embed="rId5"/>
                <a:stretch>
                  <a:fillRect/>
                </a:stretch>
              </a:blipFill>
            </p:spPr>
            <p:txBody>
              <a:bodyPr/>
              <a:lstStyle/>
              <a:p>
                <a:r>
                  <a:rPr lang="en-SG">
                    <a:noFill/>
                  </a:rPr>
                  <a:t> </a:t>
                </a:r>
              </a:p>
            </p:txBody>
          </p:sp>
        </mc:Fallback>
      </mc:AlternateContent>
    </p:spTree>
    <p:extLst>
      <p:ext uri="{BB962C8B-B14F-4D97-AF65-F5344CB8AC3E}">
        <p14:creationId xmlns:p14="http://schemas.microsoft.com/office/powerpoint/2010/main" val="1431262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1253782" y="1871743"/>
            <a:ext cx="9761059" cy="3785652"/>
          </a:xfrm>
          <a:prstGeom prst="rect">
            <a:avLst/>
          </a:prstGeom>
          <a:solidFill>
            <a:schemeClr val="accent5">
              <a:lumMod val="20000"/>
              <a:lumOff val="80000"/>
            </a:schemeClr>
          </a:solidFill>
        </p:spPr>
        <p:txBody>
          <a:bodyPr wrap="square">
            <a:spAutoFit/>
          </a:bodyPr>
          <a:lstStyle/>
          <a:p>
            <a:r>
              <a:rPr lang="en-SG" sz="1600" b="1" u="sng" dirty="0"/>
              <a:t>Executive Takeaway</a:t>
            </a:r>
          </a:p>
          <a:p>
            <a:pPr marL="285750" indent="-285750">
              <a:buFont typeface="Wingdings" panose="05000000000000000000" pitchFamily="2" charset="2"/>
              <a:buChar char="Ø"/>
            </a:pPr>
            <a:r>
              <a:rPr lang="en-SG" sz="1600" b="1" dirty="0"/>
              <a:t>Matrix Factorization </a:t>
            </a:r>
            <a:r>
              <a:rPr lang="en-SG" sz="1600" dirty="0"/>
              <a:t>is the current production default for Stage 1 Candidate Retrieval</a:t>
            </a:r>
          </a:p>
          <a:p>
            <a:pPr marL="285750" indent="-285750">
              <a:buFont typeface="Wingdings" panose="05000000000000000000" pitchFamily="2" charset="2"/>
              <a:buChar char="Ø"/>
            </a:pPr>
            <a:r>
              <a:rPr lang="en-SG" sz="1600" b="1" dirty="0"/>
              <a:t>Two-Tower </a:t>
            </a:r>
            <a:r>
              <a:rPr lang="en-SG" sz="1600" dirty="0"/>
              <a:t>remains a challenger pending richer features</a:t>
            </a:r>
          </a:p>
          <a:p>
            <a:pPr marL="285750" indent="-285750">
              <a:buFont typeface="Wingdings" panose="05000000000000000000" pitchFamily="2" charset="2"/>
              <a:buChar char="Ø"/>
            </a:pPr>
            <a:r>
              <a:rPr lang="en-SG" sz="1600" b="1" dirty="0"/>
              <a:t>Popularity</a:t>
            </a:r>
            <a:r>
              <a:rPr lang="en-SG" sz="1600" dirty="0"/>
              <a:t> as sanity baseline.</a:t>
            </a:r>
          </a:p>
          <a:p>
            <a:pPr marL="285750" indent="-285750">
              <a:buFont typeface="Wingdings" panose="05000000000000000000" pitchFamily="2" charset="2"/>
              <a:buChar char="Ø"/>
            </a:pPr>
            <a:r>
              <a:rPr lang="en-SG" sz="1600" dirty="0"/>
              <a:t>Secondary metrics </a:t>
            </a:r>
            <a:r>
              <a:rPr lang="en-SG" sz="1600" b="1" dirty="0"/>
              <a:t>(NDCG, HitRate)</a:t>
            </a:r>
            <a:r>
              <a:rPr lang="en-SG" sz="1600" dirty="0"/>
              <a:t> monitored; no conflicting signals with </a:t>
            </a:r>
            <a:r>
              <a:rPr lang="en-SG" sz="1600" b="1" dirty="0"/>
              <a:t>Recall@20.</a:t>
            </a:r>
          </a:p>
          <a:p>
            <a:endParaRPr lang="en-SG" sz="1600" b="1" dirty="0"/>
          </a:p>
          <a:p>
            <a:endParaRPr lang="en-SG" sz="1600" b="1" dirty="0"/>
          </a:p>
          <a:p>
            <a:r>
              <a:rPr lang="en-SG" sz="1600" b="1" u="sng" dirty="0"/>
              <a:t>Model Comparison (Recall@20)</a:t>
            </a:r>
          </a:p>
          <a:p>
            <a:endParaRPr lang="en-SG" sz="1600" b="1" dirty="0"/>
          </a:p>
          <a:p>
            <a:endParaRPr lang="en-SG" sz="1600" b="1" dirty="0"/>
          </a:p>
          <a:p>
            <a:endParaRPr lang="en-SG" sz="1600" b="1" dirty="0"/>
          </a:p>
          <a:p>
            <a:endParaRPr lang="en-SG" sz="1600" b="1" dirty="0"/>
          </a:p>
          <a:p>
            <a:endParaRPr lang="en-SG" sz="1600" b="1" dirty="0"/>
          </a:p>
          <a:p>
            <a:endParaRPr lang="en-SG" sz="1600" b="1" dirty="0"/>
          </a:p>
          <a:p>
            <a:r>
              <a:rPr lang="en-SG" sz="1600" b="1" dirty="0"/>
              <a:t>Selection Rule: </a:t>
            </a:r>
            <a:r>
              <a:rPr lang="en-SG" sz="1600" dirty="0"/>
              <a:t>Maximize validation </a:t>
            </a:r>
            <a:r>
              <a:rPr lang="en-SG" sz="1600" b="1" dirty="0"/>
              <a:t>Recall@20</a:t>
            </a:r>
          </a:p>
        </p:txBody>
      </p:sp>
      <p:graphicFrame>
        <p:nvGraphicFramePr>
          <p:cNvPr id="3" name="Table 2">
            <a:extLst>
              <a:ext uri="{FF2B5EF4-FFF2-40B4-BE49-F238E27FC236}">
                <a16:creationId xmlns:a16="http://schemas.microsoft.com/office/drawing/2014/main" id="{2B3EF80E-5EFB-8504-D8D5-A7C6B9EE0771}"/>
              </a:ext>
            </a:extLst>
          </p:cNvPr>
          <p:cNvGraphicFramePr>
            <a:graphicFrameLocks noGrp="1"/>
          </p:cNvGraphicFramePr>
          <p:nvPr>
            <p:extLst>
              <p:ext uri="{D42A27DB-BD31-4B8C-83A1-F6EECF244321}">
                <p14:modId xmlns:p14="http://schemas.microsoft.com/office/powerpoint/2010/main" val="1691110620"/>
              </p:ext>
            </p:extLst>
          </p:nvPr>
        </p:nvGraphicFramePr>
        <p:xfrm>
          <a:off x="1348375" y="3948982"/>
          <a:ext cx="3340050" cy="1345782"/>
        </p:xfrm>
        <a:graphic>
          <a:graphicData uri="http://schemas.openxmlformats.org/drawingml/2006/table">
            <a:tbl>
              <a:tblPr firstRow="1" bandRow="1">
                <a:tableStyleId>{5C22544A-7EE6-4342-B048-85BDC9FD1C3A}</a:tableStyleId>
              </a:tblPr>
              <a:tblGrid>
                <a:gridCol w="1113350">
                  <a:extLst>
                    <a:ext uri="{9D8B030D-6E8A-4147-A177-3AD203B41FA5}">
                      <a16:colId xmlns:a16="http://schemas.microsoft.com/office/drawing/2014/main" val="1578905552"/>
                    </a:ext>
                  </a:extLst>
                </a:gridCol>
                <a:gridCol w="1113350">
                  <a:extLst>
                    <a:ext uri="{9D8B030D-6E8A-4147-A177-3AD203B41FA5}">
                      <a16:colId xmlns:a16="http://schemas.microsoft.com/office/drawing/2014/main" val="2062257706"/>
                    </a:ext>
                  </a:extLst>
                </a:gridCol>
                <a:gridCol w="1113350">
                  <a:extLst>
                    <a:ext uri="{9D8B030D-6E8A-4147-A177-3AD203B41FA5}">
                      <a16:colId xmlns:a16="http://schemas.microsoft.com/office/drawing/2014/main" val="1376440620"/>
                    </a:ext>
                  </a:extLst>
                </a:gridCol>
              </a:tblGrid>
              <a:tr h="371730">
                <a:tc>
                  <a:txBody>
                    <a:bodyPr/>
                    <a:lstStyle/>
                    <a:p>
                      <a:r>
                        <a:rPr lang="en-SG" sz="1200" dirty="0"/>
                        <a:t>Model</a:t>
                      </a:r>
                    </a:p>
                  </a:txBody>
                  <a:tcPr/>
                </a:tc>
                <a:tc>
                  <a:txBody>
                    <a:bodyPr/>
                    <a:lstStyle/>
                    <a:p>
                      <a:r>
                        <a:rPr lang="en-SG" sz="1200" dirty="0"/>
                        <a:t>Recall@20 (Validation)</a:t>
                      </a:r>
                    </a:p>
                  </a:txBody>
                  <a:tcPr/>
                </a:tc>
                <a:tc>
                  <a:txBody>
                    <a:bodyPr/>
                    <a:lstStyle/>
                    <a:p>
                      <a:r>
                        <a:rPr lang="en-SG" sz="1200" dirty="0"/>
                        <a:t>Recall@20 (Test)</a:t>
                      </a:r>
                    </a:p>
                  </a:txBody>
                  <a:tcPr/>
                </a:tc>
                <a:extLst>
                  <a:ext uri="{0D108BD9-81ED-4DB2-BD59-A6C34878D82A}">
                    <a16:rowId xmlns:a16="http://schemas.microsoft.com/office/drawing/2014/main" val="1796225289"/>
                  </a:ext>
                </a:extLst>
              </a:tr>
              <a:tr h="301034">
                <a:tc>
                  <a:txBody>
                    <a:bodyPr/>
                    <a:lstStyle/>
                    <a:p>
                      <a:r>
                        <a:rPr lang="en-SG" sz="1200" dirty="0"/>
                        <a:t>Popularity</a:t>
                      </a:r>
                    </a:p>
                  </a:txBody>
                  <a:tcPr/>
                </a:tc>
                <a:tc>
                  <a:txBody>
                    <a:bodyPr/>
                    <a:lstStyle/>
                    <a:p>
                      <a:r>
                        <a:rPr lang="en-SG" sz="1200" dirty="0"/>
                        <a:t>0.056</a:t>
                      </a:r>
                    </a:p>
                  </a:txBody>
                  <a:tcPr/>
                </a:tc>
                <a:tc>
                  <a:txBody>
                    <a:bodyPr/>
                    <a:lstStyle/>
                    <a:p>
                      <a:r>
                        <a:rPr lang="en-SG" sz="1200" dirty="0"/>
                        <a:t>0.067</a:t>
                      </a:r>
                    </a:p>
                  </a:txBody>
                  <a:tcPr/>
                </a:tc>
                <a:extLst>
                  <a:ext uri="{0D108BD9-81ED-4DB2-BD59-A6C34878D82A}">
                    <a16:rowId xmlns:a16="http://schemas.microsoft.com/office/drawing/2014/main" val="2952646974"/>
                  </a:ext>
                </a:extLst>
              </a:tr>
              <a:tr h="293774">
                <a:tc>
                  <a:txBody>
                    <a:bodyPr/>
                    <a:lstStyle/>
                    <a:p>
                      <a:r>
                        <a:rPr lang="en-SG" sz="1200" b="1" dirty="0"/>
                        <a:t>MF</a:t>
                      </a:r>
                    </a:p>
                  </a:txBody>
                  <a:tcPr/>
                </a:tc>
                <a:tc>
                  <a:txBody>
                    <a:bodyPr/>
                    <a:lstStyle/>
                    <a:p>
                      <a:r>
                        <a:rPr lang="en-SG" sz="1200" b="1" dirty="0"/>
                        <a:t>0.125</a:t>
                      </a:r>
                    </a:p>
                  </a:txBody>
                  <a:tcPr/>
                </a:tc>
                <a:tc>
                  <a:txBody>
                    <a:bodyPr/>
                    <a:lstStyle/>
                    <a:p>
                      <a:r>
                        <a:rPr lang="en-SG" sz="1200" b="1" dirty="0"/>
                        <a:t>0.096</a:t>
                      </a:r>
                    </a:p>
                  </a:txBody>
                  <a:tcPr/>
                </a:tc>
                <a:extLst>
                  <a:ext uri="{0D108BD9-81ED-4DB2-BD59-A6C34878D82A}">
                    <a16:rowId xmlns:a16="http://schemas.microsoft.com/office/drawing/2014/main" val="1452641054"/>
                  </a:ext>
                </a:extLst>
              </a:tr>
              <a:tr h="293774">
                <a:tc>
                  <a:txBody>
                    <a:bodyPr/>
                    <a:lstStyle/>
                    <a:p>
                      <a:r>
                        <a:rPr lang="en-SG" sz="1200" dirty="0"/>
                        <a:t>Two-Tower</a:t>
                      </a:r>
                    </a:p>
                  </a:txBody>
                  <a:tcPr/>
                </a:tc>
                <a:tc>
                  <a:txBody>
                    <a:bodyPr/>
                    <a:lstStyle/>
                    <a:p>
                      <a:r>
                        <a:rPr lang="en-SG" sz="1200" dirty="0"/>
                        <a:t>0.100</a:t>
                      </a:r>
                    </a:p>
                  </a:txBody>
                  <a:tcPr/>
                </a:tc>
                <a:tc>
                  <a:txBody>
                    <a:bodyPr/>
                    <a:lstStyle/>
                    <a:p>
                      <a:r>
                        <a:rPr lang="en-SG" sz="1200" dirty="0"/>
                        <a:t>0.073</a:t>
                      </a:r>
                    </a:p>
                  </a:txBody>
                  <a:tcPr/>
                </a:tc>
                <a:extLst>
                  <a:ext uri="{0D108BD9-81ED-4DB2-BD59-A6C34878D82A}">
                    <a16:rowId xmlns:a16="http://schemas.microsoft.com/office/drawing/2014/main" val="840444793"/>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DA3C42B-54F2-25E1-2036-96242D058184}"/>
                  </a:ext>
                </a:extLst>
              </p:cNvPr>
              <p:cNvSpPr txBox="1"/>
              <p:nvPr/>
            </p:nvSpPr>
            <p:spPr>
              <a:xfrm>
                <a:off x="5864771" y="6027003"/>
                <a:ext cx="6327231" cy="830997"/>
              </a:xfrm>
              <a:prstGeom prst="rect">
                <a:avLst/>
              </a:prstGeom>
              <a:solidFill>
                <a:schemeClr val="accent6">
                  <a:lumMod val="20000"/>
                  <a:lumOff val="80000"/>
                </a:schemeClr>
              </a:solidFill>
            </p:spPr>
            <p:txBody>
              <a:bodyPr wrap="square">
                <a:spAutoFit/>
              </a:bodyPr>
              <a:lstStyle/>
              <a:p>
                <a:r>
                  <a:rPr lang="en-SG" sz="1200" b="1" u="sng" dirty="0"/>
                  <a:t>Evaluation Metrics (Reference)</a:t>
                </a:r>
              </a:p>
              <a:p>
                <a:pPr marL="171450" indent="-171450">
                  <a:buFont typeface="Wingdings" panose="05000000000000000000" pitchFamily="2" charset="2"/>
                  <a:buChar char="Ø"/>
                </a:pPr>
                <a:r>
                  <a:rPr lang="en-SG" sz="1200" b="1" dirty="0"/>
                  <a:t>Recall@K (Item Coverage): </a:t>
                </a:r>
                <a:r>
                  <a:rPr lang="en-SG" sz="1200" dirty="0"/>
                  <a:t>% of relevant items retrieved in top-K search</a:t>
                </a:r>
              </a:p>
              <a:p>
                <a:pPr marL="171450" indent="-171450">
                  <a:buFont typeface="Wingdings" panose="05000000000000000000" pitchFamily="2" charset="2"/>
                  <a:buChar char="Ø"/>
                </a:pPr>
                <a:r>
                  <a:rPr lang="en-SG" sz="1200" b="1" dirty="0"/>
                  <a:t>NDCG@K (Item Relevance): </a:t>
                </a:r>
                <a:r>
                  <a:rPr lang="en-SG" sz="1200" dirty="0"/>
                  <a:t>position-aware ranking quality metric in top-K search</a:t>
                </a:r>
              </a:p>
              <a:p>
                <a:pPr marL="171450" indent="-171450">
                  <a:buFont typeface="Wingdings" panose="05000000000000000000" pitchFamily="2" charset="2"/>
                  <a:buChar char="Ø"/>
                </a:pPr>
                <a:r>
                  <a:rPr lang="en-SG" sz="1200" b="1" dirty="0"/>
                  <a:t>HitRate@K (Forgiving Item Coverage): </a:t>
                </a:r>
                <a:r>
                  <a:rPr lang="en-SG" sz="1200" dirty="0"/>
                  <a:t>% of users </a:t>
                </a:r>
                <a14:m>
                  <m:oMath xmlns:m="http://schemas.openxmlformats.org/officeDocument/2006/math">
                    <m:r>
                      <a:rPr lang="en-SG" sz="1200" i="1" smtClean="0">
                        <a:latin typeface="Cambria Math" panose="02040503050406030204" pitchFamily="18" charset="0"/>
                        <a:ea typeface="Cambria Math" panose="02040503050406030204" pitchFamily="18" charset="0"/>
                      </a:rPr>
                      <m:t>≥</m:t>
                    </m:r>
                  </m:oMath>
                </a14:m>
                <a:r>
                  <a:rPr lang="en-SG" sz="1200" dirty="0"/>
                  <a:t> 1 relevant item in top-K search</a:t>
                </a:r>
              </a:p>
            </p:txBody>
          </p:sp>
        </mc:Choice>
        <mc:Fallback xmlns="">
          <p:sp>
            <p:nvSpPr>
              <p:cNvPr id="10" name="TextBox 9">
                <a:extLst>
                  <a:ext uri="{FF2B5EF4-FFF2-40B4-BE49-F238E27FC236}">
                    <a16:creationId xmlns:a16="http://schemas.microsoft.com/office/drawing/2014/main" id="{9DA3C42B-54F2-25E1-2036-96242D058184}"/>
                  </a:ext>
                </a:extLst>
              </p:cNvPr>
              <p:cNvSpPr txBox="1">
                <a:spLocks noRot="1" noChangeAspect="1" noMove="1" noResize="1" noEditPoints="1" noAdjustHandles="1" noChangeArrowheads="1" noChangeShapeType="1" noTextEdit="1"/>
              </p:cNvSpPr>
              <p:nvPr/>
            </p:nvSpPr>
            <p:spPr>
              <a:xfrm>
                <a:off x="5864771" y="6027003"/>
                <a:ext cx="6327231" cy="830997"/>
              </a:xfrm>
              <a:prstGeom prst="rect">
                <a:avLst/>
              </a:prstGeom>
              <a:blipFill>
                <a:blip r:embed="rId3"/>
                <a:stretch>
                  <a:fillRect b="-5147"/>
                </a:stretch>
              </a:blipFill>
            </p:spPr>
            <p:txBody>
              <a:bodyPr/>
              <a:lstStyle/>
              <a:p>
                <a:r>
                  <a:rPr lang="en-SG">
                    <a:noFill/>
                  </a:rPr>
                  <a:t> </a:t>
                </a:r>
              </a:p>
            </p:txBody>
          </p:sp>
        </mc:Fallback>
      </mc:AlternateContent>
    </p:spTree>
    <p:extLst>
      <p:ext uri="{BB962C8B-B14F-4D97-AF65-F5344CB8AC3E}">
        <p14:creationId xmlns:p14="http://schemas.microsoft.com/office/powerpoint/2010/main" val="668752119"/>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3932</TotalTime>
  <Words>3896</Words>
  <Application>Microsoft Office PowerPoint</Application>
  <PresentationFormat>Widescreen</PresentationFormat>
  <Paragraphs>562</Paragraphs>
  <Slides>14</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Century Gothic (Body)</vt:lpstr>
      <vt:lpstr>Aptos</vt:lpstr>
      <vt:lpstr>Arial</vt:lpstr>
      <vt:lpstr>Cambria Math</vt:lpstr>
      <vt:lpstr>Century Gothic</vt:lpstr>
      <vt:lpstr>Wingdings</vt:lpstr>
      <vt:lpstr>Wingdings 3</vt:lpstr>
      <vt:lpstr>Wisp</vt:lpstr>
      <vt:lpstr>Architecture</vt:lpstr>
      <vt:lpstr>Marketplace Growth Optimization with ML</vt:lpstr>
      <vt:lpstr>Overall Platform Architecture</vt:lpstr>
      <vt:lpstr>Purchase Propensity Engine</vt:lpstr>
      <vt:lpstr>Recommender Engine</vt:lpstr>
      <vt:lpstr>Purchase Propensity Engine (Appendix – Model &amp; Evaluation Design)</vt:lpstr>
      <vt:lpstr>Purchase Propensity Engine (Appendix – Policy Scoring Mechanics)</vt:lpstr>
      <vt:lpstr>Purchase Propensity Engine (Appendix – Policy Scoring Mechanics)</vt:lpstr>
      <vt:lpstr>Purchase Propensity Engine (Appendix – Key Results)</vt:lpstr>
      <vt:lpstr>Purchase Propensity Engine (Appendix – Key Results)</vt:lpstr>
      <vt:lpstr>Purchase Propensity Engine (Appendix – Key Results)</vt:lpstr>
      <vt:lpstr>Recommender Engine (Appendix – Model &amp; Evaluation Design)</vt:lpstr>
      <vt:lpstr>Recommender Engine (Appendix – Model Scoring Mechanics)</vt:lpstr>
      <vt:lpstr>Recommender Engine (Appendix – Key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1215</cp:revision>
  <dcterms:created xsi:type="dcterms:W3CDTF">2026-02-22T04:36:36Z</dcterms:created>
  <dcterms:modified xsi:type="dcterms:W3CDTF">2026-03-12T07:42:15Z</dcterms:modified>
</cp:coreProperties>
</file>