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4.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83" r:id="rId1"/>
  </p:sldMasterIdLst>
  <p:notesMasterIdLst>
    <p:notesMasterId r:id="rId16"/>
  </p:notesMasterIdLst>
  <p:sldIdLst>
    <p:sldId id="256" r:id="rId2"/>
    <p:sldId id="271" r:id="rId3"/>
    <p:sldId id="257" r:id="rId4"/>
    <p:sldId id="258" r:id="rId5"/>
    <p:sldId id="260" r:id="rId6"/>
    <p:sldId id="262" r:id="rId7"/>
    <p:sldId id="272" r:id="rId8"/>
    <p:sldId id="273" r:id="rId9"/>
    <p:sldId id="268" r:id="rId10"/>
    <p:sldId id="270" r:id="rId11"/>
    <p:sldId id="269" r:id="rId12"/>
    <p:sldId id="264" r:id="rId13"/>
    <p:sldId id="267" r:id="rId14"/>
    <p:sldId id="263"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in" id="{D17C3D5E-C80A-43A9-9E6D-B27078164170}">
          <p14:sldIdLst>
            <p14:sldId id="256"/>
            <p14:sldId id="271"/>
            <p14:sldId id="257"/>
            <p14:sldId id="258"/>
            <p14:sldId id="260"/>
          </p14:sldIdLst>
        </p14:section>
        <p14:section name="Appendix - Purchase Propensity" id="{178CFB41-C5C4-4518-84B2-9E9202496C7D}">
          <p14:sldIdLst>
            <p14:sldId id="262"/>
            <p14:sldId id="272"/>
            <p14:sldId id="273"/>
            <p14:sldId id="268"/>
            <p14:sldId id="270"/>
            <p14:sldId id="269"/>
          </p14:sldIdLst>
        </p14:section>
        <p14:section name="Appendix - Recommender" id="{99D03F2A-6781-4F12-8C2B-1879A730BFE2}">
          <p14:sldIdLst>
            <p14:sldId id="264"/>
            <p14:sldId id="267"/>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1EEE9"/>
    <a:srgbClr val="A53010"/>
    <a:srgbClr val="D1DDB0"/>
    <a:srgbClr val="F9CFC3"/>
    <a:srgbClr val="FAE5C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4033" autoAdjust="0"/>
    <p:restoredTop sz="96247" autoAdjust="0"/>
  </p:normalViewPr>
  <p:slideViewPr>
    <p:cSldViewPr snapToGrid="0">
      <p:cViewPr>
        <p:scale>
          <a:sx n="100" d="100"/>
          <a:sy n="100" d="100"/>
        </p:scale>
        <p:origin x="390" y="210"/>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_rels/data2.xml.rels><?xml version="1.0" encoding="UTF-8" standalone="yes"?>
<Relationships xmlns="http://schemas.openxmlformats.org/package/2006/relationships"><Relationship Id="rId1" Type="http://schemas.openxmlformats.org/officeDocument/2006/relationships/hyperlink" Target="https://www.kaggle.com/datasets/mashlyn/online-retail-ii-uci/data" TargetMode="External"/></Relationships>
</file>

<file path=ppt/diagrams/_rels/drawing2.xml.rels><?xml version="1.0" encoding="UTF-8" standalone="yes"?>
<Relationships xmlns="http://schemas.openxmlformats.org/package/2006/relationships"><Relationship Id="rId1" Type="http://schemas.openxmlformats.org/officeDocument/2006/relationships/hyperlink" Target="https://www.kaggle.com/datasets/mashlyn/online-retail-ii-uci/data" TargetMode="Externa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7521F9F-9853-4760-AF04-01C8BE6DE7CA}" type="doc">
      <dgm:prSet loTypeId="urn:microsoft.com/office/officeart/2005/8/layout/process1" loCatId="process" qsTypeId="urn:microsoft.com/office/officeart/2005/8/quickstyle/simple1" qsCatId="simple" csTypeId="urn:microsoft.com/office/officeart/2005/8/colors/accent1_2" csCatId="accent1" phldr="1"/>
      <dgm:spPr/>
      <dgm:t>
        <a:bodyPr/>
        <a:lstStyle/>
        <a:p>
          <a:endParaRPr lang="en-SG"/>
        </a:p>
      </dgm:t>
    </dgm:pt>
    <dgm:pt modelId="{0B5B70DB-C372-486F-A52D-26714D56BF44}">
      <dgm:prSet custT="1"/>
      <dgm:spPr/>
      <dgm:t>
        <a:bodyPr/>
        <a:lstStyle/>
        <a:p>
          <a:pPr>
            <a:lnSpc>
              <a:spcPct val="100000"/>
            </a:lnSpc>
            <a:spcAft>
              <a:spcPts val="600"/>
            </a:spcAft>
          </a:pPr>
          <a:r>
            <a:rPr lang="en-SG" sz="1400" b="1" dirty="0"/>
            <a:t>Purchase Propensity Engine</a:t>
          </a:r>
        </a:p>
      </dgm:t>
    </dgm:pt>
    <dgm:pt modelId="{4E51C9B7-F398-4309-9C2C-8766F2A1A0CB}" type="parTrans" cxnId="{E347CFAC-3B84-4812-981F-A0AC75794A76}">
      <dgm:prSet/>
      <dgm:spPr/>
      <dgm:t>
        <a:bodyPr/>
        <a:lstStyle/>
        <a:p>
          <a:endParaRPr lang="en-SG"/>
        </a:p>
      </dgm:t>
    </dgm:pt>
    <dgm:pt modelId="{DC3CC174-F385-4928-94AE-004F8649AC5E}" type="sibTrans" cxnId="{E347CFAC-3B84-4812-981F-A0AC75794A76}">
      <dgm:prSet/>
      <dgm:spPr/>
      <dgm:t>
        <a:bodyPr/>
        <a:lstStyle/>
        <a:p>
          <a:endParaRPr lang="en-SG" dirty="0"/>
        </a:p>
      </dgm:t>
    </dgm:pt>
    <dgm:pt modelId="{BE1CF92B-E233-45F0-86C5-16F51FF2EC39}">
      <dgm:prSet custT="1"/>
      <dgm:spPr/>
      <dgm:t>
        <a:bodyPr/>
        <a:lstStyle/>
        <a:p>
          <a:pPr>
            <a:lnSpc>
              <a:spcPct val="100000"/>
            </a:lnSpc>
            <a:spcAft>
              <a:spcPts val="600"/>
            </a:spcAft>
          </a:pPr>
          <a:r>
            <a:rPr lang="en-SG" sz="1200" dirty="0"/>
            <a:t>Training Pipeline (Offline): Purchase Propensity Modelling</a:t>
          </a:r>
        </a:p>
      </dgm:t>
    </dgm:pt>
    <dgm:pt modelId="{CADBA3B3-0E95-46E3-BD45-554A451764AE}" type="parTrans" cxnId="{7FE6A1F6-0295-4FF9-BD45-AA6601A252D0}">
      <dgm:prSet/>
      <dgm:spPr/>
      <dgm:t>
        <a:bodyPr/>
        <a:lstStyle/>
        <a:p>
          <a:endParaRPr lang="en-SG"/>
        </a:p>
      </dgm:t>
    </dgm:pt>
    <dgm:pt modelId="{C7B67B06-F568-4F00-A990-2D3E2833329B}" type="sibTrans" cxnId="{7FE6A1F6-0295-4FF9-BD45-AA6601A252D0}">
      <dgm:prSet/>
      <dgm:spPr/>
      <dgm:t>
        <a:bodyPr/>
        <a:lstStyle/>
        <a:p>
          <a:endParaRPr lang="en-SG"/>
        </a:p>
      </dgm:t>
    </dgm:pt>
    <dgm:pt modelId="{37544A0C-6DF7-435C-8FA1-8FE37503C07D}">
      <dgm:prSet custT="1"/>
      <dgm:spPr/>
      <dgm:t>
        <a:bodyPr/>
        <a:lstStyle/>
        <a:p>
          <a:pPr>
            <a:lnSpc>
              <a:spcPct val="100000"/>
            </a:lnSpc>
            <a:spcAft>
              <a:spcPts val="600"/>
            </a:spcAft>
          </a:pPr>
          <a:r>
            <a:rPr lang="en-SG" sz="1200" dirty="0"/>
            <a:t>Serving (Policy) Pipeline: Incentive Allocation (Budget-Constrained)</a:t>
          </a:r>
        </a:p>
      </dgm:t>
    </dgm:pt>
    <dgm:pt modelId="{2CBBC2EE-E3DE-4291-8BDA-AA06740B4FF3}" type="parTrans" cxnId="{6CBE368C-0516-4D4C-AC0F-A6C3E8765701}">
      <dgm:prSet/>
      <dgm:spPr/>
      <dgm:t>
        <a:bodyPr/>
        <a:lstStyle/>
        <a:p>
          <a:endParaRPr lang="en-SG"/>
        </a:p>
      </dgm:t>
    </dgm:pt>
    <dgm:pt modelId="{3E5B9DB5-F3DE-4990-8BEC-F02849DC7160}" type="sibTrans" cxnId="{6CBE368C-0516-4D4C-AC0F-A6C3E8765701}">
      <dgm:prSet/>
      <dgm:spPr/>
      <dgm:t>
        <a:bodyPr/>
        <a:lstStyle/>
        <a:p>
          <a:endParaRPr lang="en-SG"/>
        </a:p>
      </dgm:t>
    </dgm:pt>
    <dgm:pt modelId="{4D17E48B-816F-4E22-9171-D7C3EC19B9C9}">
      <dgm:prSet custT="1"/>
      <dgm:spPr/>
      <dgm:t>
        <a:bodyPr/>
        <a:lstStyle/>
        <a:p>
          <a:r>
            <a:rPr lang="en-SG" sz="1400" b="1" dirty="0"/>
            <a:t>Offline Policy Evaluation</a:t>
          </a:r>
        </a:p>
      </dgm:t>
    </dgm:pt>
    <dgm:pt modelId="{A9EDF49D-A50F-40C5-992A-42017C32CDE9}" type="parTrans" cxnId="{ABE68EB5-A8CC-4A22-A064-1512AFC20EDC}">
      <dgm:prSet/>
      <dgm:spPr/>
      <dgm:t>
        <a:bodyPr/>
        <a:lstStyle/>
        <a:p>
          <a:endParaRPr lang="en-SG"/>
        </a:p>
      </dgm:t>
    </dgm:pt>
    <dgm:pt modelId="{99CF6B85-1B61-459F-A041-5EDD9A2A19E3}" type="sibTrans" cxnId="{ABE68EB5-A8CC-4A22-A064-1512AFC20EDC}">
      <dgm:prSet/>
      <dgm:spPr/>
      <dgm:t>
        <a:bodyPr/>
        <a:lstStyle/>
        <a:p>
          <a:endParaRPr lang="en-SG"/>
        </a:p>
      </dgm:t>
    </dgm:pt>
    <dgm:pt modelId="{7FD1DD7D-D91A-40F2-B4BD-D732FA71855B}">
      <dgm:prSet custT="1"/>
      <dgm:spPr/>
      <dgm:t>
        <a:bodyPr/>
        <a:lstStyle/>
        <a:p>
          <a:r>
            <a:rPr lang="en-SG" sz="1200" dirty="0"/>
            <a:t>Compare Incentive Allocation Policies</a:t>
          </a:r>
        </a:p>
      </dgm:t>
    </dgm:pt>
    <dgm:pt modelId="{20AA30AA-C341-41F7-89B2-1FBC197D229B}" type="parTrans" cxnId="{54D08DBC-3883-4625-A47A-83064D9BDEF2}">
      <dgm:prSet/>
      <dgm:spPr/>
      <dgm:t>
        <a:bodyPr/>
        <a:lstStyle/>
        <a:p>
          <a:endParaRPr lang="en-SG"/>
        </a:p>
      </dgm:t>
    </dgm:pt>
    <dgm:pt modelId="{CEB451CE-E251-4E61-AB34-F6AD802F600D}" type="sibTrans" cxnId="{54D08DBC-3883-4625-A47A-83064D9BDEF2}">
      <dgm:prSet/>
      <dgm:spPr/>
      <dgm:t>
        <a:bodyPr/>
        <a:lstStyle/>
        <a:p>
          <a:endParaRPr lang="en-SG"/>
        </a:p>
      </dgm:t>
    </dgm:pt>
    <dgm:pt modelId="{7C0ADEE1-848F-48CD-9293-0F35786E087E}">
      <dgm:prSet custT="1"/>
      <dgm:spPr/>
      <dgm:t>
        <a:bodyPr/>
        <a:lstStyle/>
        <a:p>
          <a:pPr>
            <a:lnSpc>
              <a:spcPct val="100000"/>
            </a:lnSpc>
            <a:spcAft>
              <a:spcPts val="600"/>
            </a:spcAft>
          </a:pPr>
          <a:r>
            <a:rPr lang="en-SG" sz="1200" dirty="0"/>
            <a:t>Compare Assumptions (Freeze After Validation)</a:t>
          </a:r>
        </a:p>
      </dgm:t>
    </dgm:pt>
    <dgm:pt modelId="{54AE1557-8FB0-4B8D-B47D-318B8DD94951}" type="parTrans" cxnId="{E19760E5-1D2A-49EC-92AC-07AFD6E1560E}">
      <dgm:prSet/>
      <dgm:spPr/>
      <dgm:t>
        <a:bodyPr/>
        <a:lstStyle/>
        <a:p>
          <a:endParaRPr lang="en-SG"/>
        </a:p>
      </dgm:t>
    </dgm:pt>
    <dgm:pt modelId="{26AA21C8-1DBE-4D12-B1C0-A1DBA074E1BE}" type="sibTrans" cxnId="{E19760E5-1D2A-49EC-92AC-07AFD6E1560E}">
      <dgm:prSet/>
      <dgm:spPr/>
      <dgm:t>
        <a:bodyPr/>
        <a:lstStyle/>
        <a:p>
          <a:endParaRPr lang="en-SG"/>
        </a:p>
      </dgm:t>
    </dgm:pt>
    <dgm:pt modelId="{6F18769F-A45C-47E8-9743-8DD15455B2C9}" type="pres">
      <dgm:prSet presAssocID="{A7521F9F-9853-4760-AF04-01C8BE6DE7CA}" presName="Name0" presStyleCnt="0">
        <dgm:presLayoutVars>
          <dgm:dir/>
          <dgm:resizeHandles val="exact"/>
        </dgm:presLayoutVars>
      </dgm:prSet>
      <dgm:spPr/>
    </dgm:pt>
    <dgm:pt modelId="{A984A37F-DEE6-432F-A851-EC63949E182D}" type="pres">
      <dgm:prSet presAssocID="{0B5B70DB-C372-486F-A52D-26714D56BF44}" presName="node" presStyleLbl="node1" presStyleIdx="0" presStyleCnt="2" custLinFactNeighborX="-1181" custLinFactNeighborY="-992">
        <dgm:presLayoutVars>
          <dgm:bulletEnabled val="1"/>
        </dgm:presLayoutVars>
      </dgm:prSet>
      <dgm:spPr/>
    </dgm:pt>
    <dgm:pt modelId="{71F89AA5-3D26-438B-9C21-64A60B7CAFE1}" type="pres">
      <dgm:prSet presAssocID="{DC3CC174-F385-4928-94AE-004F8649AC5E}" presName="sibTrans" presStyleLbl="sibTrans2D1" presStyleIdx="0" presStyleCnt="1"/>
      <dgm:spPr/>
    </dgm:pt>
    <dgm:pt modelId="{C844A1A0-E988-420F-9877-1860DF89A1EB}" type="pres">
      <dgm:prSet presAssocID="{DC3CC174-F385-4928-94AE-004F8649AC5E}" presName="connectorText" presStyleLbl="sibTrans2D1" presStyleIdx="0" presStyleCnt="1"/>
      <dgm:spPr/>
    </dgm:pt>
    <dgm:pt modelId="{74BCB0AC-6184-4BC5-9259-9B38484EB0BD}" type="pres">
      <dgm:prSet presAssocID="{4D17E48B-816F-4E22-9171-D7C3EC19B9C9}" presName="node" presStyleLbl="node1" presStyleIdx="1" presStyleCnt="2" custLinFactNeighborX="117" custLinFactNeighborY="-2057">
        <dgm:presLayoutVars>
          <dgm:bulletEnabled val="1"/>
        </dgm:presLayoutVars>
      </dgm:prSet>
      <dgm:spPr/>
    </dgm:pt>
  </dgm:ptLst>
  <dgm:cxnLst>
    <dgm:cxn modelId="{1CA98203-558B-45E4-A7A1-F48A422AE458}" type="presOf" srcId="{4D17E48B-816F-4E22-9171-D7C3EC19B9C9}" destId="{74BCB0AC-6184-4BC5-9259-9B38484EB0BD}" srcOrd="0" destOrd="0" presId="urn:microsoft.com/office/officeart/2005/8/layout/process1"/>
    <dgm:cxn modelId="{6A489771-EB21-4FDB-966A-938C12D56F1B}" type="presOf" srcId="{BE1CF92B-E233-45F0-86C5-16F51FF2EC39}" destId="{A984A37F-DEE6-432F-A851-EC63949E182D}" srcOrd="0" destOrd="1" presId="urn:microsoft.com/office/officeart/2005/8/layout/process1"/>
    <dgm:cxn modelId="{DA368359-F69E-44AE-82BB-864A404D31CC}" type="presOf" srcId="{DC3CC174-F385-4928-94AE-004F8649AC5E}" destId="{71F89AA5-3D26-438B-9C21-64A60B7CAFE1}" srcOrd="0" destOrd="0" presId="urn:microsoft.com/office/officeart/2005/8/layout/process1"/>
    <dgm:cxn modelId="{6CBE368C-0516-4D4C-AC0F-A6C3E8765701}" srcId="{0B5B70DB-C372-486F-A52D-26714D56BF44}" destId="{37544A0C-6DF7-435C-8FA1-8FE37503C07D}" srcOrd="1" destOrd="0" parTransId="{2CBBC2EE-E3DE-4291-8BDA-AA06740B4FF3}" sibTransId="{3E5B9DB5-F3DE-4990-8BEC-F02849DC7160}"/>
    <dgm:cxn modelId="{E347CFAC-3B84-4812-981F-A0AC75794A76}" srcId="{A7521F9F-9853-4760-AF04-01C8BE6DE7CA}" destId="{0B5B70DB-C372-486F-A52D-26714D56BF44}" srcOrd="0" destOrd="0" parTransId="{4E51C9B7-F398-4309-9C2C-8766F2A1A0CB}" sibTransId="{DC3CC174-F385-4928-94AE-004F8649AC5E}"/>
    <dgm:cxn modelId="{ABE68EB5-A8CC-4A22-A064-1512AFC20EDC}" srcId="{A7521F9F-9853-4760-AF04-01C8BE6DE7CA}" destId="{4D17E48B-816F-4E22-9171-D7C3EC19B9C9}" srcOrd="1" destOrd="0" parTransId="{A9EDF49D-A50F-40C5-992A-42017C32CDE9}" sibTransId="{99CF6B85-1B61-459F-A041-5EDD9A2A19E3}"/>
    <dgm:cxn modelId="{C2581CB6-6257-402A-87AE-D20944118EC0}" type="presOf" srcId="{7FD1DD7D-D91A-40F2-B4BD-D732FA71855B}" destId="{74BCB0AC-6184-4BC5-9259-9B38484EB0BD}" srcOrd="0" destOrd="1" presId="urn:microsoft.com/office/officeart/2005/8/layout/process1"/>
    <dgm:cxn modelId="{54D08DBC-3883-4625-A47A-83064D9BDEF2}" srcId="{4D17E48B-816F-4E22-9171-D7C3EC19B9C9}" destId="{7FD1DD7D-D91A-40F2-B4BD-D732FA71855B}" srcOrd="0" destOrd="0" parTransId="{20AA30AA-C341-41F7-89B2-1FBC197D229B}" sibTransId="{CEB451CE-E251-4E61-AB34-F6AD802F600D}"/>
    <dgm:cxn modelId="{2F33BFC9-F43A-43FF-90CC-C178B6C8CACC}" type="presOf" srcId="{A7521F9F-9853-4760-AF04-01C8BE6DE7CA}" destId="{6F18769F-A45C-47E8-9743-8DD15455B2C9}" srcOrd="0" destOrd="0" presId="urn:microsoft.com/office/officeart/2005/8/layout/process1"/>
    <dgm:cxn modelId="{A0FD2FCB-C505-46B4-9907-A616C668311C}" type="presOf" srcId="{0B5B70DB-C372-486F-A52D-26714D56BF44}" destId="{A984A37F-DEE6-432F-A851-EC63949E182D}" srcOrd="0" destOrd="0" presId="urn:microsoft.com/office/officeart/2005/8/layout/process1"/>
    <dgm:cxn modelId="{69A26AE0-E391-45ED-8180-EB7720D9C276}" type="presOf" srcId="{7C0ADEE1-848F-48CD-9293-0F35786E087E}" destId="{A984A37F-DEE6-432F-A851-EC63949E182D}" srcOrd="0" destOrd="3" presId="urn:microsoft.com/office/officeart/2005/8/layout/process1"/>
    <dgm:cxn modelId="{E19760E5-1D2A-49EC-92AC-07AFD6E1560E}" srcId="{0B5B70DB-C372-486F-A52D-26714D56BF44}" destId="{7C0ADEE1-848F-48CD-9293-0F35786E087E}" srcOrd="2" destOrd="0" parTransId="{54AE1557-8FB0-4B8D-B47D-318B8DD94951}" sibTransId="{26AA21C8-1DBE-4D12-B1C0-A1DBA074E1BE}"/>
    <dgm:cxn modelId="{D9C82BEB-FBAA-4E3E-96E6-6FAE1847F7CA}" type="presOf" srcId="{37544A0C-6DF7-435C-8FA1-8FE37503C07D}" destId="{A984A37F-DEE6-432F-A851-EC63949E182D}" srcOrd="0" destOrd="2" presId="urn:microsoft.com/office/officeart/2005/8/layout/process1"/>
    <dgm:cxn modelId="{517781ED-AA1B-43F8-9A7D-3C73DE23B6BD}" type="presOf" srcId="{DC3CC174-F385-4928-94AE-004F8649AC5E}" destId="{C844A1A0-E988-420F-9877-1860DF89A1EB}" srcOrd="1" destOrd="0" presId="urn:microsoft.com/office/officeart/2005/8/layout/process1"/>
    <dgm:cxn modelId="{7FE6A1F6-0295-4FF9-BD45-AA6601A252D0}" srcId="{0B5B70DB-C372-486F-A52D-26714D56BF44}" destId="{BE1CF92B-E233-45F0-86C5-16F51FF2EC39}" srcOrd="0" destOrd="0" parTransId="{CADBA3B3-0E95-46E3-BD45-554A451764AE}" sibTransId="{C7B67B06-F568-4F00-A990-2D3E2833329B}"/>
    <dgm:cxn modelId="{D5486157-BF3A-4C91-865B-2E4472A24377}" type="presParOf" srcId="{6F18769F-A45C-47E8-9743-8DD15455B2C9}" destId="{A984A37F-DEE6-432F-A851-EC63949E182D}" srcOrd="0" destOrd="0" presId="urn:microsoft.com/office/officeart/2005/8/layout/process1"/>
    <dgm:cxn modelId="{6BBE8042-8A1C-4B3B-885B-13B4770D3A4E}" type="presParOf" srcId="{6F18769F-A45C-47E8-9743-8DD15455B2C9}" destId="{71F89AA5-3D26-438B-9C21-64A60B7CAFE1}" srcOrd="1" destOrd="0" presId="urn:microsoft.com/office/officeart/2005/8/layout/process1"/>
    <dgm:cxn modelId="{41143643-5ACB-409D-8EF5-BE70A4378899}" type="presParOf" srcId="{71F89AA5-3D26-438B-9C21-64A60B7CAFE1}" destId="{C844A1A0-E988-420F-9877-1860DF89A1EB}" srcOrd="0" destOrd="0" presId="urn:microsoft.com/office/officeart/2005/8/layout/process1"/>
    <dgm:cxn modelId="{9328C82C-9CD6-48AA-BCD1-24E5140E97BD}" type="presParOf" srcId="{6F18769F-A45C-47E8-9743-8DD15455B2C9}" destId="{74BCB0AC-6184-4BC5-9259-9B38484EB0BD}" srcOrd="2"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dirty="0"/>
            <a:t>Feature Store</a:t>
          </a:r>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81DAF9E1-DC97-46BC-9402-EC7E539BD23B}">
      <dgm:prSet/>
      <dgm:spPr/>
      <dgm:t>
        <a:bodyPr/>
        <a:lstStyle/>
        <a:p>
          <a:pPr>
            <a:lnSpc>
              <a:spcPct val="100000"/>
            </a:lnSpc>
            <a:spcAft>
              <a:spcPts val="600"/>
            </a:spcAft>
          </a:pPr>
          <a:r>
            <a:rPr lang="en-SG" dirty="0"/>
            <a:t>Shared Feature Engineering Layer (bronze/silver)</a:t>
          </a:r>
        </a:p>
      </dgm:t>
    </dgm:pt>
    <dgm:pt modelId="{774DEF1E-F047-4F32-AB56-BA562E647A7D}" type="parTrans" cxnId="{497ECFF2-4A89-4347-AA5E-5EE043180273}">
      <dgm:prSet/>
      <dgm:spPr/>
      <dgm:t>
        <a:bodyPr/>
        <a:lstStyle/>
        <a:p>
          <a:endParaRPr lang="en-SG"/>
        </a:p>
      </dgm:t>
    </dgm:pt>
    <dgm:pt modelId="{EA7AE1C2-FEF0-4F32-AB9C-23C83BD88215}" type="sibTrans" cxnId="{497ECFF2-4A89-4347-AA5E-5EE043180273}">
      <dgm:prSet/>
      <dgm:spPr/>
      <dgm:t>
        <a:bodyPr/>
        <a:lstStyle/>
        <a:p>
          <a:endParaRPr lang="en-SG"/>
        </a:p>
      </dgm:t>
    </dgm:pt>
    <dgm:pt modelId="{168ACAE5-0523-42E8-A5C9-EB8487E758CD}">
      <dgm:prSet/>
      <dgm:spPr/>
      <dgm:t>
        <a:bodyPr/>
        <a:lstStyle/>
        <a:p>
          <a:pPr>
            <a:lnSpc>
              <a:spcPct val="100000"/>
            </a:lnSpc>
            <a:spcAft>
              <a:spcPts val="600"/>
            </a:spcAft>
          </a:pPr>
          <a:r>
            <a:rPr lang="en-SG" dirty="0"/>
            <a:t>Online Retail transaction dataset of 2 years </a:t>
          </a:r>
          <a:r>
            <a:rPr lang="en-SG" b="0" i="1" dirty="0">
              <a:solidFill>
                <a:srgbClr val="0070C0"/>
              </a:solidFill>
              <a:hlinkClick xmlns:r="http://schemas.openxmlformats.org/officeDocument/2006/relationships" r:id="rId1">
                <a:extLst>
                  <a:ext uri="{A12FA001-AC4F-418D-AE19-62706E023703}">
                    <ahyp:hlinkClr xmlns:ahyp="http://schemas.microsoft.com/office/drawing/2018/hyperlinkcolor" val="tx"/>
                  </a:ext>
                </a:extLst>
              </a:hlinkClick>
            </a:rPr>
            <a:t>(Online Retail II (UCI transactional dataset)</a:t>
          </a:r>
          <a:endParaRPr lang="en-SG" b="0" i="1" dirty="0">
            <a:solidFill>
              <a:srgbClr val="0070C0"/>
            </a:solidFill>
          </a:endParaRPr>
        </a:p>
      </dgm:t>
    </dgm:pt>
    <dgm:pt modelId="{372E7EBD-7A00-4027-AA9B-5C49268CCBF5}" type="parTrans" cxnId="{4EAD2E28-C777-4A91-80D5-67979928E573}">
      <dgm:prSet/>
      <dgm:spPr/>
      <dgm:t>
        <a:bodyPr/>
        <a:lstStyle/>
        <a:p>
          <a:endParaRPr lang="en-SG"/>
        </a:p>
      </dgm:t>
    </dgm:pt>
    <dgm:pt modelId="{B23ADA11-DC68-4FE3-A495-2D6143CCC4E5}" type="sibTrans" cxnId="{4EAD2E28-C777-4A91-80D5-67979928E573}">
      <dgm:prSet/>
      <dgm:spPr/>
      <dgm:t>
        <a:bodyPr/>
        <a:lstStyle/>
        <a:p>
          <a:endParaRPr lang="en-SG"/>
        </a:p>
      </dgm:t>
    </dgm:pt>
    <dgm:pt modelId="{BF0AECC4-6EC5-4491-B0A7-0946402170DD}">
      <dgm:prSet/>
      <dgm:spPr/>
      <dgm:t>
        <a:bodyPr/>
        <a:lstStyle/>
        <a:p>
          <a:pPr>
            <a:lnSpc>
              <a:spcPct val="100000"/>
            </a:lnSpc>
            <a:spcAft>
              <a:spcPts val="600"/>
            </a:spcAft>
          </a:pPr>
          <a:r>
            <a:rPr lang="en-SG" dirty="0"/>
            <a:t>See repo for documentations, including </a:t>
          </a:r>
          <a:r>
            <a:rPr lang="en-SG" b="1" dirty="0"/>
            <a:t>Target Data Model, Data Dictionary</a:t>
          </a:r>
          <a:r>
            <a:rPr lang="en-SG" dirty="0"/>
            <a:t> and respective </a:t>
          </a:r>
          <a:r>
            <a:rPr lang="en-SG" b="1" i="1" dirty="0"/>
            <a:t>quickstart.md</a:t>
          </a:r>
        </a:p>
      </dgm:t>
    </dgm:pt>
    <dgm:pt modelId="{AD1BF38F-F3AB-4C22-8A32-DDA4BC993736}" type="parTrans" cxnId="{AFDE59F6-C7D9-4544-A985-27DE61C81B33}">
      <dgm:prSet/>
      <dgm:spPr/>
      <dgm:t>
        <a:bodyPr/>
        <a:lstStyle/>
        <a:p>
          <a:endParaRPr lang="en-SG"/>
        </a:p>
      </dgm:t>
    </dgm:pt>
    <dgm:pt modelId="{02336BE7-D22A-485F-B412-2DC44A674BE8}" type="sibTrans" cxnId="{AFDE59F6-C7D9-4544-A985-27DE61C81B33}">
      <dgm:prSet/>
      <dgm:spPr/>
      <dgm:t>
        <a:bodyPr/>
        <a:lstStyle/>
        <a:p>
          <a:endParaRPr lang="en-SG"/>
        </a:p>
      </dgm:t>
    </dgm:pt>
    <dgm:pt modelId="{BAE20149-9CD2-4A4C-9615-822EEA0CA46F}" type="pres">
      <dgm:prSet presAssocID="{A7521F9F-9853-4760-AF04-01C8BE6DE7CA}" presName="Name0" presStyleCnt="0">
        <dgm:presLayoutVars>
          <dgm:chMax val="11"/>
          <dgm:chPref val="11"/>
          <dgm:dir/>
          <dgm:resizeHandles/>
        </dgm:presLayoutVars>
      </dgm:prSet>
      <dgm:spPr/>
    </dgm:pt>
    <dgm:pt modelId="{BD64D23D-7A15-4A81-A6E3-B0718F4FD3A0}" type="pres">
      <dgm:prSet presAssocID="{3AEE3E50-0B70-4E20-8A23-DF2C94A810C5}" presName="Accent1" presStyleCnt="0"/>
      <dgm:spPr/>
    </dgm:pt>
    <dgm:pt modelId="{6E50C483-DCCC-4B9C-AE6B-988DC288188A}" type="pres">
      <dgm:prSet presAssocID="{3AEE3E50-0B70-4E20-8A23-DF2C94A810C5}" presName="Accent" presStyleLbl="node1" presStyleIdx="0" presStyleCnt="1"/>
      <dgm:spPr/>
    </dgm:pt>
    <dgm:pt modelId="{6A376E0F-C90E-4CB9-B0AB-D828CA4F9FF2}" type="pres">
      <dgm:prSet presAssocID="{3AEE3E50-0B70-4E20-8A23-DF2C94A810C5}" presName="ParentBackground1" presStyleCnt="0"/>
      <dgm:spPr/>
    </dgm:pt>
    <dgm:pt modelId="{27C934A3-7313-4156-8ED7-DDC09B6D49E2}" type="pres">
      <dgm:prSet presAssocID="{3AEE3E50-0B70-4E20-8A23-DF2C94A810C5}" presName="ParentBackground" presStyleLbl="fgAcc1" presStyleIdx="0" presStyleCnt="1"/>
      <dgm:spPr/>
    </dgm:pt>
    <dgm:pt modelId="{4A4F7823-EAE9-46C3-ABC1-34D954A204CF}" type="pres">
      <dgm:prSet presAssocID="{3AEE3E50-0B70-4E20-8A23-DF2C94A810C5}" presName="Child1" presStyleLbl="revTx" presStyleIdx="0" presStyleCnt="1">
        <dgm:presLayoutVars>
          <dgm:chMax val="0"/>
          <dgm:chPref val="0"/>
          <dgm:bulletEnabled val="1"/>
        </dgm:presLayoutVars>
      </dgm:prSet>
      <dgm:spPr/>
    </dgm:pt>
    <dgm:pt modelId="{D592DE3C-E03A-4374-9246-C25921A80337}" type="pres">
      <dgm:prSet presAssocID="{3AEE3E50-0B70-4E20-8A23-DF2C94A810C5}" presName="Parent1" presStyleLbl="revTx" presStyleIdx="0" presStyleCnt="1">
        <dgm:presLayoutVars>
          <dgm:chMax val="1"/>
          <dgm:chPref val="1"/>
          <dgm:bulletEnabled val="1"/>
        </dgm:presLayoutVars>
      </dgm:prSet>
      <dgm:spPr/>
    </dgm:pt>
  </dgm:ptLst>
  <dgm:cxnLst>
    <dgm:cxn modelId="{4EAD2E28-C777-4A91-80D5-67979928E573}" srcId="{3AEE3E50-0B70-4E20-8A23-DF2C94A810C5}" destId="{168ACAE5-0523-42E8-A5C9-EB8487E758CD}" srcOrd="0" destOrd="0" parTransId="{372E7EBD-7A00-4027-AA9B-5C49268CCBF5}" sibTransId="{B23ADA11-DC68-4FE3-A495-2D6143CCC4E5}"/>
    <dgm:cxn modelId="{65B2B22E-72CC-4EB5-8353-86AEBB03EE39}" srcId="{A7521F9F-9853-4760-AF04-01C8BE6DE7CA}" destId="{3AEE3E50-0B70-4E20-8A23-DF2C94A810C5}" srcOrd="0" destOrd="0" parTransId="{E87FE72D-7C21-4C4E-89B7-B9E78A928E21}" sibTransId="{87E3D749-6CB6-4793-A88E-29194C75DC2E}"/>
    <dgm:cxn modelId="{58A5C43C-4AB4-4072-B9BF-110990539A6D}" type="presOf" srcId="{168ACAE5-0523-42E8-A5C9-EB8487E758CD}" destId="{4A4F7823-EAE9-46C3-ABC1-34D954A204CF}" srcOrd="0" destOrd="0" presId="urn:microsoft.com/office/officeart/2011/layout/CircleProcess"/>
    <dgm:cxn modelId="{2B25B543-50C6-4457-9096-5BED2A9C6758}" type="presOf" srcId="{BF0AECC4-6EC5-4491-B0A7-0946402170DD}" destId="{4A4F7823-EAE9-46C3-ABC1-34D954A204CF}" srcOrd="0" destOrd="2" presId="urn:microsoft.com/office/officeart/2011/layout/CircleProcess"/>
    <dgm:cxn modelId="{244BC07D-ADFF-4472-8431-F41BCD3B5FD8}" type="presOf" srcId="{3AEE3E50-0B70-4E20-8A23-DF2C94A810C5}" destId="{D592DE3C-E03A-4374-9246-C25921A80337}" srcOrd="1" destOrd="0" presId="urn:microsoft.com/office/officeart/2011/layout/CircleProcess"/>
    <dgm:cxn modelId="{1813728D-CD03-43FE-AD9B-C49A0CEA0F8F}" type="presOf" srcId="{A7521F9F-9853-4760-AF04-01C8BE6DE7CA}" destId="{BAE20149-9CD2-4A4C-9615-822EEA0CA46F}" srcOrd="0" destOrd="0" presId="urn:microsoft.com/office/officeart/2011/layout/CircleProcess"/>
    <dgm:cxn modelId="{CFA778AE-9E62-4A8E-BF66-68222C024082}" type="presOf" srcId="{3AEE3E50-0B70-4E20-8A23-DF2C94A810C5}" destId="{27C934A3-7313-4156-8ED7-DDC09B6D49E2}" srcOrd="0" destOrd="0" presId="urn:microsoft.com/office/officeart/2011/layout/CircleProcess"/>
    <dgm:cxn modelId="{497ECFF2-4A89-4347-AA5E-5EE043180273}" srcId="{3AEE3E50-0B70-4E20-8A23-DF2C94A810C5}" destId="{81DAF9E1-DC97-46BC-9402-EC7E539BD23B}" srcOrd="1" destOrd="0" parTransId="{774DEF1E-F047-4F32-AB56-BA562E647A7D}" sibTransId="{EA7AE1C2-FEF0-4F32-AB9C-23C83BD88215}"/>
    <dgm:cxn modelId="{AFDE59F6-C7D9-4544-A985-27DE61C81B33}" srcId="{3AEE3E50-0B70-4E20-8A23-DF2C94A810C5}" destId="{BF0AECC4-6EC5-4491-B0A7-0946402170DD}" srcOrd="2" destOrd="0" parTransId="{AD1BF38F-F3AB-4C22-8A32-DDA4BC993736}" sibTransId="{02336BE7-D22A-485F-B412-2DC44A674BE8}"/>
    <dgm:cxn modelId="{8B33CBF9-3396-447C-BBCE-2DAFD1AB4BFA}" type="presOf" srcId="{81DAF9E1-DC97-46BC-9402-EC7E539BD23B}" destId="{4A4F7823-EAE9-46C3-ABC1-34D954A204CF}" srcOrd="0" destOrd="1" presId="urn:microsoft.com/office/officeart/2011/layout/CircleProcess"/>
    <dgm:cxn modelId="{346B1158-EC48-4EEE-9176-08BB100A4EE3}" type="presParOf" srcId="{BAE20149-9CD2-4A4C-9615-822EEA0CA46F}" destId="{BD64D23D-7A15-4A81-A6E3-B0718F4FD3A0}" srcOrd="0" destOrd="0" presId="urn:microsoft.com/office/officeart/2011/layout/CircleProcess"/>
    <dgm:cxn modelId="{EDCF0721-910C-432A-B189-E3F425765A7A}" type="presParOf" srcId="{BD64D23D-7A15-4A81-A6E3-B0718F4FD3A0}" destId="{6E50C483-DCCC-4B9C-AE6B-988DC288188A}" srcOrd="0" destOrd="0" presId="urn:microsoft.com/office/officeart/2011/layout/CircleProcess"/>
    <dgm:cxn modelId="{1C403461-BECD-4335-94C0-4EFEDD106219}" type="presParOf" srcId="{BAE20149-9CD2-4A4C-9615-822EEA0CA46F}" destId="{6A376E0F-C90E-4CB9-B0AB-D828CA4F9FF2}" srcOrd="1" destOrd="0" presId="urn:microsoft.com/office/officeart/2011/layout/CircleProcess"/>
    <dgm:cxn modelId="{8E740BBD-6D0F-4320-B356-EC22111A7BBF}" type="presParOf" srcId="{6A376E0F-C90E-4CB9-B0AB-D828CA4F9FF2}" destId="{27C934A3-7313-4156-8ED7-DDC09B6D49E2}" srcOrd="0" destOrd="0" presId="urn:microsoft.com/office/officeart/2011/layout/CircleProcess"/>
    <dgm:cxn modelId="{5B78382F-50D9-4623-B404-5EB370E6ED3A}" type="presParOf" srcId="{BAE20149-9CD2-4A4C-9615-822EEA0CA46F}" destId="{4A4F7823-EAE9-46C3-ABC1-34D954A204CF}" srcOrd="2" destOrd="0" presId="urn:microsoft.com/office/officeart/2011/layout/CircleProcess"/>
    <dgm:cxn modelId="{D806BA01-1F95-4A48-9812-F2296A1427F1}" type="presParOf" srcId="{BAE20149-9CD2-4A4C-9615-822EEA0CA46F}" destId="{D592DE3C-E03A-4374-9246-C25921A80337}" srcOrd="3" destOrd="0" presId="urn:microsoft.com/office/officeart/2011/layout/CircleProcess"/>
  </dgm:cxnLst>
  <dgm:bg>
    <a:solidFill>
      <a:schemeClr val="accent6">
        <a:lumMod val="20000"/>
        <a:lumOff val="80000"/>
      </a:schemeClr>
    </a:solidFill>
  </dgm:bg>
  <dgm:whole/>
  <dgm:extLst>
    <a:ext uri="http://schemas.microsoft.com/office/drawing/2008/diagram">
      <dsp:dataModelExt xmlns:dsp="http://schemas.microsoft.com/office/drawing/2008/diagram" relId="rId12"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A7521F9F-9853-4760-AF04-01C8BE6DE7CA}" type="doc">
      <dgm:prSet loTypeId="urn:microsoft.com/office/officeart/2005/8/layout/process1" loCatId="process" qsTypeId="urn:microsoft.com/office/officeart/2005/8/quickstyle/simple1" qsCatId="simple" csTypeId="urn:microsoft.com/office/officeart/2005/8/colors/accent1_2" csCatId="accent1" phldr="1"/>
      <dgm:spPr/>
      <dgm:t>
        <a:bodyPr/>
        <a:lstStyle/>
        <a:p>
          <a:endParaRPr lang="en-SG"/>
        </a:p>
      </dgm:t>
    </dgm:pt>
    <dgm:pt modelId="{E878DF7A-3516-4BCB-AA59-99E356A46073}">
      <dgm:prSet custT="1"/>
      <dgm:spPr/>
      <dgm:t>
        <a:bodyPr/>
        <a:lstStyle/>
        <a:p>
          <a:pPr>
            <a:lnSpc>
              <a:spcPct val="100000"/>
            </a:lnSpc>
            <a:spcAft>
              <a:spcPts val="600"/>
            </a:spcAft>
          </a:pPr>
          <a:r>
            <a:rPr lang="en-SG" sz="1400" b="1" dirty="0"/>
            <a:t>Recommender Engine</a:t>
          </a:r>
        </a:p>
      </dgm:t>
    </dgm:pt>
    <dgm:pt modelId="{4215D128-B3CD-480F-AA0F-6DDB0B6C6E34}" type="parTrans" cxnId="{74911EB3-CA94-4516-B771-EEBF0B929931}">
      <dgm:prSet/>
      <dgm:spPr/>
      <dgm:t>
        <a:bodyPr/>
        <a:lstStyle/>
        <a:p>
          <a:endParaRPr lang="en-SG"/>
        </a:p>
      </dgm:t>
    </dgm:pt>
    <dgm:pt modelId="{8EDF5DBF-CBE7-4C0D-B13F-D8077C96DF81}" type="sibTrans" cxnId="{74911EB3-CA94-4516-B771-EEBF0B929931}">
      <dgm:prSet/>
      <dgm:spPr/>
      <dgm:t>
        <a:bodyPr/>
        <a:lstStyle/>
        <a:p>
          <a:endParaRPr lang="en-SG" dirty="0"/>
        </a:p>
      </dgm:t>
    </dgm:pt>
    <dgm:pt modelId="{09C66954-CA12-481A-81EF-C16F06D8EB2B}">
      <dgm:prSet custT="1"/>
      <dgm:spPr/>
      <dgm:t>
        <a:bodyPr/>
        <a:lstStyle/>
        <a:p>
          <a:pPr>
            <a:lnSpc>
              <a:spcPct val="100000"/>
            </a:lnSpc>
            <a:spcAft>
              <a:spcPts val="600"/>
            </a:spcAft>
          </a:pPr>
          <a:r>
            <a:rPr lang="en-SG" sz="1200" dirty="0"/>
            <a:t>Training Pipeline (Offline): Two-Tower Collaborative Filtering</a:t>
          </a:r>
        </a:p>
      </dgm:t>
    </dgm:pt>
    <dgm:pt modelId="{FEDCE43D-7C3C-4CD0-95A4-5F4336856A30}" type="parTrans" cxnId="{B001BCEA-12E7-4C97-8AC3-59ED55691DF1}">
      <dgm:prSet/>
      <dgm:spPr/>
      <dgm:t>
        <a:bodyPr/>
        <a:lstStyle/>
        <a:p>
          <a:endParaRPr lang="en-SG"/>
        </a:p>
      </dgm:t>
    </dgm:pt>
    <dgm:pt modelId="{22F76C3E-3F4A-4B6F-A1A7-4EB975212D17}" type="sibTrans" cxnId="{B001BCEA-12E7-4C97-8AC3-59ED55691DF1}">
      <dgm:prSet/>
      <dgm:spPr/>
      <dgm:t>
        <a:bodyPr/>
        <a:lstStyle/>
        <a:p>
          <a:endParaRPr lang="en-SG"/>
        </a:p>
      </dgm:t>
    </dgm:pt>
    <dgm:pt modelId="{668BD968-7D7C-4548-A9C3-39BA39AA91DE}">
      <dgm:prSet custT="1"/>
      <dgm:spPr/>
      <dgm:t>
        <a:bodyPr/>
        <a:lstStyle/>
        <a:p>
          <a:r>
            <a:rPr lang="en-SG" sz="1400" b="1" dirty="0"/>
            <a:t>Offline Model Evaluation</a:t>
          </a:r>
          <a:endParaRPr lang="en-SG" sz="1400" dirty="0"/>
        </a:p>
      </dgm:t>
    </dgm:pt>
    <dgm:pt modelId="{51062191-8FB1-4D1A-AB12-867C760892B6}" type="parTrans" cxnId="{CD81A89C-B532-4213-B6C7-3D7627A466E3}">
      <dgm:prSet/>
      <dgm:spPr/>
      <dgm:t>
        <a:bodyPr/>
        <a:lstStyle/>
        <a:p>
          <a:endParaRPr lang="en-SG"/>
        </a:p>
      </dgm:t>
    </dgm:pt>
    <dgm:pt modelId="{925C0620-2481-44B4-A783-D3BFEC8F2EF3}" type="sibTrans" cxnId="{CD81A89C-B532-4213-B6C7-3D7627A466E3}">
      <dgm:prSet/>
      <dgm:spPr/>
      <dgm:t>
        <a:bodyPr/>
        <a:lstStyle/>
        <a:p>
          <a:endParaRPr lang="en-SG"/>
        </a:p>
      </dgm:t>
    </dgm:pt>
    <dgm:pt modelId="{6A8BE770-976B-4991-9D1C-26116AC48EDC}">
      <dgm:prSet custT="1"/>
      <dgm:spPr/>
      <dgm:t>
        <a:bodyPr/>
        <a:lstStyle/>
        <a:p>
          <a:r>
            <a:rPr lang="en-SG" sz="1200" dirty="0"/>
            <a:t>Proxy metrics for commercial engagement: Recall/NDCG/Hit Rate</a:t>
          </a:r>
        </a:p>
      </dgm:t>
    </dgm:pt>
    <dgm:pt modelId="{0501BE61-703B-41E2-9731-511B0780652B}" type="parTrans" cxnId="{27DB255B-B5FF-454F-BAAD-AF1AB4C204CA}">
      <dgm:prSet/>
      <dgm:spPr/>
      <dgm:t>
        <a:bodyPr/>
        <a:lstStyle/>
        <a:p>
          <a:endParaRPr lang="en-SG"/>
        </a:p>
      </dgm:t>
    </dgm:pt>
    <dgm:pt modelId="{B0B8C39B-D8E1-44D5-9B45-4BCAF65D9127}" type="sibTrans" cxnId="{27DB255B-B5FF-454F-BAAD-AF1AB4C204CA}">
      <dgm:prSet/>
      <dgm:spPr/>
      <dgm:t>
        <a:bodyPr/>
        <a:lstStyle/>
        <a:p>
          <a:endParaRPr lang="en-SG"/>
        </a:p>
      </dgm:t>
    </dgm:pt>
    <dgm:pt modelId="{4C268D6E-5823-4943-A1D0-5661390E54A4}">
      <dgm:prSet custT="1"/>
      <dgm:spPr/>
      <dgm:t>
        <a:bodyPr/>
        <a:lstStyle/>
        <a:p>
          <a:pPr>
            <a:lnSpc>
              <a:spcPct val="100000"/>
            </a:lnSpc>
            <a:spcAft>
              <a:spcPts val="600"/>
            </a:spcAft>
          </a:pPr>
          <a:r>
            <a:rPr lang="en-SG" sz="1200" dirty="0"/>
            <a:t>Serving (Retrieval) Pipeline: Stage 1 Candidate Retrieval (Two-Tower Dot Product + ANN)</a:t>
          </a:r>
        </a:p>
      </dgm:t>
    </dgm:pt>
    <dgm:pt modelId="{D77C3BD0-846A-4241-9322-64E7B7736469}" type="parTrans" cxnId="{EC72C0A1-6A05-46C8-956E-AB64B34C1275}">
      <dgm:prSet/>
      <dgm:spPr/>
      <dgm:t>
        <a:bodyPr/>
        <a:lstStyle/>
        <a:p>
          <a:endParaRPr lang="en-SG"/>
        </a:p>
      </dgm:t>
    </dgm:pt>
    <dgm:pt modelId="{917054AE-2A83-49C6-911F-96CDE2B7002D}" type="sibTrans" cxnId="{EC72C0A1-6A05-46C8-956E-AB64B34C1275}">
      <dgm:prSet/>
      <dgm:spPr/>
      <dgm:t>
        <a:bodyPr/>
        <a:lstStyle/>
        <a:p>
          <a:endParaRPr lang="en-SG"/>
        </a:p>
      </dgm:t>
    </dgm:pt>
    <dgm:pt modelId="{F142DB4B-D7AD-4796-AAA4-0E746D3CCCAF}">
      <dgm:prSet custT="1"/>
      <dgm:spPr/>
      <dgm:t>
        <a:bodyPr/>
        <a:lstStyle/>
        <a:p>
          <a:pPr>
            <a:lnSpc>
              <a:spcPct val="100000"/>
            </a:lnSpc>
            <a:spcAft>
              <a:spcPts val="600"/>
            </a:spcAft>
          </a:pPr>
          <a:endParaRPr lang="en-SG" sz="1200" dirty="0"/>
        </a:p>
      </dgm:t>
    </dgm:pt>
    <dgm:pt modelId="{C448B19F-99D2-4EA9-A92B-0EE147F61314}" type="parTrans" cxnId="{3F06190A-5A01-4102-A80B-9D993A6F95FD}">
      <dgm:prSet/>
      <dgm:spPr/>
      <dgm:t>
        <a:bodyPr/>
        <a:lstStyle/>
        <a:p>
          <a:endParaRPr lang="en-SG"/>
        </a:p>
      </dgm:t>
    </dgm:pt>
    <dgm:pt modelId="{7454E282-AEB2-41C7-BEEE-257C81452146}" type="sibTrans" cxnId="{3F06190A-5A01-4102-A80B-9D993A6F95FD}">
      <dgm:prSet/>
      <dgm:spPr/>
      <dgm:t>
        <a:bodyPr/>
        <a:lstStyle/>
        <a:p>
          <a:endParaRPr lang="en-SG"/>
        </a:p>
      </dgm:t>
    </dgm:pt>
    <dgm:pt modelId="{49A29645-3F90-4FF4-BDF5-47626EC8689A}" type="pres">
      <dgm:prSet presAssocID="{A7521F9F-9853-4760-AF04-01C8BE6DE7CA}" presName="Name0" presStyleCnt="0">
        <dgm:presLayoutVars>
          <dgm:dir/>
          <dgm:resizeHandles val="exact"/>
        </dgm:presLayoutVars>
      </dgm:prSet>
      <dgm:spPr/>
    </dgm:pt>
    <dgm:pt modelId="{D11E4ACC-F46F-4E3F-B3D5-13482F0C135B}" type="pres">
      <dgm:prSet presAssocID="{E878DF7A-3516-4BCB-AA59-99E356A46073}" presName="node" presStyleLbl="node1" presStyleIdx="0" presStyleCnt="2">
        <dgm:presLayoutVars>
          <dgm:bulletEnabled val="1"/>
        </dgm:presLayoutVars>
      </dgm:prSet>
      <dgm:spPr/>
    </dgm:pt>
    <dgm:pt modelId="{4F230ABA-46E3-4A4E-8801-E05038A704F6}" type="pres">
      <dgm:prSet presAssocID="{8EDF5DBF-CBE7-4C0D-B13F-D8077C96DF81}" presName="sibTrans" presStyleLbl="sibTrans2D1" presStyleIdx="0" presStyleCnt="1"/>
      <dgm:spPr/>
    </dgm:pt>
    <dgm:pt modelId="{EAFCC294-EEFD-41EA-89A9-2BDC76D31A73}" type="pres">
      <dgm:prSet presAssocID="{8EDF5DBF-CBE7-4C0D-B13F-D8077C96DF81}" presName="connectorText" presStyleLbl="sibTrans2D1" presStyleIdx="0" presStyleCnt="1"/>
      <dgm:spPr/>
    </dgm:pt>
    <dgm:pt modelId="{298762B9-1A9A-489F-A7B0-51C707051142}" type="pres">
      <dgm:prSet presAssocID="{668BD968-7D7C-4548-A9C3-39BA39AA91DE}" presName="node" presStyleLbl="node1" presStyleIdx="1" presStyleCnt="2">
        <dgm:presLayoutVars>
          <dgm:bulletEnabled val="1"/>
        </dgm:presLayoutVars>
      </dgm:prSet>
      <dgm:spPr/>
    </dgm:pt>
  </dgm:ptLst>
  <dgm:cxnLst>
    <dgm:cxn modelId="{3F06190A-5A01-4102-A80B-9D993A6F95FD}" srcId="{E878DF7A-3516-4BCB-AA59-99E356A46073}" destId="{F142DB4B-D7AD-4796-AAA4-0E746D3CCCAF}" srcOrd="2" destOrd="0" parTransId="{C448B19F-99D2-4EA9-A92B-0EE147F61314}" sibTransId="{7454E282-AEB2-41C7-BEEE-257C81452146}"/>
    <dgm:cxn modelId="{3331451B-767A-4DA4-BB06-4462AB791AA6}" type="presOf" srcId="{668BD968-7D7C-4548-A9C3-39BA39AA91DE}" destId="{298762B9-1A9A-489F-A7B0-51C707051142}" srcOrd="0" destOrd="0" presId="urn:microsoft.com/office/officeart/2005/8/layout/process1"/>
    <dgm:cxn modelId="{4C56B92F-102A-47D2-BA7A-42D0F78AED38}" type="presOf" srcId="{F142DB4B-D7AD-4796-AAA4-0E746D3CCCAF}" destId="{D11E4ACC-F46F-4E3F-B3D5-13482F0C135B}" srcOrd="0" destOrd="3" presId="urn:microsoft.com/office/officeart/2005/8/layout/process1"/>
    <dgm:cxn modelId="{27DB255B-B5FF-454F-BAAD-AF1AB4C204CA}" srcId="{668BD968-7D7C-4548-A9C3-39BA39AA91DE}" destId="{6A8BE770-976B-4991-9D1C-26116AC48EDC}" srcOrd="0" destOrd="0" parTransId="{0501BE61-703B-41E2-9731-511B0780652B}" sibTransId="{B0B8C39B-D8E1-44D5-9B45-4BCAF65D9127}"/>
    <dgm:cxn modelId="{045E0F5C-0F94-48BA-9FDE-23107E04A8A2}" type="presOf" srcId="{6A8BE770-976B-4991-9D1C-26116AC48EDC}" destId="{298762B9-1A9A-489F-A7B0-51C707051142}" srcOrd="0" destOrd="1" presId="urn:microsoft.com/office/officeart/2005/8/layout/process1"/>
    <dgm:cxn modelId="{92259160-04A2-4024-BEA6-D268E870F9D4}" type="presOf" srcId="{4C268D6E-5823-4943-A1D0-5661390E54A4}" destId="{D11E4ACC-F46F-4E3F-B3D5-13482F0C135B}" srcOrd="0" destOrd="2" presId="urn:microsoft.com/office/officeart/2005/8/layout/process1"/>
    <dgm:cxn modelId="{691B975A-1EB2-49FE-9E6D-1200CC451944}" type="presOf" srcId="{09C66954-CA12-481A-81EF-C16F06D8EB2B}" destId="{D11E4ACC-F46F-4E3F-B3D5-13482F0C135B}" srcOrd="0" destOrd="1" presId="urn:microsoft.com/office/officeart/2005/8/layout/process1"/>
    <dgm:cxn modelId="{CD81A89C-B532-4213-B6C7-3D7627A466E3}" srcId="{A7521F9F-9853-4760-AF04-01C8BE6DE7CA}" destId="{668BD968-7D7C-4548-A9C3-39BA39AA91DE}" srcOrd="1" destOrd="0" parTransId="{51062191-8FB1-4D1A-AB12-867C760892B6}" sibTransId="{925C0620-2481-44B4-A783-D3BFEC8F2EF3}"/>
    <dgm:cxn modelId="{1F17D19C-F7AA-4A41-8C89-02E285BFD35A}" type="presOf" srcId="{E878DF7A-3516-4BCB-AA59-99E356A46073}" destId="{D11E4ACC-F46F-4E3F-B3D5-13482F0C135B}" srcOrd="0" destOrd="0" presId="urn:microsoft.com/office/officeart/2005/8/layout/process1"/>
    <dgm:cxn modelId="{EC72C0A1-6A05-46C8-956E-AB64B34C1275}" srcId="{E878DF7A-3516-4BCB-AA59-99E356A46073}" destId="{4C268D6E-5823-4943-A1D0-5661390E54A4}" srcOrd="1" destOrd="0" parTransId="{D77C3BD0-846A-4241-9322-64E7B7736469}" sibTransId="{917054AE-2A83-49C6-911F-96CDE2B7002D}"/>
    <dgm:cxn modelId="{74911EB3-CA94-4516-B771-EEBF0B929931}" srcId="{A7521F9F-9853-4760-AF04-01C8BE6DE7CA}" destId="{E878DF7A-3516-4BCB-AA59-99E356A46073}" srcOrd="0" destOrd="0" parTransId="{4215D128-B3CD-480F-AA0F-6DDB0B6C6E34}" sibTransId="{8EDF5DBF-CBE7-4C0D-B13F-D8077C96DF81}"/>
    <dgm:cxn modelId="{6D0C46BF-67A0-4EE0-94E3-F20A8C43E5A5}" type="presOf" srcId="{8EDF5DBF-CBE7-4C0D-B13F-D8077C96DF81}" destId="{4F230ABA-46E3-4A4E-8801-E05038A704F6}" srcOrd="0" destOrd="0" presId="urn:microsoft.com/office/officeart/2005/8/layout/process1"/>
    <dgm:cxn modelId="{BE90DDC7-4B23-4CD4-821B-0F214C68E1CE}" type="presOf" srcId="{8EDF5DBF-CBE7-4C0D-B13F-D8077C96DF81}" destId="{EAFCC294-EEFD-41EA-89A9-2BDC76D31A73}" srcOrd="1" destOrd="0" presId="urn:microsoft.com/office/officeart/2005/8/layout/process1"/>
    <dgm:cxn modelId="{B001BCEA-12E7-4C97-8AC3-59ED55691DF1}" srcId="{E878DF7A-3516-4BCB-AA59-99E356A46073}" destId="{09C66954-CA12-481A-81EF-C16F06D8EB2B}" srcOrd="0" destOrd="0" parTransId="{FEDCE43D-7C3C-4CD0-95A4-5F4336856A30}" sibTransId="{22F76C3E-3F4A-4B6F-A1A7-4EB975212D17}"/>
    <dgm:cxn modelId="{6834DEEF-495D-4C07-9F15-C40EC10DF0CC}" type="presOf" srcId="{A7521F9F-9853-4760-AF04-01C8BE6DE7CA}" destId="{49A29645-3F90-4FF4-BDF5-47626EC8689A}" srcOrd="0" destOrd="0" presId="urn:microsoft.com/office/officeart/2005/8/layout/process1"/>
    <dgm:cxn modelId="{CD52D83A-4716-481B-BF19-C575A5C23351}" type="presParOf" srcId="{49A29645-3F90-4FF4-BDF5-47626EC8689A}" destId="{D11E4ACC-F46F-4E3F-B3D5-13482F0C135B}" srcOrd="0" destOrd="0" presId="urn:microsoft.com/office/officeart/2005/8/layout/process1"/>
    <dgm:cxn modelId="{3549375D-A795-46E8-B95B-978376F93F70}" type="presParOf" srcId="{49A29645-3F90-4FF4-BDF5-47626EC8689A}" destId="{4F230ABA-46E3-4A4E-8801-E05038A704F6}" srcOrd="1" destOrd="0" presId="urn:microsoft.com/office/officeart/2005/8/layout/process1"/>
    <dgm:cxn modelId="{2344C5AF-1820-48D3-8994-2F603E5B9638}" type="presParOf" srcId="{4F230ABA-46E3-4A4E-8801-E05038A704F6}" destId="{EAFCC294-EEFD-41EA-89A9-2BDC76D31A73}" srcOrd="0" destOrd="0" presId="urn:microsoft.com/office/officeart/2005/8/layout/process1"/>
    <dgm:cxn modelId="{7BBAC62B-AD78-4DDA-99CA-D452146D3331}" type="presParOf" srcId="{49A29645-3F90-4FF4-BDF5-47626EC8689A}" destId="{298762B9-1A9A-489F-A7B0-51C707051142}" srcOrd="2" destOrd="0" presId="urn:microsoft.com/office/officeart/2005/8/layout/process1"/>
  </dgm:cxnLst>
  <dgm:bg/>
  <dgm:whole/>
  <dgm:extLst>
    <a:ext uri="http://schemas.microsoft.com/office/drawing/2008/diagram">
      <dsp:dataModelExt xmlns:dsp="http://schemas.microsoft.com/office/drawing/2008/diagram" relId="rId1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dirty="0"/>
            <a:t>Feature Store</a:t>
          </a:r>
          <a:endParaRPr lang="en-SG" dirty="0"/>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E878DF7A-3516-4BCB-AA59-99E356A46073}">
      <dgm:prSet/>
      <dgm:spPr/>
      <dgm:t>
        <a:bodyPr/>
        <a:lstStyle/>
        <a:p>
          <a:r>
            <a:rPr lang="en-SG" b="0" dirty="0">
              <a:solidFill>
                <a:schemeClr val="tx1"/>
              </a:solidFill>
            </a:rPr>
            <a:t>Models Training</a:t>
          </a:r>
        </a:p>
      </dgm:t>
    </dgm:pt>
    <dgm:pt modelId="{4215D128-B3CD-480F-AA0F-6DDB0B6C6E34}" type="parTrans" cxnId="{74911EB3-CA94-4516-B771-EEBF0B929931}">
      <dgm:prSet/>
      <dgm:spPr/>
      <dgm:t>
        <a:bodyPr/>
        <a:lstStyle/>
        <a:p>
          <a:endParaRPr lang="en-SG"/>
        </a:p>
      </dgm:t>
    </dgm:pt>
    <dgm:pt modelId="{8EDF5DBF-CBE7-4C0D-B13F-D8077C96DF81}" type="sibTrans" cxnId="{74911EB3-CA94-4516-B771-EEBF0B929931}">
      <dgm:prSet/>
      <dgm:spPr/>
      <dgm:t>
        <a:bodyPr/>
        <a:lstStyle/>
        <a:p>
          <a:endParaRPr lang="en-SG"/>
        </a:p>
      </dgm:t>
    </dgm:pt>
    <dgm:pt modelId="{39EB0991-8EB9-4AFD-A2F2-F6E1F254BE25}">
      <dgm:prSet/>
      <dgm:spPr/>
      <dgm:t>
        <a:bodyPr/>
        <a:lstStyle/>
        <a:p>
          <a:r>
            <a:rPr lang="en-SG" b="0" dirty="0"/>
            <a:t>Models Validation</a:t>
          </a:r>
        </a:p>
      </dgm:t>
    </dgm:pt>
    <dgm:pt modelId="{E6A12652-9F65-4387-B68E-183EBE605256}" type="parTrans" cxnId="{15C2058C-EC37-4FEA-A703-C93AC5402A2C}">
      <dgm:prSet/>
      <dgm:spPr/>
      <dgm:t>
        <a:bodyPr/>
        <a:lstStyle/>
        <a:p>
          <a:endParaRPr lang="en-SG"/>
        </a:p>
      </dgm:t>
    </dgm:pt>
    <dgm:pt modelId="{EF4950E5-5C98-4D2B-B111-BF6A7726FECB}" type="sibTrans" cxnId="{15C2058C-EC37-4FEA-A703-C93AC5402A2C}">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54CB8B97-3A40-4B7B-9585-391D70D1B2E7}" type="pres">
      <dgm:prSet presAssocID="{39EB0991-8EB9-4AFD-A2F2-F6E1F254BE25}" presName="Accent3" presStyleCnt="0"/>
      <dgm:spPr/>
    </dgm:pt>
    <dgm:pt modelId="{9CFC7CA6-F413-4EB9-BC7D-5F9345015BD0}" type="pres">
      <dgm:prSet presAssocID="{39EB0991-8EB9-4AFD-A2F2-F6E1F254BE25}" presName="Accent" presStyleLbl="node1" presStyleIdx="0" presStyleCnt="3"/>
      <dgm:spPr/>
    </dgm:pt>
    <dgm:pt modelId="{330BF626-846A-404C-98A2-9CD9561B67B4}" type="pres">
      <dgm:prSet presAssocID="{39EB0991-8EB9-4AFD-A2F2-F6E1F254BE25}" presName="ParentBackground3" presStyleCnt="0"/>
      <dgm:spPr/>
    </dgm:pt>
    <dgm:pt modelId="{3819A24E-29CD-47FA-8F77-B27A7A92C7B6}" type="pres">
      <dgm:prSet presAssocID="{39EB0991-8EB9-4AFD-A2F2-F6E1F254BE25}" presName="ParentBackground" presStyleLbl="fgAcc1" presStyleIdx="0" presStyleCnt="3"/>
      <dgm:spPr/>
    </dgm:pt>
    <dgm:pt modelId="{A144C653-F3F6-4F5B-B196-13C940068BD6}" type="pres">
      <dgm:prSet presAssocID="{39EB0991-8EB9-4AFD-A2F2-F6E1F254BE25}" presName="Parent3" presStyleLbl="revTx" presStyleIdx="0" presStyleCnt="0">
        <dgm:presLayoutVars>
          <dgm:chMax val="1"/>
          <dgm:chPref val="1"/>
          <dgm:bulletEnabled val="1"/>
        </dgm:presLayoutVars>
      </dgm:prSet>
      <dgm:spPr/>
    </dgm:pt>
    <dgm:pt modelId="{E9C4BACF-EBF8-4935-B06B-6366326CFAA4}" type="pres">
      <dgm:prSet presAssocID="{E878DF7A-3516-4BCB-AA59-99E356A46073}" presName="Accent2" presStyleCnt="0"/>
      <dgm:spPr/>
    </dgm:pt>
    <dgm:pt modelId="{09794B8C-E734-4AD7-92B7-E8D5CAA1082F}" type="pres">
      <dgm:prSet presAssocID="{E878DF7A-3516-4BCB-AA59-99E356A46073}" presName="Accent" presStyleLbl="node1" presStyleIdx="1" presStyleCnt="3"/>
      <dgm:spPr/>
    </dgm:pt>
    <dgm:pt modelId="{6AA97FA9-0D80-4397-8D21-A361BDF79ACB}" type="pres">
      <dgm:prSet presAssocID="{E878DF7A-3516-4BCB-AA59-99E356A46073}" presName="ParentBackground2" presStyleCnt="0"/>
      <dgm:spPr/>
    </dgm:pt>
    <dgm:pt modelId="{686F1890-877A-4652-9D3B-F479BCA8EE98}" type="pres">
      <dgm:prSet presAssocID="{E878DF7A-3516-4BCB-AA59-99E356A46073}" presName="ParentBackground" presStyleLbl="fgAcc1" presStyleIdx="1" presStyleCnt="3"/>
      <dgm:spPr/>
    </dgm:pt>
    <dgm:pt modelId="{238F6C06-5DF1-4E1A-98A8-0F659B517573}" type="pres">
      <dgm:prSet presAssocID="{E878DF7A-3516-4BCB-AA59-99E356A46073}"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2" presStyleCnt="3"/>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2" presStyleCnt="3"/>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BD0F1B09-8FA8-4B79-B854-715F56AF75B5}" type="presOf" srcId="{39EB0991-8EB9-4AFD-A2F2-F6E1F254BE25}" destId="{A144C653-F3F6-4F5B-B196-13C940068BD6}" srcOrd="1" destOrd="0" presId="urn:microsoft.com/office/officeart/2011/layout/CircleProcess"/>
    <dgm:cxn modelId="{507A5811-25B2-4E26-AED7-A4B81AAA4D74}" type="presOf" srcId="{3AEE3E50-0B70-4E20-8A23-DF2C94A810C5}" destId="{EA8B68E1-77F3-4799-AC34-546ABA28C689}"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4DD71B33-73A1-46A4-BE4D-8834127878C0}" type="presOf" srcId="{E878DF7A-3516-4BCB-AA59-99E356A46073}" destId="{238F6C06-5DF1-4E1A-98A8-0F659B517573}" srcOrd="1" destOrd="0" presId="urn:microsoft.com/office/officeart/2011/layout/CircleProcess"/>
    <dgm:cxn modelId="{39FFB166-4089-4277-B84F-241C66A31EDD}" type="presOf" srcId="{3AEE3E50-0B70-4E20-8A23-DF2C94A810C5}" destId="{D41CBF9C-D87B-42FA-83CA-C300FE5ECA73}" srcOrd="0" destOrd="0" presId="urn:microsoft.com/office/officeart/2011/layout/CircleProcess"/>
    <dgm:cxn modelId="{FDA2FF52-F583-4336-A87C-36F9391E190F}" type="presOf" srcId="{E878DF7A-3516-4BCB-AA59-99E356A46073}" destId="{686F1890-877A-4652-9D3B-F479BCA8EE98}" srcOrd="0" destOrd="0" presId="urn:microsoft.com/office/officeart/2011/layout/CircleProcess"/>
    <dgm:cxn modelId="{5ED5CB54-0009-490E-A1A6-8E49FB752E10}" type="presOf" srcId="{39EB0991-8EB9-4AFD-A2F2-F6E1F254BE25}" destId="{3819A24E-29CD-47FA-8F77-B27A7A92C7B6}" srcOrd="0" destOrd="0" presId="urn:microsoft.com/office/officeart/2011/layout/CircleProcess"/>
    <dgm:cxn modelId="{15C2058C-EC37-4FEA-A703-C93AC5402A2C}" srcId="{A7521F9F-9853-4760-AF04-01C8BE6DE7CA}" destId="{39EB0991-8EB9-4AFD-A2F2-F6E1F254BE25}" srcOrd="2" destOrd="0" parTransId="{E6A12652-9F65-4387-B68E-183EBE605256}" sibTransId="{EF4950E5-5C98-4D2B-B111-BF6A7726FECB}"/>
    <dgm:cxn modelId="{74911EB3-CA94-4516-B771-EEBF0B929931}" srcId="{A7521F9F-9853-4760-AF04-01C8BE6DE7CA}" destId="{E878DF7A-3516-4BCB-AA59-99E356A46073}" srcOrd="1" destOrd="0" parTransId="{4215D128-B3CD-480F-AA0F-6DDB0B6C6E34}" sibTransId="{8EDF5DBF-CBE7-4C0D-B13F-D8077C96DF81}"/>
    <dgm:cxn modelId="{F02639C1-497E-4ECC-9980-39FDC410916F}" type="presOf" srcId="{A7521F9F-9853-4760-AF04-01C8BE6DE7CA}" destId="{04AA666C-C578-48EA-AE10-51E0CB9A2732}" srcOrd="0" destOrd="0" presId="urn:microsoft.com/office/officeart/2011/layout/CircleProcess"/>
    <dgm:cxn modelId="{6568CBAC-C75B-4919-BF0B-5A7A3D92F013}" type="presParOf" srcId="{04AA666C-C578-48EA-AE10-51E0CB9A2732}" destId="{54CB8B97-3A40-4B7B-9585-391D70D1B2E7}" srcOrd="0" destOrd="0" presId="urn:microsoft.com/office/officeart/2011/layout/CircleProcess"/>
    <dgm:cxn modelId="{EAAD1771-6229-40B9-BA1A-29A3E25A0748}" type="presParOf" srcId="{54CB8B97-3A40-4B7B-9585-391D70D1B2E7}" destId="{9CFC7CA6-F413-4EB9-BC7D-5F9345015BD0}" srcOrd="0" destOrd="0" presId="urn:microsoft.com/office/officeart/2011/layout/CircleProcess"/>
    <dgm:cxn modelId="{359A368F-92BC-4D8F-BE8E-D8DF963AD64C}" type="presParOf" srcId="{04AA666C-C578-48EA-AE10-51E0CB9A2732}" destId="{330BF626-846A-404C-98A2-9CD9561B67B4}" srcOrd="1" destOrd="0" presId="urn:microsoft.com/office/officeart/2011/layout/CircleProcess"/>
    <dgm:cxn modelId="{AB8B1B1C-1A87-487C-84F8-A27D50F889D5}" type="presParOf" srcId="{330BF626-846A-404C-98A2-9CD9561B67B4}" destId="{3819A24E-29CD-47FA-8F77-B27A7A92C7B6}" srcOrd="0" destOrd="0" presId="urn:microsoft.com/office/officeart/2011/layout/CircleProcess"/>
    <dgm:cxn modelId="{3C6B4F51-57E7-4086-8557-2857803BB1D2}" type="presParOf" srcId="{04AA666C-C578-48EA-AE10-51E0CB9A2732}" destId="{A144C653-F3F6-4F5B-B196-13C940068BD6}" srcOrd="2" destOrd="0" presId="urn:microsoft.com/office/officeart/2011/layout/CircleProcess"/>
    <dgm:cxn modelId="{4E7F1C50-90B3-4131-9787-3CD4EE8BC16B}" type="presParOf" srcId="{04AA666C-C578-48EA-AE10-51E0CB9A2732}" destId="{E9C4BACF-EBF8-4935-B06B-6366326CFAA4}" srcOrd="3" destOrd="0" presId="urn:microsoft.com/office/officeart/2011/layout/CircleProcess"/>
    <dgm:cxn modelId="{78C6C656-A457-4699-873F-D717275398E2}" type="presParOf" srcId="{E9C4BACF-EBF8-4935-B06B-6366326CFAA4}" destId="{09794B8C-E734-4AD7-92B7-E8D5CAA1082F}" srcOrd="0" destOrd="0" presId="urn:microsoft.com/office/officeart/2011/layout/CircleProcess"/>
    <dgm:cxn modelId="{356D4670-6C2C-4C96-87D5-C5BECDCFEED6}" type="presParOf" srcId="{04AA666C-C578-48EA-AE10-51E0CB9A2732}" destId="{6AA97FA9-0D80-4397-8D21-A361BDF79ACB}" srcOrd="4" destOrd="0" presId="urn:microsoft.com/office/officeart/2011/layout/CircleProcess"/>
    <dgm:cxn modelId="{F2E4D560-4C46-428C-8BD2-99EE0DC22F96}" type="presParOf" srcId="{6AA97FA9-0D80-4397-8D21-A361BDF79ACB}" destId="{686F1890-877A-4652-9D3B-F479BCA8EE98}" srcOrd="0" destOrd="0" presId="urn:microsoft.com/office/officeart/2011/layout/CircleProcess"/>
    <dgm:cxn modelId="{F255680B-47D2-4912-8170-31E9323447F6}" type="presParOf" srcId="{04AA666C-C578-48EA-AE10-51E0CB9A2732}" destId="{238F6C06-5DF1-4E1A-98A8-0F659B517573}" srcOrd="5" destOrd="0" presId="urn:microsoft.com/office/officeart/2011/layout/CircleProcess"/>
    <dgm:cxn modelId="{D3AAF21A-162E-4C1A-9F86-D83052471EFB}" type="presParOf" srcId="{04AA666C-C578-48EA-AE10-51E0CB9A2732}" destId="{7BE6644B-3AB6-4114-8B52-3F8FEEDB9F5A}" srcOrd="6" destOrd="0" presId="urn:microsoft.com/office/officeart/2011/layout/CircleProcess"/>
    <dgm:cxn modelId="{F995BF75-249B-478F-84C4-8A86302F4C5E}" type="presParOf" srcId="{7BE6644B-3AB6-4114-8B52-3F8FEEDB9F5A}" destId="{33591AED-BB9F-45EE-A325-54945AB29784}" srcOrd="0" destOrd="0" presId="urn:microsoft.com/office/officeart/2011/layout/CircleProcess"/>
    <dgm:cxn modelId="{FD85EF37-A870-4F8E-B8FD-6B5B080736A6}" type="presParOf" srcId="{04AA666C-C578-48EA-AE10-51E0CB9A2732}" destId="{A3755F47-ED94-41ED-9BF8-1C883C62D6FC}" srcOrd="7" destOrd="0" presId="urn:microsoft.com/office/officeart/2011/layout/CircleProcess"/>
    <dgm:cxn modelId="{4683691E-8712-461D-A5B8-4F57ABC4167E}" type="presParOf" srcId="{A3755F47-ED94-41ED-9BF8-1C883C62D6FC}" destId="{EA8B68E1-77F3-4799-AC34-546ABA28C689}" srcOrd="0" destOrd="0" presId="urn:microsoft.com/office/officeart/2011/layout/CircleProcess"/>
    <dgm:cxn modelId="{2026863B-13C1-4E16-B425-7C95B76B0F94}" type="presParOf" srcId="{04AA666C-C578-48EA-AE10-51E0CB9A2732}" destId="{D41CBF9C-D87B-42FA-83CA-C300FE5ECA73}" srcOrd="8" destOrd="0" presId="urn:microsoft.com/office/officeart/2011/layout/CircleProcess"/>
  </dgm:cxnLst>
  <dgm:bg>
    <a:solidFill>
      <a:schemeClr val="accent2">
        <a:lumMod val="20000"/>
        <a:lumOff val="80000"/>
      </a:schemeClr>
    </a:solidFill>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dirty="0"/>
            <a:t>User Features</a:t>
          </a:r>
          <a:endParaRPr lang="en-SG" dirty="0"/>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5D502DEF-62E0-41A6-A245-292CD4B08141}">
      <dgm:prSet/>
      <dgm:spPr/>
      <dgm:t>
        <a:bodyPr/>
        <a:lstStyle/>
        <a:p>
          <a:r>
            <a:rPr lang="en-SG" b="0" dirty="0"/>
            <a:t>Load Trained Models</a:t>
          </a:r>
          <a:endParaRPr lang="en-SG" dirty="0"/>
        </a:p>
      </dgm:t>
    </dgm:pt>
    <dgm:pt modelId="{1C95D010-06D0-47CF-83EE-81250928ABB3}" type="parTrans" cxnId="{BB0D7EB4-2EF8-4201-AF4A-6C30B8A2CA3F}">
      <dgm:prSet/>
      <dgm:spPr/>
      <dgm:t>
        <a:bodyPr/>
        <a:lstStyle/>
        <a:p>
          <a:endParaRPr lang="en-SG"/>
        </a:p>
      </dgm:t>
    </dgm:pt>
    <dgm:pt modelId="{AC7E2760-2504-4C7A-83E3-CAF9F4BA1E45}" type="sibTrans" cxnId="{BB0D7EB4-2EF8-4201-AF4A-6C30B8A2CA3F}">
      <dgm:prSet/>
      <dgm:spPr/>
      <dgm:t>
        <a:bodyPr/>
        <a:lstStyle/>
        <a:p>
          <a:endParaRPr lang="en-SG"/>
        </a:p>
      </dgm:t>
    </dgm:pt>
    <dgm:pt modelId="{0B5B70DB-C372-486F-A52D-26714D56BF44}">
      <dgm:prSet/>
      <dgm:spPr/>
      <dgm:t>
        <a:bodyPr/>
        <a:lstStyle/>
        <a:p>
          <a:r>
            <a:rPr lang="en-SG" dirty="0">
              <a:solidFill>
                <a:schemeClr val="tx1"/>
              </a:solidFill>
            </a:rPr>
            <a:t>Rank with predicted expected value</a:t>
          </a:r>
        </a:p>
        <a:p>
          <a:r>
            <a:rPr lang="en-SG" dirty="0">
              <a:solidFill>
                <a:schemeClr val="tx1"/>
              </a:solidFill>
            </a:rPr>
            <a:t>(User-Level)</a:t>
          </a:r>
        </a:p>
      </dgm:t>
    </dgm:pt>
    <dgm:pt modelId="{4E51C9B7-F398-4309-9C2C-8766F2A1A0CB}" type="parTrans" cxnId="{E347CFAC-3B84-4812-981F-A0AC75794A76}">
      <dgm:prSet/>
      <dgm:spPr/>
      <dgm:t>
        <a:bodyPr/>
        <a:lstStyle/>
        <a:p>
          <a:endParaRPr lang="en-SG"/>
        </a:p>
      </dgm:t>
    </dgm:pt>
    <dgm:pt modelId="{DC3CC174-F385-4928-94AE-004F8649AC5E}" type="sibTrans" cxnId="{E347CFAC-3B84-4812-981F-A0AC75794A76}">
      <dgm:prSet/>
      <dgm:spPr/>
      <dgm:t>
        <a:bodyPr/>
        <a:lstStyle/>
        <a:p>
          <a:endParaRPr lang="en-SG"/>
        </a:p>
      </dgm:t>
    </dgm:pt>
    <dgm:pt modelId="{E878DF7A-3516-4BCB-AA59-99E356A46073}">
      <dgm:prSet/>
      <dgm:spPr/>
      <dgm:t>
        <a:bodyPr/>
        <a:lstStyle/>
        <a:p>
          <a:r>
            <a:rPr lang="en-SG" b="0" dirty="0"/>
            <a:t>Budget-Constrained Optimization (Top K users by EV)</a:t>
          </a:r>
          <a:endParaRPr lang="en-SG" dirty="0"/>
        </a:p>
      </dgm:t>
    </dgm:pt>
    <dgm:pt modelId="{4215D128-B3CD-480F-AA0F-6DDB0B6C6E34}" type="parTrans" cxnId="{74911EB3-CA94-4516-B771-EEBF0B929931}">
      <dgm:prSet/>
      <dgm:spPr/>
      <dgm:t>
        <a:bodyPr/>
        <a:lstStyle/>
        <a:p>
          <a:endParaRPr lang="en-SG"/>
        </a:p>
      </dgm:t>
    </dgm:pt>
    <dgm:pt modelId="{8EDF5DBF-CBE7-4C0D-B13F-D8077C96DF81}" type="sibTrans" cxnId="{74911EB3-CA94-4516-B771-EEBF0B929931}">
      <dgm:prSet/>
      <dgm:spPr/>
      <dgm:t>
        <a:bodyPr/>
        <a:lstStyle/>
        <a:p>
          <a:endParaRPr lang="en-SG"/>
        </a:p>
      </dgm:t>
    </dgm:pt>
    <dgm:pt modelId="{39EB0991-8EB9-4AFD-A2F2-F6E1F254BE25}">
      <dgm:prSet/>
      <dgm:spPr/>
      <dgm:t>
        <a:bodyPr/>
        <a:lstStyle/>
        <a:p>
          <a:r>
            <a:rPr lang="en-SG" b="0" dirty="0"/>
            <a:t>Targeting Decisions</a:t>
          </a:r>
          <a:br>
            <a:rPr lang="en-SG" b="0" dirty="0"/>
          </a:br>
          <a:r>
            <a:rPr lang="en-SG" b="0" dirty="0"/>
            <a:t>(User-level)</a:t>
          </a:r>
          <a:endParaRPr lang="en-SG" dirty="0"/>
        </a:p>
      </dgm:t>
    </dgm:pt>
    <dgm:pt modelId="{E6A12652-9F65-4387-B68E-183EBE605256}" type="parTrans" cxnId="{15C2058C-EC37-4FEA-A703-C93AC5402A2C}">
      <dgm:prSet/>
      <dgm:spPr/>
      <dgm:t>
        <a:bodyPr/>
        <a:lstStyle/>
        <a:p>
          <a:endParaRPr lang="en-SG"/>
        </a:p>
      </dgm:t>
    </dgm:pt>
    <dgm:pt modelId="{EF4950E5-5C98-4D2B-B111-BF6A7726FECB}" type="sibTrans" cxnId="{15C2058C-EC37-4FEA-A703-C93AC5402A2C}">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E0497FB6-15C4-4FDC-9902-04A28841228C}" type="pres">
      <dgm:prSet presAssocID="{39EB0991-8EB9-4AFD-A2F2-F6E1F254BE25}" presName="Accent5" presStyleCnt="0"/>
      <dgm:spPr/>
    </dgm:pt>
    <dgm:pt modelId="{9CFC7CA6-F413-4EB9-BC7D-5F9345015BD0}" type="pres">
      <dgm:prSet presAssocID="{39EB0991-8EB9-4AFD-A2F2-F6E1F254BE25}" presName="Accent" presStyleLbl="node1" presStyleIdx="0" presStyleCnt="5"/>
      <dgm:spPr/>
    </dgm:pt>
    <dgm:pt modelId="{6326EA35-4BDC-4CAD-9D26-2CA3BDECEBC3}" type="pres">
      <dgm:prSet presAssocID="{39EB0991-8EB9-4AFD-A2F2-F6E1F254BE25}" presName="ParentBackground5" presStyleCnt="0"/>
      <dgm:spPr/>
    </dgm:pt>
    <dgm:pt modelId="{3819A24E-29CD-47FA-8F77-B27A7A92C7B6}" type="pres">
      <dgm:prSet presAssocID="{39EB0991-8EB9-4AFD-A2F2-F6E1F254BE25}" presName="ParentBackground" presStyleLbl="fgAcc1" presStyleIdx="0" presStyleCnt="5"/>
      <dgm:spPr/>
    </dgm:pt>
    <dgm:pt modelId="{D4723DF1-3672-4D83-B5AA-1B72537FA52A}" type="pres">
      <dgm:prSet presAssocID="{39EB0991-8EB9-4AFD-A2F2-F6E1F254BE25}" presName="Parent5" presStyleLbl="revTx" presStyleIdx="0" presStyleCnt="0">
        <dgm:presLayoutVars>
          <dgm:chMax val="1"/>
          <dgm:chPref val="1"/>
          <dgm:bulletEnabled val="1"/>
        </dgm:presLayoutVars>
      </dgm:prSet>
      <dgm:spPr/>
    </dgm:pt>
    <dgm:pt modelId="{40B2D8CB-2943-477D-B606-A48C90917FCF}" type="pres">
      <dgm:prSet presAssocID="{E878DF7A-3516-4BCB-AA59-99E356A46073}" presName="Accent4" presStyleCnt="0"/>
      <dgm:spPr/>
    </dgm:pt>
    <dgm:pt modelId="{09794B8C-E734-4AD7-92B7-E8D5CAA1082F}" type="pres">
      <dgm:prSet presAssocID="{E878DF7A-3516-4BCB-AA59-99E356A46073}" presName="Accent" presStyleLbl="node1" presStyleIdx="1" presStyleCnt="5"/>
      <dgm:spPr/>
    </dgm:pt>
    <dgm:pt modelId="{B6E3CE8A-2A67-4904-9692-C0CC1574C74B}" type="pres">
      <dgm:prSet presAssocID="{E878DF7A-3516-4BCB-AA59-99E356A46073}" presName="ParentBackground4" presStyleCnt="0"/>
      <dgm:spPr/>
    </dgm:pt>
    <dgm:pt modelId="{686F1890-877A-4652-9D3B-F479BCA8EE98}" type="pres">
      <dgm:prSet presAssocID="{E878DF7A-3516-4BCB-AA59-99E356A46073}" presName="ParentBackground" presStyleLbl="fgAcc1" presStyleIdx="1" presStyleCnt="5"/>
      <dgm:spPr/>
    </dgm:pt>
    <dgm:pt modelId="{D6A5B592-FA3D-49A8-86FF-AD731361DF05}" type="pres">
      <dgm:prSet presAssocID="{E878DF7A-3516-4BCB-AA59-99E356A46073}" presName="Parent4" presStyleLbl="revTx" presStyleIdx="0" presStyleCnt="0">
        <dgm:presLayoutVars>
          <dgm:chMax val="1"/>
          <dgm:chPref val="1"/>
          <dgm:bulletEnabled val="1"/>
        </dgm:presLayoutVars>
      </dgm:prSet>
      <dgm:spPr/>
    </dgm:pt>
    <dgm:pt modelId="{EFB0D1DF-01AE-412D-951C-CB3056E20CBE}" type="pres">
      <dgm:prSet presAssocID="{0B5B70DB-C372-486F-A52D-26714D56BF44}" presName="Accent3" presStyleCnt="0"/>
      <dgm:spPr/>
    </dgm:pt>
    <dgm:pt modelId="{25459E76-ECB2-469A-B22F-F37E50EF6DD3}" type="pres">
      <dgm:prSet presAssocID="{0B5B70DB-C372-486F-A52D-26714D56BF44}" presName="Accent" presStyleLbl="node1" presStyleIdx="2" presStyleCnt="5"/>
      <dgm:spPr/>
    </dgm:pt>
    <dgm:pt modelId="{01095A79-87B9-4FE1-8ABF-EBB511202101}" type="pres">
      <dgm:prSet presAssocID="{0B5B70DB-C372-486F-A52D-26714D56BF44}" presName="ParentBackground3" presStyleCnt="0"/>
      <dgm:spPr/>
    </dgm:pt>
    <dgm:pt modelId="{A619C011-2C3D-4BDA-A071-9EB29B938D1B}" type="pres">
      <dgm:prSet presAssocID="{0B5B70DB-C372-486F-A52D-26714D56BF44}" presName="ParentBackground" presStyleLbl="fgAcc1" presStyleIdx="2" presStyleCnt="5"/>
      <dgm:spPr/>
    </dgm:pt>
    <dgm:pt modelId="{ED36BA05-6332-44C9-93AA-5A5E6886AF37}" type="pres">
      <dgm:prSet presAssocID="{0B5B70DB-C372-486F-A52D-26714D56BF44}" presName="Parent3" presStyleLbl="revTx" presStyleIdx="0" presStyleCnt="0">
        <dgm:presLayoutVars>
          <dgm:chMax val="1"/>
          <dgm:chPref val="1"/>
          <dgm:bulletEnabled val="1"/>
        </dgm:presLayoutVars>
      </dgm:prSet>
      <dgm:spPr/>
    </dgm:pt>
    <dgm:pt modelId="{3CF456E5-F5FD-4528-8243-622B65B9866B}" type="pres">
      <dgm:prSet presAssocID="{5D502DEF-62E0-41A6-A245-292CD4B08141}" presName="Accent2" presStyleCnt="0"/>
      <dgm:spPr/>
    </dgm:pt>
    <dgm:pt modelId="{9B685F5E-EC48-4AED-83A8-FA1EAAD3CB5E}" type="pres">
      <dgm:prSet presAssocID="{5D502DEF-62E0-41A6-A245-292CD4B08141}" presName="Accent" presStyleLbl="node1" presStyleIdx="3" presStyleCnt="5"/>
      <dgm:spPr/>
    </dgm:pt>
    <dgm:pt modelId="{30E6BC21-346D-4C7F-9172-E48AC169FDA1}" type="pres">
      <dgm:prSet presAssocID="{5D502DEF-62E0-41A6-A245-292CD4B08141}" presName="ParentBackground2" presStyleCnt="0"/>
      <dgm:spPr/>
    </dgm:pt>
    <dgm:pt modelId="{C6208838-7D36-4C1A-AA9D-018450FCCE94}" type="pres">
      <dgm:prSet presAssocID="{5D502DEF-62E0-41A6-A245-292CD4B08141}" presName="ParentBackground" presStyleLbl="fgAcc1" presStyleIdx="3" presStyleCnt="5"/>
      <dgm:spPr/>
    </dgm:pt>
    <dgm:pt modelId="{838045ED-ED1F-4BA0-81B4-67B6491738FA}" type="pres">
      <dgm:prSet presAssocID="{5D502DEF-62E0-41A6-A245-292CD4B08141}"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4" presStyleCnt="5"/>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4" presStyleCnt="5"/>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AD6C1011-09E6-4A4D-B50F-0469179033C4}" type="presOf" srcId="{0B5B70DB-C372-486F-A52D-26714D56BF44}" destId="{ED36BA05-6332-44C9-93AA-5A5E6886AF37}" srcOrd="1" destOrd="0" presId="urn:microsoft.com/office/officeart/2011/layout/CircleProcess"/>
    <dgm:cxn modelId="{FB799628-552C-40F2-8C5F-57CE1632EB2B}" type="presOf" srcId="{3AEE3E50-0B70-4E20-8A23-DF2C94A810C5}" destId="{D41CBF9C-D87B-42FA-83CA-C300FE5ECA73}"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F40C4072-400B-4495-B52D-29C2644F5EE9}" type="presOf" srcId="{5D502DEF-62E0-41A6-A245-292CD4B08141}" destId="{C6208838-7D36-4C1A-AA9D-018450FCCE94}" srcOrd="0" destOrd="0" presId="urn:microsoft.com/office/officeart/2011/layout/CircleProcess"/>
    <dgm:cxn modelId="{DA1DDE82-A5E1-488F-A741-B86D4EB01B5E}" type="presOf" srcId="{5D502DEF-62E0-41A6-A245-292CD4B08141}" destId="{838045ED-ED1F-4BA0-81B4-67B6491738FA}" srcOrd="1" destOrd="0" presId="urn:microsoft.com/office/officeart/2011/layout/CircleProcess"/>
    <dgm:cxn modelId="{15C2058C-EC37-4FEA-A703-C93AC5402A2C}" srcId="{A7521F9F-9853-4760-AF04-01C8BE6DE7CA}" destId="{39EB0991-8EB9-4AFD-A2F2-F6E1F254BE25}" srcOrd="4" destOrd="0" parTransId="{E6A12652-9F65-4387-B68E-183EBE605256}" sibTransId="{EF4950E5-5C98-4D2B-B111-BF6A7726FECB}"/>
    <dgm:cxn modelId="{37E4DA9E-008F-4CC4-BDEF-9C20111F8900}" type="presOf" srcId="{0B5B70DB-C372-486F-A52D-26714D56BF44}" destId="{A619C011-2C3D-4BDA-A071-9EB29B938D1B}" srcOrd="0" destOrd="0" presId="urn:microsoft.com/office/officeart/2011/layout/CircleProcess"/>
    <dgm:cxn modelId="{5F1A60A1-7C62-4B8E-A0D5-C4DEE22B3D63}" type="presOf" srcId="{3AEE3E50-0B70-4E20-8A23-DF2C94A810C5}" destId="{EA8B68E1-77F3-4799-AC34-546ABA28C689}" srcOrd="0" destOrd="0" presId="urn:microsoft.com/office/officeart/2011/layout/CircleProcess"/>
    <dgm:cxn modelId="{E347CFAC-3B84-4812-981F-A0AC75794A76}" srcId="{A7521F9F-9853-4760-AF04-01C8BE6DE7CA}" destId="{0B5B70DB-C372-486F-A52D-26714D56BF44}" srcOrd="2" destOrd="0" parTransId="{4E51C9B7-F398-4309-9C2C-8766F2A1A0CB}" sibTransId="{DC3CC174-F385-4928-94AE-004F8649AC5E}"/>
    <dgm:cxn modelId="{74911EB3-CA94-4516-B771-EEBF0B929931}" srcId="{A7521F9F-9853-4760-AF04-01C8BE6DE7CA}" destId="{E878DF7A-3516-4BCB-AA59-99E356A46073}" srcOrd="3" destOrd="0" parTransId="{4215D128-B3CD-480F-AA0F-6DDB0B6C6E34}" sibTransId="{8EDF5DBF-CBE7-4C0D-B13F-D8077C96DF81}"/>
    <dgm:cxn modelId="{BB0D7EB4-2EF8-4201-AF4A-6C30B8A2CA3F}" srcId="{A7521F9F-9853-4760-AF04-01C8BE6DE7CA}" destId="{5D502DEF-62E0-41A6-A245-292CD4B08141}" srcOrd="1" destOrd="0" parTransId="{1C95D010-06D0-47CF-83EE-81250928ABB3}" sibTransId="{AC7E2760-2504-4C7A-83E3-CAF9F4BA1E45}"/>
    <dgm:cxn modelId="{F824BDB5-D208-4FEE-8FF7-936311CAFADE}" type="presOf" srcId="{E878DF7A-3516-4BCB-AA59-99E356A46073}" destId="{D6A5B592-FA3D-49A8-86FF-AD731361DF05}" srcOrd="1" destOrd="0" presId="urn:microsoft.com/office/officeart/2011/layout/CircleProcess"/>
    <dgm:cxn modelId="{AB5A45C0-3544-4AC4-A160-D55E9E62EDAD}" type="presOf" srcId="{39EB0991-8EB9-4AFD-A2F2-F6E1F254BE25}" destId="{3819A24E-29CD-47FA-8F77-B27A7A92C7B6}" srcOrd="0" destOrd="0" presId="urn:microsoft.com/office/officeart/2011/layout/CircleProcess"/>
    <dgm:cxn modelId="{F02639C1-497E-4ECC-9980-39FDC410916F}" type="presOf" srcId="{A7521F9F-9853-4760-AF04-01C8BE6DE7CA}" destId="{04AA666C-C578-48EA-AE10-51E0CB9A2732}" srcOrd="0" destOrd="0" presId="urn:microsoft.com/office/officeart/2011/layout/CircleProcess"/>
    <dgm:cxn modelId="{3DDF77CB-F05B-4FDB-B65D-81F9FE32A288}" type="presOf" srcId="{39EB0991-8EB9-4AFD-A2F2-F6E1F254BE25}" destId="{D4723DF1-3672-4D83-B5AA-1B72537FA52A}" srcOrd="1" destOrd="0" presId="urn:microsoft.com/office/officeart/2011/layout/CircleProcess"/>
    <dgm:cxn modelId="{00F81EE8-B86C-4BBA-A20B-BE18535099DF}" type="presOf" srcId="{E878DF7A-3516-4BCB-AA59-99E356A46073}" destId="{686F1890-877A-4652-9D3B-F479BCA8EE98}" srcOrd="0" destOrd="0" presId="urn:microsoft.com/office/officeart/2011/layout/CircleProcess"/>
    <dgm:cxn modelId="{71FF933F-148F-485E-B8E0-0FC67277E1B3}" type="presParOf" srcId="{04AA666C-C578-48EA-AE10-51E0CB9A2732}" destId="{E0497FB6-15C4-4FDC-9902-04A28841228C}" srcOrd="0" destOrd="0" presId="urn:microsoft.com/office/officeart/2011/layout/CircleProcess"/>
    <dgm:cxn modelId="{9205F8F9-A5D3-46EC-AC74-A8DE7011B27A}" type="presParOf" srcId="{E0497FB6-15C4-4FDC-9902-04A28841228C}" destId="{9CFC7CA6-F413-4EB9-BC7D-5F9345015BD0}" srcOrd="0" destOrd="0" presId="urn:microsoft.com/office/officeart/2011/layout/CircleProcess"/>
    <dgm:cxn modelId="{A781ECA4-48BF-49D7-A35E-4173CEC01B6F}" type="presParOf" srcId="{04AA666C-C578-48EA-AE10-51E0CB9A2732}" destId="{6326EA35-4BDC-4CAD-9D26-2CA3BDECEBC3}" srcOrd="1" destOrd="0" presId="urn:microsoft.com/office/officeart/2011/layout/CircleProcess"/>
    <dgm:cxn modelId="{D9651285-2E2E-48E4-88B8-0012BA498CDE}" type="presParOf" srcId="{6326EA35-4BDC-4CAD-9D26-2CA3BDECEBC3}" destId="{3819A24E-29CD-47FA-8F77-B27A7A92C7B6}" srcOrd="0" destOrd="0" presId="urn:microsoft.com/office/officeart/2011/layout/CircleProcess"/>
    <dgm:cxn modelId="{2141F2B3-9021-4D1F-BE91-7868F5BE2609}" type="presParOf" srcId="{04AA666C-C578-48EA-AE10-51E0CB9A2732}" destId="{D4723DF1-3672-4D83-B5AA-1B72537FA52A}" srcOrd="2" destOrd="0" presId="urn:microsoft.com/office/officeart/2011/layout/CircleProcess"/>
    <dgm:cxn modelId="{E9D3A59C-C925-4C1F-BC57-080944345065}" type="presParOf" srcId="{04AA666C-C578-48EA-AE10-51E0CB9A2732}" destId="{40B2D8CB-2943-477D-B606-A48C90917FCF}" srcOrd="3" destOrd="0" presId="urn:microsoft.com/office/officeart/2011/layout/CircleProcess"/>
    <dgm:cxn modelId="{538DD099-FEFD-4E49-BDCC-898A9A003526}" type="presParOf" srcId="{40B2D8CB-2943-477D-B606-A48C90917FCF}" destId="{09794B8C-E734-4AD7-92B7-E8D5CAA1082F}" srcOrd="0" destOrd="0" presId="urn:microsoft.com/office/officeart/2011/layout/CircleProcess"/>
    <dgm:cxn modelId="{84FE941E-7105-424F-8FEE-B3708D2C0D1D}" type="presParOf" srcId="{04AA666C-C578-48EA-AE10-51E0CB9A2732}" destId="{B6E3CE8A-2A67-4904-9692-C0CC1574C74B}" srcOrd="4" destOrd="0" presId="urn:microsoft.com/office/officeart/2011/layout/CircleProcess"/>
    <dgm:cxn modelId="{221C3999-23A1-4439-A58F-BD54B839E416}" type="presParOf" srcId="{B6E3CE8A-2A67-4904-9692-C0CC1574C74B}" destId="{686F1890-877A-4652-9D3B-F479BCA8EE98}" srcOrd="0" destOrd="0" presId="urn:microsoft.com/office/officeart/2011/layout/CircleProcess"/>
    <dgm:cxn modelId="{92D0E682-C67D-42F5-949D-AE7362580FFA}" type="presParOf" srcId="{04AA666C-C578-48EA-AE10-51E0CB9A2732}" destId="{D6A5B592-FA3D-49A8-86FF-AD731361DF05}" srcOrd="5" destOrd="0" presId="urn:microsoft.com/office/officeart/2011/layout/CircleProcess"/>
    <dgm:cxn modelId="{1C702618-8514-4424-BDEF-270599E69135}" type="presParOf" srcId="{04AA666C-C578-48EA-AE10-51E0CB9A2732}" destId="{EFB0D1DF-01AE-412D-951C-CB3056E20CBE}" srcOrd="6" destOrd="0" presId="urn:microsoft.com/office/officeart/2011/layout/CircleProcess"/>
    <dgm:cxn modelId="{473395FC-959C-4924-B15B-CC08402E0F9C}" type="presParOf" srcId="{EFB0D1DF-01AE-412D-951C-CB3056E20CBE}" destId="{25459E76-ECB2-469A-B22F-F37E50EF6DD3}" srcOrd="0" destOrd="0" presId="urn:microsoft.com/office/officeart/2011/layout/CircleProcess"/>
    <dgm:cxn modelId="{933AE640-2E0F-4278-8D43-1672FB213DBF}" type="presParOf" srcId="{04AA666C-C578-48EA-AE10-51E0CB9A2732}" destId="{01095A79-87B9-4FE1-8ABF-EBB511202101}" srcOrd="7" destOrd="0" presId="urn:microsoft.com/office/officeart/2011/layout/CircleProcess"/>
    <dgm:cxn modelId="{24BA541C-CD9D-4D14-806C-87CA4C368A14}" type="presParOf" srcId="{01095A79-87B9-4FE1-8ABF-EBB511202101}" destId="{A619C011-2C3D-4BDA-A071-9EB29B938D1B}" srcOrd="0" destOrd="0" presId="urn:microsoft.com/office/officeart/2011/layout/CircleProcess"/>
    <dgm:cxn modelId="{A8CFC4B0-651C-42BD-826F-E6C597FA5BEF}" type="presParOf" srcId="{04AA666C-C578-48EA-AE10-51E0CB9A2732}" destId="{ED36BA05-6332-44C9-93AA-5A5E6886AF37}" srcOrd="8" destOrd="0" presId="urn:microsoft.com/office/officeart/2011/layout/CircleProcess"/>
    <dgm:cxn modelId="{479713B9-A341-4B9F-9B1F-3B33E6D50EFC}" type="presParOf" srcId="{04AA666C-C578-48EA-AE10-51E0CB9A2732}" destId="{3CF456E5-F5FD-4528-8243-622B65B9866B}" srcOrd="9" destOrd="0" presId="urn:microsoft.com/office/officeart/2011/layout/CircleProcess"/>
    <dgm:cxn modelId="{7F3F1DD1-7FE7-4EFA-8C45-3885354B35BB}" type="presParOf" srcId="{3CF456E5-F5FD-4528-8243-622B65B9866B}" destId="{9B685F5E-EC48-4AED-83A8-FA1EAAD3CB5E}" srcOrd="0" destOrd="0" presId="urn:microsoft.com/office/officeart/2011/layout/CircleProcess"/>
    <dgm:cxn modelId="{DCB9562F-3A4F-4097-A547-2B9FE02946D5}" type="presParOf" srcId="{04AA666C-C578-48EA-AE10-51E0CB9A2732}" destId="{30E6BC21-346D-4C7F-9172-E48AC169FDA1}" srcOrd="10" destOrd="0" presId="urn:microsoft.com/office/officeart/2011/layout/CircleProcess"/>
    <dgm:cxn modelId="{D08A03FC-CC6D-479C-8689-3910616B6AB1}" type="presParOf" srcId="{30E6BC21-346D-4C7F-9172-E48AC169FDA1}" destId="{C6208838-7D36-4C1A-AA9D-018450FCCE94}" srcOrd="0" destOrd="0" presId="urn:microsoft.com/office/officeart/2011/layout/CircleProcess"/>
    <dgm:cxn modelId="{C674864A-4EA1-4361-8A52-1ED0C6BAC538}" type="presParOf" srcId="{04AA666C-C578-48EA-AE10-51E0CB9A2732}" destId="{838045ED-ED1F-4BA0-81B4-67B6491738FA}" srcOrd="11" destOrd="0" presId="urn:microsoft.com/office/officeart/2011/layout/CircleProcess"/>
    <dgm:cxn modelId="{64229E5B-833E-44CB-B4A5-D77C8ACF29F3}" type="presParOf" srcId="{04AA666C-C578-48EA-AE10-51E0CB9A2732}" destId="{7BE6644B-3AB6-4114-8B52-3F8FEEDB9F5A}" srcOrd="12" destOrd="0" presId="urn:microsoft.com/office/officeart/2011/layout/CircleProcess"/>
    <dgm:cxn modelId="{55CD613F-347B-4436-B147-5F5F60638C14}" type="presParOf" srcId="{7BE6644B-3AB6-4114-8B52-3F8FEEDB9F5A}" destId="{33591AED-BB9F-45EE-A325-54945AB29784}" srcOrd="0" destOrd="0" presId="urn:microsoft.com/office/officeart/2011/layout/CircleProcess"/>
    <dgm:cxn modelId="{79B4C0FD-A8C4-4B78-A1E0-589B90B49C4C}" type="presParOf" srcId="{04AA666C-C578-48EA-AE10-51E0CB9A2732}" destId="{A3755F47-ED94-41ED-9BF8-1C883C62D6FC}" srcOrd="13" destOrd="0" presId="urn:microsoft.com/office/officeart/2011/layout/CircleProcess"/>
    <dgm:cxn modelId="{26850AEF-94FC-4DB5-929A-8044EE79EF2F}" type="presParOf" srcId="{A3755F47-ED94-41ED-9BF8-1C883C62D6FC}" destId="{EA8B68E1-77F3-4799-AC34-546ABA28C689}" srcOrd="0" destOrd="0" presId="urn:microsoft.com/office/officeart/2011/layout/CircleProcess"/>
    <dgm:cxn modelId="{BC3CB2F7-4B47-42BE-9A17-241AB537D1FA}" type="presParOf" srcId="{04AA666C-C578-48EA-AE10-51E0CB9A2732}" destId="{D41CBF9C-D87B-42FA-83CA-C300FE5ECA73}" srcOrd="14" destOrd="0" presId="urn:microsoft.com/office/officeart/2011/layout/CircleProcess"/>
  </dgm:cxnLst>
  <dgm:bg>
    <a:solidFill>
      <a:schemeClr val="accent6">
        <a:lumMod val="20000"/>
        <a:lumOff val="80000"/>
      </a:schemeClr>
    </a:solidFill>
  </dgm:bg>
  <dgm:whole/>
  <dgm:extLst>
    <a:ext uri="http://schemas.microsoft.com/office/drawing/2008/diagram">
      <dsp:dataModelExt xmlns:dsp="http://schemas.microsoft.com/office/drawing/2008/diagram" relId="rId12"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i="0" dirty="0"/>
            <a:t>Feature Store</a:t>
          </a:r>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39EB0991-8EB9-4AFD-A2F2-F6E1F254BE25}">
      <dgm:prSet/>
      <dgm:spPr/>
      <dgm:t>
        <a:bodyPr/>
        <a:lstStyle/>
        <a:p>
          <a:r>
            <a:rPr lang="en-SG" b="0" dirty="0"/>
            <a:t>Two-Tower Model Training (Collaborative Filtering)</a:t>
          </a:r>
          <a:endParaRPr lang="en-SG" dirty="0"/>
        </a:p>
      </dgm:t>
    </dgm:pt>
    <dgm:pt modelId="{E6A12652-9F65-4387-B68E-183EBE605256}" type="parTrans" cxnId="{15C2058C-EC37-4FEA-A703-C93AC5402A2C}">
      <dgm:prSet/>
      <dgm:spPr/>
      <dgm:t>
        <a:bodyPr/>
        <a:lstStyle/>
        <a:p>
          <a:endParaRPr lang="en-SG"/>
        </a:p>
      </dgm:t>
    </dgm:pt>
    <dgm:pt modelId="{EF4950E5-5C98-4D2B-B111-BF6A7726FECB}" type="sibTrans" cxnId="{15C2058C-EC37-4FEA-A703-C93AC5402A2C}">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CC6EAF1E-7E1F-4C33-B430-807083E89947}" type="pres">
      <dgm:prSet presAssocID="{39EB0991-8EB9-4AFD-A2F2-F6E1F254BE25}" presName="Accent2" presStyleCnt="0"/>
      <dgm:spPr/>
    </dgm:pt>
    <dgm:pt modelId="{9CFC7CA6-F413-4EB9-BC7D-5F9345015BD0}" type="pres">
      <dgm:prSet presAssocID="{39EB0991-8EB9-4AFD-A2F2-F6E1F254BE25}" presName="Accent" presStyleLbl="node1" presStyleIdx="0" presStyleCnt="2"/>
      <dgm:spPr/>
    </dgm:pt>
    <dgm:pt modelId="{539D53E9-0047-4EEA-AE61-B55550B077B8}" type="pres">
      <dgm:prSet presAssocID="{39EB0991-8EB9-4AFD-A2F2-F6E1F254BE25}" presName="ParentBackground2" presStyleCnt="0"/>
      <dgm:spPr/>
    </dgm:pt>
    <dgm:pt modelId="{3819A24E-29CD-47FA-8F77-B27A7A92C7B6}" type="pres">
      <dgm:prSet presAssocID="{39EB0991-8EB9-4AFD-A2F2-F6E1F254BE25}" presName="ParentBackground" presStyleLbl="fgAcc1" presStyleIdx="0" presStyleCnt="2"/>
      <dgm:spPr/>
    </dgm:pt>
    <dgm:pt modelId="{372BC7BB-FCD7-4421-B869-B22ABA269ECD}" type="pres">
      <dgm:prSet presAssocID="{39EB0991-8EB9-4AFD-A2F2-F6E1F254BE25}"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1" presStyleCnt="2"/>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1" presStyleCnt="2"/>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782C8628-4FB5-44B2-9AF4-F888684B236A}" type="presOf" srcId="{3AEE3E50-0B70-4E20-8A23-DF2C94A810C5}" destId="{D41CBF9C-D87B-42FA-83CA-C300FE5ECA73}"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5C426659-FB7B-4F4F-94BA-0971C81FF64C}" type="presOf" srcId="{39EB0991-8EB9-4AFD-A2F2-F6E1F254BE25}" destId="{372BC7BB-FCD7-4421-B869-B22ABA269ECD}" srcOrd="1" destOrd="0" presId="urn:microsoft.com/office/officeart/2011/layout/CircleProcess"/>
    <dgm:cxn modelId="{15C2058C-EC37-4FEA-A703-C93AC5402A2C}" srcId="{A7521F9F-9853-4760-AF04-01C8BE6DE7CA}" destId="{39EB0991-8EB9-4AFD-A2F2-F6E1F254BE25}" srcOrd="1" destOrd="0" parTransId="{E6A12652-9F65-4387-B68E-183EBE605256}" sibTransId="{EF4950E5-5C98-4D2B-B111-BF6A7726FECB}"/>
    <dgm:cxn modelId="{4B811FAE-2010-4EFA-A284-2F344A710485}" type="presOf" srcId="{39EB0991-8EB9-4AFD-A2F2-F6E1F254BE25}" destId="{3819A24E-29CD-47FA-8F77-B27A7A92C7B6}" srcOrd="0" destOrd="0" presId="urn:microsoft.com/office/officeart/2011/layout/CircleProcess"/>
    <dgm:cxn modelId="{F02639C1-497E-4ECC-9980-39FDC410916F}" type="presOf" srcId="{A7521F9F-9853-4760-AF04-01C8BE6DE7CA}" destId="{04AA666C-C578-48EA-AE10-51E0CB9A2732}" srcOrd="0" destOrd="0" presId="urn:microsoft.com/office/officeart/2011/layout/CircleProcess"/>
    <dgm:cxn modelId="{90AD75F4-1550-4115-903C-2B291FE67C48}" type="presOf" srcId="{3AEE3E50-0B70-4E20-8A23-DF2C94A810C5}" destId="{EA8B68E1-77F3-4799-AC34-546ABA28C689}" srcOrd="0" destOrd="0" presId="urn:microsoft.com/office/officeart/2011/layout/CircleProcess"/>
    <dgm:cxn modelId="{9E2286CA-F296-4D37-9675-B9A2F6A57142}" type="presParOf" srcId="{04AA666C-C578-48EA-AE10-51E0CB9A2732}" destId="{CC6EAF1E-7E1F-4C33-B430-807083E89947}" srcOrd="0" destOrd="0" presId="urn:microsoft.com/office/officeart/2011/layout/CircleProcess"/>
    <dgm:cxn modelId="{C013F972-D3A6-4434-B34E-A54FAAD1F727}" type="presParOf" srcId="{CC6EAF1E-7E1F-4C33-B430-807083E89947}" destId="{9CFC7CA6-F413-4EB9-BC7D-5F9345015BD0}" srcOrd="0" destOrd="0" presId="urn:microsoft.com/office/officeart/2011/layout/CircleProcess"/>
    <dgm:cxn modelId="{84AA7E74-F861-4166-AFF3-89E4F81AC1ED}" type="presParOf" srcId="{04AA666C-C578-48EA-AE10-51E0CB9A2732}" destId="{539D53E9-0047-4EEA-AE61-B55550B077B8}" srcOrd="1" destOrd="0" presId="urn:microsoft.com/office/officeart/2011/layout/CircleProcess"/>
    <dgm:cxn modelId="{8B8D85DC-7CA7-430F-B970-DF6E08CCDEE0}" type="presParOf" srcId="{539D53E9-0047-4EEA-AE61-B55550B077B8}" destId="{3819A24E-29CD-47FA-8F77-B27A7A92C7B6}" srcOrd="0" destOrd="0" presId="urn:microsoft.com/office/officeart/2011/layout/CircleProcess"/>
    <dgm:cxn modelId="{CECFF7B2-FA90-4588-AF8B-16DEBCDCF1CF}" type="presParOf" srcId="{04AA666C-C578-48EA-AE10-51E0CB9A2732}" destId="{372BC7BB-FCD7-4421-B869-B22ABA269ECD}" srcOrd="2" destOrd="0" presId="urn:microsoft.com/office/officeart/2011/layout/CircleProcess"/>
    <dgm:cxn modelId="{D717A9FA-05C3-4782-AA8B-AEDC5B38058A}" type="presParOf" srcId="{04AA666C-C578-48EA-AE10-51E0CB9A2732}" destId="{7BE6644B-3AB6-4114-8B52-3F8FEEDB9F5A}" srcOrd="3" destOrd="0" presId="urn:microsoft.com/office/officeart/2011/layout/CircleProcess"/>
    <dgm:cxn modelId="{3D987564-C02C-4FC2-9B81-8F64BDE21665}" type="presParOf" srcId="{7BE6644B-3AB6-4114-8B52-3F8FEEDB9F5A}" destId="{33591AED-BB9F-45EE-A325-54945AB29784}" srcOrd="0" destOrd="0" presId="urn:microsoft.com/office/officeart/2011/layout/CircleProcess"/>
    <dgm:cxn modelId="{3AA20A3F-8856-4B82-A6E1-A911CD5A1B1B}" type="presParOf" srcId="{04AA666C-C578-48EA-AE10-51E0CB9A2732}" destId="{A3755F47-ED94-41ED-9BF8-1C883C62D6FC}" srcOrd="4" destOrd="0" presId="urn:microsoft.com/office/officeart/2011/layout/CircleProcess"/>
    <dgm:cxn modelId="{F35F4821-18D5-470D-BD7D-31E2256B6711}" type="presParOf" srcId="{A3755F47-ED94-41ED-9BF8-1C883C62D6FC}" destId="{EA8B68E1-77F3-4799-AC34-546ABA28C689}" srcOrd="0" destOrd="0" presId="urn:microsoft.com/office/officeart/2011/layout/CircleProcess"/>
    <dgm:cxn modelId="{A80286B2-07C1-4CBC-B3A5-13997F3EBCD1}" type="presParOf" srcId="{04AA666C-C578-48EA-AE10-51E0CB9A2732}" destId="{D41CBF9C-D87B-42FA-83CA-C300FE5ECA73}" srcOrd="5" destOrd="0" presId="urn:microsoft.com/office/officeart/2011/layout/CircleProcess"/>
  </dgm:cxnLst>
  <dgm:bg>
    <a:solidFill>
      <a:schemeClr val="accent2">
        <a:lumMod val="20000"/>
        <a:lumOff val="80000"/>
      </a:schemeClr>
    </a:solidFill>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dirty="0"/>
            <a:t>User Embedding</a:t>
          </a:r>
          <a:endParaRPr lang="en-SG" dirty="0"/>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5D502DEF-62E0-41A6-A245-292CD4B08141}">
      <dgm:prSet/>
      <dgm:spPr/>
      <dgm:t>
        <a:bodyPr/>
        <a:lstStyle/>
        <a:p>
          <a:pPr>
            <a:buNone/>
          </a:pPr>
          <a:r>
            <a:rPr lang="en-SG" dirty="0"/>
            <a:t>Cosine Similarity (via L2-normalized embeddings)</a:t>
          </a:r>
        </a:p>
      </dgm:t>
    </dgm:pt>
    <dgm:pt modelId="{1C95D010-06D0-47CF-83EE-81250928ABB3}" type="parTrans" cxnId="{BB0D7EB4-2EF8-4201-AF4A-6C30B8A2CA3F}">
      <dgm:prSet/>
      <dgm:spPr/>
      <dgm:t>
        <a:bodyPr/>
        <a:lstStyle/>
        <a:p>
          <a:endParaRPr lang="en-SG"/>
        </a:p>
      </dgm:t>
    </dgm:pt>
    <dgm:pt modelId="{AC7E2760-2504-4C7A-83E3-CAF9F4BA1E45}" type="sibTrans" cxnId="{BB0D7EB4-2EF8-4201-AF4A-6C30B8A2CA3F}">
      <dgm:prSet/>
      <dgm:spPr/>
      <dgm:t>
        <a:bodyPr/>
        <a:lstStyle/>
        <a:p>
          <a:endParaRPr lang="en-SG"/>
        </a:p>
      </dgm:t>
    </dgm:pt>
    <dgm:pt modelId="{0B5B70DB-C372-486F-A52D-26714D56BF44}">
      <dgm:prSet/>
      <dgm:spPr/>
      <dgm:t>
        <a:bodyPr/>
        <a:lstStyle/>
        <a:p>
          <a:r>
            <a:rPr lang="en-SG" b="0" dirty="0"/>
            <a:t>Top-K Retrieval (via ANN index, e.g., FAISS)</a:t>
          </a:r>
          <a:endParaRPr lang="en-SG" dirty="0"/>
        </a:p>
      </dgm:t>
    </dgm:pt>
    <dgm:pt modelId="{4E51C9B7-F398-4309-9C2C-8766F2A1A0CB}" type="parTrans" cxnId="{E347CFAC-3B84-4812-981F-A0AC75794A76}">
      <dgm:prSet/>
      <dgm:spPr/>
      <dgm:t>
        <a:bodyPr/>
        <a:lstStyle/>
        <a:p>
          <a:endParaRPr lang="en-SG"/>
        </a:p>
      </dgm:t>
    </dgm:pt>
    <dgm:pt modelId="{DC3CC174-F385-4928-94AE-004F8649AC5E}" type="sibTrans" cxnId="{E347CFAC-3B84-4812-981F-A0AC75794A76}">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EFB0D1DF-01AE-412D-951C-CB3056E20CBE}" type="pres">
      <dgm:prSet presAssocID="{0B5B70DB-C372-486F-A52D-26714D56BF44}" presName="Accent3" presStyleCnt="0"/>
      <dgm:spPr/>
    </dgm:pt>
    <dgm:pt modelId="{25459E76-ECB2-469A-B22F-F37E50EF6DD3}" type="pres">
      <dgm:prSet presAssocID="{0B5B70DB-C372-486F-A52D-26714D56BF44}" presName="Accent" presStyleLbl="node1" presStyleIdx="0" presStyleCnt="3"/>
      <dgm:spPr/>
    </dgm:pt>
    <dgm:pt modelId="{01095A79-87B9-4FE1-8ABF-EBB511202101}" type="pres">
      <dgm:prSet presAssocID="{0B5B70DB-C372-486F-A52D-26714D56BF44}" presName="ParentBackground3" presStyleCnt="0"/>
      <dgm:spPr/>
    </dgm:pt>
    <dgm:pt modelId="{A619C011-2C3D-4BDA-A071-9EB29B938D1B}" type="pres">
      <dgm:prSet presAssocID="{0B5B70DB-C372-486F-A52D-26714D56BF44}" presName="ParentBackground" presStyleLbl="fgAcc1" presStyleIdx="0" presStyleCnt="3"/>
      <dgm:spPr/>
    </dgm:pt>
    <dgm:pt modelId="{ED36BA05-6332-44C9-93AA-5A5E6886AF37}" type="pres">
      <dgm:prSet presAssocID="{0B5B70DB-C372-486F-A52D-26714D56BF44}" presName="Parent3" presStyleLbl="revTx" presStyleIdx="0" presStyleCnt="0">
        <dgm:presLayoutVars>
          <dgm:chMax val="1"/>
          <dgm:chPref val="1"/>
          <dgm:bulletEnabled val="1"/>
        </dgm:presLayoutVars>
      </dgm:prSet>
      <dgm:spPr/>
    </dgm:pt>
    <dgm:pt modelId="{3CF456E5-F5FD-4528-8243-622B65B9866B}" type="pres">
      <dgm:prSet presAssocID="{5D502DEF-62E0-41A6-A245-292CD4B08141}" presName="Accent2" presStyleCnt="0"/>
      <dgm:spPr/>
    </dgm:pt>
    <dgm:pt modelId="{9B685F5E-EC48-4AED-83A8-FA1EAAD3CB5E}" type="pres">
      <dgm:prSet presAssocID="{5D502DEF-62E0-41A6-A245-292CD4B08141}" presName="Accent" presStyleLbl="node1" presStyleIdx="1" presStyleCnt="3"/>
      <dgm:spPr/>
    </dgm:pt>
    <dgm:pt modelId="{30E6BC21-346D-4C7F-9172-E48AC169FDA1}" type="pres">
      <dgm:prSet presAssocID="{5D502DEF-62E0-41A6-A245-292CD4B08141}" presName="ParentBackground2" presStyleCnt="0"/>
      <dgm:spPr/>
    </dgm:pt>
    <dgm:pt modelId="{C6208838-7D36-4C1A-AA9D-018450FCCE94}" type="pres">
      <dgm:prSet presAssocID="{5D502DEF-62E0-41A6-A245-292CD4B08141}" presName="ParentBackground" presStyleLbl="fgAcc1" presStyleIdx="1" presStyleCnt="3"/>
      <dgm:spPr/>
    </dgm:pt>
    <dgm:pt modelId="{838045ED-ED1F-4BA0-81B4-67B6491738FA}" type="pres">
      <dgm:prSet presAssocID="{5D502DEF-62E0-41A6-A245-292CD4B08141}"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2" presStyleCnt="3"/>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2" presStyleCnt="3"/>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AD6C1011-09E6-4A4D-B50F-0469179033C4}" type="presOf" srcId="{0B5B70DB-C372-486F-A52D-26714D56BF44}" destId="{ED36BA05-6332-44C9-93AA-5A5E6886AF37}" srcOrd="1" destOrd="0" presId="urn:microsoft.com/office/officeart/2011/layout/CircleProcess"/>
    <dgm:cxn modelId="{FB799628-552C-40F2-8C5F-57CE1632EB2B}" type="presOf" srcId="{3AEE3E50-0B70-4E20-8A23-DF2C94A810C5}" destId="{D41CBF9C-D87B-42FA-83CA-C300FE5ECA73}"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F40C4072-400B-4495-B52D-29C2644F5EE9}" type="presOf" srcId="{5D502DEF-62E0-41A6-A245-292CD4B08141}" destId="{C6208838-7D36-4C1A-AA9D-018450FCCE94}" srcOrd="0" destOrd="0" presId="urn:microsoft.com/office/officeart/2011/layout/CircleProcess"/>
    <dgm:cxn modelId="{DA1DDE82-A5E1-488F-A741-B86D4EB01B5E}" type="presOf" srcId="{5D502DEF-62E0-41A6-A245-292CD4B08141}" destId="{838045ED-ED1F-4BA0-81B4-67B6491738FA}" srcOrd="1" destOrd="0" presId="urn:microsoft.com/office/officeart/2011/layout/CircleProcess"/>
    <dgm:cxn modelId="{37E4DA9E-008F-4CC4-BDEF-9C20111F8900}" type="presOf" srcId="{0B5B70DB-C372-486F-A52D-26714D56BF44}" destId="{A619C011-2C3D-4BDA-A071-9EB29B938D1B}" srcOrd="0" destOrd="0" presId="urn:microsoft.com/office/officeart/2011/layout/CircleProcess"/>
    <dgm:cxn modelId="{5F1A60A1-7C62-4B8E-A0D5-C4DEE22B3D63}" type="presOf" srcId="{3AEE3E50-0B70-4E20-8A23-DF2C94A810C5}" destId="{EA8B68E1-77F3-4799-AC34-546ABA28C689}" srcOrd="0" destOrd="0" presId="urn:microsoft.com/office/officeart/2011/layout/CircleProcess"/>
    <dgm:cxn modelId="{E347CFAC-3B84-4812-981F-A0AC75794A76}" srcId="{A7521F9F-9853-4760-AF04-01C8BE6DE7CA}" destId="{0B5B70DB-C372-486F-A52D-26714D56BF44}" srcOrd="2" destOrd="0" parTransId="{4E51C9B7-F398-4309-9C2C-8766F2A1A0CB}" sibTransId="{DC3CC174-F385-4928-94AE-004F8649AC5E}"/>
    <dgm:cxn modelId="{BB0D7EB4-2EF8-4201-AF4A-6C30B8A2CA3F}" srcId="{A7521F9F-9853-4760-AF04-01C8BE6DE7CA}" destId="{5D502DEF-62E0-41A6-A245-292CD4B08141}" srcOrd="1" destOrd="0" parTransId="{1C95D010-06D0-47CF-83EE-81250928ABB3}" sibTransId="{AC7E2760-2504-4C7A-83E3-CAF9F4BA1E45}"/>
    <dgm:cxn modelId="{F02639C1-497E-4ECC-9980-39FDC410916F}" type="presOf" srcId="{A7521F9F-9853-4760-AF04-01C8BE6DE7CA}" destId="{04AA666C-C578-48EA-AE10-51E0CB9A2732}" srcOrd="0" destOrd="0" presId="urn:microsoft.com/office/officeart/2011/layout/CircleProcess"/>
    <dgm:cxn modelId="{1C702618-8514-4424-BDEF-270599E69135}" type="presParOf" srcId="{04AA666C-C578-48EA-AE10-51E0CB9A2732}" destId="{EFB0D1DF-01AE-412D-951C-CB3056E20CBE}" srcOrd="0" destOrd="0" presId="urn:microsoft.com/office/officeart/2011/layout/CircleProcess"/>
    <dgm:cxn modelId="{473395FC-959C-4924-B15B-CC08402E0F9C}" type="presParOf" srcId="{EFB0D1DF-01AE-412D-951C-CB3056E20CBE}" destId="{25459E76-ECB2-469A-B22F-F37E50EF6DD3}" srcOrd="0" destOrd="0" presId="urn:microsoft.com/office/officeart/2011/layout/CircleProcess"/>
    <dgm:cxn modelId="{933AE640-2E0F-4278-8D43-1672FB213DBF}" type="presParOf" srcId="{04AA666C-C578-48EA-AE10-51E0CB9A2732}" destId="{01095A79-87B9-4FE1-8ABF-EBB511202101}" srcOrd="1" destOrd="0" presId="urn:microsoft.com/office/officeart/2011/layout/CircleProcess"/>
    <dgm:cxn modelId="{24BA541C-CD9D-4D14-806C-87CA4C368A14}" type="presParOf" srcId="{01095A79-87B9-4FE1-8ABF-EBB511202101}" destId="{A619C011-2C3D-4BDA-A071-9EB29B938D1B}" srcOrd="0" destOrd="0" presId="urn:microsoft.com/office/officeart/2011/layout/CircleProcess"/>
    <dgm:cxn modelId="{A8CFC4B0-651C-42BD-826F-E6C597FA5BEF}" type="presParOf" srcId="{04AA666C-C578-48EA-AE10-51E0CB9A2732}" destId="{ED36BA05-6332-44C9-93AA-5A5E6886AF37}" srcOrd="2" destOrd="0" presId="urn:microsoft.com/office/officeart/2011/layout/CircleProcess"/>
    <dgm:cxn modelId="{479713B9-A341-4B9F-9B1F-3B33E6D50EFC}" type="presParOf" srcId="{04AA666C-C578-48EA-AE10-51E0CB9A2732}" destId="{3CF456E5-F5FD-4528-8243-622B65B9866B}" srcOrd="3" destOrd="0" presId="urn:microsoft.com/office/officeart/2011/layout/CircleProcess"/>
    <dgm:cxn modelId="{7F3F1DD1-7FE7-4EFA-8C45-3885354B35BB}" type="presParOf" srcId="{3CF456E5-F5FD-4528-8243-622B65B9866B}" destId="{9B685F5E-EC48-4AED-83A8-FA1EAAD3CB5E}" srcOrd="0" destOrd="0" presId="urn:microsoft.com/office/officeart/2011/layout/CircleProcess"/>
    <dgm:cxn modelId="{DCB9562F-3A4F-4097-A547-2B9FE02946D5}" type="presParOf" srcId="{04AA666C-C578-48EA-AE10-51E0CB9A2732}" destId="{30E6BC21-346D-4C7F-9172-E48AC169FDA1}" srcOrd="4" destOrd="0" presId="urn:microsoft.com/office/officeart/2011/layout/CircleProcess"/>
    <dgm:cxn modelId="{D08A03FC-CC6D-479C-8689-3910616B6AB1}" type="presParOf" srcId="{30E6BC21-346D-4C7F-9172-E48AC169FDA1}" destId="{C6208838-7D36-4C1A-AA9D-018450FCCE94}" srcOrd="0" destOrd="0" presId="urn:microsoft.com/office/officeart/2011/layout/CircleProcess"/>
    <dgm:cxn modelId="{C674864A-4EA1-4361-8A52-1ED0C6BAC538}" type="presParOf" srcId="{04AA666C-C578-48EA-AE10-51E0CB9A2732}" destId="{838045ED-ED1F-4BA0-81B4-67B6491738FA}" srcOrd="5" destOrd="0" presId="urn:microsoft.com/office/officeart/2011/layout/CircleProcess"/>
    <dgm:cxn modelId="{64229E5B-833E-44CB-B4A5-D77C8ACF29F3}" type="presParOf" srcId="{04AA666C-C578-48EA-AE10-51E0CB9A2732}" destId="{7BE6644B-3AB6-4114-8B52-3F8FEEDB9F5A}" srcOrd="6" destOrd="0" presId="urn:microsoft.com/office/officeart/2011/layout/CircleProcess"/>
    <dgm:cxn modelId="{55CD613F-347B-4436-B147-5F5F60638C14}" type="presParOf" srcId="{7BE6644B-3AB6-4114-8B52-3F8FEEDB9F5A}" destId="{33591AED-BB9F-45EE-A325-54945AB29784}" srcOrd="0" destOrd="0" presId="urn:microsoft.com/office/officeart/2011/layout/CircleProcess"/>
    <dgm:cxn modelId="{79B4C0FD-A8C4-4B78-A1E0-589B90B49C4C}" type="presParOf" srcId="{04AA666C-C578-48EA-AE10-51E0CB9A2732}" destId="{A3755F47-ED94-41ED-9BF8-1C883C62D6FC}" srcOrd="7" destOrd="0" presId="urn:microsoft.com/office/officeart/2011/layout/CircleProcess"/>
    <dgm:cxn modelId="{26850AEF-94FC-4DB5-929A-8044EE79EF2F}" type="presParOf" srcId="{A3755F47-ED94-41ED-9BF8-1C883C62D6FC}" destId="{EA8B68E1-77F3-4799-AC34-546ABA28C689}" srcOrd="0" destOrd="0" presId="urn:microsoft.com/office/officeart/2011/layout/CircleProcess"/>
    <dgm:cxn modelId="{BC3CB2F7-4B47-42BE-9A17-241AB537D1FA}" type="presParOf" srcId="{04AA666C-C578-48EA-AE10-51E0CB9A2732}" destId="{D41CBF9C-D87B-42FA-83CA-C300FE5ECA73}" srcOrd="8" destOrd="0" presId="urn:microsoft.com/office/officeart/2011/layout/CircleProcess"/>
  </dgm:cxnLst>
  <dgm:bg>
    <a:solidFill>
      <a:schemeClr val="accent6">
        <a:lumMod val="20000"/>
        <a:lumOff val="80000"/>
      </a:schemeClr>
    </a:solidFill>
  </dgm:bg>
  <dgm:whole/>
  <dgm:extLst>
    <a:ext uri="http://schemas.microsoft.com/office/drawing/2008/diagram">
      <dsp:dataModelExt xmlns:dsp="http://schemas.microsoft.com/office/drawing/2008/diagram" relId="rId12"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84A37F-DEE6-432F-A851-EC63949E182D}">
      <dsp:nvSpPr>
        <dsp:cNvPr id="0" name=""/>
        <dsp:cNvSpPr/>
      </dsp:nvSpPr>
      <dsp:spPr>
        <a:xfrm>
          <a:off x="0" y="159361"/>
          <a:ext cx="3004016" cy="1802410"/>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100000"/>
            </a:lnSpc>
            <a:spcBef>
              <a:spcPct val="0"/>
            </a:spcBef>
            <a:spcAft>
              <a:spcPts val="600"/>
            </a:spcAft>
            <a:buNone/>
          </a:pPr>
          <a:r>
            <a:rPr lang="en-SG" sz="1400" b="1" kern="1200" dirty="0"/>
            <a:t>Purchase Propensity Engine</a:t>
          </a:r>
        </a:p>
        <a:p>
          <a:pPr marL="114300" lvl="1" indent="-114300" algn="l" defTabSz="533400">
            <a:lnSpc>
              <a:spcPct val="100000"/>
            </a:lnSpc>
            <a:spcBef>
              <a:spcPct val="0"/>
            </a:spcBef>
            <a:spcAft>
              <a:spcPts val="600"/>
            </a:spcAft>
            <a:buChar char="•"/>
          </a:pPr>
          <a:r>
            <a:rPr lang="en-SG" sz="1200" kern="1200" dirty="0"/>
            <a:t>Training Pipeline (Offline): Purchase Propensity Modelling</a:t>
          </a:r>
        </a:p>
        <a:p>
          <a:pPr marL="114300" lvl="1" indent="-114300" algn="l" defTabSz="533400">
            <a:lnSpc>
              <a:spcPct val="100000"/>
            </a:lnSpc>
            <a:spcBef>
              <a:spcPct val="0"/>
            </a:spcBef>
            <a:spcAft>
              <a:spcPts val="600"/>
            </a:spcAft>
            <a:buChar char="•"/>
          </a:pPr>
          <a:r>
            <a:rPr lang="en-SG" sz="1200" kern="1200" dirty="0"/>
            <a:t>Serving (Policy) Pipeline: Incentive Allocation (Budget-Constrained)</a:t>
          </a:r>
        </a:p>
        <a:p>
          <a:pPr marL="114300" lvl="1" indent="-114300" algn="l" defTabSz="533400">
            <a:lnSpc>
              <a:spcPct val="100000"/>
            </a:lnSpc>
            <a:spcBef>
              <a:spcPct val="0"/>
            </a:spcBef>
            <a:spcAft>
              <a:spcPts val="600"/>
            </a:spcAft>
            <a:buChar char="•"/>
          </a:pPr>
          <a:r>
            <a:rPr lang="en-SG" sz="1200" kern="1200" dirty="0"/>
            <a:t>Compare Assumptions (Freeze After Validation)</a:t>
          </a:r>
        </a:p>
      </dsp:txBody>
      <dsp:txXfrm>
        <a:off x="52791" y="212152"/>
        <a:ext cx="2898434" cy="1696828"/>
      </dsp:txXfrm>
    </dsp:sp>
    <dsp:sp modelId="{71F89AA5-3D26-438B-9C21-64A60B7CAFE1}">
      <dsp:nvSpPr>
        <dsp:cNvPr id="0" name=""/>
        <dsp:cNvSpPr/>
      </dsp:nvSpPr>
      <dsp:spPr>
        <a:xfrm rot="21584320">
          <a:off x="3305118" y="678387"/>
          <a:ext cx="638349" cy="74499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377950">
            <a:lnSpc>
              <a:spcPct val="90000"/>
            </a:lnSpc>
            <a:spcBef>
              <a:spcPct val="0"/>
            </a:spcBef>
            <a:spcAft>
              <a:spcPct val="35000"/>
            </a:spcAft>
            <a:buNone/>
          </a:pPr>
          <a:endParaRPr lang="en-SG" sz="3100" kern="1200" dirty="0"/>
        </a:p>
      </dsp:txBody>
      <dsp:txXfrm>
        <a:off x="3305119" y="827823"/>
        <a:ext cx="446844" cy="446998"/>
      </dsp:txXfrm>
    </dsp:sp>
    <dsp:sp modelId="{74BCB0AC-6184-4BC5-9259-9B38484EB0BD}">
      <dsp:nvSpPr>
        <dsp:cNvPr id="0" name=""/>
        <dsp:cNvSpPr/>
      </dsp:nvSpPr>
      <dsp:spPr>
        <a:xfrm>
          <a:off x="4208438" y="140165"/>
          <a:ext cx="3004016" cy="1802410"/>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en-SG" sz="1400" b="1" kern="1200" dirty="0"/>
            <a:t>Offline Policy Evaluation</a:t>
          </a:r>
        </a:p>
        <a:p>
          <a:pPr marL="114300" lvl="1" indent="-114300" algn="l" defTabSz="533400">
            <a:lnSpc>
              <a:spcPct val="90000"/>
            </a:lnSpc>
            <a:spcBef>
              <a:spcPct val="0"/>
            </a:spcBef>
            <a:spcAft>
              <a:spcPct val="15000"/>
            </a:spcAft>
            <a:buChar char="•"/>
          </a:pPr>
          <a:r>
            <a:rPr lang="en-SG" sz="1200" kern="1200" dirty="0"/>
            <a:t>Compare Incentive Allocation Policies</a:t>
          </a:r>
        </a:p>
      </dsp:txBody>
      <dsp:txXfrm>
        <a:off x="4261229" y="192956"/>
        <a:ext cx="2898434" cy="169682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E50C483-DCCC-4B9C-AE6B-988DC288188A}">
      <dsp:nvSpPr>
        <dsp:cNvPr id="0" name=""/>
        <dsp:cNvSpPr/>
      </dsp:nvSpPr>
      <dsp:spPr>
        <a:xfrm>
          <a:off x="7355" y="0"/>
          <a:ext cx="3297231" cy="3297231"/>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7C934A3-7313-4156-8ED7-DDC09B6D49E2}">
      <dsp:nvSpPr>
        <dsp:cNvPr id="0" name=""/>
        <dsp:cNvSpPr/>
      </dsp:nvSpPr>
      <dsp:spPr>
        <a:xfrm>
          <a:off x="117153" y="110028"/>
          <a:ext cx="3077305" cy="307717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55880" tIns="55880" rIns="55880" bIns="55880" numCol="1" spcCol="1270" anchor="ctr" anchorCtr="0">
          <a:noAutofit/>
        </a:bodyPr>
        <a:lstStyle/>
        <a:p>
          <a:pPr marL="0" lvl="0" indent="0" algn="ctr" defTabSz="1955800">
            <a:lnSpc>
              <a:spcPct val="90000"/>
            </a:lnSpc>
            <a:spcBef>
              <a:spcPct val="0"/>
            </a:spcBef>
            <a:spcAft>
              <a:spcPct val="35000"/>
            </a:spcAft>
            <a:buNone/>
          </a:pPr>
          <a:r>
            <a:rPr lang="en-SG" sz="4400" kern="1200" dirty="0"/>
            <a:t>Feature Store</a:t>
          </a:r>
        </a:p>
      </dsp:txBody>
      <dsp:txXfrm>
        <a:off x="557003" y="549624"/>
        <a:ext cx="2198264" cy="2197981"/>
      </dsp:txXfrm>
    </dsp:sp>
    <dsp:sp modelId="{4A4F7823-EAE9-46C3-ABC1-34D954A204CF}">
      <dsp:nvSpPr>
        <dsp:cNvPr id="0" name=""/>
        <dsp:cNvSpPr/>
      </dsp:nvSpPr>
      <dsp:spPr>
        <a:xfrm>
          <a:off x="117153" y="3395895"/>
          <a:ext cx="3077305" cy="17697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3340" tIns="53340" rIns="53340" bIns="53340" numCol="1" spcCol="1270" anchor="t" anchorCtr="0">
          <a:noAutofit/>
        </a:bodyPr>
        <a:lstStyle/>
        <a:p>
          <a:pPr marL="57150" lvl="1" indent="-57150" algn="l" defTabSz="488950">
            <a:lnSpc>
              <a:spcPct val="100000"/>
            </a:lnSpc>
            <a:spcBef>
              <a:spcPct val="0"/>
            </a:spcBef>
            <a:spcAft>
              <a:spcPts val="600"/>
            </a:spcAft>
            <a:buChar char="•"/>
          </a:pPr>
          <a:r>
            <a:rPr lang="en-SG" sz="1100" kern="1200" dirty="0"/>
            <a:t>Online Retail transaction dataset of 2 years </a:t>
          </a:r>
          <a:r>
            <a:rPr lang="en-SG" sz="1100" b="0" i="1" kern="1200" dirty="0">
              <a:solidFill>
                <a:srgbClr val="0070C0"/>
              </a:solidFill>
              <a:hlinkClick xmlns:r="http://schemas.openxmlformats.org/officeDocument/2006/relationships" r:id="rId1">
                <a:extLst>
                  <a:ext uri="{A12FA001-AC4F-418D-AE19-62706E023703}">
                    <ahyp:hlinkClr xmlns:ahyp="http://schemas.microsoft.com/office/drawing/2018/hyperlinkcolor" val="tx"/>
                  </a:ext>
                </a:extLst>
              </a:hlinkClick>
            </a:rPr>
            <a:t>(Online Retail II (UCI transactional dataset)</a:t>
          </a:r>
          <a:endParaRPr lang="en-SG" sz="1100" b="0" i="1" kern="1200" dirty="0">
            <a:solidFill>
              <a:srgbClr val="0070C0"/>
            </a:solidFill>
          </a:endParaRPr>
        </a:p>
        <a:p>
          <a:pPr marL="57150" lvl="1" indent="-57150" algn="l" defTabSz="488950">
            <a:lnSpc>
              <a:spcPct val="100000"/>
            </a:lnSpc>
            <a:spcBef>
              <a:spcPct val="0"/>
            </a:spcBef>
            <a:spcAft>
              <a:spcPts val="600"/>
            </a:spcAft>
            <a:buChar char="•"/>
          </a:pPr>
          <a:r>
            <a:rPr lang="en-SG" sz="1100" kern="1200" dirty="0"/>
            <a:t>Shared Feature Engineering Layer (bronze/silver)</a:t>
          </a:r>
        </a:p>
        <a:p>
          <a:pPr marL="57150" lvl="1" indent="-57150" algn="l" defTabSz="488950">
            <a:lnSpc>
              <a:spcPct val="100000"/>
            </a:lnSpc>
            <a:spcBef>
              <a:spcPct val="0"/>
            </a:spcBef>
            <a:spcAft>
              <a:spcPts val="600"/>
            </a:spcAft>
            <a:buChar char="•"/>
          </a:pPr>
          <a:r>
            <a:rPr lang="en-SG" sz="1100" kern="1200" dirty="0"/>
            <a:t>See repo for documentations, including </a:t>
          </a:r>
          <a:r>
            <a:rPr lang="en-SG" sz="1100" b="1" kern="1200" dirty="0"/>
            <a:t>Target Data Model, Data Dictionary</a:t>
          </a:r>
          <a:r>
            <a:rPr lang="en-SG" sz="1100" kern="1200" dirty="0"/>
            <a:t> and respective </a:t>
          </a:r>
          <a:r>
            <a:rPr lang="en-SG" sz="1100" b="1" i="1" kern="1200" dirty="0"/>
            <a:t>quickstart.md</a:t>
          </a:r>
        </a:p>
      </dsp:txBody>
      <dsp:txXfrm>
        <a:off x="117153" y="3395895"/>
        <a:ext cx="3077305" cy="176974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1E4ACC-F46F-4E3F-B3D5-13482F0C135B}">
      <dsp:nvSpPr>
        <dsp:cNvPr id="0" name=""/>
        <dsp:cNvSpPr/>
      </dsp:nvSpPr>
      <dsp:spPr>
        <a:xfrm>
          <a:off x="1408" y="80239"/>
          <a:ext cx="3004016" cy="1802409"/>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100000"/>
            </a:lnSpc>
            <a:spcBef>
              <a:spcPct val="0"/>
            </a:spcBef>
            <a:spcAft>
              <a:spcPts val="600"/>
            </a:spcAft>
            <a:buNone/>
          </a:pPr>
          <a:r>
            <a:rPr lang="en-SG" sz="1400" b="1" kern="1200" dirty="0"/>
            <a:t>Recommender Engine</a:t>
          </a:r>
        </a:p>
        <a:p>
          <a:pPr marL="114300" lvl="1" indent="-114300" algn="l" defTabSz="533400">
            <a:lnSpc>
              <a:spcPct val="100000"/>
            </a:lnSpc>
            <a:spcBef>
              <a:spcPct val="0"/>
            </a:spcBef>
            <a:spcAft>
              <a:spcPts val="600"/>
            </a:spcAft>
            <a:buChar char="•"/>
          </a:pPr>
          <a:r>
            <a:rPr lang="en-SG" sz="1200" kern="1200" dirty="0"/>
            <a:t>Training Pipeline (Offline): Two-Tower Collaborative Filtering</a:t>
          </a:r>
        </a:p>
        <a:p>
          <a:pPr marL="114300" lvl="1" indent="-114300" algn="l" defTabSz="533400">
            <a:lnSpc>
              <a:spcPct val="100000"/>
            </a:lnSpc>
            <a:spcBef>
              <a:spcPct val="0"/>
            </a:spcBef>
            <a:spcAft>
              <a:spcPts val="600"/>
            </a:spcAft>
            <a:buChar char="•"/>
          </a:pPr>
          <a:r>
            <a:rPr lang="en-SG" sz="1200" kern="1200" dirty="0"/>
            <a:t>Serving (Retrieval) Pipeline: Stage 1 Candidate Retrieval (Two-Tower Dot Product + ANN)</a:t>
          </a:r>
        </a:p>
        <a:p>
          <a:pPr marL="114300" lvl="1" indent="-114300" algn="l" defTabSz="533400">
            <a:lnSpc>
              <a:spcPct val="100000"/>
            </a:lnSpc>
            <a:spcBef>
              <a:spcPct val="0"/>
            </a:spcBef>
            <a:spcAft>
              <a:spcPts val="600"/>
            </a:spcAft>
            <a:buChar char="•"/>
          </a:pPr>
          <a:endParaRPr lang="en-SG" sz="1200" kern="1200" dirty="0"/>
        </a:p>
      </dsp:txBody>
      <dsp:txXfrm>
        <a:off x="54199" y="133030"/>
        <a:ext cx="2898434" cy="1696827"/>
      </dsp:txXfrm>
    </dsp:sp>
    <dsp:sp modelId="{4F230ABA-46E3-4A4E-8801-E05038A704F6}">
      <dsp:nvSpPr>
        <dsp:cNvPr id="0" name=""/>
        <dsp:cNvSpPr/>
      </dsp:nvSpPr>
      <dsp:spPr>
        <a:xfrm>
          <a:off x="3305826" y="608946"/>
          <a:ext cx="636851" cy="74499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377950">
            <a:lnSpc>
              <a:spcPct val="90000"/>
            </a:lnSpc>
            <a:spcBef>
              <a:spcPct val="0"/>
            </a:spcBef>
            <a:spcAft>
              <a:spcPct val="35000"/>
            </a:spcAft>
            <a:buNone/>
          </a:pPr>
          <a:endParaRPr lang="en-SG" sz="3100" kern="1200" dirty="0"/>
        </a:p>
      </dsp:txBody>
      <dsp:txXfrm>
        <a:off x="3305826" y="757945"/>
        <a:ext cx="445796" cy="446998"/>
      </dsp:txXfrm>
    </dsp:sp>
    <dsp:sp modelId="{298762B9-1A9A-489F-A7B0-51C707051142}">
      <dsp:nvSpPr>
        <dsp:cNvPr id="0" name=""/>
        <dsp:cNvSpPr/>
      </dsp:nvSpPr>
      <dsp:spPr>
        <a:xfrm>
          <a:off x="4207031" y="80239"/>
          <a:ext cx="3004016" cy="1802409"/>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en-SG" sz="1400" b="1" kern="1200" dirty="0"/>
            <a:t>Offline Model Evaluation</a:t>
          </a:r>
          <a:endParaRPr lang="en-SG" sz="1400" kern="1200" dirty="0"/>
        </a:p>
        <a:p>
          <a:pPr marL="114300" lvl="1" indent="-114300" algn="l" defTabSz="533400">
            <a:lnSpc>
              <a:spcPct val="90000"/>
            </a:lnSpc>
            <a:spcBef>
              <a:spcPct val="0"/>
            </a:spcBef>
            <a:spcAft>
              <a:spcPct val="15000"/>
            </a:spcAft>
            <a:buChar char="•"/>
          </a:pPr>
          <a:r>
            <a:rPr lang="en-SG" sz="1200" kern="1200" dirty="0"/>
            <a:t>Proxy metrics for commercial engagement: Recall/NDCG/Hit Rate</a:t>
          </a:r>
        </a:p>
      </dsp:txBody>
      <dsp:txXfrm>
        <a:off x="4259822" y="133030"/>
        <a:ext cx="2898434" cy="1696827"/>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FC7CA6-F413-4EB9-BC7D-5F9345015BD0}">
      <dsp:nvSpPr>
        <dsp:cNvPr id="0" name=""/>
        <dsp:cNvSpPr/>
      </dsp:nvSpPr>
      <dsp:spPr>
        <a:xfrm>
          <a:off x="5100069" y="558212"/>
          <a:ext cx="1478691" cy="1478965"/>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819A24E-29CD-47FA-8F77-B27A7A92C7B6}">
      <dsp:nvSpPr>
        <dsp:cNvPr id="0" name=""/>
        <dsp:cNvSpPr/>
      </dsp:nvSpPr>
      <dsp:spPr>
        <a:xfrm>
          <a:off x="5149166" y="607520"/>
          <a:ext cx="1380497" cy="1380350"/>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SG" sz="1500" b="0" kern="1200" dirty="0"/>
            <a:t>Models Validation</a:t>
          </a:r>
        </a:p>
      </dsp:txBody>
      <dsp:txXfrm>
        <a:off x="5346517" y="804750"/>
        <a:ext cx="985794" cy="985890"/>
      </dsp:txXfrm>
    </dsp:sp>
    <dsp:sp modelId="{09794B8C-E734-4AD7-92B7-E8D5CAA1082F}">
      <dsp:nvSpPr>
        <dsp:cNvPr id="0" name=""/>
        <dsp:cNvSpPr/>
      </dsp:nvSpPr>
      <dsp:spPr>
        <a:xfrm rot="2700000">
          <a:off x="3573579" y="560000"/>
          <a:ext cx="1475129" cy="1475129"/>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86F1890-877A-4652-9D3B-F479BCA8EE98}">
      <dsp:nvSpPr>
        <dsp:cNvPr id="0" name=""/>
        <dsp:cNvSpPr/>
      </dsp:nvSpPr>
      <dsp:spPr>
        <a:xfrm>
          <a:off x="3620896" y="607520"/>
          <a:ext cx="1380497" cy="1380350"/>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SG" sz="1500" b="0" kern="1200" dirty="0">
              <a:solidFill>
                <a:schemeClr val="tx1"/>
              </a:solidFill>
            </a:rPr>
            <a:t>Models Training</a:t>
          </a:r>
        </a:p>
      </dsp:txBody>
      <dsp:txXfrm>
        <a:off x="3818247" y="804750"/>
        <a:ext cx="985794" cy="985890"/>
      </dsp:txXfrm>
    </dsp:sp>
    <dsp:sp modelId="{33591AED-BB9F-45EE-A325-54945AB29784}">
      <dsp:nvSpPr>
        <dsp:cNvPr id="0" name=""/>
        <dsp:cNvSpPr/>
      </dsp:nvSpPr>
      <dsp:spPr>
        <a:xfrm rot="2700000">
          <a:off x="2045309" y="560000"/>
          <a:ext cx="1475129" cy="1475129"/>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2092626" y="607520"/>
          <a:ext cx="1380497" cy="1380350"/>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SG" sz="1500" b="0" kern="1200" dirty="0"/>
            <a:t>Feature Store</a:t>
          </a:r>
          <a:endParaRPr lang="en-SG" sz="1500" kern="1200" dirty="0"/>
        </a:p>
      </dsp:txBody>
      <dsp:txXfrm>
        <a:off x="2289977" y="804750"/>
        <a:ext cx="985794" cy="98589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FC7CA6-F413-4EB9-BC7D-5F9345015BD0}">
      <dsp:nvSpPr>
        <dsp:cNvPr id="0" name=""/>
        <dsp:cNvSpPr/>
      </dsp:nvSpPr>
      <dsp:spPr>
        <a:xfrm>
          <a:off x="6732991" y="651808"/>
          <a:ext cx="1535231" cy="1535482"/>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819A24E-29CD-47FA-8F77-B27A7A92C7B6}">
      <dsp:nvSpPr>
        <dsp:cNvPr id="0" name=""/>
        <dsp:cNvSpPr/>
      </dsp:nvSpPr>
      <dsp:spPr>
        <a:xfrm>
          <a:off x="6783648"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Targeting Decisions</a:t>
          </a:r>
          <a:br>
            <a:rPr lang="en-SG" sz="1200" b="0" kern="1200" dirty="0"/>
          </a:br>
          <a:r>
            <a:rPr lang="en-SG" sz="1200" b="0" kern="1200" dirty="0"/>
            <a:t>(User-level)</a:t>
          </a:r>
          <a:endParaRPr lang="en-SG" sz="1200" kern="1200" dirty="0"/>
        </a:p>
      </dsp:txBody>
      <dsp:txXfrm>
        <a:off x="6988727" y="907767"/>
        <a:ext cx="1023759" cy="1023565"/>
      </dsp:txXfrm>
    </dsp:sp>
    <dsp:sp modelId="{09794B8C-E734-4AD7-92B7-E8D5CAA1082F}">
      <dsp:nvSpPr>
        <dsp:cNvPr id="0" name=""/>
        <dsp:cNvSpPr/>
      </dsp:nvSpPr>
      <dsp:spPr>
        <a:xfrm rot="2700000">
          <a:off x="5145558"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86F1890-877A-4652-9D3B-F479BCA8EE98}">
      <dsp:nvSpPr>
        <dsp:cNvPr id="0" name=""/>
        <dsp:cNvSpPr/>
      </dsp:nvSpPr>
      <dsp:spPr>
        <a:xfrm>
          <a:off x="5197760"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Budget-Constrained Optimization (Top K users by EV)</a:t>
          </a:r>
          <a:endParaRPr lang="en-SG" sz="1200" kern="1200" dirty="0"/>
        </a:p>
      </dsp:txBody>
      <dsp:txXfrm>
        <a:off x="5402022" y="907767"/>
        <a:ext cx="1023759" cy="1023565"/>
      </dsp:txXfrm>
    </dsp:sp>
    <dsp:sp modelId="{25459E76-ECB2-469A-B22F-F37E50EF6DD3}">
      <dsp:nvSpPr>
        <dsp:cNvPr id="0" name=""/>
        <dsp:cNvSpPr/>
      </dsp:nvSpPr>
      <dsp:spPr>
        <a:xfrm rot="2700000">
          <a:off x="3559669"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619C011-2C3D-4BDA-A071-9EB29B938D1B}">
      <dsp:nvSpPr>
        <dsp:cNvPr id="0" name=""/>
        <dsp:cNvSpPr/>
      </dsp:nvSpPr>
      <dsp:spPr>
        <a:xfrm>
          <a:off x="3611054"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kern="1200" dirty="0">
              <a:solidFill>
                <a:schemeClr val="tx1"/>
              </a:solidFill>
            </a:rPr>
            <a:t>Rank with predicted expected value</a:t>
          </a:r>
        </a:p>
        <a:p>
          <a:pPr marL="0" lvl="0" indent="0" algn="ctr" defTabSz="533400">
            <a:lnSpc>
              <a:spcPct val="90000"/>
            </a:lnSpc>
            <a:spcBef>
              <a:spcPct val="0"/>
            </a:spcBef>
            <a:spcAft>
              <a:spcPct val="35000"/>
            </a:spcAft>
            <a:buNone/>
          </a:pPr>
          <a:r>
            <a:rPr lang="en-SG" sz="1200" kern="1200" dirty="0">
              <a:solidFill>
                <a:schemeClr val="tx1"/>
              </a:solidFill>
            </a:rPr>
            <a:t>(User-Level)</a:t>
          </a:r>
        </a:p>
      </dsp:txBody>
      <dsp:txXfrm>
        <a:off x="3815316" y="907767"/>
        <a:ext cx="1023759" cy="1023565"/>
      </dsp:txXfrm>
    </dsp:sp>
    <dsp:sp modelId="{9B685F5E-EC48-4AED-83A8-FA1EAAD3CB5E}">
      <dsp:nvSpPr>
        <dsp:cNvPr id="0" name=""/>
        <dsp:cNvSpPr/>
      </dsp:nvSpPr>
      <dsp:spPr>
        <a:xfrm rot="2700000">
          <a:off x="1972964"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6208838-7D36-4C1A-AA9D-018450FCCE94}">
      <dsp:nvSpPr>
        <dsp:cNvPr id="0" name=""/>
        <dsp:cNvSpPr/>
      </dsp:nvSpPr>
      <dsp:spPr>
        <a:xfrm>
          <a:off x="2024349"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Load Trained Models</a:t>
          </a:r>
          <a:endParaRPr lang="en-SG" sz="1200" kern="1200" dirty="0"/>
        </a:p>
      </dsp:txBody>
      <dsp:txXfrm>
        <a:off x="2229428" y="907767"/>
        <a:ext cx="1023759" cy="1023565"/>
      </dsp:txXfrm>
    </dsp:sp>
    <dsp:sp modelId="{33591AED-BB9F-45EE-A325-54945AB29784}">
      <dsp:nvSpPr>
        <dsp:cNvPr id="0" name=""/>
        <dsp:cNvSpPr/>
      </dsp:nvSpPr>
      <dsp:spPr>
        <a:xfrm rot="2700000">
          <a:off x="386258"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437644"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User Features</a:t>
          </a:r>
          <a:endParaRPr lang="en-SG" sz="1200" kern="1200" dirty="0"/>
        </a:p>
      </dsp:txBody>
      <dsp:txXfrm>
        <a:off x="642722" y="907767"/>
        <a:ext cx="1023759" cy="102356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FC7CA6-F413-4EB9-BC7D-5F9345015BD0}">
      <dsp:nvSpPr>
        <dsp:cNvPr id="0" name=""/>
        <dsp:cNvSpPr/>
      </dsp:nvSpPr>
      <dsp:spPr>
        <a:xfrm>
          <a:off x="3077189" y="561413"/>
          <a:ext cx="1487466" cy="1487444"/>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819A24E-29CD-47FA-8F77-B27A7A92C7B6}">
      <dsp:nvSpPr>
        <dsp:cNvPr id="0" name=""/>
        <dsp:cNvSpPr/>
      </dsp:nvSpPr>
      <dsp:spPr>
        <a:xfrm>
          <a:off x="3126749" y="611003"/>
          <a:ext cx="1388015"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700" tIns="12700" rIns="12700" bIns="12700" numCol="1" spcCol="1270" anchor="ctr" anchorCtr="0">
          <a:noAutofit/>
        </a:bodyPr>
        <a:lstStyle/>
        <a:p>
          <a:pPr marL="0" lvl="0" indent="0" algn="ctr" defTabSz="444500">
            <a:lnSpc>
              <a:spcPct val="90000"/>
            </a:lnSpc>
            <a:spcBef>
              <a:spcPct val="0"/>
            </a:spcBef>
            <a:spcAft>
              <a:spcPct val="35000"/>
            </a:spcAft>
            <a:buNone/>
          </a:pPr>
          <a:r>
            <a:rPr lang="en-SG" sz="1000" b="0" kern="1200" dirty="0"/>
            <a:t>Two-Tower Model Training (Collaborative Filtering)</a:t>
          </a:r>
          <a:endParaRPr lang="en-SG" sz="1000" kern="1200" dirty="0"/>
        </a:p>
      </dsp:txBody>
      <dsp:txXfrm>
        <a:off x="3325320" y="809364"/>
        <a:ext cx="991533" cy="991542"/>
      </dsp:txXfrm>
    </dsp:sp>
    <dsp:sp modelId="{33591AED-BB9F-45EE-A325-54945AB29784}">
      <dsp:nvSpPr>
        <dsp:cNvPr id="0" name=""/>
        <dsp:cNvSpPr/>
      </dsp:nvSpPr>
      <dsp:spPr>
        <a:xfrm rot="2700000">
          <a:off x="1540303" y="561247"/>
          <a:ext cx="1487515" cy="1487515"/>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1590053" y="611003"/>
          <a:ext cx="1388015"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700" tIns="12700" rIns="12700" bIns="12700" numCol="1" spcCol="1270" anchor="ctr" anchorCtr="0">
          <a:noAutofit/>
        </a:bodyPr>
        <a:lstStyle/>
        <a:p>
          <a:pPr marL="0" lvl="0" indent="0" algn="ctr" defTabSz="444500">
            <a:lnSpc>
              <a:spcPct val="90000"/>
            </a:lnSpc>
            <a:spcBef>
              <a:spcPct val="0"/>
            </a:spcBef>
            <a:spcAft>
              <a:spcPct val="35000"/>
            </a:spcAft>
            <a:buNone/>
          </a:pPr>
          <a:r>
            <a:rPr lang="en-SG" sz="1000" b="0" i="0" kern="1200" dirty="0"/>
            <a:t>Feature Store</a:t>
          </a:r>
        </a:p>
      </dsp:txBody>
      <dsp:txXfrm>
        <a:off x="1788294" y="809364"/>
        <a:ext cx="991533" cy="991542"/>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5459E76-ECB2-469A-B22F-F37E50EF6DD3}">
      <dsp:nvSpPr>
        <dsp:cNvPr id="0" name=""/>
        <dsp:cNvSpPr/>
      </dsp:nvSpPr>
      <dsp:spPr>
        <a:xfrm>
          <a:off x="3844625" y="561413"/>
          <a:ext cx="1487169" cy="1487444"/>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619C011-2C3D-4BDA-A071-9EB29B938D1B}">
      <dsp:nvSpPr>
        <dsp:cNvPr id="0" name=""/>
        <dsp:cNvSpPr/>
      </dsp:nvSpPr>
      <dsp:spPr>
        <a:xfrm>
          <a:off x="3894003" y="611003"/>
          <a:ext cx="1388412"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SG" sz="1100" b="0" kern="1200" dirty="0"/>
            <a:t>Top-K Retrieval (via ANN index, e.g., FAISS)</a:t>
          </a:r>
          <a:endParaRPr lang="en-SG" sz="1100" kern="1200" dirty="0"/>
        </a:p>
      </dsp:txBody>
      <dsp:txXfrm>
        <a:off x="4092486" y="809364"/>
        <a:ext cx="991446" cy="991542"/>
      </dsp:txXfrm>
    </dsp:sp>
    <dsp:sp modelId="{9B685F5E-EC48-4AED-83A8-FA1EAAD3CB5E}">
      <dsp:nvSpPr>
        <dsp:cNvPr id="0" name=""/>
        <dsp:cNvSpPr/>
      </dsp:nvSpPr>
      <dsp:spPr>
        <a:xfrm rot="2700000">
          <a:off x="2309383" y="563211"/>
          <a:ext cx="1483587" cy="1483587"/>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6208838-7D36-4C1A-AA9D-018450FCCE94}">
      <dsp:nvSpPr>
        <dsp:cNvPr id="0" name=""/>
        <dsp:cNvSpPr/>
      </dsp:nvSpPr>
      <dsp:spPr>
        <a:xfrm>
          <a:off x="2356971" y="611003"/>
          <a:ext cx="1388412"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SG" sz="1100" kern="1200" dirty="0"/>
            <a:t>Cosine Similarity (via L2-normalized embeddings)</a:t>
          </a:r>
        </a:p>
      </dsp:txBody>
      <dsp:txXfrm>
        <a:off x="2555454" y="809364"/>
        <a:ext cx="991446" cy="991542"/>
      </dsp:txXfrm>
    </dsp:sp>
    <dsp:sp modelId="{33591AED-BB9F-45EE-A325-54945AB29784}">
      <dsp:nvSpPr>
        <dsp:cNvPr id="0" name=""/>
        <dsp:cNvSpPr/>
      </dsp:nvSpPr>
      <dsp:spPr>
        <a:xfrm rot="2700000">
          <a:off x="772351" y="563211"/>
          <a:ext cx="1483587" cy="1483587"/>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819939" y="611003"/>
          <a:ext cx="1388412"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SG" sz="1100" b="0" kern="1200" dirty="0"/>
            <a:t>User Embedding</a:t>
          </a:r>
          <a:endParaRPr lang="en-SG" sz="1100" kern="1200" dirty="0"/>
        </a:p>
      </dsp:txBody>
      <dsp:txXfrm>
        <a:off x="1018422" y="809364"/>
        <a:ext cx="991446" cy="991542"/>
      </dsp:txXfrm>
    </dsp:sp>
  </dsp:spTree>
</dsp:drawing>
</file>

<file path=ppt/diagrams/layout1.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3.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5.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6.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7.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343101-6731-49EA-9558-F09A055B6CC7}" type="datetimeFigureOut">
              <a:rPr lang="en-SG" smtClean="0"/>
              <a:t>16/3/2026</a:t>
            </a:fld>
            <a:endParaRPr lang="en-SG"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494BD5-7EB2-4B74-916E-2CB6F821BA1D}" type="slidenum">
              <a:rPr lang="en-SG" smtClean="0"/>
              <a:t>‹#›</a:t>
            </a:fld>
            <a:endParaRPr lang="en-SG" dirty="0"/>
          </a:p>
        </p:txBody>
      </p:sp>
    </p:spTree>
    <p:extLst>
      <p:ext uri="{BB962C8B-B14F-4D97-AF65-F5344CB8AC3E}">
        <p14:creationId xmlns:p14="http://schemas.microsoft.com/office/powerpoint/2010/main" val="21702283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0494BD5-7EB2-4B74-916E-2CB6F821BA1D}" type="slidenum">
              <a:rPr lang="en-SG" smtClean="0"/>
              <a:t>2</a:t>
            </a:fld>
            <a:endParaRPr lang="en-SG" dirty="0"/>
          </a:p>
        </p:txBody>
      </p:sp>
    </p:spTree>
    <p:extLst>
      <p:ext uri="{BB962C8B-B14F-4D97-AF65-F5344CB8AC3E}">
        <p14:creationId xmlns:p14="http://schemas.microsoft.com/office/powerpoint/2010/main" val="11404201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0494BD5-7EB2-4B74-916E-2CB6F821BA1D}" type="slidenum">
              <a:rPr lang="en-SG" smtClean="0"/>
              <a:t>3</a:t>
            </a:fld>
            <a:endParaRPr lang="en-SG" dirty="0"/>
          </a:p>
        </p:txBody>
      </p:sp>
    </p:spTree>
    <p:extLst>
      <p:ext uri="{BB962C8B-B14F-4D97-AF65-F5344CB8AC3E}">
        <p14:creationId xmlns:p14="http://schemas.microsoft.com/office/powerpoint/2010/main" val="24126940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0494BD5-7EB2-4B74-916E-2CB6F821BA1D}" type="slidenum">
              <a:rPr lang="en-SG" smtClean="0"/>
              <a:t>4</a:t>
            </a:fld>
            <a:endParaRPr lang="en-SG" dirty="0"/>
          </a:p>
        </p:txBody>
      </p:sp>
    </p:spTree>
    <p:extLst>
      <p:ext uri="{BB962C8B-B14F-4D97-AF65-F5344CB8AC3E}">
        <p14:creationId xmlns:p14="http://schemas.microsoft.com/office/powerpoint/2010/main" val="42145351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F3E5FA-9397-754F-D4A5-91DBC5CC77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A791AE-14B4-3040-FA81-23DC32C1EA09}"/>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318D827A-14B1-0E47-9A25-08AA012EAC67}"/>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3E20125E-9A80-4B28-7662-A7ABEAC5FD48}"/>
              </a:ext>
            </a:extLst>
          </p:cNvPr>
          <p:cNvSpPr>
            <a:spLocks noGrp="1"/>
          </p:cNvSpPr>
          <p:nvPr>
            <p:ph type="sldNum" sz="quarter" idx="5"/>
          </p:nvPr>
        </p:nvSpPr>
        <p:spPr/>
        <p:txBody>
          <a:bodyPr/>
          <a:lstStyle/>
          <a:p>
            <a:fld id="{40494BD5-7EB2-4B74-916E-2CB6F821BA1D}" type="slidenum">
              <a:rPr lang="en-SG" smtClean="0"/>
              <a:t>5</a:t>
            </a:fld>
            <a:endParaRPr lang="en-SG" dirty="0"/>
          </a:p>
        </p:txBody>
      </p:sp>
    </p:spTree>
    <p:extLst>
      <p:ext uri="{BB962C8B-B14F-4D97-AF65-F5344CB8AC3E}">
        <p14:creationId xmlns:p14="http://schemas.microsoft.com/office/powerpoint/2010/main" val="33283409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60893D-809A-9F23-6C7A-F16FEA0FEE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F0A98-F180-A4F6-F80A-B2F8BE35658A}"/>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0BFFC309-8425-37C1-9288-F02168FF26DF}"/>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82B146E0-58CB-2FB6-AC4A-92BAB259EF21}"/>
              </a:ext>
            </a:extLst>
          </p:cNvPr>
          <p:cNvSpPr>
            <a:spLocks noGrp="1"/>
          </p:cNvSpPr>
          <p:nvPr>
            <p:ph type="sldNum" sz="quarter" idx="5"/>
          </p:nvPr>
        </p:nvSpPr>
        <p:spPr/>
        <p:txBody>
          <a:bodyPr/>
          <a:lstStyle/>
          <a:p>
            <a:fld id="{40494BD5-7EB2-4B74-916E-2CB6F821BA1D}" type="slidenum">
              <a:rPr lang="en-SG" smtClean="0"/>
              <a:t>6</a:t>
            </a:fld>
            <a:endParaRPr lang="en-SG" dirty="0"/>
          </a:p>
        </p:txBody>
      </p:sp>
    </p:spTree>
    <p:extLst>
      <p:ext uri="{BB962C8B-B14F-4D97-AF65-F5344CB8AC3E}">
        <p14:creationId xmlns:p14="http://schemas.microsoft.com/office/powerpoint/2010/main" val="35007120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FA15D-D326-87C3-966C-A831E1CF13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8AF84C-4276-DE21-71C5-E9112E7960A1}"/>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508F4067-2632-431B-B461-AA036F2E9B56}"/>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6C296233-C269-8ADF-BF76-89D22567E938}"/>
              </a:ext>
            </a:extLst>
          </p:cNvPr>
          <p:cNvSpPr>
            <a:spLocks noGrp="1"/>
          </p:cNvSpPr>
          <p:nvPr>
            <p:ph type="sldNum" sz="quarter" idx="5"/>
          </p:nvPr>
        </p:nvSpPr>
        <p:spPr/>
        <p:txBody>
          <a:bodyPr/>
          <a:lstStyle/>
          <a:p>
            <a:fld id="{40494BD5-7EB2-4B74-916E-2CB6F821BA1D}" type="slidenum">
              <a:rPr lang="en-SG" smtClean="0"/>
              <a:t>7</a:t>
            </a:fld>
            <a:endParaRPr lang="en-SG" dirty="0"/>
          </a:p>
        </p:txBody>
      </p:sp>
    </p:spTree>
    <p:extLst>
      <p:ext uri="{BB962C8B-B14F-4D97-AF65-F5344CB8AC3E}">
        <p14:creationId xmlns:p14="http://schemas.microsoft.com/office/powerpoint/2010/main" val="21510766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2E4782-4853-D71F-15FA-5DC9EA9EEF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AFA24E-E602-BD18-5A1A-C2C16CBB40FD}"/>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C7343E49-AD27-93DA-AABD-A552B1A3F211}"/>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0160B945-F7A6-EDAC-2495-59ACFD24AAF6}"/>
              </a:ext>
            </a:extLst>
          </p:cNvPr>
          <p:cNvSpPr>
            <a:spLocks noGrp="1"/>
          </p:cNvSpPr>
          <p:nvPr>
            <p:ph type="sldNum" sz="quarter" idx="5"/>
          </p:nvPr>
        </p:nvSpPr>
        <p:spPr/>
        <p:txBody>
          <a:bodyPr/>
          <a:lstStyle/>
          <a:p>
            <a:fld id="{40494BD5-7EB2-4B74-916E-2CB6F821BA1D}" type="slidenum">
              <a:rPr lang="en-SG" smtClean="0"/>
              <a:t>8</a:t>
            </a:fld>
            <a:endParaRPr lang="en-SG" dirty="0"/>
          </a:p>
        </p:txBody>
      </p:sp>
    </p:spTree>
    <p:extLst>
      <p:ext uri="{BB962C8B-B14F-4D97-AF65-F5344CB8AC3E}">
        <p14:creationId xmlns:p14="http://schemas.microsoft.com/office/powerpoint/2010/main" val="10984727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C4934-8D92-9C2E-89D6-44E9818ECE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F352D6-0C42-894A-567F-51A7B846B37E}"/>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5F876135-7F04-B5A4-0E2A-2214A195185B}"/>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424D209B-D790-C105-F666-03F63753311A}"/>
              </a:ext>
            </a:extLst>
          </p:cNvPr>
          <p:cNvSpPr>
            <a:spLocks noGrp="1"/>
          </p:cNvSpPr>
          <p:nvPr>
            <p:ph type="sldNum" sz="quarter" idx="5"/>
          </p:nvPr>
        </p:nvSpPr>
        <p:spPr/>
        <p:txBody>
          <a:bodyPr/>
          <a:lstStyle/>
          <a:p>
            <a:fld id="{40494BD5-7EB2-4B74-916E-2CB6F821BA1D}" type="slidenum">
              <a:rPr lang="en-SG" smtClean="0"/>
              <a:t>9</a:t>
            </a:fld>
            <a:endParaRPr lang="en-SG" dirty="0"/>
          </a:p>
        </p:txBody>
      </p:sp>
    </p:spTree>
    <p:extLst>
      <p:ext uri="{BB962C8B-B14F-4D97-AF65-F5344CB8AC3E}">
        <p14:creationId xmlns:p14="http://schemas.microsoft.com/office/powerpoint/2010/main" val="6076255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71A3C-EA63-F60E-4710-A3AB4D72FC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E8FD49-6635-2E16-302F-38656F891EA0}"/>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3EACD9AA-F14A-F5E4-C195-DF32D88C2D5D}"/>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5949738A-D112-3D42-06FA-0DBD0D4E07E2}"/>
              </a:ext>
            </a:extLst>
          </p:cNvPr>
          <p:cNvSpPr>
            <a:spLocks noGrp="1"/>
          </p:cNvSpPr>
          <p:nvPr>
            <p:ph type="sldNum" sz="quarter" idx="5"/>
          </p:nvPr>
        </p:nvSpPr>
        <p:spPr/>
        <p:txBody>
          <a:bodyPr/>
          <a:lstStyle/>
          <a:p>
            <a:fld id="{40494BD5-7EB2-4B74-916E-2CB6F821BA1D}" type="slidenum">
              <a:rPr lang="en-SG" smtClean="0"/>
              <a:t>10</a:t>
            </a:fld>
            <a:endParaRPr lang="en-SG" dirty="0"/>
          </a:p>
        </p:txBody>
      </p:sp>
    </p:spTree>
    <p:extLst>
      <p:ext uri="{BB962C8B-B14F-4D97-AF65-F5344CB8AC3E}">
        <p14:creationId xmlns:p14="http://schemas.microsoft.com/office/powerpoint/2010/main" val="2735650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994BE-CB98-A8D1-AFF6-9B5B7495DC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568E19-8C53-1F4C-79B9-FB7C2983F7CF}"/>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8D5DCE98-2C01-31CD-2968-4EF73FC72CC6}"/>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r>
              <a:rPr lang="en-SG" b="1" dirty="0"/>
              <a:t>Large MAPE </a:t>
            </a:r>
            <a:r>
              <a:rPr lang="en-SG" dirty="0"/>
              <a:t>(Mean Absolute Percentage Error)</a:t>
            </a:r>
            <a:r>
              <a:rPr lang="en-SG" b="1" dirty="0"/>
              <a:t>: </a:t>
            </a:r>
            <a:r>
              <a:rPr lang="en-SG" dirty="0"/>
              <a:t>MAPE appears relatively large because transaction revenue data often contains many small purchases, which can inflate percentage errors. </a:t>
            </a:r>
          </a:p>
          <a:p>
            <a:pPr marL="0" marR="0" lvl="0" indent="0" algn="l" defTabSz="914400" rtl="0" eaLnBrk="0" fontAlgn="base" latinLnBrk="0" hangingPunct="0">
              <a:lnSpc>
                <a:spcPct val="100000"/>
              </a:lnSpc>
              <a:spcBef>
                <a:spcPct val="0"/>
              </a:spcBef>
              <a:spcAft>
                <a:spcPct val="0"/>
              </a:spcAft>
              <a:buClrTx/>
              <a:buSzTx/>
              <a:buFontTx/>
              <a:buNone/>
              <a:tabLst/>
            </a:pPr>
            <a:endParaRPr lang="en-SG" dirty="0"/>
          </a:p>
          <a:p>
            <a:pPr marL="0" marR="0" lvl="0" indent="0" algn="l" defTabSz="914400" rtl="0" eaLnBrk="0" fontAlgn="base" latinLnBrk="0" hangingPunct="0">
              <a:lnSpc>
                <a:spcPct val="100000"/>
              </a:lnSpc>
              <a:spcBef>
                <a:spcPct val="0"/>
              </a:spcBef>
              <a:spcAft>
                <a:spcPct val="0"/>
              </a:spcAft>
              <a:buClrTx/>
              <a:buSzTx/>
              <a:buFontTx/>
              <a:buNone/>
              <a:tabLst/>
            </a:pPr>
            <a:r>
              <a:rPr lang="en-SG" dirty="0"/>
              <a:t>In this system the revenue model is primarily used to </a:t>
            </a:r>
            <a:r>
              <a:rPr lang="en-SG" b="1" dirty="0"/>
              <a:t>estimate expected value for ranking</a:t>
            </a:r>
            <a:r>
              <a:rPr lang="en-SG" dirty="0"/>
              <a:t>, so the </a:t>
            </a:r>
            <a:r>
              <a:rPr lang="en-SG" b="1" dirty="0"/>
              <a:t>policy backtest </a:t>
            </a:r>
            <a:r>
              <a:rPr lang="en-SG" dirty="0"/>
              <a:t>results are </a:t>
            </a:r>
            <a:r>
              <a:rPr lang="en-SG" b="1" dirty="0"/>
              <a:t>more informative </a:t>
            </a:r>
            <a:r>
              <a:rPr lang="en-SG" dirty="0"/>
              <a:t>for evaluating the targeting strategy than the regression error metrics alone.</a:t>
            </a: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234484BB-DA00-4746-8D74-5D7BADC94CC2}"/>
              </a:ext>
            </a:extLst>
          </p:cNvPr>
          <p:cNvSpPr>
            <a:spLocks noGrp="1"/>
          </p:cNvSpPr>
          <p:nvPr>
            <p:ph type="sldNum" sz="quarter" idx="5"/>
          </p:nvPr>
        </p:nvSpPr>
        <p:spPr/>
        <p:txBody>
          <a:bodyPr/>
          <a:lstStyle/>
          <a:p>
            <a:fld id="{40494BD5-7EB2-4B74-916E-2CB6F821BA1D}" type="slidenum">
              <a:rPr lang="en-SG" smtClean="0"/>
              <a:t>11</a:t>
            </a:fld>
            <a:endParaRPr lang="en-SG" dirty="0"/>
          </a:p>
        </p:txBody>
      </p:sp>
    </p:spTree>
    <p:extLst>
      <p:ext uri="{BB962C8B-B14F-4D97-AF65-F5344CB8AC3E}">
        <p14:creationId xmlns:p14="http://schemas.microsoft.com/office/powerpoint/2010/main" val="31533060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p:cNvSpPr>
            <a:spLocks noGrp="1"/>
          </p:cNvSpPr>
          <p:nvPr>
            <p:ph type="sldNum" sz="quarter" idx="5"/>
          </p:nvPr>
        </p:nvSpPr>
        <p:spPr/>
        <p:txBody>
          <a:bodyPr/>
          <a:lstStyle/>
          <a:p>
            <a:fld id="{40494BD5-7EB2-4B74-916E-2CB6F821BA1D}" type="slidenum">
              <a:rPr lang="en-SG" smtClean="0"/>
              <a:t>14</a:t>
            </a:fld>
            <a:endParaRPr lang="en-SG" dirty="0"/>
          </a:p>
        </p:txBody>
      </p:sp>
    </p:spTree>
    <p:extLst>
      <p:ext uri="{BB962C8B-B14F-4D97-AF65-F5344CB8AC3E}">
        <p14:creationId xmlns:p14="http://schemas.microsoft.com/office/powerpoint/2010/main" val="300389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89213" y="2514600"/>
            <a:ext cx="8915399" cy="2262781"/>
          </a:xfrm>
        </p:spPr>
        <p:txBody>
          <a:bodyPr anchor="b">
            <a:normAutofit/>
          </a:bodyPr>
          <a:lstStyle>
            <a:lvl1pPr>
              <a:defRPr sz="5400"/>
            </a:lvl1pPr>
          </a:lstStyle>
          <a:p>
            <a:r>
              <a:rPr lang="en-US"/>
              <a:t>Click to edit Master title style</a:t>
            </a:r>
            <a:endParaRPr lang="en-US" dirty="0"/>
          </a:p>
        </p:txBody>
      </p:sp>
      <p:sp>
        <p:nvSpPr>
          <p:cNvPr id="3"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3/16/2026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7"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4529540"/>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2714395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en-US"/>
              <a:t>Click to edit Master title style</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3/16/2026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3960231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89212" y="2058750"/>
            <a:ext cx="8915399" cy="146880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3/16/2026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1160928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3/16/2026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0"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11" name="Slide Number Placeholder 5"/>
          <p:cNvSpPr>
            <a:spLocks noGrp="1"/>
          </p:cNvSpPr>
          <p:nvPr>
            <p:ph type="sldNum" sz="quarter" idx="12"/>
          </p:nvPr>
        </p:nvSpPr>
        <p:spPr>
          <a:xfrm>
            <a:off x="531812" y="787782"/>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1210415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2589212" y="2548966"/>
            <a:ext cx="4342893"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7166957" y="2545738"/>
            <a:ext cx="4338674"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3/16/2026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13" name="Slide Number Placeholder 5"/>
          <p:cNvSpPr>
            <a:spLocks noGrp="1"/>
          </p:cNvSpPr>
          <p:nvPr>
            <p:ph type="sldNum" sz="quarter" idx="12"/>
          </p:nvPr>
        </p:nvSpPr>
        <p:spPr>
          <a:xfrm>
            <a:off x="531812" y="787782"/>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853708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3/16/2026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7"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4951985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3/16/2026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6"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151779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446088"/>
            <a:ext cx="3505199" cy="976312"/>
          </a:xfrm>
        </p:spPr>
        <p:txBody>
          <a:bodyPr anchor="b"/>
          <a:lstStyle>
            <a:lvl1pPr algn="l">
              <a:defRPr sz="2000" b="0"/>
            </a:lvl1pPr>
          </a:lstStyle>
          <a:p>
            <a:r>
              <a:rPr lang="en-US"/>
              <a:t>Click to edit Master title style</a:t>
            </a:r>
            <a:endParaRPr lang="en-US" dirty="0"/>
          </a:p>
        </p:txBody>
      </p:sp>
      <p:sp>
        <p:nvSpPr>
          <p:cNvPr id="3" name="Content Placeholder 2"/>
          <p:cNvSpPr>
            <a:spLocks noGrp="1"/>
          </p:cNvSpPr>
          <p:nvPr>
            <p:ph idx="1"/>
          </p:nvPr>
        </p:nvSpPr>
        <p:spPr>
          <a:xfrm>
            <a:off x="6323012" y="446088"/>
            <a:ext cx="5181600" cy="5414963"/>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3/16/2026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140353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dirty="0"/>
              <a:t>Click icon to add picture</a:t>
            </a:r>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3/16/2026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144448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3/16/2026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674355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13"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3/16/2026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1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smtClean="0"/>
              <a:pPr/>
              <a:t>‹#›</a:t>
            </a:fld>
            <a:endParaRPr lang="en-US" dirty="0"/>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24748086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0"/>
            <a:ext cx="8915400" cy="2724845"/>
          </a:xfrm>
        </p:spPr>
        <p:txBody>
          <a:bodyPr anchor="b">
            <a:normAutofit/>
          </a:bodyPr>
          <a:lstStyle>
            <a:lvl1pPr algn="l">
              <a:defRPr sz="4800" b="0"/>
            </a:lvl1pPr>
          </a:lstStyle>
          <a:p>
            <a:r>
              <a:rPr lang="en-US"/>
              <a:t>Click to edit Master title style</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3/16/2026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91473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3/16/2026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1"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23622270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2589212" y="627407"/>
            <a:ext cx="8915399" cy="2880020"/>
          </a:xfrm>
        </p:spPr>
        <p:txBody>
          <a:bodyPr anchor="ctr">
            <a:normAutofit/>
          </a:bodyPr>
          <a:lstStyle>
            <a:lvl1pPr algn="l">
              <a:defRPr sz="4800" b="0"/>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3/16/2026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4293131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3/16/2026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3526290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2" y="627405"/>
            <a:ext cx="2207601" cy="5283817"/>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2589212" y="627405"/>
            <a:ext cx="6477000" cy="52838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3/16/2026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887589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23" name="Group 22"/>
          <p:cNvGrpSpPr/>
          <p:nvPr/>
        </p:nvGrpSpPr>
        <p:grpSpPr>
          <a:xfrm>
            <a:off x="1"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txBody>
            <a:bodyPr/>
            <a:lstStyle/>
            <a:p>
              <a:endParaRPr lang="en-SG" dirty="0"/>
            </a:p>
          </p:txBody>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txBody>
            <a:bodyPr/>
            <a:lstStyle/>
            <a:p>
              <a:endParaRPr lang="en-SG" dirty="0"/>
            </a:p>
          </p:txBody>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txBody>
            <a:bodyPr/>
            <a:lstStyle/>
            <a:p>
              <a:endParaRPr lang="en-SG" dirty="0"/>
            </a:p>
          </p:txBody>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txBody>
            <a:bodyPr/>
            <a:lstStyle/>
            <a:p>
              <a:endParaRPr lang="en-SG" dirty="0"/>
            </a:p>
          </p:txBody>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txBody>
            <a:bodyPr/>
            <a:lstStyle/>
            <a:p>
              <a:endParaRPr lang="en-SG" dirty="0"/>
            </a:p>
          </p:txBody>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txBody>
            <a:bodyPr/>
            <a:lstStyle/>
            <a:p>
              <a:endParaRPr lang="en-SG" dirty="0"/>
            </a:p>
          </p:txBody>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txBody>
            <a:bodyPr/>
            <a:lstStyle/>
            <a:p>
              <a:endParaRPr lang="en-SG" dirty="0"/>
            </a:p>
          </p:txBody>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txBody>
            <a:bodyPr/>
            <a:lstStyle/>
            <a:p>
              <a:endParaRPr lang="en-SG" dirty="0"/>
            </a:p>
          </p:txBody>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txBody>
            <a:bodyPr/>
            <a:lstStyle/>
            <a:p>
              <a:endParaRPr lang="en-SG" dirty="0"/>
            </a:p>
          </p:txBody>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txBody>
            <a:bodyPr/>
            <a:lstStyle/>
            <a:p>
              <a:endParaRPr lang="en-SG" dirty="0"/>
            </a:p>
          </p:txBody>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txBody>
            <a:bodyPr/>
            <a:lstStyle/>
            <a:p>
              <a:endParaRPr lang="en-SG" dirty="0"/>
            </a:p>
          </p:txBody>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txBody>
            <a:bodyPr/>
            <a:lstStyle/>
            <a:p>
              <a:endParaRPr lang="en-SG" dirty="0"/>
            </a:p>
          </p:txBody>
        </p:sp>
      </p:grpSp>
      <p:grpSp>
        <p:nvGrpSpPr>
          <p:cNvPr id="10" name="Group 9"/>
          <p:cNvGrpSpPr/>
          <p:nvPr/>
        </p:nvGrpSpPr>
        <p:grpSpPr>
          <a:xfrm>
            <a:off x="27221" y="-786"/>
            <a:ext cx="2356674" cy="6854039"/>
            <a:chOff x="6627813" y="194833"/>
            <a:chExt cx="1952625" cy="5678918"/>
          </a:xfrm>
        </p:grpSpPr>
        <p:sp>
          <p:nvSpPr>
            <p:cNvPr id="11" name="Freeform 27"/>
            <p:cNvSpPr/>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txBody>
            <a:bodyPr/>
            <a:lstStyle/>
            <a:p>
              <a:endParaRPr lang="en-SG" dirty="0"/>
            </a:p>
          </p:txBody>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txBody>
            <a:bodyPr/>
            <a:lstStyle/>
            <a:p>
              <a:endParaRPr lang="en-SG" dirty="0"/>
            </a:p>
          </p:txBody>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txBody>
            <a:bodyPr/>
            <a:lstStyle/>
            <a:p>
              <a:endParaRPr lang="en-SG" dirty="0"/>
            </a:p>
          </p:txBody>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txBody>
            <a:bodyPr/>
            <a:lstStyle/>
            <a:p>
              <a:endParaRPr lang="en-SG" dirty="0"/>
            </a:p>
          </p:txBody>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txBody>
            <a:bodyPr/>
            <a:lstStyle/>
            <a:p>
              <a:endParaRPr lang="en-SG" dirty="0"/>
            </a:p>
          </p:txBody>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txBody>
            <a:bodyPr/>
            <a:lstStyle/>
            <a:p>
              <a:endParaRPr lang="en-SG" dirty="0"/>
            </a:p>
          </p:txBody>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txBody>
            <a:bodyPr/>
            <a:lstStyle/>
            <a:p>
              <a:endParaRPr lang="en-SG" dirty="0"/>
            </a:p>
          </p:txBody>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txBody>
            <a:bodyPr/>
            <a:lstStyle/>
            <a:p>
              <a:endParaRPr lang="en-SG" dirty="0"/>
            </a:p>
          </p:txBody>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txBody>
            <a:bodyPr/>
            <a:lstStyle/>
            <a:p>
              <a:endParaRPr lang="en-SG" dirty="0"/>
            </a:p>
          </p:txBody>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txBody>
            <a:bodyPr/>
            <a:lstStyle/>
            <a:p>
              <a:endParaRPr lang="en-SG" dirty="0"/>
            </a:p>
          </p:txBody>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txBody>
            <a:bodyPr/>
            <a:lstStyle/>
            <a:p>
              <a:endParaRPr lang="en-SG" dirty="0"/>
            </a:p>
          </p:txBody>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txBody>
            <a:bodyPr/>
            <a:lstStyle/>
            <a:p>
              <a:endParaRPr lang="en-SG" dirty="0"/>
            </a:p>
          </p:txBody>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SG" dirty="0"/>
          </a:p>
        </p:txBody>
      </p:sp>
      <p:sp>
        <p:nvSpPr>
          <p:cNvPr id="2"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3/16/2026</a:t>
            </a:fld>
            <a:endParaRPr lang="en-US" dirty="0"/>
          </a:p>
        </p:txBody>
      </p:sp>
      <p:sp>
        <p:nvSpPr>
          <p:cNvPr id="5"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bwMode="gray">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300504642"/>
      </p:ext>
    </p:extLst>
  </p:cSld>
  <p:clrMap bg1="lt1" tx1="dk1" bg2="lt2" tx2="dk2" accent1="accent1" accent2="accent2" accent3="accent3" accent4="accent4" accent5="accent5" accent6="accent6" hlink="hlink" folHlink="folHlink"/>
  <p:sldLayoutIdLst>
    <p:sldLayoutId id="2147483784" r:id="rId1"/>
    <p:sldLayoutId id="2147483785" r:id="rId2"/>
    <p:sldLayoutId id="2147483786" r:id="rId3"/>
    <p:sldLayoutId id="2147483787" r:id="rId4"/>
    <p:sldLayoutId id="2147483788" r:id="rId5"/>
    <p:sldLayoutId id="2147483789" r:id="rId6"/>
    <p:sldLayoutId id="2147483790" r:id="rId7"/>
    <p:sldLayoutId id="2147483791" r:id="rId8"/>
    <p:sldLayoutId id="2147483792" r:id="rId9"/>
    <p:sldLayoutId id="2147483793" r:id="rId10"/>
    <p:sldLayoutId id="2147483794" r:id="rId11"/>
    <p:sldLayoutId id="2147483795" r:id="rId12"/>
    <p:sldLayoutId id="2147483796" r:id="rId13"/>
    <p:sldLayoutId id="2147483797" r:id="rId14"/>
    <p:sldLayoutId id="2147483798" r:id="rId15"/>
    <p:sldLayoutId id="2147483799" r:id="rId16"/>
  </p:sldLayoutIdLst>
  <p:txStyles>
    <p:titleStyle>
      <a:lvl1pPr algn="l" defTabSz="457200" rtl="0" eaLnBrk="1" latinLnBrk="0" hangingPunct="1">
        <a:spcBef>
          <a:spcPct val="0"/>
        </a:spcBef>
        <a:buNone/>
        <a:defRPr sz="36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diagramData" Target="../diagrams/data2.xml"/><Relationship Id="rId13" Type="http://schemas.openxmlformats.org/officeDocument/2006/relationships/diagramData" Target="../diagrams/data3.xml"/><Relationship Id="rId3" Type="http://schemas.openxmlformats.org/officeDocument/2006/relationships/diagramData" Target="../diagrams/data1.xml"/><Relationship Id="rId7" Type="http://schemas.microsoft.com/office/2007/relationships/diagramDrawing" Target="../diagrams/drawing1.xml"/><Relationship Id="rId12" Type="http://schemas.microsoft.com/office/2007/relationships/diagramDrawing" Target="../diagrams/drawing2.xml"/><Relationship Id="rId17" Type="http://schemas.microsoft.com/office/2007/relationships/diagramDrawing" Target="../diagrams/drawing3.xml"/><Relationship Id="rId2" Type="http://schemas.openxmlformats.org/officeDocument/2006/relationships/notesSlide" Target="../notesSlides/notesSlide2.xml"/><Relationship Id="rId16" Type="http://schemas.openxmlformats.org/officeDocument/2006/relationships/diagramColors" Target="../diagrams/colors3.xml"/><Relationship Id="rId1" Type="http://schemas.openxmlformats.org/officeDocument/2006/relationships/slideLayout" Target="../slideLayouts/slideLayout2.xml"/><Relationship Id="rId6" Type="http://schemas.openxmlformats.org/officeDocument/2006/relationships/diagramColors" Target="../diagrams/colors1.xml"/><Relationship Id="rId11" Type="http://schemas.openxmlformats.org/officeDocument/2006/relationships/diagramColors" Target="../diagrams/colors2.xml"/><Relationship Id="rId5" Type="http://schemas.openxmlformats.org/officeDocument/2006/relationships/diagramQuickStyle" Target="../diagrams/quickStyle1.xml"/><Relationship Id="rId15" Type="http://schemas.openxmlformats.org/officeDocument/2006/relationships/diagramQuickStyle" Target="../diagrams/quickStyle3.xml"/><Relationship Id="rId10" Type="http://schemas.openxmlformats.org/officeDocument/2006/relationships/diagramQuickStyle" Target="../diagrams/quickStyle2.xml"/><Relationship Id="rId4" Type="http://schemas.openxmlformats.org/officeDocument/2006/relationships/diagramLayout" Target="../diagrams/layout1.xml"/><Relationship Id="rId9" Type="http://schemas.openxmlformats.org/officeDocument/2006/relationships/diagramLayout" Target="../diagrams/layout2.xml"/><Relationship Id="rId14" Type="http://schemas.openxmlformats.org/officeDocument/2006/relationships/diagramLayout" Target="../diagrams/layout3.xml"/></Relationships>
</file>

<file path=ppt/slides/_rels/slide4.xml.rels><?xml version="1.0" encoding="UTF-8" standalone="yes"?>
<Relationships xmlns="http://schemas.openxmlformats.org/package/2006/relationships"><Relationship Id="rId8" Type="http://schemas.openxmlformats.org/officeDocument/2006/relationships/diagramData" Target="../diagrams/data5.xml"/><Relationship Id="rId3" Type="http://schemas.openxmlformats.org/officeDocument/2006/relationships/diagramData" Target="../diagrams/data4.xml"/><Relationship Id="rId7" Type="http://schemas.microsoft.com/office/2007/relationships/diagramDrawing" Target="../diagrams/drawing4.xml"/><Relationship Id="rId12" Type="http://schemas.microsoft.com/office/2007/relationships/diagramDrawing" Target="../diagrams/drawing5.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4.xml"/><Relationship Id="rId11" Type="http://schemas.openxmlformats.org/officeDocument/2006/relationships/diagramColors" Target="../diagrams/colors5.xml"/><Relationship Id="rId5" Type="http://schemas.openxmlformats.org/officeDocument/2006/relationships/diagramQuickStyle" Target="../diagrams/quickStyle4.xml"/><Relationship Id="rId10" Type="http://schemas.openxmlformats.org/officeDocument/2006/relationships/diagramQuickStyle" Target="../diagrams/quickStyle5.xml"/><Relationship Id="rId4" Type="http://schemas.openxmlformats.org/officeDocument/2006/relationships/diagramLayout" Target="../diagrams/layout4.xml"/><Relationship Id="rId9" Type="http://schemas.openxmlformats.org/officeDocument/2006/relationships/diagramLayout" Target="../diagrams/layout5.xml"/></Relationships>
</file>

<file path=ppt/slides/_rels/slide5.xml.rels><?xml version="1.0" encoding="UTF-8" standalone="yes"?>
<Relationships xmlns="http://schemas.openxmlformats.org/package/2006/relationships"><Relationship Id="rId8" Type="http://schemas.openxmlformats.org/officeDocument/2006/relationships/diagramData" Target="../diagrams/data7.xml"/><Relationship Id="rId3" Type="http://schemas.openxmlformats.org/officeDocument/2006/relationships/diagramData" Target="../diagrams/data6.xml"/><Relationship Id="rId7" Type="http://schemas.microsoft.com/office/2007/relationships/diagramDrawing" Target="../diagrams/drawing6.xml"/><Relationship Id="rId12" Type="http://schemas.microsoft.com/office/2007/relationships/diagramDrawing" Target="../diagrams/drawing7.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6.xml"/><Relationship Id="rId11" Type="http://schemas.openxmlformats.org/officeDocument/2006/relationships/diagramColors" Target="../diagrams/colors7.xml"/><Relationship Id="rId5" Type="http://schemas.openxmlformats.org/officeDocument/2006/relationships/diagramQuickStyle" Target="../diagrams/quickStyle6.xml"/><Relationship Id="rId10" Type="http://schemas.openxmlformats.org/officeDocument/2006/relationships/diagramQuickStyle" Target="../diagrams/quickStyle7.xml"/><Relationship Id="rId4" Type="http://schemas.openxmlformats.org/officeDocument/2006/relationships/diagramLayout" Target="../diagrams/layout6.xml"/><Relationship Id="rId9" Type="http://schemas.openxmlformats.org/officeDocument/2006/relationships/diagramLayout" Target="../diagrams/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5.png"/><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30.png"/></Relationships>
</file>

<file path=ppt/slides/_rels/slide1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0A2E8F-8845-67A8-74ED-D98C2505416F}"/>
              </a:ext>
            </a:extLst>
          </p:cNvPr>
          <p:cNvSpPr>
            <a:spLocks noGrp="1"/>
          </p:cNvSpPr>
          <p:nvPr>
            <p:ph type="ctrTitle"/>
          </p:nvPr>
        </p:nvSpPr>
        <p:spPr/>
        <p:txBody>
          <a:bodyPr/>
          <a:lstStyle/>
          <a:p>
            <a:r>
              <a:rPr lang="en-SG" dirty="0"/>
              <a:t>Architecture</a:t>
            </a:r>
          </a:p>
        </p:txBody>
      </p:sp>
      <p:sp>
        <p:nvSpPr>
          <p:cNvPr id="3" name="Subtitle 2">
            <a:extLst>
              <a:ext uri="{FF2B5EF4-FFF2-40B4-BE49-F238E27FC236}">
                <a16:creationId xmlns:a16="http://schemas.microsoft.com/office/drawing/2014/main" id="{FCE74564-2FB7-C283-8E42-88B8940B87D2}"/>
              </a:ext>
            </a:extLst>
          </p:cNvPr>
          <p:cNvSpPr>
            <a:spLocks noGrp="1"/>
          </p:cNvSpPr>
          <p:nvPr>
            <p:ph type="subTitle" idx="1"/>
          </p:nvPr>
        </p:nvSpPr>
        <p:spPr/>
        <p:txBody>
          <a:bodyPr/>
          <a:lstStyle/>
          <a:p>
            <a:r>
              <a:rPr lang="en-SG" dirty="0"/>
              <a:t>Market growth levers with ML</a:t>
            </a:r>
          </a:p>
        </p:txBody>
      </p:sp>
    </p:spTree>
    <p:extLst>
      <p:ext uri="{BB962C8B-B14F-4D97-AF65-F5344CB8AC3E}">
        <p14:creationId xmlns:p14="http://schemas.microsoft.com/office/powerpoint/2010/main" val="15566938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AB7097-C020-C2C2-9107-8364BA35B4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F6E0F2-AFBA-D480-8CF2-84B89675A4B9}"/>
              </a:ext>
            </a:extLst>
          </p:cNvPr>
          <p:cNvSpPr>
            <a:spLocks noGrp="1"/>
          </p:cNvSpPr>
          <p:nvPr>
            <p:ph type="title"/>
          </p:nvPr>
        </p:nvSpPr>
        <p:spPr>
          <a:xfrm>
            <a:off x="1693765" y="624110"/>
            <a:ext cx="8911687" cy="625092"/>
          </a:xfrm>
        </p:spPr>
        <p:txBody>
          <a:bodyPr>
            <a:normAutofit/>
          </a:bodyPr>
          <a:lstStyle/>
          <a:p>
            <a:r>
              <a:rPr lang="en-SG" sz="2800" dirty="0"/>
              <a:t>Marketplace Growth Optimization with ML</a:t>
            </a:r>
          </a:p>
        </p:txBody>
      </p:sp>
      <p:sp>
        <p:nvSpPr>
          <p:cNvPr id="14" name="TextBox 13">
            <a:extLst>
              <a:ext uri="{FF2B5EF4-FFF2-40B4-BE49-F238E27FC236}">
                <a16:creationId xmlns:a16="http://schemas.microsoft.com/office/drawing/2014/main" id="{4519BB5C-23A6-F5DE-81AE-FC96F1AF1FCB}"/>
              </a:ext>
            </a:extLst>
          </p:cNvPr>
          <p:cNvSpPr txBox="1"/>
          <p:nvPr/>
        </p:nvSpPr>
        <p:spPr>
          <a:xfrm>
            <a:off x="1693765" y="1249202"/>
            <a:ext cx="9796393" cy="5109091"/>
          </a:xfrm>
          <a:prstGeom prst="rect">
            <a:avLst/>
          </a:prstGeom>
          <a:noFill/>
        </p:spPr>
        <p:txBody>
          <a:bodyPr wrap="square">
            <a:spAutoFit/>
          </a:bodyPr>
          <a:lstStyle/>
          <a:p>
            <a:r>
              <a:rPr lang="en-SG" sz="1400" b="1" u="sng" dirty="0"/>
              <a:t>Key Problems</a:t>
            </a:r>
          </a:p>
          <a:p>
            <a:pPr marL="285750" indent="-285750">
              <a:buFont typeface="Wingdings" panose="05000000000000000000" pitchFamily="2" charset="2"/>
              <a:buChar char="Ø"/>
            </a:pPr>
            <a:r>
              <a:rPr lang="en-SG" sz="1400" dirty="0"/>
              <a:t>Marketing budgets (e.g., vouchers or promotions) are limited.</a:t>
            </a:r>
          </a:p>
          <a:p>
            <a:pPr marL="285750" indent="-285750">
              <a:buFont typeface="Wingdings" panose="05000000000000000000" pitchFamily="2" charset="2"/>
              <a:buChar char="Ø"/>
            </a:pPr>
            <a:r>
              <a:rPr lang="en-SG" sz="1400" dirty="0"/>
              <a:t>Poor targeting wastes spend and reduces campaign ROI.</a:t>
            </a:r>
          </a:p>
          <a:p>
            <a:pPr marL="285750" indent="-285750">
              <a:buFont typeface="Wingdings" panose="05000000000000000000" pitchFamily="2" charset="2"/>
              <a:buChar char="Ø"/>
            </a:pPr>
            <a:endParaRPr lang="en-SG" sz="1400" dirty="0"/>
          </a:p>
          <a:p>
            <a:r>
              <a:rPr lang="en-SG" sz="1400" dirty="0"/>
              <a:t>Common baseline approaches:</a:t>
            </a:r>
          </a:p>
          <a:p>
            <a:pPr marL="285750" indent="-285750">
              <a:buFont typeface="Wingdings" panose="05000000000000000000" pitchFamily="2" charset="2"/>
              <a:buChar char="Ø"/>
            </a:pPr>
            <a:r>
              <a:rPr lang="en-SG" sz="1400" dirty="0"/>
              <a:t>Random targeting</a:t>
            </a:r>
          </a:p>
          <a:p>
            <a:pPr marL="285750" indent="-285750">
              <a:buFont typeface="Wingdings" panose="05000000000000000000" pitchFamily="2" charset="2"/>
              <a:buChar char="Ø"/>
            </a:pPr>
            <a:r>
              <a:rPr lang="en-SG" sz="1400" dirty="0"/>
              <a:t>Simple heuristics (e.g., RFM rules)</a:t>
            </a:r>
          </a:p>
          <a:p>
            <a:endParaRPr lang="en-SG" sz="1400" b="1" dirty="0"/>
          </a:p>
          <a:p>
            <a:r>
              <a:rPr lang="en-SG" sz="1400" b="1" u="sng" dirty="0"/>
              <a:t>Proposed ML Solution</a:t>
            </a:r>
          </a:p>
          <a:p>
            <a:r>
              <a:rPr lang="en-SG" sz="1400" dirty="0"/>
              <a:t>Two ML engines support growth decisions.</a:t>
            </a:r>
          </a:p>
          <a:p>
            <a:endParaRPr lang="en-SG" sz="1400" dirty="0"/>
          </a:p>
          <a:p>
            <a:r>
              <a:rPr lang="en-SG" sz="1400" b="1" dirty="0"/>
              <a:t>1. Purchase Propensity Engine </a:t>
            </a:r>
            <a:endParaRPr lang="en-SG" sz="1400" dirty="0"/>
          </a:p>
          <a:p>
            <a:pPr marL="285750" indent="-285750">
              <a:buFont typeface="Wingdings" panose="05000000000000000000" pitchFamily="2" charset="2"/>
              <a:buChar char="Ø"/>
            </a:pPr>
            <a:r>
              <a:rPr lang="en-SG" sz="1400" dirty="0"/>
              <a:t>Predict purchase probability and expected revenue at user-level</a:t>
            </a:r>
          </a:p>
          <a:p>
            <a:pPr marL="285750" indent="-285750">
              <a:buFont typeface="Wingdings" panose="05000000000000000000" pitchFamily="2" charset="2"/>
              <a:buChar char="Ø"/>
            </a:pPr>
            <a:r>
              <a:rPr lang="en-SG" sz="1400" b="1" dirty="0"/>
              <a:t>Rank users by expected value to allocate marketing budget more efficiently</a:t>
            </a:r>
          </a:p>
          <a:p>
            <a:pPr marL="285750" indent="-285750">
              <a:buFont typeface="Wingdings" panose="05000000000000000000" pitchFamily="2" charset="2"/>
              <a:buChar char="Ø"/>
            </a:pPr>
            <a:endParaRPr lang="en-SG" sz="1400" dirty="0"/>
          </a:p>
          <a:p>
            <a:r>
              <a:rPr lang="en-SG" sz="1400" b="1" dirty="0"/>
              <a:t>2. Recommender Engine</a:t>
            </a:r>
            <a:endParaRPr lang="en-SG" sz="1400" dirty="0"/>
          </a:p>
          <a:p>
            <a:pPr marL="285750" indent="-285750">
              <a:buFont typeface="Wingdings" panose="05000000000000000000" pitchFamily="2" charset="2"/>
              <a:buChar char="Ø"/>
            </a:pPr>
            <a:r>
              <a:rPr lang="en-SG" sz="1400" dirty="0"/>
              <a:t>Recommend relevant products to users</a:t>
            </a:r>
          </a:p>
          <a:p>
            <a:pPr marL="285750" indent="-285750">
              <a:buFont typeface="Wingdings" panose="05000000000000000000" pitchFamily="2" charset="2"/>
              <a:buChar char="Ø"/>
            </a:pPr>
            <a:r>
              <a:rPr lang="en-SG" sz="1400" b="1" dirty="0"/>
              <a:t>Improve discovery and engagement</a:t>
            </a:r>
          </a:p>
          <a:p>
            <a:endParaRPr lang="en-SG" sz="1400" b="1" dirty="0"/>
          </a:p>
          <a:p>
            <a:r>
              <a:rPr lang="en-SG" sz="1400" b="1" u="sng" dirty="0"/>
              <a:t>Outcome</a:t>
            </a:r>
            <a:r>
              <a:rPr lang="en-SG" sz="1400" u="sng" dirty="0"/>
              <a:t> –</a:t>
            </a:r>
            <a:r>
              <a:rPr lang="en-SG" sz="1400" b="1" u="sng" dirty="0"/>
              <a:t> Purchase Propensity Improves Budget Allocation</a:t>
            </a:r>
          </a:p>
          <a:p>
            <a:pPr marL="285750" indent="-285750">
              <a:buFont typeface="Wingdings" panose="05000000000000000000" pitchFamily="2" charset="2"/>
              <a:buChar char="Ø"/>
            </a:pPr>
            <a:r>
              <a:rPr lang="en-SG" sz="1400" dirty="0"/>
              <a:t>ML targeting </a:t>
            </a:r>
            <a:r>
              <a:rPr lang="en-SG" sz="1400" b="1" dirty="0"/>
              <a:t>consistently beats random targeting</a:t>
            </a:r>
          </a:p>
          <a:p>
            <a:pPr marL="285750" indent="-285750">
              <a:buFont typeface="Wingdings" panose="05000000000000000000" pitchFamily="2" charset="2"/>
              <a:buChar char="Ø"/>
            </a:pPr>
            <a:r>
              <a:rPr lang="en-SG" sz="1400" dirty="0"/>
              <a:t>ML targeting </a:t>
            </a:r>
            <a:r>
              <a:rPr lang="en-SG" sz="1400" b="1" dirty="0"/>
              <a:t>remains competitive with heuristic RFM</a:t>
            </a:r>
          </a:p>
          <a:p>
            <a:pPr marL="285750" indent="-285750">
              <a:buFont typeface="Wingdings" panose="05000000000000000000" pitchFamily="2" charset="2"/>
              <a:buChar char="Ø"/>
            </a:pPr>
            <a:r>
              <a:rPr lang="en-SG" sz="1400" dirty="0"/>
              <a:t>ML provides a </a:t>
            </a:r>
            <a:r>
              <a:rPr lang="en-SG" sz="1400" b="1" dirty="0"/>
              <a:t>scalable framework as richer data becomes available</a:t>
            </a:r>
          </a:p>
        </p:txBody>
      </p:sp>
    </p:spTree>
    <p:extLst>
      <p:ext uri="{BB962C8B-B14F-4D97-AF65-F5344CB8AC3E}">
        <p14:creationId xmlns:p14="http://schemas.microsoft.com/office/powerpoint/2010/main" val="930765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D1D5F8-24A7-E001-A198-842863CA806D}"/>
              </a:ext>
            </a:extLst>
          </p:cNvPr>
          <p:cNvSpPr>
            <a:spLocks noGrp="1"/>
          </p:cNvSpPr>
          <p:nvPr>
            <p:ph type="title"/>
          </p:nvPr>
        </p:nvSpPr>
        <p:spPr>
          <a:xfrm>
            <a:off x="1693765" y="624110"/>
            <a:ext cx="8911687" cy="1280890"/>
          </a:xfrm>
        </p:spPr>
        <p:txBody>
          <a:bodyPr/>
          <a:lstStyle/>
          <a:p>
            <a:r>
              <a:rPr lang="en-SG" dirty="0"/>
              <a:t>Overall Platform Architecture</a:t>
            </a:r>
          </a:p>
        </p:txBody>
      </p:sp>
      <p:graphicFrame>
        <p:nvGraphicFramePr>
          <p:cNvPr id="4" name="Content Placeholder 3">
            <a:extLst>
              <a:ext uri="{FF2B5EF4-FFF2-40B4-BE49-F238E27FC236}">
                <a16:creationId xmlns:a16="http://schemas.microsoft.com/office/drawing/2014/main" id="{E391E606-83B6-06E5-92A2-B33A89A06276}"/>
              </a:ext>
            </a:extLst>
          </p:cNvPr>
          <p:cNvGraphicFramePr>
            <a:graphicFrameLocks noGrp="1"/>
          </p:cNvGraphicFramePr>
          <p:nvPr>
            <p:ph idx="1"/>
            <p:extLst>
              <p:ext uri="{D42A27DB-BD31-4B8C-83A1-F6EECF244321}">
                <p14:modId xmlns:p14="http://schemas.microsoft.com/office/powerpoint/2010/main" val="4074211914"/>
              </p:ext>
            </p:extLst>
          </p:nvPr>
        </p:nvGraphicFramePr>
        <p:xfrm>
          <a:off x="4695290" y="1915380"/>
          <a:ext cx="7212458" cy="215689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6" name="Group 5">
            <a:extLst>
              <a:ext uri="{FF2B5EF4-FFF2-40B4-BE49-F238E27FC236}">
                <a16:creationId xmlns:a16="http://schemas.microsoft.com/office/drawing/2014/main" id="{09D6350A-C62D-9AD3-AACC-8FDA0836965F}"/>
              </a:ext>
            </a:extLst>
          </p:cNvPr>
          <p:cNvGrpSpPr/>
          <p:nvPr/>
        </p:nvGrpSpPr>
        <p:grpSpPr>
          <a:xfrm>
            <a:off x="4695290" y="1406605"/>
            <a:ext cx="3129512" cy="634127"/>
            <a:chOff x="4483736" y="2868420"/>
            <a:chExt cx="1769634" cy="1875749"/>
          </a:xfrm>
        </p:grpSpPr>
        <p:sp>
          <p:nvSpPr>
            <p:cNvPr id="7" name="Rectangle 6">
              <a:extLst>
                <a:ext uri="{FF2B5EF4-FFF2-40B4-BE49-F238E27FC236}">
                  <a16:creationId xmlns:a16="http://schemas.microsoft.com/office/drawing/2014/main" id="{4D4AB476-23F7-4BE1-C534-44A66B4F499D}"/>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8" name="TextBox 7">
              <a:extLst>
                <a:ext uri="{FF2B5EF4-FFF2-40B4-BE49-F238E27FC236}">
                  <a16:creationId xmlns:a16="http://schemas.microsoft.com/office/drawing/2014/main" id="{2359E013-CBC5-6C77-893E-C45B462719CF}"/>
                </a:ext>
              </a:extLst>
            </p:cNvPr>
            <p:cNvSpPr txBox="1"/>
            <p:nvPr/>
          </p:nvSpPr>
          <p:spPr>
            <a:xfrm>
              <a:off x="4483736" y="2868420"/>
              <a:ext cx="1769634" cy="1875749"/>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algn="l" defTabSz="444500">
                <a:lnSpc>
                  <a:spcPct val="90000"/>
                </a:lnSpc>
                <a:spcBef>
                  <a:spcPct val="0"/>
                </a:spcBef>
                <a:spcAft>
                  <a:spcPct val="15000"/>
                </a:spcAft>
              </a:pPr>
              <a:r>
                <a:rPr lang="en-SG" sz="1400" b="1" i="1" kern="1200" dirty="0"/>
                <a:t>Growth Decisioning</a:t>
              </a:r>
              <a:br>
                <a:rPr lang="en-SG" sz="1400" b="1" i="1" kern="1200" dirty="0"/>
              </a:br>
              <a:r>
                <a:rPr lang="en-SG" sz="1400" b="1" i="1" kern="1200" dirty="0"/>
                <a:t>(who to treat, how likely to buy and expected value)</a:t>
              </a:r>
            </a:p>
          </p:txBody>
        </p:sp>
      </p:grpSp>
      <p:grpSp>
        <p:nvGrpSpPr>
          <p:cNvPr id="9" name="Group 8">
            <a:extLst>
              <a:ext uri="{FF2B5EF4-FFF2-40B4-BE49-F238E27FC236}">
                <a16:creationId xmlns:a16="http://schemas.microsoft.com/office/drawing/2014/main" id="{AE30B082-03A0-E250-AAB0-C1F1CC079F8F}"/>
              </a:ext>
            </a:extLst>
          </p:cNvPr>
          <p:cNvGrpSpPr/>
          <p:nvPr/>
        </p:nvGrpSpPr>
        <p:grpSpPr>
          <a:xfrm>
            <a:off x="4695290" y="4082653"/>
            <a:ext cx="3125285" cy="458000"/>
            <a:chOff x="4483736" y="2868423"/>
            <a:chExt cx="1769634" cy="1039355"/>
          </a:xfrm>
        </p:grpSpPr>
        <p:sp>
          <p:nvSpPr>
            <p:cNvPr id="10" name="Rectangle 9">
              <a:extLst>
                <a:ext uri="{FF2B5EF4-FFF2-40B4-BE49-F238E27FC236}">
                  <a16:creationId xmlns:a16="http://schemas.microsoft.com/office/drawing/2014/main" id="{D67DD455-BF20-0754-4FB8-B8F377195B55}"/>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11" name="TextBox 10">
              <a:extLst>
                <a:ext uri="{FF2B5EF4-FFF2-40B4-BE49-F238E27FC236}">
                  <a16:creationId xmlns:a16="http://schemas.microsoft.com/office/drawing/2014/main" id="{70D13476-07DF-94B4-E941-088E7E7A769A}"/>
                </a:ext>
              </a:extLst>
            </p:cNvPr>
            <p:cNvSpPr txBox="1"/>
            <p:nvPr/>
          </p:nvSpPr>
          <p:spPr>
            <a:xfrm>
              <a:off x="4483736"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algn="l" defTabSz="444500">
                <a:lnSpc>
                  <a:spcPct val="90000"/>
                </a:lnSpc>
                <a:spcBef>
                  <a:spcPct val="0"/>
                </a:spcBef>
                <a:spcAft>
                  <a:spcPct val="15000"/>
                </a:spcAft>
              </a:pPr>
              <a:r>
                <a:rPr lang="en-SG" sz="1400" b="1" i="1" kern="1200" dirty="0"/>
                <a:t>Content/Product Selection</a:t>
              </a:r>
              <a:br>
                <a:rPr lang="en-SG" sz="1400" b="1" i="1" kern="1200" dirty="0"/>
              </a:br>
              <a:r>
                <a:rPr lang="en-SG" sz="1400" b="1" i="1" kern="1200" dirty="0"/>
                <a:t>(what to show to end users)</a:t>
              </a:r>
            </a:p>
          </p:txBody>
        </p:sp>
      </p:grpSp>
      <p:graphicFrame>
        <p:nvGraphicFramePr>
          <p:cNvPr id="12" name="Content Placeholder 3">
            <a:extLst>
              <a:ext uri="{FF2B5EF4-FFF2-40B4-BE49-F238E27FC236}">
                <a16:creationId xmlns:a16="http://schemas.microsoft.com/office/drawing/2014/main" id="{5C59B2FF-27B9-AA73-CF27-200A48AEE7D9}"/>
              </a:ext>
            </a:extLst>
          </p:cNvPr>
          <p:cNvGraphicFramePr>
            <a:graphicFrameLocks/>
          </p:cNvGraphicFramePr>
          <p:nvPr>
            <p:extLst>
              <p:ext uri="{D42A27DB-BD31-4B8C-83A1-F6EECF244321}">
                <p14:modId xmlns:p14="http://schemas.microsoft.com/office/powerpoint/2010/main" val="3748393268"/>
              </p:ext>
            </p:extLst>
          </p:nvPr>
        </p:nvGraphicFramePr>
        <p:xfrm>
          <a:off x="284252" y="1406605"/>
          <a:ext cx="3311942" cy="5165645"/>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aphicFrame>
        <p:nvGraphicFramePr>
          <p:cNvPr id="13" name="Content Placeholder 3">
            <a:extLst>
              <a:ext uri="{FF2B5EF4-FFF2-40B4-BE49-F238E27FC236}">
                <a16:creationId xmlns:a16="http://schemas.microsoft.com/office/drawing/2014/main" id="{DD87D2D7-9DB1-4761-3C21-0B2656A8DAF7}"/>
              </a:ext>
            </a:extLst>
          </p:cNvPr>
          <p:cNvGraphicFramePr>
            <a:graphicFrameLocks/>
          </p:cNvGraphicFramePr>
          <p:nvPr>
            <p:extLst>
              <p:ext uri="{D42A27DB-BD31-4B8C-83A1-F6EECF244321}">
                <p14:modId xmlns:p14="http://schemas.microsoft.com/office/powerpoint/2010/main" val="493753767"/>
              </p:ext>
            </p:extLst>
          </p:nvPr>
        </p:nvGraphicFramePr>
        <p:xfrm>
          <a:off x="4695290" y="4540653"/>
          <a:ext cx="7212457" cy="1962889"/>
        </p:xfrm>
        <a:graphic>
          <a:graphicData uri="http://schemas.openxmlformats.org/drawingml/2006/diagram">
            <dgm:relIds xmlns:dgm="http://schemas.openxmlformats.org/drawingml/2006/diagram" xmlns:r="http://schemas.openxmlformats.org/officeDocument/2006/relationships" r:dm="rId13" r:lo="rId14" r:qs="rId15" r:cs="rId16"/>
          </a:graphicData>
        </a:graphic>
      </p:graphicFrame>
      <p:grpSp>
        <p:nvGrpSpPr>
          <p:cNvPr id="18" name="Group 17">
            <a:extLst>
              <a:ext uri="{FF2B5EF4-FFF2-40B4-BE49-F238E27FC236}">
                <a16:creationId xmlns:a16="http://schemas.microsoft.com/office/drawing/2014/main" id="{B951E650-B942-3158-9896-A3F7D1EB2E8F}"/>
              </a:ext>
            </a:extLst>
          </p:cNvPr>
          <p:cNvGrpSpPr/>
          <p:nvPr/>
        </p:nvGrpSpPr>
        <p:grpSpPr>
          <a:xfrm>
            <a:off x="3724830" y="3571686"/>
            <a:ext cx="621139" cy="739967"/>
            <a:chOff x="1478545" y="850322"/>
            <a:chExt cx="284531" cy="332847"/>
          </a:xfrm>
        </p:grpSpPr>
        <p:sp>
          <p:nvSpPr>
            <p:cNvPr id="19" name="Arrow: Right 18">
              <a:extLst>
                <a:ext uri="{FF2B5EF4-FFF2-40B4-BE49-F238E27FC236}">
                  <a16:creationId xmlns:a16="http://schemas.microsoft.com/office/drawing/2014/main" id="{AE8E649E-37A5-B2DB-C49C-0C76D7E4BFB7}"/>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20" name="Arrow: Right 4">
              <a:extLst>
                <a:ext uri="{FF2B5EF4-FFF2-40B4-BE49-F238E27FC236}">
                  <a16:creationId xmlns:a16="http://schemas.microsoft.com/office/drawing/2014/main" id="{B3EE6376-0C1D-C523-59A9-3ADB3CF31B87}"/>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sp>
        <p:nvSpPr>
          <p:cNvPr id="33" name="TextBox 32">
            <a:extLst>
              <a:ext uri="{FF2B5EF4-FFF2-40B4-BE49-F238E27FC236}">
                <a16:creationId xmlns:a16="http://schemas.microsoft.com/office/drawing/2014/main" id="{401C60E0-E94D-7DB9-CE8A-B15A952EF65A}"/>
              </a:ext>
            </a:extLst>
          </p:cNvPr>
          <p:cNvSpPr txBox="1"/>
          <p:nvPr/>
        </p:nvSpPr>
        <p:spPr>
          <a:xfrm>
            <a:off x="3575624" y="2999351"/>
            <a:ext cx="1268871" cy="646331"/>
          </a:xfrm>
          <a:prstGeom prst="rect">
            <a:avLst/>
          </a:prstGeom>
          <a:noFill/>
        </p:spPr>
        <p:txBody>
          <a:bodyPr wrap="square">
            <a:spAutoFit/>
          </a:bodyPr>
          <a:lstStyle/>
          <a:p>
            <a:pPr lvl="0">
              <a:buNone/>
            </a:pPr>
            <a:r>
              <a:rPr lang="en-SG" sz="1200" b="0" i="1" dirty="0"/>
              <a:t>ML Engines operate independently</a:t>
            </a:r>
            <a:endParaRPr lang="en-SG" sz="1200" i="1" dirty="0"/>
          </a:p>
        </p:txBody>
      </p:sp>
    </p:spTree>
    <p:extLst>
      <p:ext uri="{BB962C8B-B14F-4D97-AF65-F5344CB8AC3E}">
        <p14:creationId xmlns:p14="http://schemas.microsoft.com/office/powerpoint/2010/main" val="28551013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36B4F7-707F-24A9-1D43-3BE9FDA4EB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42C1F1-BAF9-51B4-1047-A992A6F229C4}"/>
              </a:ext>
            </a:extLst>
          </p:cNvPr>
          <p:cNvSpPr>
            <a:spLocks noGrp="1"/>
          </p:cNvSpPr>
          <p:nvPr>
            <p:ph type="title"/>
          </p:nvPr>
        </p:nvSpPr>
        <p:spPr>
          <a:xfrm>
            <a:off x="1625439" y="624110"/>
            <a:ext cx="7407012" cy="1280890"/>
          </a:xfrm>
        </p:spPr>
        <p:txBody>
          <a:bodyPr/>
          <a:lstStyle/>
          <a:p>
            <a:r>
              <a:rPr lang="en-SG" dirty="0"/>
              <a:t>Purchase Propensity Engine</a:t>
            </a:r>
          </a:p>
        </p:txBody>
      </p:sp>
      <p:graphicFrame>
        <p:nvGraphicFramePr>
          <p:cNvPr id="4" name="Content Placeholder 3">
            <a:extLst>
              <a:ext uri="{FF2B5EF4-FFF2-40B4-BE49-F238E27FC236}">
                <a16:creationId xmlns:a16="http://schemas.microsoft.com/office/drawing/2014/main" id="{24713D13-677B-884E-3CF7-A0DC0CBF0D2C}"/>
              </a:ext>
            </a:extLst>
          </p:cNvPr>
          <p:cNvGraphicFramePr>
            <a:graphicFrameLocks noGrp="1"/>
          </p:cNvGraphicFramePr>
          <p:nvPr>
            <p:ph idx="1"/>
            <p:extLst>
              <p:ext uri="{D42A27DB-BD31-4B8C-83A1-F6EECF244321}">
                <p14:modId xmlns:p14="http://schemas.microsoft.com/office/powerpoint/2010/main" val="2594623494"/>
              </p:ext>
            </p:extLst>
          </p:nvPr>
        </p:nvGraphicFramePr>
        <p:xfrm>
          <a:off x="187644" y="1324120"/>
          <a:ext cx="8318561" cy="259513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18" name="Group 17">
            <a:extLst>
              <a:ext uri="{FF2B5EF4-FFF2-40B4-BE49-F238E27FC236}">
                <a16:creationId xmlns:a16="http://schemas.microsoft.com/office/drawing/2014/main" id="{46850E08-40F6-E483-A454-14C0C6F05EAF}"/>
              </a:ext>
            </a:extLst>
          </p:cNvPr>
          <p:cNvGrpSpPr/>
          <p:nvPr/>
        </p:nvGrpSpPr>
        <p:grpSpPr>
          <a:xfrm>
            <a:off x="216720" y="1324120"/>
            <a:ext cx="8138246" cy="393400"/>
            <a:chOff x="3694268" y="2868423"/>
            <a:chExt cx="2559102" cy="1039355"/>
          </a:xfrm>
        </p:grpSpPr>
        <p:sp>
          <p:nvSpPr>
            <p:cNvPr id="19" name="Rectangle 18">
              <a:extLst>
                <a:ext uri="{FF2B5EF4-FFF2-40B4-BE49-F238E27FC236}">
                  <a16:creationId xmlns:a16="http://schemas.microsoft.com/office/drawing/2014/main" id="{6FFF0076-758B-EDEB-8A33-3C84C5BACE25}"/>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20" name="TextBox 19">
              <a:extLst>
                <a:ext uri="{FF2B5EF4-FFF2-40B4-BE49-F238E27FC236}">
                  <a16:creationId xmlns:a16="http://schemas.microsoft.com/office/drawing/2014/main" id="{5DA7D1F0-8685-68AE-D3E5-8468CE71D384}"/>
                </a:ext>
              </a:extLst>
            </p:cNvPr>
            <p:cNvSpPr txBox="1"/>
            <p:nvPr/>
          </p:nvSpPr>
          <p:spPr>
            <a:xfrm>
              <a:off x="3694268"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Training Pipeline (</a:t>
              </a:r>
              <a:r>
                <a:rPr lang="en-SG" sz="1400" b="1" i="1" dirty="0"/>
                <a:t>Offline): Purchase Propensity Modelling</a:t>
              </a:r>
            </a:p>
            <a:p>
              <a:pPr marL="0" lvl="1" defTabSz="444500">
                <a:lnSpc>
                  <a:spcPct val="90000"/>
                </a:lnSpc>
                <a:spcBef>
                  <a:spcPct val="0"/>
                </a:spcBef>
                <a:spcAft>
                  <a:spcPct val="15000"/>
                </a:spcAft>
              </a:pPr>
              <a:endParaRPr lang="en-SG" sz="1400" b="1" i="1" dirty="0"/>
            </a:p>
            <a:p>
              <a:pPr marL="0" lvl="1" algn="l" defTabSz="444500">
                <a:lnSpc>
                  <a:spcPct val="90000"/>
                </a:lnSpc>
                <a:spcBef>
                  <a:spcPct val="0"/>
                </a:spcBef>
                <a:spcAft>
                  <a:spcPct val="15000"/>
                </a:spcAft>
              </a:pPr>
              <a:endParaRPr lang="en-SG" sz="1400" b="1" i="1" kern="1200" dirty="0"/>
            </a:p>
          </p:txBody>
        </p:sp>
      </p:grpSp>
      <p:graphicFrame>
        <p:nvGraphicFramePr>
          <p:cNvPr id="42" name="Content Placeholder 3">
            <a:extLst>
              <a:ext uri="{FF2B5EF4-FFF2-40B4-BE49-F238E27FC236}">
                <a16:creationId xmlns:a16="http://schemas.microsoft.com/office/drawing/2014/main" id="{2A7C2445-1A70-4F63-70A0-E6815BC8026E}"/>
              </a:ext>
            </a:extLst>
          </p:cNvPr>
          <p:cNvGraphicFramePr>
            <a:graphicFrameLocks/>
          </p:cNvGraphicFramePr>
          <p:nvPr>
            <p:extLst>
              <p:ext uri="{D42A27DB-BD31-4B8C-83A1-F6EECF244321}">
                <p14:modId xmlns:p14="http://schemas.microsoft.com/office/powerpoint/2010/main" val="3308531120"/>
              </p:ext>
            </p:extLst>
          </p:nvPr>
        </p:nvGraphicFramePr>
        <p:xfrm>
          <a:off x="187645" y="3981101"/>
          <a:ext cx="8336562" cy="2838831"/>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pSp>
        <p:nvGrpSpPr>
          <p:cNvPr id="43" name="Group 42">
            <a:extLst>
              <a:ext uri="{FF2B5EF4-FFF2-40B4-BE49-F238E27FC236}">
                <a16:creationId xmlns:a16="http://schemas.microsoft.com/office/drawing/2014/main" id="{86C56604-E1B4-8384-8EF1-38FAABB1C783}"/>
              </a:ext>
            </a:extLst>
          </p:cNvPr>
          <p:cNvGrpSpPr/>
          <p:nvPr/>
        </p:nvGrpSpPr>
        <p:grpSpPr>
          <a:xfrm>
            <a:off x="187644" y="4037196"/>
            <a:ext cx="6037720" cy="540735"/>
            <a:chOff x="4483735" y="2868423"/>
            <a:chExt cx="4477884" cy="1039355"/>
          </a:xfrm>
        </p:grpSpPr>
        <p:sp>
          <p:nvSpPr>
            <p:cNvPr id="44" name="Rectangle 43">
              <a:extLst>
                <a:ext uri="{FF2B5EF4-FFF2-40B4-BE49-F238E27FC236}">
                  <a16:creationId xmlns:a16="http://schemas.microsoft.com/office/drawing/2014/main" id="{82AE1D10-8D32-CDE4-3560-00039426C04C}"/>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45" name="TextBox 44">
              <a:extLst>
                <a:ext uri="{FF2B5EF4-FFF2-40B4-BE49-F238E27FC236}">
                  <a16:creationId xmlns:a16="http://schemas.microsoft.com/office/drawing/2014/main" id="{E05085A2-C6D9-4D42-6251-871EE931BB45}"/>
                </a:ext>
              </a:extLst>
            </p:cNvPr>
            <p:cNvSpPr txBox="1"/>
            <p:nvPr/>
          </p:nvSpPr>
          <p:spPr>
            <a:xfrm>
              <a:off x="4483735" y="2868423"/>
              <a:ext cx="447788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Serving (Policy) Pipeline: </a:t>
              </a:r>
              <a:r>
                <a:rPr lang="en-SG" sz="1400" b="1" i="1" dirty="0"/>
                <a:t>Incentive Allocation (Budget-Constrained)</a:t>
              </a:r>
            </a:p>
            <a:p>
              <a:pPr marL="0" lvl="1" defTabSz="444500">
                <a:lnSpc>
                  <a:spcPct val="90000"/>
                </a:lnSpc>
                <a:spcBef>
                  <a:spcPct val="0"/>
                </a:spcBef>
                <a:spcAft>
                  <a:spcPct val="15000"/>
                </a:spcAft>
              </a:pPr>
              <a:r>
                <a:rPr lang="en-SG" sz="1400" i="1" dirty="0"/>
                <a:t>(Used for Both Offline Backtesting and Serving)</a:t>
              </a:r>
            </a:p>
          </p:txBody>
        </p:sp>
      </p:grpSp>
      <p:grpSp>
        <p:nvGrpSpPr>
          <p:cNvPr id="46" name="Group 45">
            <a:extLst>
              <a:ext uri="{FF2B5EF4-FFF2-40B4-BE49-F238E27FC236}">
                <a16:creationId xmlns:a16="http://schemas.microsoft.com/office/drawing/2014/main" id="{6808C675-6AEE-0335-298D-9A253F564DD3}"/>
              </a:ext>
            </a:extLst>
          </p:cNvPr>
          <p:cNvGrpSpPr/>
          <p:nvPr/>
        </p:nvGrpSpPr>
        <p:grpSpPr>
          <a:xfrm>
            <a:off x="8906887" y="6090950"/>
            <a:ext cx="1288330" cy="707886"/>
            <a:chOff x="4483736" y="2868419"/>
            <a:chExt cx="2631405" cy="1882430"/>
          </a:xfrm>
        </p:grpSpPr>
        <p:sp>
          <p:nvSpPr>
            <p:cNvPr id="47" name="Rectangle 46">
              <a:extLst>
                <a:ext uri="{FF2B5EF4-FFF2-40B4-BE49-F238E27FC236}">
                  <a16:creationId xmlns:a16="http://schemas.microsoft.com/office/drawing/2014/main" id="{A7317167-50AA-4B64-FDF3-DA077D241F3C}"/>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48" name="TextBox 47">
              <a:extLst>
                <a:ext uri="{FF2B5EF4-FFF2-40B4-BE49-F238E27FC236}">
                  <a16:creationId xmlns:a16="http://schemas.microsoft.com/office/drawing/2014/main" id="{9B9DEA4C-5696-59DA-AC50-D1BACD56DF3C}"/>
                </a:ext>
              </a:extLst>
            </p:cNvPr>
            <p:cNvSpPr txBox="1"/>
            <p:nvPr/>
          </p:nvSpPr>
          <p:spPr>
            <a:xfrm>
              <a:off x="4483736" y="2868419"/>
              <a:ext cx="2631405" cy="1882430"/>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Offline Policy Evaluation (Test)</a:t>
              </a:r>
            </a:p>
          </p:txBody>
        </p:sp>
      </p:grpSp>
      <p:grpSp>
        <p:nvGrpSpPr>
          <p:cNvPr id="49" name="Group 48">
            <a:extLst>
              <a:ext uri="{FF2B5EF4-FFF2-40B4-BE49-F238E27FC236}">
                <a16:creationId xmlns:a16="http://schemas.microsoft.com/office/drawing/2014/main" id="{CF9D8E35-5F06-5171-2245-2632760AFBDB}"/>
              </a:ext>
            </a:extLst>
          </p:cNvPr>
          <p:cNvGrpSpPr/>
          <p:nvPr/>
        </p:nvGrpSpPr>
        <p:grpSpPr>
          <a:xfrm>
            <a:off x="10079580" y="4716378"/>
            <a:ext cx="2112420" cy="2103553"/>
            <a:chOff x="0" y="85649"/>
            <a:chExt cx="3225516" cy="1935309"/>
          </a:xfrm>
        </p:grpSpPr>
        <p:sp>
          <p:nvSpPr>
            <p:cNvPr id="50" name="Rectangle: Rounded Corners 49">
              <a:extLst>
                <a:ext uri="{FF2B5EF4-FFF2-40B4-BE49-F238E27FC236}">
                  <a16:creationId xmlns:a16="http://schemas.microsoft.com/office/drawing/2014/main" id="{D00524B2-8C49-4395-B15D-73696E4F5430}"/>
                </a:ext>
              </a:extLst>
            </p:cNvPr>
            <p:cNvSpPr/>
            <p:nvPr/>
          </p:nvSpPr>
          <p:spPr>
            <a:xfrm>
              <a:off x="0" y="85649"/>
              <a:ext cx="3225516" cy="1935309"/>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51" name="Rectangle: Rounded Corners 4">
              <a:extLst>
                <a:ext uri="{FF2B5EF4-FFF2-40B4-BE49-F238E27FC236}">
                  <a16:creationId xmlns:a16="http://schemas.microsoft.com/office/drawing/2014/main" id="{668B9C79-FCC9-3EAF-EDFE-4EE7ECAD690C}"/>
                </a:ext>
              </a:extLst>
            </p:cNvPr>
            <p:cNvSpPr txBox="1"/>
            <p:nvPr/>
          </p:nvSpPr>
          <p:spPr>
            <a:xfrm>
              <a:off x="56682" y="142332"/>
              <a:ext cx="3112151" cy="1821943"/>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76200" tIns="76200" rIns="76200" bIns="76200" numCol="1" spcCol="1270" anchor="t" anchorCtr="0">
              <a:noAutofit/>
            </a:bodyPr>
            <a:lstStyle/>
            <a:p>
              <a:pPr marL="0" lvl="1" algn="l" defTabSz="711200">
                <a:spcBef>
                  <a:spcPct val="0"/>
                </a:spcBef>
                <a:spcAft>
                  <a:spcPts val="600"/>
                </a:spcAft>
              </a:pPr>
              <a:r>
                <a:rPr lang="en-SG" sz="1000" b="1" kern="1200" dirty="0"/>
                <a:t>Compare Policies</a:t>
              </a:r>
              <a:br>
                <a:rPr lang="en-SG" sz="1000" b="1" dirty="0"/>
              </a:br>
              <a:r>
                <a:rPr lang="en-SG" sz="1000" b="1" kern="1200" dirty="0"/>
                <a:t>(Budget-Constrained)</a:t>
              </a:r>
            </a:p>
            <a:p>
              <a:pPr marL="285750" lvl="1" indent="-285750" algn="l" defTabSz="711200">
                <a:spcBef>
                  <a:spcPct val="0"/>
                </a:spcBef>
                <a:spcAft>
                  <a:spcPts val="600"/>
                </a:spcAft>
                <a:buFont typeface="Wingdings" panose="05000000000000000000" pitchFamily="2" charset="2"/>
                <a:buChar char="Ø"/>
              </a:pPr>
              <a:r>
                <a:rPr lang="en-SG" sz="1000" kern="1200" dirty="0"/>
                <a:t>Policy A (Default ML-driven targeting): Target top ranked by expected value</a:t>
              </a:r>
            </a:p>
            <a:p>
              <a:pPr marL="285750" lvl="1" indent="-285750" algn="l" defTabSz="711200">
                <a:spcBef>
                  <a:spcPct val="0"/>
                </a:spcBef>
                <a:spcAft>
                  <a:spcPts val="600"/>
                </a:spcAft>
                <a:buFont typeface="Wingdings" panose="05000000000000000000" pitchFamily="2" charset="2"/>
                <a:buChar char="Ø"/>
              </a:pPr>
              <a:r>
                <a:rPr lang="en-SG" sz="1000" kern="1200" dirty="0"/>
                <a:t>Policy B (Random baseline)</a:t>
              </a:r>
            </a:p>
            <a:p>
              <a:pPr marL="285750" lvl="1" indent="-285750" algn="l" defTabSz="711200">
                <a:spcBef>
                  <a:spcPct val="0"/>
                </a:spcBef>
                <a:spcAft>
                  <a:spcPts val="600"/>
                </a:spcAft>
                <a:buFont typeface="Wingdings" panose="05000000000000000000" pitchFamily="2" charset="2"/>
                <a:buChar char="Ø"/>
              </a:pPr>
              <a:r>
                <a:rPr lang="en-SG" sz="1000" kern="1200" dirty="0"/>
                <a:t>Policy C (Business heuristic baseline): Target top ranked RFM users</a:t>
              </a:r>
              <a:endParaRPr lang="en-SG" sz="1000" dirty="0"/>
            </a:p>
          </p:txBody>
        </p:sp>
      </p:grpSp>
      <p:grpSp>
        <p:nvGrpSpPr>
          <p:cNvPr id="62" name="Group 61">
            <a:extLst>
              <a:ext uri="{FF2B5EF4-FFF2-40B4-BE49-F238E27FC236}">
                <a16:creationId xmlns:a16="http://schemas.microsoft.com/office/drawing/2014/main" id="{3CE3DE68-2FF9-E531-6949-3B0910357F07}"/>
              </a:ext>
            </a:extLst>
          </p:cNvPr>
          <p:cNvGrpSpPr/>
          <p:nvPr/>
        </p:nvGrpSpPr>
        <p:grpSpPr>
          <a:xfrm>
            <a:off x="8584059" y="6122628"/>
            <a:ext cx="284531" cy="332847"/>
            <a:chOff x="1478545" y="850322"/>
            <a:chExt cx="284531" cy="332847"/>
          </a:xfrm>
        </p:grpSpPr>
        <p:sp>
          <p:nvSpPr>
            <p:cNvPr id="63" name="Arrow: Right 62">
              <a:extLst>
                <a:ext uri="{FF2B5EF4-FFF2-40B4-BE49-F238E27FC236}">
                  <a16:creationId xmlns:a16="http://schemas.microsoft.com/office/drawing/2014/main" id="{F2CF6544-5BFB-DE01-AE9B-0BAD845145BC}"/>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64" name="Arrow: Right 4">
              <a:extLst>
                <a:ext uri="{FF2B5EF4-FFF2-40B4-BE49-F238E27FC236}">
                  <a16:creationId xmlns:a16="http://schemas.microsoft.com/office/drawing/2014/main" id="{70A7DE8F-06AE-ED3E-3CD4-8483F7A09DF1}"/>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66" name="Group 65">
            <a:extLst>
              <a:ext uri="{FF2B5EF4-FFF2-40B4-BE49-F238E27FC236}">
                <a16:creationId xmlns:a16="http://schemas.microsoft.com/office/drawing/2014/main" id="{B8E216D0-9742-F313-4789-1E38F18EAE12}"/>
              </a:ext>
            </a:extLst>
          </p:cNvPr>
          <p:cNvGrpSpPr/>
          <p:nvPr/>
        </p:nvGrpSpPr>
        <p:grpSpPr>
          <a:xfrm>
            <a:off x="6012525" y="6249637"/>
            <a:ext cx="2493680" cy="635935"/>
            <a:chOff x="4483736" y="2868423"/>
            <a:chExt cx="1769634" cy="1039355"/>
          </a:xfrm>
        </p:grpSpPr>
        <p:sp>
          <p:nvSpPr>
            <p:cNvPr id="67" name="Rectangle 66">
              <a:extLst>
                <a:ext uri="{FF2B5EF4-FFF2-40B4-BE49-F238E27FC236}">
                  <a16:creationId xmlns:a16="http://schemas.microsoft.com/office/drawing/2014/main" id="{605C7F8E-1A94-C266-284A-CF04F0D719E8}"/>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68" name="TextBox 67">
              <a:extLst>
                <a:ext uri="{FF2B5EF4-FFF2-40B4-BE49-F238E27FC236}">
                  <a16:creationId xmlns:a16="http://schemas.microsoft.com/office/drawing/2014/main" id="{02B5E0E6-BB23-F4DC-3B99-4E0D27D83BCE}"/>
                </a:ext>
              </a:extLst>
            </p:cNvPr>
            <p:cNvSpPr txBox="1"/>
            <p:nvPr/>
          </p:nvSpPr>
          <p:spPr>
            <a:xfrm>
              <a:off x="4483736"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algn="l" defTabSz="444500">
                <a:lnSpc>
                  <a:spcPct val="90000"/>
                </a:lnSpc>
                <a:spcBef>
                  <a:spcPct val="0"/>
                </a:spcBef>
                <a:spcAft>
                  <a:spcPct val="15000"/>
                </a:spcAft>
              </a:pPr>
              <a:r>
                <a:rPr lang="en-SG" sz="1000" i="1" dirty="0"/>
                <a:t>Policy is evaluated on actual holdout outcomes (historical realized revenue) across out-of-time snapshot slices</a:t>
              </a:r>
              <a:endParaRPr lang="en-SG" sz="1000" b="1" i="1" kern="1200" dirty="0"/>
            </a:p>
          </p:txBody>
        </p:sp>
      </p:grpSp>
      <p:sp>
        <p:nvSpPr>
          <p:cNvPr id="86" name="TextBox 85">
            <a:extLst>
              <a:ext uri="{FF2B5EF4-FFF2-40B4-BE49-F238E27FC236}">
                <a16:creationId xmlns:a16="http://schemas.microsoft.com/office/drawing/2014/main" id="{27E3D404-5B31-F03C-F812-01930AB01FCD}"/>
              </a:ext>
            </a:extLst>
          </p:cNvPr>
          <p:cNvSpPr txBox="1"/>
          <p:nvPr/>
        </p:nvSpPr>
        <p:spPr>
          <a:xfrm>
            <a:off x="682944" y="2104527"/>
            <a:ext cx="1541920" cy="1171618"/>
          </a:xfrm>
          <a:prstGeom prst="rect">
            <a:avLst/>
          </a:prstGeom>
          <a:noFill/>
        </p:spPr>
        <p:txBody>
          <a:bodyPr wrap="square">
            <a:spAutoFit/>
          </a:bodyPr>
          <a:lstStyle/>
          <a:p>
            <a:pPr lvl="0"/>
            <a:r>
              <a:rPr lang="en-SG" sz="1000" b="1" i="1" dirty="0"/>
              <a:t>Preprocessing in Feature Store</a:t>
            </a:r>
            <a:r>
              <a:rPr lang="en-SG" sz="1000" i="1" dirty="0"/>
              <a:t> </a:t>
            </a:r>
            <a:br>
              <a:rPr lang="en-SG" sz="1000" i="1" dirty="0"/>
            </a:br>
            <a:r>
              <a:rPr lang="en-SG" sz="1000" i="1" dirty="0"/>
              <a:t>Feature engineering includes derived </a:t>
            </a:r>
            <a:r>
              <a:rPr lang="en-SG" sz="1000" b="1" i="1" dirty="0"/>
              <a:t>RFM-style </a:t>
            </a:r>
            <a:r>
              <a:rPr lang="en-SG" sz="1000" i="1" dirty="0"/>
              <a:t>behavioural aggregation at </a:t>
            </a:r>
            <a:r>
              <a:rPr lang="en-SG" sz="1000" b="1" i="1" dirty="0"/>
              <a:t>user level</a:t>
            </a:r>
          </a:p>
        </p:txBody>
      </p:sp>
      <p:sp>
        <p:nvSpPr>
          <p:cNvPr id="6" name="TextBox 5">
            <a:extLst>
              <a:ext uri="{FF2B5EF4-FFF2-40B4-BE49-F238E27FC236}">
                <a16:creationId xmlns:a16="http://schemas.microsoft.com/office/drawing/2014/main" id="{D628A3E5-0910-85BC-4259-9DE399A340E3}"/>
              </a:ext>
            </a:extLst>
          </p:cNvPr>
          <p:cNvSpPr txBox="1"/>
          <p:nvPr/>
        </p:nvSpPr>
        <p:spPr>
          <a:xfrm>
            <a:off x="187644" y="6144741"/>
            <a:ext cx="5738676" cy="707886"/>
          </a:xfrm>
          <a:prstGeom prst="rect">
            <a:avLst/>
          </a:prstGeom>
          <a:noFill/>
        </p:spPr>
        <p:txBody>
          <a:bodyPr wrap="square">
            <a:spAutoFit/>
          </a:bodyPr>
          <a:lstStyle/>
          <a:p>
            <a:pPr lvl="0">
              <a:buNone/>
            </a:pPr>
            <a:r>
              <a:rPr lang="en-SG" sz="1000" i="1" dirty="0"/>
              <a:t>ML targeting policy ranks users based on expected value (predicted purchase probability × predicted revenue) on each prediction window and monthly snapshot slice.</a:t>
            </a:r>
          </a:p>
          <a:p>
            <a:pPr lvl="0">
              <a:buNone/>
            </a:pPr>
            <a:endParaRPr lang="en-SG" sz="1000" i="1" dirty="0"/>
          </a:p>
          <a:p>
            <a:pPr lvl="0">
              <a:buNone/>
            </a:pPr>
            <a:r>
              <a:rPr lang="en-SG" sz="1000" i="1" dirty="0"/>
              <a:t>Non-ML policies (Random, RFM) use their own non-EV ranking rules.</a:t>
            </a:r>
          </a:p>
        </p:txBody>
      </p:sp>
      <p:sp>
        <p:nvSpPr>
          <p:cNvPr id="7" name="TextBox 6">
            <a:extLst>
              <a:ext uri="{FF2B5EF4-FFF2-40B4-BE49-F238E27FC236}">
                <a16:creationId xmlns:a16="http://schemas.microsoft.com/office/drawing/2014/main" id="{5C2ACEE9-046D-1B46-F5FD-0B86899B6C00}"/>
              </a:ext>
            </a:extLst>
          </p:cNvPr>
          <p:cNvSpPr txBox="1"/>
          <p:nvPr/>
        </p:nvSpPr>
        <p:spPr>
          <a:xfrm>
            <a:off x="8686069" y="3040163"/>
            <a:ext cx="3420296" cy="1477328"/>
          </a:xfrm>
          <a:prstGeom prst="rect">
            <a:avLst/>
          </a:prstGeom>
          <a:solidFill>
            <a:schemeClr val="accent4">
              <a:lumMod val="20000"/>
              <a:lumOff val="80000"/>
            </a:schemeClr>
          </a:solidFill>
        </p:spPr>
        <p:txBody>
          <a:bodyPr wrap="square">
            <a:spAutoFit/>
          </a:bodyPr>
          <a:lstStyle/>
          <a:p>
            <a:pPr lvl="0">
              <a:buNone/>
            </a:pPr>
            <a:r>
              <a:rPr lang="en-SG" sz="1000" b="1" i="1" dirty="0"/>
              <a:t>Out Of Scope: No causality incrementality inferred</a:t>
            </a:r>
            <a:endParaRPr lang="en-SG" sz="1000" i="1" dirty="0"/>
          </a:p>
          <a:p>
            <a:pPr lvl="0">
              <a:buNone/>
            </a:pPr>
            <a:endParaRPr lang="en-SG" sz="1000" i="1" dirty="0"/>
          </a:p>
          <a:p>
            <a:pPr lvl="0">
              <a:buNone/>
            </a:pPr>
            <a:r>
              <a:rPr lang="en-SG" sz="1000" i="1" dirty="0"/>
              <a:t>Offline back testing compares allocation policies on a future holdout window using the </a:t>
            </a:r>
            <a:r>
              <a:rPr lang="en-SG" sz="1000" b="1" i="1" dirty="0"/>
              <a:t>same budgets for each policy </a:t>
            </a:r>
            <a:r>
              <a:rPr lang="en-SG" sz="1000" i="1" dirty="0"/>
              <a:t>to ensure fair comparison</a:t>
            </a:r>
          </a:p>
          <a:p>
            <a:pPr lvl="0">
              <a:buNone/>
            </a:pPr>
            <a:endParaRPr lang="en-SG" sz="1000" i="1" dirty="0"/>
          </a:p>
          <a:p>
            <a:pPr lvl="0">
              <a:buNone/>
            </a:pPr>
            <a:r>
              <a:rPr lang="en-SG" sz="1000" i="1" dirty="0"/>
              <a:t>True incremental impact would require randomized online experimentation (A/B Testing), which is out of scope for this repository.</a:t>
            </a:r>
          </a:p>
        </p:txBody>
      </p:sp>
      <p:sp>
        <p:nvSpPr>
          <p:cNvPr id="14" name="TextBox 13">
            <a:extLst>
              <a:ext uri="{FF2B5EF4-FFF2-40B4-BE49-F238E27FC236}">
                <a16:creationId xmlns:a16="http://schemas.microsoft.com/office/drawing/2014/main" id="{39EFF3B9-1E18-3E71-4A2D-D3B6203C9F69}"/>
              </a:ext>
            </a:extLst>
          </p:cNvPr>
          <p:cNvSpPr txBox="1"/>
          <p:nvPr/>
        </p:nvSpPr>
        <p:spPr>
          <a:xfrm>
            <a:off x="682944" y="3368131"/>
            <a:ext cx="4881046" cy="553998"/>
          </a:xfrm>
          <a:prstGeom prst="rect">
            <a:avLst/>
          </a:prstGeom>
          <a:noFill/>
        </p:spPr>
        <p:txBody>
          <a:bodyPr wrap="square">
            <a:spAutoFit/>
          </a:bodyPr>
          <a:lstStyle/>
          <a:p>
            <a:r>
              <a:rPr lang="en-SG" sz="1000" b="1" i="1" dirty="0"/>
              <a:t>Time-based split (Train/Val/Test):</a:t>
            </a:r>
            <a:br>
              <a:rPr lang="en-SG" sz="1000" b="1" i="1" dirty="0"/>
            </a:br>
            <a:r>
              <a:rPr lang="en-SG" sz="1000" b="1" i="1" dirty="0"/>
              <a:t>Historical rolling behavioural features </a:t>
            </a:r>
            <a:r>
              <a:rPr lang="en-SG" sz="1000" i="1" dirty="0"/>
              <a:t>(say 90 days windows) -&gt; </a:t>
            </a:r>
            <a:r>
              <a:rPr lang="en-SG" sz="1000" b="1" i="1" dirty="0"/>
              <a:t>Future purchase probability</a:t>
            </a:r>
            <a:r>
              <a:rPr lang="en-SG" sz="1000" i="1" dirty="0"/>
              <a:t> (say 30 days windows) for </a:t>
            </a:r>
            <a:r>
              <a:rPr lang="en-SG" sz="1000" b="1" i="1" dirty="0"/>
              <a:t>each monthly snapshot slice</a:t>
            </a:r>
          </a:p>
        </p:txBody>
      </p:sp>
      <p:sp>
        <p:nvSpPr>
          <p:cNvPr id="3" name="TextBox 2">
            <a:extLst>
              <a:ext uri="{FF2B5EF4-FFF2-40B4-BE49-F238E27FC236}">
                <a16:creationId xmlns:a16="http://schemas.microsoft.com/office/drawing/2014/main" id="{3CF98565-CA32-50F1-8DCD-0CA591F1094D}"/>
              </a:ext>
            </a:extLst>
          </p:cNvPr>
          <p:cNvSpPr txBox="1"/>
          <p:nvPr/>
        </p:nvSpPr>
        <p:spPr>
          <a:xfrm>
            <a:off x="6743983" y="1440588"/>
            <a:ext cx="1890884" cy="2092881"/>
          </a:xfrm>
          <a:prstGeom prst="rect">
            <a:avLst/>
          </a:prstGeom>
          <a:noFill/>
        </p:spPr>
        <p:txBody>
          <a:bodyPr wrap="square">
            <a:spAutoFit/>
          </a:bodyPr>
          <a:lstStyle/>
          <a:p>
            <a:pPr lvl="0"/>
            <a:r>
              <a:rPr lang="en-SG" sz="1000" b="1" dirty="0"/>
              <a:t>Purchase Propensity Model (logistic/xgboost + calibration)</a:t>
            </a:r>
            <a:br>
              <a:rPr lang="en-SG" sz="1000" b="1" dirty="0"/>
            </a:br>
            <a:r>
              <a:rPr lang="en-SG" sz="1000" b="1" dirty="0"/>
              <a:t>Primary metric: </a:t>
            </a:r>
            <a:r>
              <a:rPr lang="en-SG" sz="1000" dirty="0"/>
              <a:t>PR-AUC (purchase positive-class targeting)</a:t>
            </a:r>
          </a:p>
          <a:p>
            <a:pPr lvl="0"/>
            <a:r>
              <a:rPr lang="en-SG" sz="1000" b="1" dirty="0"/>
              <a:t>Guardrails:</a:t>
            </a:r>
            <a:r>
              <a:rPr lang="en-SG" sz="1000" dirty="0"/>
              <a:t> </a:t>
            </a:r>
          </a:p>
          <a:p>
            <a:pPr lvl="0"/>
            <a:r>
              <a:rPr lang="en-SG" sz="1000" dirty="0"/>
              <a:t>ROC-AUC | Top-decile lift | Brier | ECE</a:t>
            </a:r>
          </a:p>
          <a:p>
            <a:pPr lvl="0"/>
            <a:endParaRPr lang="en-SG" sz="1000" dirty="0"/>
          </a:p>
          <a:p>
            <a:pPr lvl="0"/>
            <a:r>
              <a:rPr lang="en-SG" sz="1000" b="1" dirty="0"/>
              <a:t>Revenue Prediction Model (xgboost regression)</a:t>
            </a:r>
            <a:br>
              <a:rPr lang="en-SG" sz="1000" b="1" dirty="0"/>
            </a:br>
            <a:r>
              <a:rPr lang="en-SG" sz="1000" dirty="0"/>
              <a:t>RMSE / MAE/ MAPE</a:t>
            </a:r>
          </a:p>
        </p:txBody>
      </p:sp>
      <p:grpSp>
        <p:nvGrpSpPr>
          <p:cNvPr id="5" name="Group 4">
            <a:extLst>
              <a:ext uri="{FF2B5EF4-FFF2-40B4-BE49-F238E27FC236}">
                <a16:creationId xmlns:a16="http://schemas.microsoft.com/office/drawing/2014/main" id="{D4C59201-8FED-3DF3-DFC2-AD439062D1F2}"/>
              </a:ext>
            </a:extLst>
          </p:cNvPr>
          <p:cNvGrpSpPr/>
          <p:nvPr/>
        </p:nvGrpSpPr>
        <p:grpSpPr>
          <a:xfrm>
            <a:off x="8907214" y="5206538"/>
            <a:ext cx="1288003" cy="600181"/>
            <a:chOff x="4258103" y="1850783"/>
            <a:chExt cx="4233637" cy="2140179"/>
          </a:xfrm>
        </p:grpSpPr>
        <p:sp>
          <p:nvSpPr>
            <p:cNvPr id="8" name="Rectangle 7">
              <a:extLst>
                <a:ext uri="{FF2B5EF4-FFF2-40B4-BE49-F238E27FC236}">
                  <a16:creationId xmlns:a16="http://schemas.microsoft.com/office/drawing/2014/main" id="{D716203E-5C70-22B9-A065-3FEE00301A18}"/>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9" name="TextBox 8">
              <a:extLst>
                <a:ext uri="{FF2B5EF4-FFF2-40B4-BE49-F238E27FC236}">
                  <a16:creationId xmlns:a16="http://schemas.microsoft.com/office/drawing/2014/main" id="{24B85D20-90CB-680E-2A80-4304B2ADD0CF}"/>
                </a:ext>
              </a:extLst>
            </p:cNvPr>
            <p:cNvSpPr txBox="1"/>
            <p:nvPr/>
          </p:nvSpPr>
          <p:spPr>
            <a:xfrm>
              <a:off x="4258103" y="1850783"/>
              <a:ext cx="4233637" cy="2140179"/>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Offline Policy Evaluation (Validation)</a:t>
              </a:r>
            </a:p>
          </p:txBody>
        </p:sp>
      </p:grpSp>
      <p:grpSp>
        <p:nvGrpSpPr>
          <p:cNvPr id="15" name="Group 14">
            <a:extLst>
              <a:ext uri="{FF2B5EF4-FFF2-40B4-BE49-F238E27FC236}">
                <a16:creationId xmlns:a16="http://schemas.microsoft.com/office/drawing/2014/main" id="{E63ED8D1-E2EA-17EE-B95D-9795EDCF0F0E}"/>
              </a:ext>
            </a:extLst>
          </p:cNvPr>
          <p:cNvGrpSpPr/>
          <p:nvPr/>
        </p:nvGrpSpPr>
        <p:grpSpPr>
          <a:xfrm>
            <a:off x="8622357" y="5174939"/>
            <a:ext cx="284531" cy="332847"/>
            <a:chOff x="1478545" y="850322"/>
            <a:chExt cx="284531" cy="332847"/>
          </a:xfrm>
        </p:grpSpPr>
        <p:sp>
          <p:nvSpPr>
            <p:cNvPr id="23" name="Arrow: Right 22">
              <a:extLst>
                <a:ext uri="{FF2B5EF4-FFF2-40B4-BE49-F238E27FC236}">
                  <a16:creationId xmlns:a16="http://schemas.microsoft.com/office/drawing/2014/main" id="{6A46FB25-35B0-7FFC-3EDE-7F99EBB07552}"/>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24" name="Arrow: Right 4">
              <a:extLst>
                <a:ext uri="{FF2B5EF4-FFF2-40B4-BE49-F238E27FC236}">
                  <a16:creationId xmlns:a16="http://schemas.microsoft.com/office/drawing/2014/main" id="{0FD7DEAA-6B1E-A6CC-CD63-1C55593B0A96}"/>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27" name="Group 26">
            <a:extLst>
              <a:ext uri="{FF2B5EF4-FFF2-40B4-BE49-F238E27FC236}">
                <a16:creationId xmlns:a16="http://schemas.microsoft.com/office/drawing/2014/main" id="{96670C5C-24F6-75B9-3630-0A0DC8CC7D56}"/>
              </a:ext>
            </a:extLst>
          </p:cNvPr>
          <p:cNvGrpSpPr/>
          <p:nvPr/>
        </p:nvGrpSpPr>
        <p:grpSpPr>
          <a:xfrm>
            <a:off x="8868590" y="2009238"/>
            <a:ext cx="2790010" cy="449984"/>
            <a:chOff x="4483736" y="2868423"/>
            <a:chExt cx="1769634" cy="1039355"/>
          </a:xfrm>
        </p:grpSpPr>
        <p:sp>
          <p:nvSpPr>
            <p:cNvPr id="28" name="Rectangle 27">
              <a:extLst>
                <a:ext uri="{FF2B5EF4-FFF2-40B4-BE49-F238E27FC236}">
                  <a16:creationId xmlns:a16="http://schemas.microsoft.com/office/drawing/2014/main" id="{49CA91E6-45AA-2A63-9687-4968960BB9EC}"/>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29" name="TextBox 28">
              <a:extLst>
                <a:ext uri="{FF2B5EF4-FFF2-40B4-BE49-F238E27FC236}">
                  <a16:creationId xmlns:a16="http://schemas.microsoft.com/office/drawing/2014/main" id="{E942BA43-3360-AAE7-B38E-EF1B2F82F430}"/>
                </a:ext>
              </a:extLst>
            </p:cNvPr>
            <p:cNvSpPr txBox="1"/>
            <p:nvPr/>
          </p:nvSpPr>
          <p:spPr>
            <a:xfrm>
              <a:off x="4483736"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Window Sensitivity Experiments</a:t>
              </a:r>
              <a:br>
                <a:rPr lang="en-SG" sz="1400" b="1" i="1" dirty="0"/>
              </a:br>
              <a:r>
                <a:rPr lang="en-SG" sz="1400" b="1" i="1" dirty="0"/>
                <a:t>(Train + Validation)</a:t>
              </a:r>
              <a:endParaRPr lang="en-SG" sz="1400" i="1" dirty="0"/>
            </a:p>
          </p:txBody>
        </p:sp>
      </p:grpSp>
      <p:grpSp>
        <p:nvGrpSpPr>
          <p:cNvPr id="30" name="Group 29">
            <a:extLst>
              <a:ext uri="{FF2B5EF4-FFF2-40B4-BE49-F238E27FC236}">
                <a16:creationId xmlns:a16="http://schemas.microsoft.com/office/drawing/2014/main" id="{44CD42A6-6A1B-5C4A-B259-6B3C539F52EA}"/>
              </a:ext>
            </a:extLst>
          </p:cNvPr>
          <p:cNvGrpSpPr/>
          <p:nvPr/>
        </p:nvGrpSpPr>
        <p:grpSpPr>
          <a:xfrm>
            <a:off x="8622356" y="2006425"/>
            <a:ext cx="284531" cy="332847"/>
            <a:chOff x="1478545" y="850322"/>
            <a:chExt cx="284531" cy="332847"/>
          </a:xfrm>
        </p:grpSpPr>
        <p:sp>
          <p:nvSpPr>
            <p:cNvPr id="31" name="Arrow: Right 30">
              <a:extLst>
                <a:ext uri="{FF2B5EF4-FFF2-40B4-BE49-F238E27FC236}">
                  <a16:creationId xmlns:a16="http://schemas.microsoft.com/office/drawing/2014/main" id="{A33E212B-63B0-B38F-0723-E7C34B12260A}"/>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32" name="Arrow: Right 4">
              <a:extLst>
                <a:ext uri="{FF2B5EF4-FFF2-40B4-BE49-F238E27FC236}">
                  <a16:creationId xmlns:a16="http://schemas.microsoft.com/office/drawing/2014/main" id="{DF5673BA-D215-69D8-75D0-737673288889}"/>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52" name="Group 51">
            <a:extLst>
              <a:ext uri="{FF2B5EF4-FFF2-40B4-BE49-F238E27FC236}">
                <a16:creationId xmlns:a16="http://schemas.microsoft.com/office/drawing/2014/main" id="{1BD3AA13-C4A7-F2B8-1E1D-254981977AF8}"/>
              </a:ext>
            </a:extLst>
          </p:cNvPr>
          <p:cNvGrpSpPr/>
          <p:nvPr/>
        </p:nvGrpSpPr>
        <p:grpSpPr>
          <a:xfrm>
            <a:off x="8683645" y="472672"/>
            <a:ext cx="3422720" cy="1477327"/>
            <a:chOff x="0" y="85649"/>
            <a:chExt cx="3225516" cy="1935309"/>
          </a:xfrm>
        </p:grpSpPr>
        <p:sp>
          <p:nvSpPr>
            <p:cNvPr id="56" name="Rectangle: Rounded Corners 55">
              <a:extLst>
                <a:ext uri="{FF2B5EF4-FFF2-40B4-BE49-F238E27FC236}">
                  <a16:creationId xmlns:a16="http://schemas.microsoft.com/office/drawing/2014/main" id="{4855D310-C021-B4A8-7601-00EA639C16CD}"/>
                </a:ext>
              </a:extLst>
            </p:cNvPr>
            <p:cNvSpPr/>
            <p:nvPr/>
          </p:nvSpPr>
          <p:spPr>
            <a:xfrm>
              <a:off x="0" y="85649"/>
              <a:ext cx="3225516" cy="1935309"/>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57" name="Rectangle: Rounded Corners 4">
              <a:extLst>
                <a:ext uri="{FF2B5EF4-FFF2-40B4-BE49-F238E27FC236}">
                  <a16:creationId xmlns:a16="http://schemas.microsoft.com/office/drawing/2014/main" id="{B8B199D4-140D-E3C8-2743-5401B1A1A40C}"/>
                </a:ext>
              </a:extLst>
            </p:cNvPr>
            <p:cNvSpPr txBox="1"/>
            <p:nvPr/>
          </p:nvSpPr>
          <p:spPr>
            <a:xfrm>
              <a:off x="56683" y="142334"/>
              <a:ext cx="3112151" cy="1821944"/>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76200" tIns="76200" rIns="76200" bIns="76200" numCol="1" spcCol="1270" anchor="t" anchorCtr="0">
              <a:noAutofit/>
            </a:bodyPr>
            <a:lstStyle/>
            <a:p>
              <a:pPr marL="0" lvl="1" algn="l" defTabSz="711200">
                <a:spcBef>
                  <a:spcPct val="0"/>
                </a:spcBef>
                <a:spcAft>
                  <a:spcPts val="600"/>
                </a:spcAft>
              </a:pPr>
              <a:r>
                <a:rPr lang="en-SG" sz="900" b="1" kern="1200" dirty="0"/>
                <a:t>Compare Model &amp; Assumptions (Freeze After </a:t>
              </a:r>
              <a:r>
                <a:rPr lang="en-SG" sz="900" b="1" dirty="0"/>
                <a:t>V</a:t>
              </a:r>
              <a:r>
                <a:rPr lang="en-SG" sz="900" b="1" kern="1200" dirty="0"/>
                <a:t>alidation)</a:t>
              </a:r>
            </a:p>
            <a:p>
              <a:pPr marL="285750" lvl="1" indent="-285750" algn="l" defTabSz="711200">
                <a:spcBef>
                  <a:spcPct val="0"/>
                </a:spcBef>
                <a:spcAft>
                  <a:spcPts val="600"/>
                </a:spcAft>
                <a:buFont typeface="Wingdings" panose="05000000000000000000" pitchFamily="2" charset="2"/>
                <a:buChar char="Ø"/>
              </a:pPr>
              <a:r>
                <a:rPr lang="en-SG" sz="900" b="1" dirty="0"/>
                <a:t>Propensity: logistic/xgboost </a:t>
              </a:r>
              <a:r>
                <a:rPr lang="en-SG" sz="900" dirty="0"/>
                <a:t>with different windows</a:t>
              </a:r>
            </a:p>
            <a:p>
              <a:pPr marL="285750" lvl="1" indent="-285750" algn="l" defTabSz="711200">
                <a:spcBef>
                  <a:spcPct val="0"/>
                </a:spcBef>
                <a:spcAft>
                  <a:spcPts val="600"/>
                </a:spcAft>
                <a:buFont typeface="Wingdings" panose="05000000000000000000" pitchFamily="2" charset="2"/>
                <a:buChar char="Ø"/>
              </a:pPr>
              <a:r>
                <a:rPr lang="en-SG" sz="900" b="1" dirty="0"/>
                <a:t>Prediction window </a:t>
              </a:r>
              <a:r>
                <a:rPr lang="en-SG" sz="900" dirty="0"/>
                <a:t>validation with inter-purchase distribution analysis (30d/60d/90d)</a:t>
              </a:r>
            </a:p>
            <a:p>
              <a:pPr marL="285750" lvl="1" indent="-285750" algn="l" defTabSz="711200">
                <a:spcBef>
                  <a:spcPct val="0"/>
                </a:spcBef>
                <a:spcAft>
                  <a:spcPts val="600"/>
                </a:spcAft>
                <a:buFont typeface="Wingdings" panose="05000000000000000000" pitchFamily="2" charset="2"/>
                <a:buChar char="Ø"/>
              </a:pPr>
              <a:r>
                <a:rPr lang="en-SG" sz="900" b="1" i="1" dirty="0"/>
                <a:t>Feature lookback window </a:t>
              </a:r>
              <a:r>
                <a:rPr lang="en-SG" sz="900" i="1" dirty="0"/>
                <a:t>validate with model evaluation metrics (long term 60d/90d/120d + always include short-term 30d)</a:t>
              </a:r>
            </a:p>
          </p:txBody>
        </p:sp>
      </p:grpSp>
      <p:sp>
        <p:nvSpPr>
          <p:cNvPr id="61" name="TextBox 60">
            <a:extLst>
              <a:ext uri="{FF2B5EF4-FFF2-40B4-BE49-F238E27FC236}">
                <a16:creationId xmlns:a16="http://schemas.microsoft.com/office/drawing/2014/main" id="{903E2D77-6379-415E-D39B-B000AA78467A}"/>
              </a:ext>
            </a:extLst>
          </p:cNvPr>
          <p:cNvSpPr txBox="1"/>
          <p:nvPr/>
        </p:nvSpPr>
        <p:spPr>
          <a:xfrm>
            <a:off x="8678534" y="2560524"/>
            <a:ext cx="2329892" cy="369332"/>
          </a:xfrm>
          <a:prstGeom prst="rect">
            <a:avLst/>
          </a:prstGeom>
          <a:solidFill>
            <a:schemeClr val="accent4">
              <a:lumMod val="20000"/>
              <a:lumOff val="80000"/>
            </a:schemeClr>
          </a:solidFill>
        </p:spPr>
        <p:txBody>
          <a:bodyPr wrap="square">
            <a:spAutoFit/>
          </a:bodyPr>
          <a:lstStyle/>
          <a:p>
            <a:pPr marL="0" lvl="1" defTabSz="444500">
              <a:lnSpc>
                <a:spcPct val="90000"/>
              </a:lnSpc>
              <a:spcBef>
                <a:spcPct val="0"/>
              </a:spcBef>
              <a:spcAft>
                <a:spcPct val="15000"/>
              </a:spcAft>
            </a:pPr>
            <a:r>
              <a:rPr lang="en-SG" sz="1000" b="1" i="1" dirty="0"/>
              <a:t>Periodic Retraining (If Production Environment)</a:t>
            </a:r>
          </a:p>
        </p:txBody>
      </p:sp>
      <p:grpSp>
        <p:nvGrpSpPr>
          <p:cNvPr id="69" name="Group 68">
            <a:extLst>
              <a:ext uri="{FF2B5EF4-FFF2-40B4-BE49-F238E27FC236}">
                <a16:creationId xmlns:a16="http://schemas.microsoft.com/office/drawing/2014/main" id="{FE10CFF9-DA5B-33D4-D518-0AD8DDCC5EFB}"/>
              </a:ext>
            </a:extLst>
          </p:cNvPr>
          <p:cNvGrpSpPr/>
          <p:nvPr/>
        </p:nvGrpSpPr>
        <p:grpSpPr>
          <a:xfrm rot="5400000">
            <a:off x="7066096" y="3797932"/>
            <a:ext cx="284531" cy="332847"/>
            <a:chOff x="1478545" y="850322"/>
            <a:chExt cx="284531" cy="332847"/>
          </a:xfrm>
        </p:grpSpPr>
        <p:sp>
          <p:nvSpPr>
            <p:cNvPr id="70" name="Arrow: Right 69">
              <a:extLst>
                <a:ext uri="{FF2B5EF4-FFF2-40B4-BE49-F238E27FC236}">
                  <a16:creationId xmlns:a16="http://schemas.microsoft.com/office/drawing/2014/main" id="{178279F9-D37B-3CFB-9188-85359CD711DC}"/>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71" name="Arrow: Right 4">
              <a:extLst>
                <a:ext uri="{FF2B5EF4-FFF2-40B4-BE49-F238E27FC236}">
                  <a16:creationId xmlns:a16="http://schemas.microsoft.com/office/drawing/2014/main" id="{CD642649-57ED-BF75-96A1-A73AC38C8434}"/>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sp>
        <p:nvSpPr>
          <p:cNvPr id="72" name="TextBox 71">
            <a:extLst>
              <a:ext uri="{FF2B5EF4-FFF2-40B4-BE49-F238E27FC236}">
                <a16:creationId xmlns:a16="http://schemas.microsoft.com/office/drawing/2014/main" id="{841A5866-94B3-85D2-525A-1A5E66B01566}"/>
              </a:ext>
            </a:extLst>
          </p:cNvPr>
          <p:cNvSpPr txBox="1"/>
          <p:nvPr/>
        </p:nvSpPr>
        <p:spPr>
          <a:xfrm>
            <a:off x="6058953" y="3687356"/>
            <a:ext cx="1138118" cy="707886"/>
          </a:xfrm>
          <a:prstGeom prst="rect">
            <a:avLst/>
          </a:prstGeom>
          <a:noFill/>
        </p:spPr>
        <p:txBody>
          <a:bodyPr wrap="square">
            <a:spAutoFit/>
          </a:bodyPr>
          <a:lstStyle/>
          <a:p>
            <a:pPr lvl="0"/>
            <a:r>
              <a:rPr lang="en-SG" sz="1000" b="1" dirty="0"/>
              <a:t>Frozen models and windows after model validation</a:t>
            </a:r>
            <a:endParaRPr lang="en-SG" sz="1000" dirty="0"/>
          </a:p>
        </p:txBody>
      </p:sp>
      <p:sp>
        <p:nvSpPr>
          <p:cNvPr id="11" name="TextBox 10">
            <a:extLst>
              <a:ext uri="{FF2B5EF4-FFF2-40B4-BE49-F238E27FC236}">
                <a16:creationId xmlns:a16="http://schemas.microsoft.com/office/drawing/2014/main" id="{BA566144-1FB7-4A81-3DF3-1B59707D835B}"/>
              </a:ext>
            </a:extLst>
          </p:cNvPr>
          <p:cNvSpPr txBox="1"/>
          <p:nvPr/>
        </p:nvSpPr>
        <p:spPr>
          <a:xfrm>
            <a:off x="7373739" y="3687356"/>
            <a:ext cx="1138118" cy="553998"/>
          </a:xfrm>
          <a:prstGeom prst="rect">
            <a:avLst/>
          </a:prstGeom>
          <a:noFill/>
        </p:spPr>
        <p:txBody>
          <a:bodyPr wrap="square">
            <a:spAutoFit/>
          </a:bodyPr>
          <a:lstStyle/>
          <a:p>
            <a:pPr lvl="0"/>
            <a:r>
              <a:rPr lang="en-SG" sz="1000" b="1" dirty="0"/>
              <a:t>Test: refit model on train + val data</a:t>
            </a:r>
            <a:endParaRPr lang="en-SG" sz="1000" dirty="0"/>
          </a:p>
        </p:txBody>
      </p:sp>
    </p:spTree>
    <p:extLst>
      <p:ext uri="{BB962C8B-B14F-4D97-AF65-F5344CB8AC3E}">
        <p14:creationId xmlns:p14="http://schemas.microsoft.com/office/powerpoint/2010/main" val="23599907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3E523F-6315-8ABE-9E02-48BD2A00B4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876A6E-DA06-CC5A-FAF4-268A04576F06}"/>
              </a:ext>
            </a:extLst>
          </p:cNvPr>
          <p:cNvSpPr>
            <a:spLocks noGrp="1"/>
          </p:cNvSpPr>
          <p:nvPr>
            <p:ph type="title"/>
          </p:nvPr>
        </p:nvSpPr>
        <p:spPr>
          <a:xfrm>
            <a:off x="1640156" y="624110"/>
            <a:ext cx="7523432" cy="1280890"/>
          </a:xfrm>
        </p:spPr>
        <p:txBody>
          <a:bodyPr/>
          <a:lstStyle/>
          <a:p>
            <a:r>
              <a:rPr lang="en-SG" dirty="0"/>
              <a:t>Recommender Engine</a:t>
            </a:r>
          </a:p>
        </p:txBody>
      </p:sp>
      <p:graphicFrame>
        <p:nvGraphicFramePr>
          <p:cNvPr id="4" name="Content Placeholder 3">
            <a:extLst>
              <a:ext uri="{FF2B5EF4-FFF2-40B4-BE49-F238E27FC236}">
                <a16:creationId xmlns:a16="http://schemas.microsoft.com/office/drawing/2014/main" id="{E5FC3F1C-38C4-A54A-C60A-2A9EB8E9748D}"/>
              </a:ext>
            </a:extLst>
          </p:cNvPr>
          <p:cNvGraphicFramePr>
            <a:graphicFrameLocks noGrp="1"/>
          </p:cNvGraphicFramePr>
          <p:nvPr>
            <p:ph idx="1"/>
            <p:extLst>
              <p:ext uri="{D42A27DB-BD31-4B8C-83A1-F6EECF244321}">
                <p14:modId xmlns:p14="http://schemas.microsoft.com/office/powerpoint/2010/main" val="150259526"/>
              </p:ext>
            </p:extLst>
          </p:nvPr>
        </p:nvGraphicFramePr>
        <p:xfrm>
          <a:off x="3131358" y="1324120"/>
          <a:ext cx="5796885" cy="261001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18" name="Group 17">
            <a:extLst>
              <a:ext uri="{FF2B5EF4-FFF2-40B4-BE49-F238E27FC236}">
                <a16:creationId xmlns:a16="http://schemas.microsoft.com/office/drawing/2014/main" id="{0042A5DF-25E0-EEF5-952C-367E2F9BBF40}"/>
              </a:ext>
            </a:extLst>
          </p:cNvPr>
          <p:cNvGrpSpPr/>
          <p:nvPr/>
        </p:nvGrpSpPr>
        <p:grpSpPr>
          <a:xfrm>
            <a:off x="3131358" y="1324120"/>
            <a:ext cx="5627645" cy="398885"/>
            <a:chOff x="4483736" y="2868422"/>
            <a:chExt cx="1769634" cy="1039356"/>
          </a:xfrm>
        </p:grpSpPr>
        <p:sp>
          <p:nvSpPr>
            <p:cNvPr id="19" name="Rectangle 18">
              <a:extLst>
                <a:ext uri="{FF2B5EF4-FFF2-40B4-BE49-F238E27FC236}">
                  <a16:creationId xmlns:a16="http://schemas.microsoft.com/office/drawing/2014/main" id="{3EDAEDA5-500C-3385-B1BC-BBFB94BAB9A1}"/>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20" name="TextBox 19">
              <a:extLst>
                <a:ext uri="{FF2B5EF4-FFF2-40B4-BE49-F238E27FC236}">
                  <a16:creationId xmlns:a16="http://schemas.microsoft.com/office/drawing/2014/main" id="{B7188EE1-6551-B19F-903D-33D0F8B39794}"/>
                </a:ext>
              </a:extLst>
            </p:cNvPr>
            <p:cNvSpPr txBox="1"/>
            <p:nvPr/>
          </p:nvSpPr>
          <p:spPr>
            <a:xfrm>
              <a:off x="4483736" y="2868422"/>
              <a:ext cx="1769634" cy="861609"/>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Training Pipeline (</a:t>
              </a:r>
              <a:r>
                <a:rPr lang="en-SG" sz="1400" b="1" i="1" dirty="0"/>
                <a:t>Offline): Two-Tower Collaborative Filtering</a:t>
              </a:r>
              <a:endParaRPr lang="en-SG" sz="1400" b="1" i="1" kern="1200" dirty="0"/>
            </a:p>
          </p:txBody>
        </p:sp>
      </p:grpSp>
      <p:graphicFrame>
        <p:nvGraphicFramePr>
          <p:cNvPr id="42" name="Content Placeholder 3">
            <a:extLst>
              <a:ext uri="{FF2B5EF4-FFF2-40B4-BE49-F238E27FC236}">
                <a16:creationId xmlns:a16="http://schemas.microsoft.com/office/drawing/2014/main" id="{C85F7CF3-93FD-6194-23DE-19C0476E7719}"/>
              </a:ext>
            </a:extLst>
          </p:cNvPr>
          <p:cNvGraphicFramePr>
            <a:graphicFrameLocks/>
          </p:cNvGraphicFramePr>
          <p:nvPr>
            <p:extLst>
              <p:ext uri="{D42A27DB-BD31-4B8C-83A1-F6EECF244321}">
                <p14:modId xmlns:p14="http://schemas.microsoft.com/office/powerpoint/2010/main" val="3955606075"/>
              </p:ext>
            </p:extLst>
          </p:nvPr>
        </p:nvGraphicFramePr>
        <p:xfrm>
          <a:off x="3131357" y="4080395"/>
          <a:ext cx="5796885" cy="2610010"/>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pSp>
        <p:nvGrpSpPr>
          <p:cNvPr id="43" name="Group 42">
            <a:extLst>
              <a:ext uri="{FF2B5EF4-FFF2-40B4-BE49-F238E27FC236}">
                <a16:creationId xmlns:a16="http://schemas.microsoft.com/office/drawing/2014/main" id="{66B34FE7-D558-16C3-5BF7-66CBC04802C5}"/>
              </a:ext>
            </a:extLst>
          </p:cNvPr>
          <p:cNvGrpSpPr/>
          <p:nvPr/>
        </p:nvGrpSpPr>
        <p:grpSpPr>
          <a:xfrm>
            <a:off x="3241883" y="4136488"/>
            <a:ext cx="5337038" cy="497651"/>
            <a:chOff x="4483735" y="2868423"/>
            <a:chExt cx="3474763" cy="1039355"/>
          </a:xfrm>
        </p:grpSpPr>
        <p:sp>
          <p:nvSpPr>
            <p:cNvPr id="44" name="Rectangle 43">
              <a:extLst>
                <a:ext uri="{FF2B5EF4-FFF2-40B4-BE49-F238E27FC236}">
                  <a16:creationId xmlns:a16="http://schemas.microsoft.com/office/drawing/2014/main" id="{A5186C26-8634-923F-38BE-FC6F8DB82864}"/>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45" name="TextBox 44">
              <a:extLst>
                <a:ext uri="{FF2B5EF4-FFF2-40B4-BE49-F238E27FC236}">
                  <a16:creationId xmlns:a16="http://schemas.microsoft.com/office/drawing/2014/main" id="{5E185327-B886-034E-931E-1F50F7050D78}"/>
                </a:ext>
              </a:extLst>
            </p:cNvPr>
            <p:cNvSpPr txBox="1"/>
            <p:nvPr/>
          </p:nvSpPr>
          <p:spPr>
            <a:xfrm>
              <a:off x="4483735" y="2868423"/>
              <a:ext cx="3474763"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Serving (Retrieval) Pipeline: Stage 1 Candidate Retrieval (Two-Tower Dot Product + ANN)</a:t>
              </a:r>
            </a:p>
          </p:txBody>
        </p:sp>
      </p:grpSp>
      <p:sp>
        <p:nvSpPr>
          <p:cNvPr id="65" name="Arrow: Bent 64">
            <a:extLst>
              <a:ext uri="{FF2B5EF4-FFF2-40B4-BE49-F238E27FC236}">
                <a16:creationId xmlns:a16="http://schemas.microsoft.com/office/drawing/2014/main" id="{64EAEDE7-0289-2B8C-7807-86A6147D5724}"/>
              </a:ext>
            </a:extLst>
          </p:cNvPr>
          <p:cNvSpPr/>
          <p:nvPr/>
        </p:nvSpPr>
        <p:spPr>
          <a:xfrm flipH="1">
            <a:off x="9163588" y="2831374"/>
            <a:ext cx="606176" cy="1698315"/>
          </a:xfrm>
          <a:prstGeom prst="bentArrow">
            <a:avLst/>
          </a:prstGeom>
          <a:solidFill>
            <a:srgbClr val="A53010">
              <a:alpha val="2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dirty="0">
              <a:solidFill>
                <a:schemeClr val="tx1"/>
              </a:solidFill>
            </a:endParaRPr>
          </a:p>
        </p:txBody>
      </p:sp>
      <p:grpSp>
        <p:nvGrpSpPr>
          <p:cNvPr id="5" name="Group 4">
            <a:extLst>
              <a:ext uri="{FF2B5EF4-FFF2-40B4-BE49-F238E27FC236}">
                <a16:creationId xmlns:a16="http://schemas.microsoft.com/office/drawing/2014/main" id="{69881087-05F0-7796-1ACA-9E3DD649F79A}"/>
              </a:ext>
            </a:extLst>
          </p:cNvPr>
          <p:cNvGrpSpPr/>
          <p:nvPr/>
        </p:nvGrpSpPr>
        <p:grpSpPr>
          <a:xfrm>
            <a:off x="9032450" y="5074822"/>
            <a:ext cx="284531" cy="332847"/>
            <a:chOff x="1478545" y="850322"/>
            <a:chExt cx="284531" cy="332847"/>
          </a:xfrm>
        </p:grpSpPr>
        <p:sp>
          <p:nvSpPr>
            <p:cNvPr id="6" name="Arrow: Right 5">
              <a:extLst>
                <a:ext uri="{FF2B5EF4-FFF2-40B4-BE49-F238E27FC236}">
                  <a16:creationId xmlns:a16="http://schemas.microsoft.com/office/drawing/2014/main" id="{EF2C012B-2B75-408E-FC2F-3053B3E1B4DA}"/>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7" name="Arrow: Right 4">
              <a:extLst>
                <a:ext uri="{FF2B5EF4-FFF2-40B4-BE49-F238E27FC236}">
                  <a16:creationId xmlns:a16="http://schemas.microsoft.com/office/drawing/2014/main" id="{07FE2FD6-E7C5-B478-7494-66C4F62D2855}"/>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8" name="Group 7">
            <a:extLst>
              <a:ext uri="{FF2B5EF4-FFF2-40B4-BE49-F238E27FC236}">
                <a16:creationId xmlns:a16="http://schemas.microsoft.com/office/drawing/2014/main" id="{8345A68D-7823-11C4-751A-B5C17CAA21C5}"/>
              </a:ext>
            </a:extLst>
          </p:cNvPr>
          <p:cNvGrpSpPr/>
          <p:nvPr/>
        </p:nvGrpSpPr>
        <p:grpSpPr>
          <a:xfrm>
            <a:off x="9316981" y="4622762"/>
            <a:ext cx="2683236" cy="425556"/>
            <a:chOff x="4483736" y="2868423"/>
            <a:chExt cx="1769634" cy="1039355"/>
          </a:xfrm>
        </p:grpSpPr>
        <p:sp>
          <p:nvSpPr>
            <p:cNvPr id="9" name="Rectangle 8">
              <a:extLst>
                <a:ext uri="{FF2B5EF4-FFF2-40B4-BE49-F238E27FC236}">
                  <a16:creationId xmlns:a16="http://schemas.microsoft.com/office/drawing/2014/main" id="{4B6F77BE-C997-2EF0-5EEB-402351E0310E}"/>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10" name="TextBox 9">
              <a:extLst>
                <a:ext uri="{FF2B5EF4-FFF2-40B4-BE49-F238E27FC236}">
                  <a16:creationId xmlns:a16="http://schemas.microsoft.com/office/drawing/2014/main" id="{79B6C517-E484-72E9-7BB5-F06B79C724F4}"/>
                </a:ext>
              </a:extLst>
            </p:cNvPr>
            <p:cNvSpPr txBox="1"/>
            <p:nvPr/>
          </p:nvSpPr>
          <p:spPr>
            <a:xfrm>
              <a:off x="4483736" y="2868423"/>
              <a:ext cx="1769634" cy="806558"/>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Offline Model Evaluation </a:t>
              </a:r>
            </a:p>
          </p:txBody>
        </p:sp>
      </p:grpSp>
      <p:grpSp>
        <p:nvGrpSpPr>
          <p:cNvPr id="11" name="Group 10">
            <a:extLst>
              <a:ext uri="{FF2B5EF4-FFF2-40B4-BE49-F238E27FC236}">
                <a16:creationId xmlns:a16="http://schemas.microsoft.com/office/drawing/2014/main" id="{DF31B023-9B65-8FBF-C915-B5911855AB2B}"/>
              </a:ext>
            </a:extLst>
          </p:cNvPr>
          <p:cNvGrpSpPr/>
          <p:nvPr/>
        </p:nvGrpSpPr>
        <p:grpSpPr>
          <a:xfrm>
            <a:off x="9421189" y="4953001"/>
            <a:ext cx="2518546" cy="1417114"/>
            <a:chOff x="0" y="85649"/>
            <a:chExt cx="3225516" cy="1935309"/>
          </a:xfrm>
        </p:grpSpPr>
        <p:sp>
          <p:nvSpPr>
            <p:cNvPr id="12" name="Rectangle: Rounded Corners 11">
              <a:extLst>
                <a:ext uri="{FF2B5EF4-FFF2-40B4-BE49-F238E27FC236}">
                  <a16:creationId xmlns:a16="http://schemas.microsoft.com/office/drawing/2014/main" id="{F71DCC3A-1CFC-FD99-7D0F-798AC99F30A4}"/>
                </a:ext>
              </a:extLst>
            </p:cNvPr>
            <p:cNvSpPr/>
            <p:nvPr/>
          </p:nvSpPr>
          <p:spPr>
            <a:xfrm>
              <a:off x="0" y="85649"/>
              <a:ext cx="3225516" cy="1935309"/>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13" name="Rectangle: Rounded Corners 4">
              <a:extLst>
                <a:ext uri="{FF2B5EF4-FFF2-40B4-BE49-F238E27FC236}">
                  <a16:creationId xmlns:a16="http://schemas.microsoft.com/office/drawing/2014/main" id="{7F21738A-6ECD-D72F-C776-C3208442DF7D}"/>
                </a:ext>
              </a:extLst>
            </p:cNvPr>
            <p:cNvSpPr txBox="1"/>
            <p:nvPr/>
          </p:nvSpPr>
          <p:spPr>
            <a:xfrm>
              <a:off x="56683" y="142332"/>
              <a:ext cx="3112150" cy="1821943"/>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76200" tIns="76200" rIns="76200" bIns="76200" numCol="1" spcCol="1270" anchor="t" anchorCtr="0">
              <a:noAutofit/>
            </a:bodyPr>
            <a:lstStyle/>
            <a:p>
              <a:pPr marL="0" lvl="1" defTabSz="711200">
                <a:lnSpc>
                  <a:spcPct val="90000"/>
                </a:lnSpc>
                <a:spcBef>
                  <a:spcPct val="0"/>
                </a:spcBef>
                <a:spcAft>
                  <a:spcPct val="15000"/>
                </a:spcAft>
              </a:pPr>
              <a:r>
                <a:rPr lang="en-SG" sz="1400" dirty="0"/>
                <a:t>Proxy metrics for commercial engagement</a:t>
              </a:r>
              <a:endParaRPr lang="en-SG" sz="1400" kern="1200" dirty="0"/>
            </a:p>
            <a:p>
              <a:pPr marL="285750" lvl="1" indent="-285750" algn="l" defTabSz="711200">
                <a:lnSpc>
                  <a:spcPct val="90000"/>
                </a:lnSpc>
                <a:spcBef>
                  <a:spcPct val="0"/>
                </a:spcBef>
                <a:spcAft>
                  <a:spcPct val="15000"/>
                </a:spcAft>
                <a:buFont typeface="Arial" panose="020B0604020202020204" pitchFamily="34" charset="0"/>
                <a:buChar char="•"/>
              </a:pPr>
              <a:r>
                <a:rPr lang="en-SG" sz="1400" kern="1200" dirty="0"/>
                <a:t>Recall</a:t>
              </a:r>
            </a:p>
            <a:p>
              <a:pPr marL="285750" lvl="1" indent="-285750" algn="l" defTabSz="711200">
                <a:lnSpc>
                  <a:spcPct val="90000"/>
                </a:lnSpc>
                <a:spcBef>
                  <a:spcPct val="0"/>
                </a:spcBef>
                <a:spcAft>
                  <a:spcPct val="15000"/>
                </a:spcAft>
                <a:buFont typeface="Arial" panose="020B0604020202020204" pitchFamily="34" charset="0"/>
                <a:buChar char="•"/>
              </a:pPr>
              <a:r>
                <a:rPr lang="en-SG" sz="1400" kern="1200" dirty="0"/>
                <a:t>NDCG Evaluation</a:t>
              </a:r>
            </a:p>
            <a:p>
              <a:pPr marL="285750" lvl="1" indent="-285750" algn="l" defTabSz="711200">
                <a:lnSpc>
                  <a:spcPct val="90000"/>
                </a:lnSpc>
                <a:spcBef>
                  <a:spcPct val="0"/>
                </a:spcBef>
                <a:spcAft>
                  <a:spcPct val="15000"/>
                </a:spcAft>
                <a:buFont typeface="Arial" panose="020B0604020202020204" pitchFamily="34" charset="0"/>
                <a:buChar char="•"/>
              </a:pPr>
              <a:r>
                <a:rPr lang="en-SG" sz="1400" kern="1200" dirty="0"/>
                <a:t>Hit Rate</a:t>
              </a:r>
            </a:p>
          </p:txBody>
        </p:sp>
      </p:grpSp>
      <p:sp>
        <p:nvSpPr>
          <p:cNvPr id="14" name="TextBox 13">
            <a:extLst>
              <a:ext uri="{FF2B5EF4-FFF2-40B4-BE49-F238E27FC236}">
                <a16:creationId xmlns:a16="http://schemas.microsoft.com/office/drawing/2014/main" id="{BFAA6854-1939-B7C6-2A39-5E9D39B67A0C}"/>
              </a:ext>
            </a:extLst>
          </p:cNvPr>
          <p:cNvSpPr txBox="1"/>
          <p:nvPr/>
        </p:nvSpPr>
        <p:spPr>
          <a:xfrm>
            <a:off x="3100757" y="2180901"/>
            <a:ext cx="1632186" cy="1015663"/>
          </a:xfrm>
          <a:prstGeom prst="rect">
            <a:avLst/>
          </a:prstGeom>
          <a:noFill/>
        </p:spPr>
        <p:txBody>
          <a:bodyPr wrap="square">
            <a:spAutoFit/>
          </a:bodyPr>
          <a:lstStyle/>
          <a:p>
            <a:pPr lvl="0"/>
            <a:r>
              <a:rPr lang="en-SG" sz="1000" b="1" i="1" dirty="0"/>
              <a:t>Preprocessing in Feature Store:</a:t>
            </a:r>
            <a:endParaRPr lang="en-SG" sz="1000" i="1" dirty="0"/>
          </a:p>
          <a:p>
            <a:pPr marL="171450" lvl="0" indent="-171450">
              <a:buFont typeface="Wingdings" panose="05000000000000000000" pitchFamily="2" charset="2"/>
              <a:buChar char="Ø"/>
            </a:pPr>
            <a:r>
              <a:rPr lang="en-SG" sz="1000" i="1" dirty="0"/>
              <a:t>Interaction Matrix Construction (Time-aware user–item interaction features)</a:t>
            </a:r>
          </a:p>
        </p:txBody>
      </p:sp>
      <p:sp>
        <p:nvSpPr>
          <p:cNvPr id="15" name="TextBox 14">
            <a:extLst>
              <a:ext uri="{FF2B5EF4-FFF2-40B4-BE49-F238E27FC236}">
                <a16:creationId xmlns:a16="http://schemas.microsoft.com/office/drawing/2014/main" id="{C1752EBF-2C0F-14B9-7A9C-AB7372903286}"/>
              </a:ext>
            </a:extLst>
          </p:cNvPr>
          <p:cNvSpPr txBox="1"/>
          <p:nvPr/>
        </p:nvSpPr>
        <p:spPr>
          <a:xfrm>
            <a:off x="6294637" y="3328223"/>
            <a:ext cx="2284284" cy="553998"/>
          </a:xfrm>
          <a:prstGeom prst="rect">
            <a:avLst/>
          </a:prstGeom>
          <a:noFill/>
        </p:spPr>
        <p:txBody>
          <a:bodyPr wrap="square">
            <a:spAutoFit/>
          </a:bodyPr>
          <a:lstStyle/>
          <a:p>
            <a:pPr lvl="0"/>
            <a:r>
              <a:rPr lang="en-SG" sz="1000" b="1" i="1" dirty="0"/>
              <a:t>Time-based split ((Train/Val/Test): </a:t>
            </a:r>
            <a:r>
              <a:rPr lang="en-SG" sz="1000" i="1" dirty="0"/>
              <a:t>Chronological split (no future data leak into training)</a:t>
            </a:r>
          </a:p>
        </p:txBody>
      </p:sp>
      <p:sp>
        <p:nvSpPr>
          <p:cNvPr id="16" name="TextBox 15">
            <a:extLst>
              <a:ext uri="{FF2B5EF4-FFF2-40B4-BE49-F238E27FC236}">
                <a16:creationId xmlns:a16="http://schemas.microsoft.com/office/drawing/2014/main" id="{5DBE317E-09DD-E978-C40E-A59F7303E440}"/>
              </a:ext>
            </a:extLst>
          </p:cNvPr>
          <p:cNvSpPr txBox="1"/>
          <p:nvPr/>
        </p:nvSpPr>
        <p:spPr>
          <a:xfrm>
            <a:off x="5353104" y="6115993"/>
            <a:ext cx="1724782" cy="400110"/>
          </a:xfrm>
          <a:prstGeom prst="rect">
            <a:avLst/>
          </a:prstGeom>
          <a:noFill/>
        </p:spPr>
        <p:txBody>
          <a:bodyPr wrap="square">
            <a:spAutoFit/>
          </a:bodyPr>
          <a:lstStyle/>
          <a:p>
            <a:pPr lvl="0"/>
            <a:r>
              <a:rPr lang="en-SG" sz="1000" i="1" dirty="0"/>
              <a:t>With precomputed item embeddings</a:t>
            </a:r>
          </a:p>
        </p:txBody>
      </p:sp>
      <p:sp>
        <p:nvSpPr>
          <p:cNvPr id="17" name="TextBox 16">
            <a:extLst>
              <a:ext uri="{FF2B5EF4-FFF2-40B4-BE49-F238E27FC236}">
                <a16:creationId xmlns:a16="http://schemas.microsoft.com/office/drawing/2014/main" id="{7621586B-2D1B-4192-689D-C703D920888D}"/>
              </a:ext>
            </a:extLst>
          </p:cNvPr>
          <p:cNvSpPr txBox="1"/>
          <p:nvPr/>
        </p:nvSpPr>
        <p:spPr>
          <a:xfrm>
            <a:off x="9316981" y="916125"/>
            <a:ext cx="2766007" cy="1477328"/>
          </a:xfrm>
          <a:prstGeom prst="rect">
            <a:avLst/>
          </a:prstGeom>
          <a:solidFill>
            <a:schemeClr val="accent2">
              <a:lumMod val="20000"/>
              <a:lumOff val="80000"/>
            </a:schemeClr>
          </a:solidFill>
        </p:spPr>
        <p:txBody>
          <a:bodyPr wrap="square">
            <a:spAutoFit/>
          </a:bodyPr>
          <a:lstStyle/>
          <a:p>
            <a:pPr lvl="0"/>
            <a:r>
              <a:rPr lang="en-SG" sz="1000" b="1" i="1" u="sng" dirty="0"/>
              <a:t>Terms for reference</a:t>
            </a:r>
          </a:p>
          <a:p>
            <a:pPr lvl="0"/>
            <a:endParaRPr lang="en-SG" sz="1000" b="1" i="1" dirty="0"/>
          </a:p>
          <a:p>
            <a:pPr lvl="0"/>
            <a:r>
              <a:rPr lang="en-SG" sz="1000" b="1" i="1" dirty="0"/>
              <a:t>Collaborative Filtering:</a:t>
            </a:r>
            <a:r>
              <a:rPr lang="en-SG" sz="1000" i="1" dirty="0"/>
              <a:t> Behaviour-driven learning from User-Item Interactions</a:t>
            </a:r>
          </a:p>
          <a:p>
            <a:pPr lvl="0"/>
            <a:endParaRPr lang="en-SG" sz="1000" i="1" dirty="0"/>
          </a:p>
          <a:p>
            <a:r>
              <a:rPr lang="en-SG" sz="1000" b="1" i="1" dirty="0"/>
              <a:t>Two-Tower Model Training: </a:t>
            </a:r>
          </a:p>
          <a:p>
            <a:pPr lvl="0"/>
            <a:r>
              <a:rPr lang="en-SG" sz="1000" i="1" dirty="0"/>
              <a:t>Generate embeddings for both users and items in shared embedding space for recommendations</a:t>
            </a:r>
          </a:p>
        </p:txBody>
      </p:sp>
      <p:sp>
        <p:nvSpPr>
          <p:cNvPr id="21" name="TextBox 20">
            <a:extLst>
              <a:ext uri="{FF2B5EF4-FFF2-40B4-BE49-F238E27FC236}">
                <a16:creationId xmlns:a16="http://schemas.microsoft.com/office/drawing/2014/main" id="{2B6ECFDD-E1D2-C572-2713-33281C1AD597}"/>
              </a:ext>
            </a:extLst>
          </p:cNvPr>
          <p:cNvSpPr txBox="1"/>
          <p:nvPr/>
        </p:nvSpPr>
        <p:spPr>
          <a:xfrm>
            <a:off x="7110765" y="6115992"/>
            <a:ext cx="1883331" cy="400110"/>
          </a:xfrm>
          <a:prstGeom prst="rect">
            <a:avLst/>
          </a:prstGeom>
          <a:noFill/>
        </p:spPr>
        <p:txBody>
          <a:bodyPr wrap="square">
            <a:spAutoFit/>
          </a:bodyPr>
          <a:lstStyle/>
          <a:p>
            <a:pPr lvl="0"/>
            <a:r>
              <a:rPr lang="en-SG" sz="1000" i="1" dirty="0"/>
              <a:t>What content/product to show to end users</a:t>
            </a:r>
          </a:p>
        </p:txBody>
      </p:sp>
      <p:sp>
        <p:nvSpPr>
          <p:cNvPr id="25" name="TextBox 24">
            <a:extLst>
              <a:ext uri="{FF2B5EF4-FFF2-40B4-BE49-F238E27FC236}">
                <a16:creationId xmlns:a16="http://schemas.microsoft.com/office/drawing/2014/main" id="{BEC2D81F-8862-F971-8647-50E0D76022FE}"/>
              </a:ext>
            </a:extLst>
          </p:cNvPr>
          <p:cNvSpPr txBox="1"/>
          <p:nvPr/>
        </p:nvSpPr>
        <p:spPr>
          <a:xfrm>
            <a:off x="9852822" y="2758462"/>
            <a:ext cx="1443828" cy="507831"/>
          </a:xfrm>
          <a:prstGeom prst="rect">
            <a:avLst/>
          </a:prstGeom>
          <a:solidFill>
            <a:schemeClr val="accent4">
              <a:lumMod val="20000"/>
              <a:lumOff val="80000"/>
            </a:schemeClr>
          </a:solidFill>
        </p:spPr>
        <p:txBody>
          <a:bodyPr wrap="square">
            <a:spAutoFit/>
          </a:bodyPr>
          <a:lstStyle/>
          <a:p>
            <a:pPr marL="0" lvl="1" defTabSz="444500">
              <a:lnSpc>
                <a:spcPct val="90000"/>
              </a:lnSpc>
              <a:spcBef>
                <a:spcPct val="0"/>
              </a:spcBef>
              <a:spcAft>
                <a:spcPct val="15000"/>
              </a:spcAft>
            </a:pPr>
            <a:r>
              <a:rPr lang="en-SG" sz="1000" b="1" i="1" dirty="0"/>
              <a:t>Periodic Retraining (If Production Environment)</a:t>
            </a:r>
          </a:p>
        </p:txBody>
      </p:sp>
      <p:sp>
        <p:nvSpPr>
          <p:cNvPr id="23" name="TextBox 22">
            <a:extLst>
              <a:ext uri="{FF2B5EF4-FFF2-40B4-BE49-F238E27FC236}">
                <a16:creationId xmlns:a16="http://schemas.microsoft.com/office/drawing/2014/main" id="{B6EA18ED-65AA-6B85-C305-93F0E39DC5DC}"/>
              </a:ext>
            </a:extLst>
          </p:cNvPr>
          <p:cNvSpPr txBox="1"/>
          <p:nvPr/>
        </p:nvSpPr>
        <p:spPr>
          <a:xfrm>
            <a:off x="7113100" y="6450431"/>
            <a:ext cx="3289053" cy="400110"/>
          </a:xfrm>
          <a:prstGeom prst="rect">
            <a:avLst/>
          </a:prstGeom>
          <a:noFill/>
        </p:spPr>
        <p:txBody>
          <a:bodyPr wrap="square">
            <a:spAutoFit/>
          </a:bodyPr>
          <a:lstStyle/>
          <a:p>
            <a:pPr lvl="0"/>
            <a:r>
              <a:rPr lang="en-SG" sz="1000" b="1" i="1" dirty="0"/>
              <a:t>ANN: </a:t>
            </a:r>
            <a:r>
              <a:rPr lang="en-SG" sz="1000" i="1" dirty="0"/>
              <a:t>Efficient approximate nearest neighbour search for large catalogs (e.g. millions of items)</a:t>
            </a:r>
          </a:p>
        </p:txBody>
      </p:sp>
      <p:sp>
        <p:nvSpPr>
          <p:cNvPr id="3" name="Rectangle 2">
            <a:extLst>
              <a:ext uri="{FF2B5EF4-FFF2-40B4-BE49-F238E27FC236}">
                <a16:creationId xmlns:a16="http://schemas.microsoft.com/office/drawing/2014/main" id="{A091C461-F45E-330A-BFA4-D37BAB2780E3}"/>
              </a:ext>
            </a:extLst>
          </p:cNvPr>
          <p:cNvSpPr/>
          <p:nvPr/>
        </p:nvSpPr>
        <p:spPr>
          <a:xfrm>
            <a:off x="257784" y="1272803"/>
            <a:ext cx="2634778" cy="1415929"/>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000" b="1" u="sng" dirty="0">
                <a:solidFill>
                  <a:schemeClr val="tx1"/>
                </a:solidFill>
              </a:rPr>
              <a:t>Experimental Models</a:t>
            </a:r>
            <a:endParaRPr lang="en-SG" sz="1000" b="1" dirty="0">
              <a:solidFill>
                <a:schemeClr val="tx1"/>
              </a:solidFill>
            </a:endParaRPr>
          </a:p>
          <a:p>
            <a:pPr marL="171450" indent="-171450">
              <a:buFont typeface="Wingdings" panose="05000000000000000000" pitchFamily="2" charset="2"/>
              <a:buChar char="Ø"/>
            </a:pPr>
            <a:r>
              <a:rPr lang="en-SG" sz="1000" b="1" dirty="0">
                <a:solidFill>
                  <a:schemeClr val="tx1"/>
                </a:solidFill>
              </a:rPr>
              <a:t>Popularity</a:t>
            </a:r>
            <a:r>
              <a:rPr lang="en-SG" sz="1000" dirty="0">
                <a:solidFill>
                  <a:schemeClr val="tx1"/>
                </a:solidFill>
              </a:rPr>
              <a:t>: recommends globally most-bought items.</a:t>
            </a:r>
          </a:p>
          <a:p>
            <a:pPr marL="171450" indent="-171450">
              <a:buFont typeface="Wingdings" panose="05000000000000000000" pitchFamily="2" charset="2"/>
              <a:buChar char="Ø"/>
            </a:pPr>
            <a:r>
              <a:rPr lang="en-SG" sz="1000" b="1" dirty="0">
                <a:solidFill>
                  <a:schemeClr val="tx1"/>
                </a:solidFill>
              </a:rPr>
              <a:t>MF: </a:t>
            </a:r>
            <a:r>
              <a:rPr lang="en-SG" sz="1000" dirty="0">
                <a:solidFill>
                  <a:schemeClr val="tx1"/>
                </a:solidFill>
              </a:rPr>
              <a:t>Matrix factorization (TruncatedSVD) on user-item interactions.</a:t>
            </a:r>
          </a:p>
          <a:p>
            <a:pPr marL="171450" indent="-171450">
              <a:buFont typeface="Wingdings" panose="05000000000000000000" pitchFamily="2" charset="2"/>
              <a:buChar char="Ø"/>
            </a:pPr>
            <a:r>
              <a:rPr lang="en-SG" sz="1000" b="1" dirty="0">
                <a:solidFill>
                  <a:schemeClr val="tx1"/>
                </a:solidFill>
              </a:rPr>
              <a:t>Two-Tower (ML-default): </a:t>
            </a:r>
            <a:r>
              <a:rPr lang="en-SG" sz="1000" dirty="0">
                <a:solidFill>
                  <a:schemeClr val="tx1"/>
                </a:solidFill>
              </a:rPr>
              <a:t>Current architecture model.</a:t>
            </a:r>
          </a:p>
        </p:txBody>
      </p:sp>
      <p:sp>
        <p:nvSpPr>
          <p:cNvPr id="24" name="Rectangle 23">
            <a:extLst>
              <a:ext uri="{FF2B5EF4-FFF2-40B4-BE49-F238E27FC236}">
                <a16:creationId xmlns:a16="http://schemas.microsoft.com/office/drawing/2014/main" id="{42725D59-6665-2915-3741-A1591DBA1EF7}"/>
              </a:ext>
            </a:extLst>
          </p:cNvPr>
          <p:cNvSpPr/>
          <p:nvPr/>
        </p:nvSpPr>
        <p:spPr>
          <a:xfrm>
            <a:off x="267940" y="5853093"/>
            <a:ext cx="2634778" cy="997447"/>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000" b="1" dirty="0">
                <a:solidFill>
                  <a:schemeClr val="tx1"/>
                </a:solidFill>
              </a:rPr>
              <a:t>Out-of-scope: </a:t>
            </a:r>
          </a:p>
          <a:p>
            <a:pPr marL="171450" indent="-171450">
              <a:buFont typeface="Wingdings" panose="05000000000000000000" pitchFamily="2" charset="2"/>
              <a:buChar char="Ø"/>
            </a:pPr>
            <a:r>
              <a:rPr lang="en-SG" sz="1000" b="1" dirty="0">
                <a:solidFill>
                  <a:schemeClr val="tx1"/>
                </a:solidFill>
              </a:rPr>
              <a:t>Stage 2 Re-ranking </a:t>
            </a:r>
            <a:r>
              <a:rPr lang="en-SG" sz="1000" dirty="0">
                <a:solidFill>
                  <a:schemeClr val="tx1"/>
                </a:solidFill>
              </a:rPr>
              <a:t>to improve recall</a:t>
            </a:r>
          </a:p>
          <a:p>
            <a:pPr marL="171450" indent="-171450">
              <a:buFont typeface="Wingdings" panose="05000000000000000000" pitchFamily="2" charset="2"/>
              <a:buChar char="Ø"/>
            </a:pPr>
            <a:r>
              <a:rPr lang="en-SG" sz="1000" b="1" dirty="0">
                <a:solidFill>
                  <a:schemeClr val="tx1"/>
                </a:solidFill>
              </a:rPr>
              <a:t>Recommender feature store keeps only the latest canonical build;</a:t>
            </a:r>
            <a:r>
              <a:rPr lang="en-SG" sz="1000" dirty="0">
                <a:solidFill>
                  <a:schemeClr val="tx1"/>
                </a:solidFill>
              </a:rPr>
              <a:t> reruns overwrite prior outputs.</a:t>
            </a:r>
          </a:p>
        </p:txBody>
      </p:sp>
      <p:sp>
        <p:nvSpPr>
          <p:cNvPr id="22" name="Rectangle 21">
            <a:extLst>
              <a:ext uri="{FF2B5EF4-FFF2-40B4-BE49-F238E27FC236}">
                <a16:creationId xmlns:a16="http://schemas.microsoft.com/office/drawing/2014/main" id="{4AD1588E-2502-031D-D41D-94791FAC1C39}"/>
              </a:ext>
            </a:extLst>
          </p:cNvPr>
          <p:cNvSpPr/>
          <p:nvPr/>
        </p:nvSpPr>
        <p:spPr>
          <a:xfrm>
            <a:off x="1" y="0"/>
            <a:ext cx="6096000" cy="476639"/>
          </a:xfrm>
          <a:prstGeom prst="rect">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000" dirty="0">
                <a:solidFill>
                  <a:srgbClr val="FF0000"/>
                </a:solidFill>
              </a:rPr>
              <a:t>- Also to rerun pipeline/artifacts to see if appendix key results and analysis reports need refresh</a:t>
            </a:r>
          </a:p>
          <a:p>
            <a:r>
              <a:rPr lang="en-SG" sz="1000" dirty="0">
                <a:solidFill>
                  <a:srgbClr val="FF0000"/>
                </a:solidFill>
              </a:rPr>
              <a:t>- Consider add a technical slide on how ANN works </a:t>
            </a:r>
          </a:p>
        </p:txBody>
      </p:sp>
      <p:sp>
        <p:nvSpPr>
          <p:cNvPr id="27" name="TextBox 26">
            <a:extLst>
              <a:ext uri="{FF2B5EF4-FFF2-40B4-BE49-F238E27FC236}">
                <a16:creationId xmlns:a16="http://schemas.microsoft.com/office/drawing/2014/main" id="{1139F72D-FA4D-11E0-9ECB-7E407872CE73}"/>
              </a:ext>
            </a:extLst>
          </p:cNvPr>
          <p:cNvSpPr txBox="1"/>
          <p:nvPr/>
        </p:nvSpPr>
        <p:spPr>
          <a:xfrm>
            <a:off x="285776" y="2831374"/>
            <a:ext cx="2599107" cy="3016210"/>
          </a:xfrm>
          <a:prstGeom prst="rect">
            <a:avLst/>
          </a:prstGeom>
          <a:solidFill>
            <a:schemeClr val="accent6">
              <a:lumMod val="20000"/>
              <a:lumOff val="80000"/>
            </a:schemeClr>
          </a:solidFill>
        </p:spPr>
        <p:txBody>
          <a:bodyPr wrap="square">
            <a:spAutoFit/>
          </a:bodyPr>
          <a:lstStyle/>
          <a:p>
            <a:r>
              <a:rPr lang="en-SG" sz="1000" b="1" i="1" dirty="0"/>
              <a:t>Interaction Signal:</a:t>
            </a:r>
            <a:endParaRPr lang="en-SG" sz="1000" i="1" dirty="0"/>
          </a:p>
          <a:p>
            <a:pPr marL="171450" indent="-171450">
              <a:buFont typeface="Wingdings" panose="05000000000000000000" pitchFamily="2" charset="2"/>
              <a:buChar char="Ø"/>
            </a:pPr>
            <a:r>
              <a:rPr lang="en-SG" sz="1000" b="1" i="1" dirty="0"/>
              <a:t>Experimental Models</a:t>
            </a:r>
            <a:r>
              <a:rPr lang="en-SG" sz="1000" i="1" dirty="0"/>
              <a:t> use </a:t>
            </a:r>
            <a:r>
              <a:rPr lang="en-SG" sz="1000" b="1" i="1" dirty="0"/>
              <a:t>binary user–item interactions </a:t>
            </a:r>
            <a:r>
              <a:rPr lang="en-SG" sz="1000" dirty="0"/>
              <a:t>—</a:t>
            </a:r>
            <a:r>
              <a:rPr lang="en-SG" sz="1000" i="1" dirty="0"/>
              <a:t> each </a:t>
            </a:r>
            <a:r>
              <a:rPr lang="en-SG" sz="1000" b="1" i="1" dirty="0"/>
              <a:t>(user, item)</a:t>
            </a:r>
            <a:r>
              <a:rPr lang="en-SG" sz="1000" i="1" dirty="0"/>
              <a:t> pair counted once</a:t>
            </a:r>
          </a:p>
          <a:p>
            <a:pPr marL="171450" indent="-171450">
              <a:buFont typeface="Wingdings" panose="05000000000000000000" pitchFamily="2" charset="2"/>
              <a:buChar char="Ø"/>
            </a:pPr>
            <a:r>
              <a:rPr lang="en-SG" sz="1000" i="1" dirty="0"/>
              <a:t>This is the </a:t>
            </a:r>
            <a:r>
              <a:rPr lang="en-SG" sz="1000" b="1" i="1" dirty="0"/>
              <a:t>standard implicit-feedback baseline</a:t>
            </a:r>
            <a:r>
              <a:rPr lang="en-SG" sz="1000" i="1" dirty="0"/>
              <a:t> used in many recommender systems</a:t>
            </a:r>
          </a:p>
          <a:p>
            <a:endParaRPr lang="en-SG" sz="1000" b="1" i="1" dirty="0"/>
          </a:p>
          <a:p>
            <a:r>
              <a:rPr lang="en-SG" sz="1000" b="1" i="1" dirty="0"/>
              <a:t>Out-of-scope</a:t>
            </a:r>
            <a:r>
              <a:rPr lang="en-SG" sz="1000" i="1" dirty="0"/>
              <a:t>: Dataset retains </a:t>
            </a:r>
            <a:r>
              <a:rPr lang="en-SG" sz="1000" b="1" i="1" dirty="0"/>
              <a:t>purchase quantity</a:t>
            </a:r>
            <a:r>
              <a:rPr lang="en-SG" sz="1000" i="1" dirty="0"/>
              <a:t> for potential extensions</a:t>
            </a:r>
          </a:p>
          <a:p>
            <a:pPr marL="171450" indent="-171450">
              <a:buFont typeface="Wingdings" panose="05000000000000000000" pitchFamily="2" charset="2"/>
              <a:buChar char="Ø"/>
            </a:pPr>
            <a:r>
              <a:rPr lang="en-SG" sz="1000" b="1" i="1" dirty="0"/>
              <a:t>count-weighted interactions </a:t>
            </a:r>
            <a:r>
              <a:rPr lang="en-SG" sz="1000" dirty="0"/>
              <a:t>—</a:t>
            </a:r>
            <a:r>
              <a:rPr lang="en-SG" sz="1000" b="1" i="1" dirty="0"/>
              <a:t>  </a:t>
            </a:r>
            <a:r>
              <a:rPr lang="en-SG" sz="1000" i="1" dirty="0"/>
              <a:t>repeated interactions increase signal strength</a:t>
            </a:r>
          </a:p>
          <a:p>
            <a:pPr marL="171450" indent="-171450">
              <a:buFont typeface="Wingdings" panose="05000000000000000000" pitchFamily="2" charset="2"/>
              <a:buChar char="Ø"/>
            </a:pPr>
            <a:r>
              <a:rPr lang="en-SG" sz="1000" b="1" i="1" dirty="0"/>
              <a:t>log-scaled interaction strength </a:t>
            </a:r>
            <a:r>
              <a:rPr lang="en-SG" sz="1000" dirty="0"/>
              <a:t>—</a:t>
            </a:r>
            <a:r>
              <a:rPr lang="en-SG" sz="1000" b="1" i="1" dirty="0"/>
              <a:t>  </a:t>
            </a:r>
            <a:r>
              <a:rPr lang="en-SG" sz="1000" i="1" dirty="0"/>
              <a:t>reduces the impact of extreme purchase quantities</a:t>
            </a:r>
          </a:p>
          <a:p>
            <a:pPr marL="171450" indent="-171450">
              <a:buFont typeface="Wingdings" panose="05000000000000000000" pitchFamily="2" charset="2"/>
              <a:buChar char="Ø"/>
            </a:pPr>
            <a:r>
              <a:rPr lang="en-SG" sz="1000" b="1" i="1" dirty="0"/>
              <a:t>revenue-aware recommendation </a:t>
            </a:r>
            <a:r>
              <a:rPr lang="en-SG" sz="1000" dirty="0"/>
              <a:t>—</a:t>
            </a:r>
            <a:r>
              <a:rPr lang="en-SG" sz="1000" b="1" i="1" dirty="0"/>
              <a:t> </a:t>
            </a:r>
            <a:r>
              <a:rPr lang="en-SG" sz="1000" i="1" dirty="0"/>
              <a:t>prioritizes high-value transactions</a:t>
            </a:r>
          </a:p>
        </p:txBody>
      </p:sp>
    </p:spTree>
    <p:extLst>
      <p:ext uri="{BB962C8B-B14F-4D97-AF65-F5344CB8AC3E}">
        <p14:creationId xmlns:p14="http://schemas.microsoft.com/office/powerpoint/2010/main" val="17748565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000AB4-5B2E-498C-606C-E38958F650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C84CBC-8276-AB0E-EAE6-58604095B837}"/>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Model &amp; Evaluation Design)</a:t>
            </a:r>
          </a:p>
        </p:txBody>
      </p:sp>
      <p:sp>
        <p:nvSpPr>
          <p:cNvPr id="5" name="Content Placeholder 4">
            <a:extLst>
              <a:ext uri="{FF2B5EF4-FFF2-40B4-BE49-F238E27FC236}">
                <a16:creationId xmlns:a16="http://schemas.microsoft.com/office/drawing/2014/main" id="{A7A656EC-03BE-FA9E-E7BD-E9BEC2921ED0}"/>
              </a:ext>
            </a:extLst>
          </p:cNvPr>
          <p:cNvSpPr>
            <a:spLocks noGrp="1"/>
          </p:cNvSpPr>
          <p:nvPr>
            <p:ph idx="1"/>
          </p:nvPr>
        </p:nvSpPr>
        <p:spPr>
          <a:xfrm>
            <a:off x="238956" y="1738480"/>
            <a:ext cx="3085269" cy="5119519"/>
          </a:xfrm>
          <a:solidFill>
            <a:schemeClr val="accent6">
              <a:lumMod val="20000"/>
              <a:lumOff val="80000"/>
            </a:schemeClr>
          </a:solidFill>
        </p:spPr>
        <p:txBody>
          <a:bodyPr>
            <a:noAutofit/>
          </a:bodyPr>
          <a:lstStyle/>
          <a:p>
            <a:pPr marL="0" indent="0">
              <a:buNone/>
            </a:pPr>
            <a:r>
              <a:rPr lang="en-SG" sz="1000" b="1" u="sng" dirty="0"/>
              <a:t>Choosing Training Features Example</a:t>
            </a:r>
            <a:br>
              <a:rPr lang="en-SG" sz="1000" b="1" dirty="0"/>
            </a:br>
            <a:r>
              <a:rPr lang="en-SG" sz="1000" b="1" dirty="0"/>
              <a:t>(Example Profile: 30d prediction window, 90d feature lookback window)</a:t>
            </a:r>
          </a:p>
          <a:p>
            <a:pPr marL="0" indent="0">
              <a:buNone/>
            </a:pPr>
            <a:r>
              <a:rPr lang="en-SG" sz="900" b="1" dirty="0"/>
              <a:t>Example features/profile (30d prediction/90d lookback):</a:t>
            </a:r>
          </a:p>
          <a:p>
            <a:pPr>
              <a:spcBef>
                <a:spcPts val="0"/>
              </a:spcBef>
              <a:buFont typeface="Wingdings" panose="05000000000000000000" pitchFamily="2" charset="2"/>
              <a:buChar char="Ø"/>
            </a:pPr>
            <a:r>
              <a:rPr lang="en-SG" sz="900" dirty="0"/>
              <a:t>recency_days</a:t>
            </a:r>
          </a:p>
          <a:p>
            <a:pPr>
              <a:spcBef>
                <a:spcPts val="0"/>
              </a:spcBef>
              <a:buFont typeface="Wingdings" panose="05000000000000000000" pitchFamily="2" charset="2"/>
              <a:buChar char="Ø"/>
            </a:pPr>
            <a:r>
              <a:rPr lang="en-SG" sz="900" dirty="0"/>
              <a:t>frequency_30d </a:t>
            </a:r>
            <a:r>
              <a:rPr lang="en-SG" sz="900" b="1" i="1" dirty="0"/>
              <a:t>(Note 1)</a:t>
            </a:r>
          </a:p>
          <a:p>
            <a:pPr>
              <a:spcBef>
                <a:spcPts val="0"/>
              </a:spcBef>
              <a:buFont typeface="Wingdings" panose="05000000000000000000" pitchFamily="2" charset="2"/>
              <a:buChar char="Ø"/>
            </a:pPr>
            <a:r>
              <a:rPr lang="en-SG" sz="900" dirty="0"/>
              <a:t>monetary_30d</a:t>
            </a:r>
            <a:r>
              <a:rPr lang="en-SG" sz="900" b="1" i="1" dirty="0"/>
              <a:t> (Note 1)</a:t>
            </a:r>
            <a:endParaRPr lang="en-SG" sz="900" b="1" dirty="0"/>
          </a:p>
          <a:p>
            <a:pPr>
              <a:spcBef>
                <a:spcPts val="0"/>
              </a:spcBef>
              <a:buFont typeface="Wingdings" panose="05000000000000000000" pitchFamily="2" charset="2"/>
              <a:buChar char="Ø"/>
            </a:pPr>
            <a:r>
              <a:rPr lang="en-SG" sz="900" dirty="0"/>
              <a:t>frequency_90d</a:t>
            </a:r>
            <a:r>
              <a:rPr lang="en-SG" sz="900" b="1" i="1" dirty="0"/>
              <a:t> (Note 2)</a:t>
            </a:r>
            <a:endParaRPr lang="en-SG" sz="900" b="1" dirty="0"/>
          </a:p>
          <a:p>
            <a:pPr>
              <a:spcBef>
                <a:spcPts val="0"/>
              </a:spcBef>
              <a:buFont typeface="Wingdings" panose="05000000000000000000" pitchFamily="2" charset="2"/>
              <a:buChar char="Ø"/>
            </a:pPr>
            <a:r>
              <a:rPr lang="en-SG" sz="900" dirty="0"/>
              <a:t>monetary_90d capped</a:t>
            </a:r>
            <a:r>
              <a:rPr lang="en-SG" sz="900" i="1" dirty="0"/>
              <a:t> </a:t>
            </a:r>
            <a:r>
              <a:rPr lang="en-SG" sz="900" b="1" i="1" dirty="0"/>
              <a:t>(Note 2,3)</a:t>
            </a:r>
            <a:endParaRPr lang="en-SG" sz="900" b="1" i="1" baseline="30000" dirty="0"/>
          </a:p>
          <a:p>
            <a:pPr>
              <a:spcBef>
                <a:spcPts val="0"/>
              </a:spcBef>
              <a:buFont typeface="Wingdings" panose="05000000000000000000" pitchFamily="2" charset="2"/>
              <a:buChar char="Ø"/>
            </a:pPr>
            <a:r>
              <a:rPr lang="en-SG" sz="900" dirty="0"/>
              <a:t>avg_basket_value_90d </a:t>
            </a:r>
            <a:r>
              <a:rPr lang="en-SG" sz="900" b="1" i="1" dirty="0"/>
              <a:t>(Note 2)</a:t>
            </a:r>
            <a:endParaRPr lang="en-SG" sz="900" b="1" dirty="0"/>
          </a:p>
          <a:p>
            <a:pPr>
              <a:spcBef>
                <a:spcPts val="0"/>
              </a:spcBef>
              <a:buFont typeface="Wingdings" panose="05000000000000000000" pitchFamily="2" charset="2"/>
              <a:buChar char="Ø"/>
            </a:pPr>
            <a:r>
              <a:rPr lang="en-SG" sz="900" dirty="0"/>
              <a:t>country</a:t>
            </a:r>
          </a:p>
          <a:p>
            <a:pPr>
              <a:spcBef>
                <a:spcPts val="0"/>
              </a:spcBef>
              <a:buFont typeface="Wingdings" panose="05000000000000000000" pitchFamily="2" charset="2"/>
              <a:buChar char="Ø"/>
            </a:pPr>
            <a:r>
              <a:rPr lang="en-SG" sz="900" dirty="0"/>
              <a:t>label_net_revenue_30d </a:t>
            </a:r>
            <a:r>
              <a:rPr lang="en-SG" sz="900" b="1" i="1" dirty="0"/>
              <a:t>(Note 5)</a:t>
            </a:r>
            <a:endParaRPr lang="en-SG" sz="900" dirty="0"/>
          </a:p>
          <a:p>
            <a:pPr>
              <a:spcBef>
                <a:spcPts val="0"/>
              </a:spcBef>
              <a:buFont typeface="Wingdings" panose="05000000000000000000" pitchFamily="2" charset="2"/>
              <a:buChar char="Ø"/>
            </a:pPr>
            <a:r>
              <a:rPr lang="en-SG" sz="900" dirty="0"/>
              <a:t>label_purchase_30d </a:t>
            </a:r>
            <a:r>
              <a:rPr lang="en-SG" sz="900" b="1" i="1" dirty="0"/>
              <a:t>(Note 5)</a:t>
            </a:r>
          </a:p>
          <a:p>
            <a:pPr marL="0" indent="0">
              <a:buNone/>
            </a:pPr>
            <a:r>
              <a:rPr lang="en-SG" sz="900" b="1" i="1" dirty="0"/>
              <a:t>Note 1: 30d short-term lookback windows (frequency_30d, monetary_30d) – Always include</a:t>
            </a:r>
            <a:endParaRPr lang="en-SG" sz="900" b="1" dirty="0"/>
          </a:p>
          <a:p>
            <a:pPr marL="0" indent="0">
              <a:buNone/>
            </a:pPr>
            <a:r>
              <a:rPr lang="en-SG" sz="900" b="1" dirty="0"/>
              <a:t>Note 2: Longer-term feature lookback window days (frequency, monetary) - Include depending on lookback window config (e.g. 90d)</a:t>
            </a:r>
            <a:endParaRPr lang="en-SG" sz="900" dirty="0"/>
          </a:p>
          <a:p>
            <a:pPr marL="0" indent="0">
              <a:spcBef>
                <a:spcPts val="0"/>
              </a:spcBef>
              <a:buNone/>
            </a:pPr>
            <a:endParaRPr lang="en-SG" sz="900" b="1" i="1" dirty="0"/>
          </a:p>
          <a:p>
            <a:pPr marL="0" indent="0">
              <a:spcBef>
                <a:spcPts val="0"/>
              </a:spcBef>
              <a:buNone/>
            </a:pPr>
            <a:r>
              <a:rPr lang="en-SG" sz="900" b="1" i="1" dirty="0"/>
              <a:t>Note 3: Cap longer-term monetary lookback by excluding outliers during training/serving to reduce skew to fit model towards majority of users.</a:t>
            </a:r>
          </a:p>
          <a:p>
            <a:pPr marL="0" indent="0">
              <a:spcBef>
                <a:spcPts val="0"/>
              </a:spcBef>
              <a:buNone/>
            </a:pPr>
            <a:endParaRPr lang="en-SG" sz="900" b="1" i="1" dirty="0"/>
          </a:p>
          <a:p>
            <a:pPr marL="0" indent="0">
              <a:spcBef>
                <a:spcPts val="0"/>
              </a:spcBef>
              <a:buNone/>
            </a:pPr>
            <a:r>
              <a:rPr lang="en-SG" sz="900" b="1" i="1" dirty="0"/>
              <a:t>Note 4: Skip 30‑day average basket size because most users have too few purchases in 30 days for a stable average. </a:t>
            </a:r>
            <a:r>
              <a:rPr lang="en-SG" sz="900" i="1" dirty="0"/>
              <a:t>Still keep 30‑day counts and spend totals because even small activity in the last 30d is a useful signal.</a:t>
            </a:r>
          </a:p>
          <a:p>
            <a:pPr marL="0" indent="0">
              <a:spcBef>
                <a:spcPts val="0"/>
              </a:spcBef>
              <a:buNone/>
            </a:pPr>
            <a:endParaRPr lang="en-SG" sz="900" i="1" dirty="0"/>
          </a:p>
          <a:p>
            <a:pPr marL="0" indent="0">
              <a:spcBef>
                <a:spcPts val="0"/>
              </a:spcBef>
              <a:buNone/>
            </a:pPr>
            <a:r>
              <a:rPr lang="en-SG" sz="900" b="1" i="1" dirty="0"/>
              <a:t>Note 5: label_* features – Include depending on prediction window config</a:t>
            </a:r>
            <a:endParaRPr lang="en-SG" sz="900" i="1" dirty="0"/>
          </a:p>
          <a:p>
            <a:pPr marL="0" indent="0">
              <a:spcBef>
                <a:spcPts val="0"/>
              </a:spcBef>
              <a:buNone/>
            </a:pPr>
            <a:endParaRPr lang="en-SG" sz="900" b="1" dirty="0"/>
          </a:p>
        </p:txBody>
      </p:sp>
      <p:sp>
        <p:nvSpPr>
          <p:cNvPr id="15" name="Content Placeholder 4">
            <a:extLst>
              <a:ext uri="{FF2B5EF4-FFF2-40B4-BE49-F238E27FC236}">
                <a16:creationId xmlns:a16="http://schemas.microsoft.com/office/drawing/2014/main" id="{88D0DFCD-925E-A834-5E4E-68133C154C72}"/>
              </a:ext>
            </a:extLst>
          </p:cNvPr>
          <p:cNvSpPr txBox="1">
            <a:spLocks/>
          </p:cNvSpPr>
          <p:nvPr/>
        </p:nvSpPr>
        <p:spPr>
          <a:xfrm>
            <a:off x="3524252" y="1736156"/>
            <a:ext cx="2752724" cy="5119519"/>
          </a:xfrm>
          <a:prstGeom prst="rect">
            <a:avLst/>
          </a:prstGeom>
          <a:solidFill>
            <a:schemeClr val="accent6">
              <a:lumMod val="20000"/>
              <a:lumOff val="80000"/>
            </a:schemeClr>
          </a:solidFill>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SG" sz="1000" b="1" u="sng" dirty="0"/>
              <a:t>Choosing Window Sensitivity Features Example</a:t>
            </a:r>
            <a:br>
              <a:rPr lang="en-SG" sz="1000" dirty="0"/>
            </a:br>
            <a:r>
              <a:rPr lang="en-SG" sz="1000" dirty="0"/>
              <a:t>Window sensitivity analysis reruns training/model validation with alternate feature profiles while keeping the same split logic.</a:t>
            </a:r>
          </a:p>
          <a:p>
            <a:pPr marL="0" indent="0">
              <a:buNone/>
            </a:pPr>
            <a:r>
              <a:rPr lang="en-SG" sz="900" b="1" dirty="0"/>
              <a:t>Example feature-lookback features extract</a:t>
            </a:r>
            <a:r>
              <a:rPr lang="en-SG" sz="900" dirty="0"/>
              <a:t> </a:t>
            </a:r>
            <a:r>
              <a:rPr lang="en-SG" sz="900" b="1" dirty="0"/>
              <a:t>(with 30d prediction window)</a:t>
            </a:r>
            <a:r>
              <a:rPr lang="en-SG" sz="900" dirty="0"/>
              <a:t>:</a:t>
            </a:r>
          </a:p>
          <a:p>
            <a:pPr>
              <a:buFont typeface="Wingdings" panose="05000000000000000000" pitchFamily="2" charset="2"/>
              <a:buChar char="Ø"/>
            </a:pPr>
            <a:r>
              <a:rPr lang="en-SG" sz="900" b="1" dirty="0"/>
              <a:t>60d lookback profile: </a:t>
            </a:r>
            <a:r>
              <a:rPr lang="en-SG" sz="900" dirty="0"/>
              <a:t>frequency_60d, monetary_60d capped, avg_basket_value_60d, label_net_revenue_30d, label_purchase_30d </a:t>
            </a:r>
          </a:p>
          <a:p>
            <a:pPr>
              <a:buFont typeface="Wingdings" panose="05000000000000000000" pitchFamily="2" charset="2"/>
              <a:buChar char="Ø"/>
            </a:pPr>
            <a:r>
              <a:rPr lang="en-SG" sz="900" b="1" dirty="0"/>
              <a:t>90d lookback profile: </a:t>
            </a:r>
            <a:r>
              <a:rPr lang="en-SG" sz="900" dirty="0"/>
              <a:t>frequency_90d, monetary_90d capped, avg_basket_value_90d, label_net_revenue_30d, label_purchase_30d</a:t>
            </a:r>
          </a:p>
          <a:p>
            <a:pPr>
              <a:buFont typeface="Wingdings" panose="05000000000000000000" pitchFamily="2" charset="2"/>
              <a:buChar char="Ø"/>
            </a:pPr>
            <a:r>
              <a:rPr lang="en-SG" sz="900" b="1" dirty="0"/>
              <a:t>120d lookback profile:</a:t>
            </a:r>
            <a:r>
              <a:rPr lang="en-SG" sz="900" dirty="0"/>
              <a:t> frequency_120d, monetary_120d capped, avg_basket_value_120d, label_net_revenue_30d, label_purchase_30d</a:t>
            </a:r>
          </a:p>
          <a:p>
            <a:pPr marL="0" indent="0">
              <a:buNone/>
            </a:pPr>
            <a:r>
              <a:rPr lang="en-SG" sz="1000" dirty="0"/>
              <a:t>Then it compares model validation metrics (PR-AUC, ROC-AUC, lift, Brier, ECE) across these profiles.</a:t>
            </a:r>
          </a:p>
        </p:txBody>
      </p:sp>
      <p:sp>
        <p:nvSpPr>
          <p:cNvPr id="27" name="Content Placeholder 4">
            <a:extLst>
              <a:ext uri="{FF2B5EF4-FFF2-40B4-BE49-F238E27FC236}">
                <a16:creationId xmlns:a16="http://schemas.microsoft.com/office/drawing/2014/main" id="{39F5347A-284B-3BC5-F757-8595B5B67937}"/>
              </a:ext>
            </a:extLst>
          </p:cNvPr>
          <p:cNvSpPr txBox="1">
            <a:spLocks/>
          </p:cNvSpPr>
          <p:nvPr/>
        </p:nvSpPr>
        <p:spPr>
          <a:xfrm>
            <a:off x="6370440" y="1736156"/>
            <a:ext cx="5697737" cy="3597844"/>
          </a:xfrm>
          <a:prstGeom prst="rect">
            <a:avLst/>
          </a:prstGeom>
          <a:solidFill>
            <a:schemeClr val="accent6">
              <a:lumMod val="20000"/>
              <a:lumOff val="80000"/>
            </a:schemeClr>
          </a:solidFill>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SG" sz="1000" b="1" u="sng" dirty="0"/>
              <a:t>Choosing Model Evaluation Metrics</a:t>
            </a:r>
            <a:br>
              <a:rPr lang="en-SG" sz="1000" b="1" dirty="0"/>
            </a:br>
            <a:r>
              <a:rPr lang="en-SG" sz="1000" b="1" dirty="0"/>
              <a:t>Purchase Propensity Model (logistic / xgboost)</a:t>
            </a:r>
          </a:p>
          <a:p>
            <a:pPr>
              <a:buFont typeface="Wingdings" panose="05000000000000000000" pitchFamily="2" charset="2"/>
              <a:buChar char="Ø"/>
            </a:pPr>
            <a:r>
              <a:rPr lang="en-SG" sz="1000" b="1" dirty="0"/>
              <a:t>ROC-AUC: </a:t>
            </a:r>
            <a:r>
              <a:rPr lang="en-SG" sz="1000" dirty="0"/>
              <a:t>Ranking discrimination across thresholds </a:t>
            </a:r>
            <a:r>
              <a:rPr lang="en-SG" sz="1000" dirty="0">
                <a:solidFill>
                  <a:schemeClr val="tx1"/>
                </a:solidFill>
              </a:rPr>
              <a:t>(Ability to rank likely buyers above non-buyers)</a:t>
            </a:r>
          </a:p>
          <a:p>
            <a:pPr>
              <a:buFont typeface="Wingdings" panose="05000000000000000000" pitchFamily="2" charset="2"/>
              <a:buChar char="Ø"/>
            </a:pPr>
            <a:r>
              <a:rPr lang="en-SG" sz="1000" b="1" dirty="0"/>
              <a:t>PR-AUC: </a:t>
            </a:r>
            <a:r>
              <a:rPr lang="en-SG" sz="1000" dirty="0"/>
              <a:t>Precision/recall performance for the positive class</a:t>
            </a:r>
          </a:p>
          <a:p>
            <a:pPr>
              <a:buFont typeface="Wingdings" panose="05000000000000000000" pitchFamily="2" charset="2"/>
              <a:buChar char="Ø"/>
            </a:pPr>
            <a:r>
              <a:rPr lang="en-SG" sz="1000" b="1" dirty="0"/>
              <a:t>Top-decile lift: </a:t>
            </a:r>
            <a:r>
              <a:rPr lang="en-SG" sz="1000" dirty="0"/>
              <a:t>Buyer-rate concentration in top X% vs base rate </a:t>
            </a:r>
            <a:br>
              <a:rPr lang="en-SG" sz="1000" dirty="0"/>
            </a:br>
            <a:r>
              <a:rPr lang="en-SG" sz="1000" i="1" dirty="0"/>
              <a:t>(top decile positive rate / base positive rate)</a:t>
            </a:r>
          </a:p>
          <a:p>
            <a:pPr>
              <a:buFont typeface="Wingdings" panose="05000000000000000000" pitchFamily="2" charset="2"/>
              <a:buChar char="Ø"/>
            </a:pPr>
            <a:r>
              <a:rPr lang="en-SG" sz="1000" b="1" dirty="0"/>
              <a:t>Brier score: </a:t>
            </a:r>
            <a:r>
              <a:rPr lang="en-SG" sz="1000" dirty="0"/>
              <a:t>Probability error (lower is better)</a:t>
            </a:r>
          </a:p>
          <a:p>
            <a:pPr>
              <a:buFont typeface="Wingdings" panose="05000000000000000000" pitchFamily="2" charset="2"/>
              <a:buChar char="Ø"/>
            </a:pPr>
            <a:r>
              <a:rPr lang="en-SG" sz="1000" b="1" dirty="0"/>
              <a:t>ECE: </a:t>
            </a:r>
            <a:r>
              <a:rPr lang="en-SG" sz="1000" dirty="0">
                <a:solidFill>
                  <a:schemeClr val="tx1"/>
                </a:solidFill>
              </a:rPr>
              <a:t>Calibration Gap - Predicted probabilities aligned with actual outcomes?</a:t>
            </a:r>
            <a:endParaRPr lang="en-SG" sz="1000" b="1" dirty="0">
              <a:solidFill>
                <a:schemeClr val="tx1"/>
              </a:solidFill>
            </a:endParaRPr>
          </a:p>
          <a:p>
            <a:pPr marL="0" indent="0">
              <a:buNone/>
            </a:pPr>
            <a:r>
              <a:rPr lang="en-SG" sz="1000" b="1" dirty="0"/>
              <a:t>Revenue Prediction Model (Regression)</a:t>
            </a:r>
          </a:p>
          <a:p>
            <a:pPr>
              <a:buFont typeface="Wingdings" panose="05000000000000000000" pitchFamily="2" charset="2"/>
              <a:buChar char="Ø"/>
            </a:pPr>
            <a:r>
              <a:rPr lang="en-SG" sz="1000" b="1" dirty="0"/>
              <a:t>RMSE (Root Mean Squared Error) : </a:t>
            </a:r>
            <a:r>
              <a:rPr lang="en-SG" sz="1000" i="1" dirty="0">
                <a:solidFill>
                  <a:schemeClr val="tx1"/>
                </a:solidFill>
              </a:rPr>
              <a:t>“How far off are our revenue predictions, with large mistakes penalized more heavily?”</a:t>
            </a:r>
          </a:p>
          <a:p>
            <a:pPr>
              <a:buFont typeface="Wingdings" panose="05000000000000000000" pitchFamily="2" charset="2"/>
              <a:buChar char="Ø"/>
            </a:pPr>
            <a:r>
              <a:rPr lang="en-SG" sz="1000" b="1" dirty="0"/>
              <a:t>MAE (Mean Absolute Error): </a:t>
            </a:r>
            <a:r>
              <a:rPr lang="en-SG" sz="1000" i="1" dirty="0"/>
              <a:t>“On average, how many dollars are we off per user?”</a:t>
            </a:r>
          </a:p>
          <a:p>
            <a:pPr>
              <a:buFont typeface="Wingdings" panose="05000000000000000000" pitchFamily="2" charset="2"/>
              <a:buChar char="Ø"/>
            </a:pPr>
            <a:r>
              <a:rPr lang="en-SG" sz="1000" b="1" dirty="0"/>
              <a:t>MAPE (Mean Absolute Percentage Error): </a:t>
            </a:r>
            <a:r>
              <a:rPr lang="en-SG" sz="1000" i="1" dirty="0"/>
              <a:t>“On average, how wrong are we in percentage terms?”</a:t>
            </a:r>
          </a:p>
          <a:p>
            <a:pPr marL="0" indent="0">
              <a:buNone/>
            </a:pPr>
            <a:endParaRPr lang="en-SG" sz="1000" b="1" dirty="0"/>
          </a:p>
        </p:txBody>
      </p:sp>
      <p:sp>
        <p:nvSpPr>
          <p:cNvPr id="31" name="Content Placeholder 4">
            <a:extLst>
              <a:ext uri="{FF2B5EF4-FFF2-40B4-BE49-F238E27FC236}">
                <a16:creationId xmlns:a16="http://schemas.microsoft.com/office/drawing/2014/main" id="{3EDD249C-F5CB-DA79-F234-557B633E1B42}"/>
              </a:ext>
            </a:extLst>
          </p:cNvPr>
          <p:cNvSpPr txBox="1">
            <a:spLocks/>
          </p:cNvSpPr>
          <p:nvPr/>
        </p:nvSpPr>
        <p:spPr>
          <a:xfrm>
            <a:off x="6370440" y="5370629"/>
            <a:ext cx="5697737" cy="1283579"/>
          </a:xfrm>
          <a:prstGeom prst="rect">
            <a:avLst/>
          </a:prstGeom>
          <a:solidFill>
            <a:schemeClr val="accent6">
              <a:lumMod val="20000"/>
              <a:lumOff val="80000"/>
            </a:schemeClr>
          </a:solidFill>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SG" sz="1000" b="1" u="sng" dirty="0"/>
              <a:t>Choosing Retraining</a:t>
            </a:r>
          </a:p>
          <a:p>
            <a:pPr>
              <a:buFont typeface="Wingdings" panose="05000000000000000000" pitchFamily="2" charset="2"/>
              <a:buChar char="Ø"/>
            </a:pPr>
            <a:r>
              <a:rPr lang="en-SG" sz="1000" dirty="0"/>
              <a:t>For each train-val-test split cycle, we prespecify </a:t>
            </a:r>
            <a:r>
              <a:rPr lang="en-SG" sz="1000" b="1" dirty="0"/>
              <a:t>12 snapshots per cycle: 10M training, 1M validation, 1M testing</a:t>
            </a:r>
          </a:p>
          <a:p>
            <a:pPr>
              <a:buFont typeface="Wingdings" panose="05000000000000000000" pitchFamily="2" charset="2"/>
              <a:buChar char="Ø"/>
            </a:pPr>
            <a:r>
              <a:rPr lang="en-SG" sz="1000" dirty="0"/>
              <a:t>We then included </a:t>
            </a:r>
            <a:r>
              <a:rPr lang="en-SG" sz="1000" b="1" dirty="0"/>
              <a:t>overlapping quarterly retraining on a rolling basis </a:t>
            </a:r>
            <a:r>
              <a:rPr lang="en-SG" sz="1000" dirty="0"/>
              <a:t>with lightweight infra in this project demo since we have ~2 years dataset. For demo purposes, we only perform retraining for 1 quarterly cycle after the initial training cycle..</a:t>
            </a:r>
          </a:p>
          <a:p>
            <a:pPr marL="0" indent="0">
              <a:buNone/>
            </a:pPr>
            <a:endParaRPr lang="en-SG" sz="1000" b="1" dirty="0"/>
          </a:p>
        </p:txBody>
      </p:sp>
      <p:sp>
        <p:nvSpPr>
          <p:cNvPr id="33" name="TextBox 32">
            <a:extLst>
              <a:ext uri="{FF2B5EF4-FFF2-40B4-BE49-F238E27FC236}">
                <a16:creationId xmlns:a16="http://schemas.microsoft.com/office/drawing/2014/main" id="{FFB04D6F-522B-558C-1C82-92D71E57E02F}"/>
              </a:ext>
            </a:extLst>
          </p:cNvPr>
          <p:cNvSpPr txBox="1"/>
          <p:nvPr/>
        </p:nvSpPr>
        <p:spPr>
          <a:xfrm>
            <a:off x="8037315" y="6611779"/>
            <a:ext cx="4335660" cy="246221"/>
          </a:xfrm>
          <a:prstGeom prst="rect">
            <a:avLst/>
          </a:prstGeom>
          <a:noFill/>
        </p:spPr>
        <p:txBody>
          <a:bodyPr wrap="square">
            <a:spAutoFit/>
          </a:bodyPr>
          <a:lstStyle/>
          <a:p>
            <a:r>
              <a:rPr lang="en-SG" sz="1000" b="1" dirty="0"/>
              <a:t>Note: </a:t>
            </a:r>
            <a:r>
              <a:rPr lang="en-SG" sz="1000" dirty="0"/>
              <a:t>See repository docs for specs and implementation details.</a:t>
            </a:r>
          </a:p>
        </p:txBody>
      </p:sp>
    </p:spTree>
    <p:extLst>
      <p:ext uri="{BB962C8B-B14F-4D97-AF65-F5344CB8AC3E}">
        <p14:creationId xmlns:p14="http://schemas.microsoft.com/office/powerpoint/2010/main" val="18762141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8178E2-0624-3086-5239-62EA00A2B2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4285F1-D9A9-A989-A868-FFA69A9DCB8F}"/>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Policy Scoring Mechanics)</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B185BD4-6B9A-B0AC-98CD-AA6EFB14E76E}"/>
                  </a:ext>
                </a:extLst>
              </p:cNvPr>
              <p:cNvSpPr txBox="1"/>
              <p:nvPr/>
            </p:nvSpPr>
            <p:spPr>
              <a:xfrm>
                <a:off x="351026" y="2196072"/>
                <a:ext cx="3253674" cy="4566956"/>
              </a:xfrm>
              <a:prstGeom prst="rect">
                <a:avLst/>
              </a:prstGeom>
              <a:solidFill>
                <a:schemeClr val="accent6">
                  <a:lumMod val="20000"/>
                  <a:lumOff val="80000"/>
                </a:schemeClr>
              </a:solidFill>
            </p:spPr>
            <p:txBody>
              <a:bodyPr wrap="square">
                <a:spAutoFit/>
              </a:bodyPr>
              <a:lstStyle/>
              <a:p>
                <a:r>
                  <a:rPr lang="en-SG" sz="1000" b="1" u="sng" dirty="0"/>
                  <a:t>Inputs</a:t>
                </a:r>
                <a:endParaRPr lang="en-SG" sz="1000" b="1" i="1" u="sng" dirty="0">
                  <a:latin typeface="Cambria Math" panose="02040503050406030204" pitchFamily="18" charset="0"/>
                </a:endParaRPr>
              </a:p>
              <a:p>
                <a:pPr marL="171450" indent="-171450">
                  <a:buFont typeface="Wingdings" panose="05000000000000000000" pitchFamily="2" charset="2"/>
                  <a:buChar char="Ø"/>
                </a:pPr>
                <a:r>
                  <a:rPr lang="en-SG" sz="1000" dirty="0"/>
                  <a:t>User feature snapshot (as_of_date)</a:t>
                </a:r>
              </a:p>
              <a:p>
                <a:pPr marL="171450" indent="-171450">
                  <a:buFont typeface="Wingdings" panose="05000000000000000000" pitchFamily="2" charset="2"/>
                  <a:buChar char="Ø"/>
                </a:pPr>
                <a:r>
                  <a:rPr lang="en-SG" sz="1000" dirty="0"/>
                  <a:t>Frozen model artifacts</a:t>
                </a:r>
              </a:p>
              <a:p>
                <a:pPr marL="171450" indent="-171450">
                  <a:buFont typeface="Wingdings" panose="05000000000000000000" pitchFamily="2" charset="2"/>
                  <a:buChar char="Ø"/>
                </a:pPr>
                <a:endParaRPr lang="en-SG" sz="1000" dirty="0"/>
              </a:p>
              <a:p>
                <a:r>
                  <a:rPr lang="en-SG" sz="1000" b="1" u="sng" dirty="0"/>
                  <a:t>Steps</a:t>
                </a:r>
                <a:endParaRPr lang="en-SG" sz="1000" b="1" i="1" u="sng" dirty="0">
                  <a:latin typeface="Cambria Math" panose="02040503050406030204" pitchFamily="18" charset="0"/>
                </a:endParaRPr>
              </a:p>
              <a:p>
                <a:r>
                  <a:rPr lang="en-SG" sz="1000" b="1" dirty="0"/>
                  <a:t>1. Load trained models</a:t>
                </a:r>
                <a:endParaRPr lang="en-SG" sz="1000" dirty="0"/>
              </a:p>
              <a:p>
                <a:pPr marL="171450" indent="-171450">
                  <a:buFont typeface="Wingdings" panose="05000000000000000000" pitchFamily="2" charset="2"/>
                  <a:buChar char="Ø"/>
                </a:pPr>
                <a:r>
                  <a:rPr lang="en-SG" sz="1000" dirty="0"/>
                  <a:t>Propensity model</a:t>
                </a:r>
              </a:p>
              <a:p>
                <a:pPr marL="171450" indent="-171450">
                  <a:buFont typeface="Wingdings" panose="05000000000000000000" pitchFamily="2" charset="2"/>
                  <a:buChar char="Ø"/>
                </a:pPr>
                <a:r>
                  <a:rPr lang="en-SG" sz="1000" dirty="0"/>
                  <a:t>Revenue model</a:t>
                </a:r>
              </a:p>
              <a:p>
                <a:endParaRPr lang="en-SG" sz="1000" b="1" dirty="0"/>
              </a:p>
              <a:p>
                <a:r>
                  <a:rPr lang="en-SG" sz="1000" dirty="0"/>
                  <a:t>Let  </a:t>
                </a:r>
                <a14:m>
                  <m:oMath xmlns:m="http://schemas.openxmlformats.org/officeDocument/2006/math">
                    <m:r>
                      <a:rPr lang="en-SG" sz="1000" b="1" i="1" dirty="0">
                        <a:latin typeface="Cambria Math" panose="02040503050406030204" pitchFamily="18" charset="0"/>
                      </a:rPr>
                      <m:t>𝒙</m:t>
                    </m:r>
                    <m:r>
                      <a:rPr lang="en-SG" sz="1000" b="1" i="1" dirty="0">
                        <a:latin typeface="Cambria Math" panose="02040503050406030204" pitchFamily="18" charset="0"/>
                      </a:rPr>
                      <m:t>=</m:t>
                    </m:r>
                    <m:r>
                      <a:rPr lang="en-SG" sz="1000" b="1" i="1" dirty="0">
                        <a:latin typeface="Cambria Math" panose="02040503050406030204" pitchFamily="18" charset="0"/>
                      </a:rPr>
                      <m:t>𝒖𝒔𝒆𝒓</m:t>
                    </m:r>
                    <m:r>
                      <a:rPr lang="en-SG" sz="1000" b="1" i="1" dirty="0">
                        <a:latin typeface="Cambria Math" panose="02040503050406030204" pitchFamily="18" charset="0"/>
                      </a:rPr>
                      <m:t> </m:t>
                    </m:r>
                    <m:r>
                      <a:rPr lang="en-SG" sz="1000" b="1" i="1" dirty="0">
                        <a:latin typeface="Cambria Math" panose="02040503050406030204" pitchFamily="18" charset="0"/>
                      </a:rPr>
                      <m:t>𝒇𝒆𝒂𝒕𝒖𝒓𝒆𝒔</m:t>
                    </m:r>
                    <m:r>
                      <a:rPr lang="en-SG" sz="1000" b="1" i="1" dirty="0" smtClean="0">
                        <a:latin typeface="Cambria Math" panose="02040503050406030204" pitchFamily="18" charset="0"/>
                      </a:rPr>
                      <m:t> </m:t>
                    </m:r>
                    <m:r>
                      <a:rPr lang="en-SG" sz="1000" b="1" i="1" dirty="0" smtClean="0">
                        <a:latin typeface="Cambria Math" panose="02040503050406030204" pitchFamily="18" charset="0"/>
                      </a:rPr>
                      <m:t>𝒊𝒏𝒄𝒍𝒖𝒅𝒊𝒏𝒈</m:t>
                    </m:r>
                    <m:r>
                      <a:rPr lang="en-SG" sz="1000" b="1" i="1" dirty="0" smtClean="0">
                        <a:latin typeface="Cambria Math" panose="02040503050406030204" pitchFamily="18" charset="0"/>
                      </a:rPr>
                      <m:t> </m:t>
                    </m:r>
                    <m:r>
                      <a:rPr lang="en-SG" sz="1000" b="1" i="1" dirty="0" smtClean="0">
                        <a:latin typeface="Cambria Math" panose="02040503050406030204" pitchFamily="18" charset="0"/>
                      </a:rPr>
                      <m:t>𝑹𝑭𝑴</m:t>
                    </m:r>
                    <m:r>
                      <a:rPr lang="en-SG" sz="1000" b="1" i="1" dirty="0" smtClean="0">
                        <a:latin typeface="Cambria Math" panose="02040503050406030204" pitchFamily="18" charset="0"/>
                      </a:rPr>
                      <m:t>+</m:t>
                    </m:r>
                    <m:r>
                      <a:rPr lang="en-SG" sz="1000" b="1" i="1" dirty="0" smtClean="0">
                        <a:latin typeface="Cambria Math" panose="02040503050406030204" pitchFamily="18" charset="0"/>
                      </a:rPr>
                      <m:t>𝒄𝒐𝒖𝒏𝒕𝒓𝒚</m:t>
                    </m:r>
                  </m:oMath>
                </a14:m>
                <a:endParaRPr lang="en-SG" sz="1000" b="1" dirty="0"/>
              </a:p>
              <a:p>
                <a:endParaRPr lang="en-SG" sz="1000" b="1" dirty="0"/>
              </a:p>
              <a:p>
                <a:r>
                  <a:rPr lang="en-SG" sz="1000" b="1" dirty="0"/>
                  <a:t>2. Predict purchase probability (Propensity Model)</a:t>
                </a:r>
              </a:p>
              <a:p>
                <a:pPr/>
                <a14:m>
                  <m:oMathPara xmlns:m="http://schemas.openxmlformats.org/officeDocument/2006/math">
                    <m:oMathParaPr>
                      <m:jc m:val="centerGroup"/>
                    </m:oMathParaPr>
                    <m:oMath xmlns:m="http://schemas.openxmlformats.org/officeDocument/2006/math">
                      <m:r>
                        <a:rPr lang="en-SG" sz="1000" i="1" dirty="0">
                          <a:latin typeface="Cambria Math" panose="02040503050406030204" pitchFamily="18" charset="0"/>
                        </a:rPr>
                        <m:t>𝑝</m:t>
                      </m:r>
                      <m:r>
                        <a:rPr lang="en-SG" sz="1000" i="1" dirty="0">
                          <a:latin typeface="Cambria Math" panose="02040503050406030204" pitchFamily="18" charset="0"/>
                        </a:rPr>
                        <m:t>= </m:t>
                      </m:r>
                      <m:r>
                        <a:rPr lang="en-SG" sz="1000" i="1" dirty="0">
                          <a:latin typeface="Cambria Math" panose="02040503050406030204" pitchFamily="18" charset="0"/>
                        </a:rPr>
                        <m:t>𝑃</m:t>
                      </m:r>
                      <m:r>
                        <a:rPr lang="en-SG" sz="1000" i="1" dirty="0">
                          <a:latin typeface="Cambria Math" panose="02040503050406030204" pitchFamily="18" charset="0"/>
                        </a:rPr>
                        <m:t>(</m:t>
                      </m:r>
                      <m:r>
                        <a:rPr lang="en-SG" sz="1000" i="1" dirty="0">
                          <a:latin typeface="Cambria Math" panose="02040503050406030204" pitchFamily="18" charset="0"/>
                        </a:rPr>
                        <m:t>𝑝𝑢𝑟𝑐h𝑎𝑠𝑒</m:t>
                      </m:r>
                      <m:r>
                        <a:rPr lang="en-SG" sz="1000" i="1" dirty="0">
                          <a:latin typeface="Cambria Math" panose="02040503050406030204" pitchFamily="18" charset="0"/>
                        </a:rPr>
                        <m:t> | </m:t>
                      </m:r>
                      <m:r>
                        <a:rPr lang="en-SG" sz="1000" i="1" dirty="0">
                          <a:latin typeface="Cambria Math" panose="02040503050406030204" pitchFamily="18" charset="0"/>
                        </a:rPr>
                        <m:t>𝑥</m:t>
                      </m:r>
                      <m:r>
                        <a:rPr lang="en-SG" sz="1000" i="1" dirty="0">
                          <a:latin typeface="Cambria Math" panose="02040503050406030204" pitchFamily="18" charset="0"/>
                        </a:rPr>
                        <m:t>)</m:t>
                      </m:r>
                    </m:oMath>
                  </m:oMathPara>
                </a14:m>
                <a:endParaRPr lang="en-SG" sz="1000" dirty="0"/>
              </a:p>
              <a:p>
                <a:pPr marL="171450" indent="-171450">
                  <a:buFont typeface="Wingdings" panose="05000000000000000000" pitchFamily="2" charset="2"/>
                  <a:buChar char="Ø"/>
                </a:pPr>
                <a:r>
                  <a:rPr lang="en-SG" sz="1000" i="1" dirty="0"/>
                  <a:t>Calibrated (see next slide)</a:t>
                </a:r>
                <a:endParaRPr lang="en-SG" sz="1000" dirty="0"/>
              </a:p>
              <a:p>
                <a:endParaRPr lang="en-SG" sz="1000" dirty="0"/>
              </a:p>
              <a:p>
                <a:r>
                  <a:rPr lang="en-SG" sz="1000" b="1" dirty="0"/>
                  <a:t>3. Predict expected revenue if purchase occurs (Revenue Prediction Model)</a:t>
                </a:r>
              </a:p>
              <a:p>
                <a:pPr/>
                <a14:m>
                  <m:oMathPara xmlns:m="http://schemas.openxmlformats.org/officeDocument/2006/math">
                    <m:oMathParaPr>
                      <m:jc m:val="centerGroup"/>
                    </m:oMathParaPr>
                    <m:oMath xmlns:m="http://schemas.openxmlformats.org/officeDocument/2006/math">
                      <m:r>
                        <a:rPr lang="en-SG" sz="1000" i="1" dirty="0">
                          <a:latin typeface="Cambria Math" panose="02040503050406030204" pitchFamily="18" charset="0"/>
                        </a:rPr>
                        <m:t>𝑟</m:t>
                      </m:r>
                      <m:r>
                        <a:rPr lang="en-SG" sz="1000" i="1" dirty="0">
                          <a:latin typeface="Cambria Math" panose="02040503050406030204" pitchFamily="18" charset="0"/>
                        </a:rPr>
                        <m:t> = </m:t>
                      </m:r>
                      <m:r>
                        <a:rPr lang="en-SG" sz="1000" i="1" dirty="0">
                          <a:latin typeface="Cambria Math" panose="02040503050406030204" pitchFamily="18" charset="0"/>
                        </a:rPr>
                        <m:t>𝐸</m:t>
                      </m:r>
                      <m:d>
                        <m:dPr>
                          <m:endChr m:val="|"/>
                          <m:ctrlPr>
                            <a:rPr lang="en-SG" sz="1000" i="1" dirty="0">
                              <a:latin typeface="Cambria Math" panose="02040503050406030204" pitchFamily="18" charset="0"/>
                            </a:rPr>
                          </m:ctrlPr>
                        </m:dPr>
                        <m:e>
                          <m:r>
                            <a:rPr lang="en-SG" sz="1000" i="1" dirty="0">
                              <a:latin typeface="Cambria Math" panose="02040503050406030204" pitchFamily="18" charset="0"/>
                            </a:rPr>
                            <m:t>𝑟𝑒𝑣𝑒𝑛𝑢𝑒</m:t>
                          </m:r>
                          <m:r>
                            <a:rPr lang="en-SG" sz="1000" i="1" dirty="0">
                              <a:latin typeface="Cambria Math" panose="02040503050406030204" pitchFamily="18" charset="0"/>
                            </a:rPr>
                            <m:t> </m:t>
                          </m:r>
                        </m:e>
                      </m:d>
                      <m:r>
                        <a:rPr lang="en-SG" sz="1000" i="1" dirty="0">
                          <a:latin typeface="Cambria Math" panose="02040503050406030204" pitchFamily="18" charset="0"/>
                        </a:rPr>
                        <m:t> </m:t>
                      </m:r>
                      <m:r>
                        <a:rPr lang="en-SG" sz="1000" i="1" dirty="0">
                          <a:latin typeface="Cambria Math" panose="02040503050406030204" pitchFamily="18" charset="0"/>
                        </a:rPr>
                        <m:t>𝑝𝑢𝑟𝑐h𝑎𝑠𝑒</m:t>
                      </m:r>
                      <m:r>
                        <a:rPr lang="en-SG" sz="1000" i="1" dirty="0">
                          <a:latin typeface="Cambria Math" panose="02040503050406030204" pitchFamily="18" charset="0"/>
                        </a:rPr>
                        <m:t>, </m:t>
                      </m:r>
                      <m:r>
                        <a:rPr lang="en-SG" sz="1000" i="1" dirty="0">
                          <a:latin typeface="Cambria Math" panose="02040503050406030204" pitchFamily="18" charset="0"/>
                        </a:rPr>
                        <m:t>𝑥</m:t>
                      </m:r>
                      <m:r>
                        <a:rPr lang="en-SG" sz="1000" i="1" dirty="0">
                          <a:latin typeface="Cambria Math" panose="02040503050406030204" pitchFamily="18" charset="0"/>
                        </a:rPr>
                        <m:t>)</m:t>
                      </m:r>
                    </m:oMath>
                  </m:oMathPara>
                </a14:m>
                <a:endParaRPr lang="en-SG" sz="1000" dirty="0"/>
              </a:p>
              <a:p>
                <a:pPr marL="171450" indent="-171450">
                  <a:buFont typeface="Wingdings" panose="05000000000000000000" pitchFamily="2" charset="2"/>
                  <a:buChar char="Ø"/>
                </a:pPr>
                <a:r>
                  <a:rPr lang="en-SG" sz="1000" i="1" dirty="0"/>
                  <a:t>XGBoost (Regression)</a:t>
                </a:r>
              </a:p>
              <a:p>
                <a:pPr marL="171450" indent="-171450">
                  <a:buFont typeface="Wingdings" panose="05000000000000000000" pitchFamily="2" charset="2"/>
                  <a:buChar char="Ø"/>
                </a:pPr>
                <a:r>
                  <a:rPr lang="en-SG" sz="1000" i="1" dirty="0"/>
                  <a:t>Fallback</a:t>
                </a:r>
                <a:r>
                  <a:rPr lang="en-SG" sz="1000" b="1" i="1" dirty="0"/>
                  <a:t> </a:t>
                </a:r>
                <a:r>
                  <a:rPr lang="en-SG" sz="1000" i="1" dirty="0"/>
                  <a:t>mean revenue if insufficient data (rare in practice)</a:t>
                </a:r>
                <a:endParaRPr lang="en-SG" sz="1000" dirty="0"/>
              </a:p>
              <a:p>
                <a:endParaRPr lang="en-SG" sz="1000" b="1" dirty="0"/>
              </a:p>
              <a:p>
                <a:r>
                  <a:rPr lang="en-SG" sz="1000" b="1" dirty="0"/>
                  <a:t>4. Compute expected value</a:t>
                </a:r>
                <a:br>
                  <a:rPr lang="en-SG" sz="1000" b="1" dirty="0"/>
                </a:br>
                <a:r>
                  <a:rPr lang="en-SG" sz="1000" b="1" dirty="0"/>
                  <a:t>(For user-level ranking during policy evaluation)</a:t>
                </a:r>
              </a:p>
              <a:p>
                <a:pPr/>
                <a14:m>
                  <m:oMathPara xmlns:m="http://schemas.openxmlformats.org/officeDocument/2006/math">
                    <m:oMathParaPr>
                      <m:jc m:val="centerGroup"/>
                    </m:oMathParaPr>
                    <m:oMath xmlns:m="http://schemas.openxmlformats.org/officeDocument/2006/math">
                      <m:r>
                        <a:rPr lang="en-SG" sz="1000" i="1" dirty="0">
                          <a:latin typeface="Cambria Math" panose="02040503050406030204" pitchFamily="18" charset="0"/>
                        </a:rPr>
                        <m:t>𝐸𝑉</m:t>
                      </m:r>
                      <m:r>
                        <a:rPr lang="en-SG" sz="1000" i="1" dirty="0">
                          <a:latin typeface="Cambria Math" panose="02040503050406030204" pitchFamily="18" charset="0"/>
                        </a:rPr>
                        <m:t>=</m:t>
                      </m:r>
                      <m:r>
                        <a:rPr lang="en-SG" sz="1000" i="1" dirty="0">
                          <a:latin typeface="Cambria Math" panose="02040503050406030204" pitchFamily="18" charset="0"/>
                        </a:rPr>
                        <m:t>𝑝</m:t>
                      </m:r>
                      <m:r>
                        <a:rPr lang="en-SG" sz="1000" i="1" dirty="0">
                          <a:latin typeface="Cambria Math" panose="02040503050406030204" pitchFamily="18" charset="0"/>
                          <a:ea typeface="Cambria Math" panose="02040503050406030204" pitchFamily="18" charset="0"/>
                        </a:rPr>
                        <m:t>×</m:t>
                      </m:r>
                      <m:r>
                        <a:rPr lang="en-SG" sz="1000" i="1" dirty="0">
                          <a:latin typeface="Cambria Math" panose="02040503050406030204" pitchFamily="18" charset="0"/>
                          <a:ea typeface="Cambria Math" panose="02040503050406030204" pitchFamily="18" charset="0"/>
                        </a:rPr>
                        <m:t>𝑟</m:t>
                      </m:r>
                    </m:oMath>
                  </m:oMathPara>
                </a14:m>
                <a:endParaRPr lang="en-SG" sz="1000" dirty="0"/>
              </a:p>
              <a:p>
                <a:endParaRPr lang="en-SG" sz="1000" dirty="0"/>
              </a:p>
              <a:p>
                <a:r>
                  <a:rPr lang="en-SG" sz="1000" b="1" dirty="0"/>
                  <a:t>5. Output user-level scores</a:t>
                </a:r>
              </a:p>
              <a:p>
                <a:pPr/>
                <a14:m>
                  <m:oMathPara xmlns:m="http://schemas.openxmlformats.org/officeDocument/2006/math">
                    <m:oMathParaPr>
                      <m:jc m:val="centerGroup"/>
                    </m:oMathParaPr>
                    <m:oMath xmlns:m="http://schemas.openxmlformats.org/officeDocument/2006/math">
                      <m:r>
                        <a:rPr lang="en-SG" sz="1000" i="1" dirty="0">
                          <a:latin typeface="Cambria Math" panose="02040503050406030204" pitchFamily="18" charset="0"/>
                        </a:rPr>
                        <m:t>(</m:t>
                      </m:r>
                      <m:r>
                        <a:rPr lang="en-SG" sz="1000" i="1" dirty="0">
                          <a:latin typeface="Cambria Math" panose="02040503050406030204" pitchFamily="18" charset="0"/>
                        </a:rPr>
                        <m:t>𝑢𝑠𝑒𝑟</m:t>
                      </m:r>
                      <m:r>
                        <a:rPr lang="en-SG" sz="1000" i="1" dirty="0">
                          <a:latin typeface="Cambria Math" panose="02040503050406030204" pitchFamily="18" charset="0"/>
                        </a:rPr>
                        <m:t>, </m:t>
                      </m:r>
                      <m:r>
                        <a:rPr lang="en-SG" sz="1000" i="1" dirty="0">
                          <a:latin typeface="Cambria Math" panose="02040503050406030204" pitchFamily="18" charset="0"/>
                        </a:rPr>
                        <m:t>𝑝𝑟𝑜𝑝𝑒𝑛𝑠𝑖𝑡𝑦</m:t>
                      </m:r>
                      <m:r>
                        <a:rPr lang="en-SG" sz="1000" i="1" dirty="0">
                          <a:latin typeface="Cambria Math" panose="02040503050406030204" pitchFamily="18" charset="0"/>
                        </a:rPr>
                        <m:t>, </m:t>
                      </m:r>
                      <m:r>
                        <a:rPr lang="en-SG" sz="1000" i="1" dirty="0">
                          <a:latin typeface="Cambria Math" panose="02040503050406030204" pitchFamily="18" charset="0"/>
                        </a:rPr>
                        <m:t>𝑟𝑒𝑣𝑒𝑛𝑢</m:t>
                      </m:r>
                      <m:sSub>
                        <m:sSubPr>
                          <m:ctrlPr>
                            <a:rPr lang="en-SG" sz="1000" i="1" dirty="0">
                              <a:latin typeface="Cambria Math" panose="02040503050406030204" pitchFamily="18" charset="0"/>
                            </a:rPr>
                          </m:ctrlPr>
                        </m:sSubPr>
                        <m:e>
                          <m:r>
                            <a:rPr lang="en-SG" sz="1000" i="1" dirty="0">
                              <a:latin typeface="Cambria Math" panose="02040503050406030204" pitchFamily="18" charset="0"/>
                            </a:rPr>
                            <m:t>𝑒</m:t>
                          </m:r>
                        </m:e>
                        <m:sub>
                          <m:r>
                            <a:rPr lang="en-SG" sz="1000" i="1" dirty="0">
                              <a:latin typeface="Cambria Math" panose="02040503050406030204" pitchFamily="18" charset="0"/>
                            </a:rPr>
                            <m:t>𝑝𝑟𝑒𝑑</m:t>
                          </m:r>
                        </m:sub>
                      </m:sSub>
                      <m:r>
                        <a:rPr lang="en-SG" sz="1000" i="1" dirty="0">
                          <a:latin typeface="Cambria Math" panose="02040503050406030204" pitchFamily="18" charset="0"/>
                        </a:rPr>
                        <m:t>, </m:t>
                      </m:r>
                      <m:r>
                        <a:rPr lang="en-SG" sz="1000" i="1" dirty="0">
                          <a:latin typeface="Cambria Math" panose="02040503050406030204" pitchFamily="18" charset="0"/>
                        </a:rPr>
                        <m:t>𝐸𝑉</m:t>
                      </m:r>
                      <m:r>
                        <a:rPr lang="en-SG" sz="1000" i="1" dirty="0">
                          <a:latin typeface="Cambria Math" panose="02040503050406030204" pitchFamily="18" charset="0"/>
                        </a:rPr>
                        <m:t>)</m:t>
                      </m:r>
                    </m:oMath>
                  </m:oMathPara>
                </a14:m>
                <a:endParaRPr lang="en-SG" sz="1000" dirty="0"/>
              </a:p>
            </p:txBody>
          </p:sp>
        </mc:Choice>
        <mc:Fallback xmlns="">
          <p:sp>
            <p:nvSpPr>
              <p:cNvPr id="6" name="TextBox 5">
                <a:extLst>
                  <a:ext uri="{FF2B5EF4-FFF2-40B4-BE49-F238E27FC236}">
                    <a16:creationId xmlns:a16="http://schemas.microsoft.com/office/drawing/2014/main" id="{1B185BD4-6B9A-B0AC-98CD-AA6EFB14E76E}"/>
                  </a:ext>
                </a:extLst>
              </p:cNvPr>
              <p:cNvSpPr txBox="1">
                <a:spLocks noRot="1" noChangeAspect="1" noMove="1" noResize="1" noEditPoints="1" noAdjustHandles="1" noChangeArrowheads="1" noChangeShapeType="1" noTextEdit="1"/>
              </p:cNvSpPr>
              <p:nvPr/>
            </p:nvSpPr>
            <p:spPr>
              <a:xfrm>
                <a:off x="351026" y="2196072"/>
                <a:ext cx="3253674" cy="4566956"/>
              </a:xfrm>
              <a:prstGeom prst="rect">
                <a:avLst/>
              </a:prstGeom>
              <a:blipFill>
                <a:blip r:embed="rId3"/>
                <a:stretch>
                  <a:fillRect/>
                </a:stretch>
              </a:blipFill>
            </p:spPr>
            <p:txBody>
              <a:bodyPr/>
              <a:lstStyle/>
              <a:p>
                <a:r>
                  <a:rPr lang="en-SG">
                    <a:noFill/>
                  </a:rPr>
                  <a:t> </a:t>
                </a:r>
              </a:p>
            </p:txBody>
          </p:sp>
        </mc:Fallback>
      </mc:AlternateContent>
      <p:sp>
        <p:nvSpPr>
          <p:cNvPr id="8" name="TextBox 7">
            <a:extLst>
              <a:ext uri="{FF2B5EF4-FFF2-40B4-BE49-F238E27FC236}">
                <a16:creationId xmlns:a16="http://schemas.microsoft.com/office/drawing/2014/main" id="{083685E0-BA58-CD2A-C1E6-B9A92EE2D78F}"/>
              </a:ext>
            </a:extLst>
          </p:cNvPr>
          <p:cNvSpPr txBox="1"/>
          <p:nvPr/>
        </p:nvSpPr>
        <p:spPr>
          <a:xfrm>
            <a:off x="421951" y="1791279"/>
            <a:ext cx="3111824" cy="461665"/>
          </a:xfrm>
          <a:prstGeom prst="rect">
            <a:avLst/>
          </a:prstGeom>
          <a:noFill/>
        </p:spPr>
        <p:txBody>
          <a:bodyPr wrap="square">
            <a:spAutoFit/>
          </a:bodyPr>
          <a:lstStyle/>
          <a:p>
            <a:r>
              <a:rPr lang="en-SG" sz="1200" b="1" dirty="0"/>
              <a:t>Policy A (Default ML-driven targeting): Target top ranked by Expected Value</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ECE1585F-6840-E688-8CB5-6F430CA47693}"/>
                  </a:ext>
                </a:extLst>
              </p:cNvPr>
              <p:cNvSpPr txBox="1"/>
              <p:nvPr/>
            </p:nvSpPr>
            <p:spPr>
              <a:xfrm>
                <a:off x="8279424" y="2196072"/>
                <a:ext cx="3805750" cy="3526030"/>
              </a:xfrm>
              <a:prstGeom prst="rect">
                <a:avLst/>
              </a:prstGeom>
              <a:solidFill>
                <a:schemeClr val="accent6">
                  <a:lumMod val="20000"/>
                  <a:lumOff val="80000"/>
                </a:schemeClr>
              </a:solidFill>
            </p:spPr>
            <p:txBody>
              <a:bodyPr wrap="square">
                <a:spAutoFit/>
              </a:bodyPr>
              <a:lstStyle/>
              <a:p>
                <a:r>
                  <a:rPr lang="en-SG" sz="1000" b="1" u="sng" dirty="0"/>
                  <a:t>Formula</a:t>
                </a:r>
              </a:p>
              <a:p>
                <a:pPr/>
                <a14:m>
                  <m:oMathPara xmlns:m="http://schemas.openxmlformats.org/officeDocument/2006/math">
                    <m:oMathParaPr>
                      <m:jc m:val="centerGroup"/>
                    </m:oMathParaPr>
                    <m:oMath xmlns:m="http://schemas.openxmlformats.org/officeDocument/2006/math">
                      <m:r>
                        <a:rPr lang="en-SG" sz="1000" b="0" i="1" dirty="0" smtClean="0">
                          <a:latin typeface="Cambria Math" panose="02040503050406030204" pitchFamily="18" charset="0"/>
                        </a:rPr>
                        <m:t>𝑠𝑐𝑜𝑟𝑒</m:t>
                      </m:r>
                      <m:r>
                        <a:rPr lang="en-SG" sz="1000" i="1" dirty="0">
                          <a:latin typeface="Cambria Math" panose="02040503050406030204" pitchFamily="18" charset="0"/>
                        </a:rPr>
                        <m:t>=</m:t>
                      </m:r>
                      <m:r>
                        <a:rPr lang="en-SG" sz="1000" b="0" i="1" dirty="0" smtClean="0">
                          <a:latin typeface="Cambria Math" panose="02040503050406030204" pitchFamily="18" charset="0"/>
                        </a:rPr>
                        <m:t>h𝑒𝑢𝑟𝑖𝑠𝑡𝑖𝑐</m:t>
                      </m:r>
                      <m:d>
                        <m:dPr>
                          <m:ctrlPr>
                            <a:rPr lang="en-SG" sz="1000" b="0" i="1" dirty="0" smtClean="0">
                              <a:latin typeface="Cambria Math" panose="02040503050406030204" pitchFamily="18" charset="0"/>
                            </a:rPr>
                          </m:ctrlPr>
                        </m:dPr>
                        <m:e>
                          <m:r>
                            <a:rPr lang="en-SG" sz="1000" b="0" i="1" dirty="0" smtClean="0">
                              <a:latin typeface="Cambria Math" panose="02040503050406030204" pitchFamily="18" charset="0"/>
                            </a:rPr>
                            <m:t>𝑅</m:t>
                          </m:r>
                          <m:r>
                            <a:rPr lang="en-SG" sz="1000" b="0" i="1" dirty="0" smtClean="0">
                              <a:latin typeface="Cambria Math" panose="02040503050406030204" pitchFamily="18" charset="0"/>
                            </a:rPr>
                            <m:t>, </m:t>
                          </m:r>
                          <m:r>
                            <a:rPr lang="en-SG" sz="1000" b="0" i="1" dirty="0" smtClean="0">
                              <a:latin typeface="Cambria Math" panose="02040503050406030204" pitchFamily="18" charset="0"/>
                            </a:rPr>
                            <m:t>𝐹</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𝑀</m:t>
                          </m:r>
                        </m:e>
                      </m:d>
                    </m:oMath>
                  </m:oMathPara>
                </a14:m>
                <a:endParaRPr lang="en-SG" sz="1000" b="0" dirty="0"/>
              </a:p>
              <a:p>
                <a:pPr/>
                <a14:m>
                  <m:oMathPara xmlns:m="http://schemas.openxmlformats.org/officeDocument/2006/math">
                    <m:oMathParaPr>
                      <m:jc m:val="centerGroup"/>
                    </m:oMathParaPr>
                    <m:oMath xmlns:m="http://schemas.openxmlformats.org/officeDocument/2006/math">
                      <m:r>
                        <a:rPr lang="en-SG" sz="1000" i="1" dirty="0" smtClean="0">
                          <a:latin typeface="Cambria Math" panose="02040503050406030204" pitchFamily="18" charset="0"/>
                          <a:ea typeface="Cambria Math" panose="02040503050406030204" pitchFamily="18" charset="0"/>
                        </a:rPr>
                        <m:t>→</m:t>
                      </m:r>
                      <m:r>
                        <a:rPr lang="en-SG" sz="1000" i="1" dirty="0">
                          <a:latin typeface="Cambria Math" panose="02040503050406030204" pitchFamily="18" charset="0"/>
                        </a:rPr>
                        <m:t>𝑟𝑓𝑚</m:t>
                      </m:r>
                      <m:r>
                        <a:rPr lang="en-SG" sz="1000" b="0" i="1" dirty="0" smtClean="0">
                          <a:latin typeface="Cambria Math" panose="02040503050406030204" pitchFamily="18" charset="0"/>
                        </a:rPr>
                        <m:t> </m:t>
                      </m:r>
                      <m:r>
                        <a:rPr lang="en-SG" sz="1000" i="1" dirty="0">
                          <a:latin typeface="Cambria Math" panose="02040503050406030204" pitchFamily="18" charset="0"/>
                        </a:rPr>
                        <m:t>𝑝𝑜𝑙𝑖𝑐𝑦</m:t>
                      </m:r>
                      <m:r>
                        <a:rPr lang="en-SG" sz="1000" b="0" i="1" dirty="0" smtClean="0">
                          <a:latin typeface="Cambria Math" panose="02040503050406030204" pitchFamily="18" charset="0"/>
                        </a:rPr>
                        <m:t> </m:t>
                      </m:r>
                      <m:r>
                        <a:rPr lang="en-SG" sz="1000" i="1" dirty="0">
                          <a:latin typeface="Cambria Math" panose="02040503050406030204" pitchFamily="18" charset="0"/>
                        </a:rPr>
                        <m:t>𝑠𝑐𝑜𝑟𝑒</m:t>
                      </m:r>
                      <m:r>
                        <a:rPr lang="en-SG" sz="1000" i="1" dirty="0">
                          <a:latin typeface="Cambria Math" panose="02040503050406030204" pitchFamily="18" charset="0"/>
                        </a:rPr>
                        <m:t>= </m:t>
                      </m:r>
                      <m:f>
                        <m:fPr>
                          <m:ctrlPr>
                            <a:rPr lang="en-SG" sz="1000" b="0" i="1" dirty="0" smtClean="0">
                              <a:latin typeface="Cambria Math" panose="02040503050406030204" pitchFamily="18" charset="0"/>
                            </a:rPr>
                          </m:ctrlPr>
                        </m:fPr>
                        <m:num>
                          <m:r>
                            <a:rPr lang="en-SG" sz="1000" b="0" i="1" dirty="0" smtClean="0">
                              <a:latin typeface="Cambria Math" panose="02040503050406030204" pitchFamily="18" charset="0"/>
                            </a:rPr>
                            <m:t>1</m:t>
                          </m:r>
                        </m:num>
                        <m:den>
                          <m:r>
                            <a:rPr lang="en-SG" sz="1000" b="0" i="1" dirty="0" smtClean="0">
                              <a:latin typeface="Cambria Math" panose="02040503050406030204" pitchFamily="18" charset="0"/>
                            </a:rPr>
                            <m:t>1+</m:t>
                          </m:r>
                          <m:r>
                            <a:rPr lang="en-SG" sz="1000" b="0" i="1" dirty="0" smtClean="0">
                              <a:latin typeface="Cambria Math" panose="02040503050406030204" pitchFamily="18" charset="0"/>
                            </a:rPr>
                            <m:t>𝑟</m:t>
                          </m:r>
                        </m:den>
                      </m:f>
                      <m:r>
                        <a:rPr lang="en-SG" sz="1000" b="0" i="1" dirty="0" smtClean="0">
                          <a:latin typeface="Cambria Math" panose="02040503050406030204" pitchFamily="18" charset="0"/>
                        </a:rPr>
                        <m:t>+0.5</m:t>
                      </m:r>
                      <m:r>
                        <a:rPr lang="en-SG" sz="1000" b="0" i="1" dirty="0" smtClean="0">
                          <a:latin typeface="Cambria Math" panose="02040503050406030204" pitchFamily="18" charset="0"/>
                        </a:rPr>
                        <m:t>𝑓</m:t>
                      </m:r>
                      <m:r>
                        <a:rPr lang="en-SG" sz="1000" b="0" i="1" dirty="0" smtClean="0">
                          <a:latin typeface="Cambria Math" panose="02040503050406030204" pitchFamily="18" charset="0"/>
                        </a:rPr>
                        <m:t>+0.01</m:t>
                      </m:r>
                      <m:r>
                        <a:rPr lang="en-SG" sz="1000" b="0" i="1" dirty="0" smtClean="0">
                          <a:latin typeface="Cambria Math" panose="02040503050406030204" pitchFamily="18" charset="0"/>
                        </a:rPr>
                        <m:t>𝑚</m:t>
                      </m:r>
                    </m:oMath>
                  </m:oMathPara>
                </a14:m>
                <a:endParaRPr lang="en-SG" sz="1000" dirty="0"/>
              </a:p>
              <a:p>
                <a:r>
                  <a:rPr lang="en-SG" sz="1000" b="1" dirty="0"/>
                  <a:t>Where:</a:t>
                </a:r>
              </a:p>
              <a:p>
                <a:pPr algn="ctr"/>
                <a14:m>
                  <m:oMathPara xmlns:m="http://schemas.openxmlformats.org/officeDocument/2006/math">
                    <m:oMathParaPr>
                      <m:jc m:val="left"/>
                    </m:oMathParaPr>
                    <m:oMath xmlns:m="http://schemas.openxmlformats.org/officeDocument/2006/math">
                      <m:r>
                        <a:rPr lang="en-SG" sz="1000" b="1" i="1" dirty="0">
                          <a:latin typeface="Cambria Math" panose="02040503050406030204" pitchFamily="18" charset="0"/>
                        </a:rPr>
                        <m:t>𝒓</m:t>
                      </m:r>
                      <m:r>
                        <a:rPr lang="en-SG" sz="1000" b="1" i="1" dirty="0" smtClean="0">
                          <a:latin typeface="Cambria Math" panose="02040503050406030204" pitchFamily="18" charset="0"/>
                        </a:rPr>
                        <m:t>:</m:t>
                      </m:r>
                      <m:r>
                        <a:rPr lang="en-SG" sz="1000" b="0" i="1" dirty="0" smtClean="0">
                          <a:latin typeface="Cambria Math" panose="02040503050406030204" pitchFamily="18" charset="0"/>
                        </a:rPr>
                        <m:t>𝑟𝑒𝑐𝑒𝑛𝑐𝑦</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𝑑𝑎𝑦𝑠</m:t>
                      </m:r>
                    </m:oMath>
                  </m:oMathPara>
                </a14:m>
                <a:endParaRPr lang="en-SG" sz="1000" b="0" dirty="0"/>
              </a:p>
              <a:p>
                <a:pPr algn="ctr"/>
                <a14:m>
                  <m:oMathPara xmlns:m="http://schemas.openxmlformats.org/officeDocument/2006/math">
                    <m:oMathParaPr>
                      <m:jc m:val="left"/>
                    </m:oMathParaPr>
                    <m:oMath xmlns:m="http://schemas.openxmlformats.org/officeDocument/2006/math">
                      <m:r>
                        <a:rPr lang="en-SG" sz="1000" b="1" i="1" dirty="0" smtClean="0">
                          <a:latin typeface="Cambria Math" panose="02040503050406030204" pitchFamily="18" charset="0"/>
                        </a:rPr>
                        <m:t>𝒇</m:t>
                      </m:r>
                      <m:r>
                        <a:rPr lang="en-SG" sz="1000" b="1" i="1" dirty="0">
                          <a:latin typeface="Cambria Math" panose="02040503050406030204" pitchFamily="18" charset="0"/>
                        </a:rPr>
                        <m:t>:</m:t>
                      </m:r>
                      <m:r>
                        <a:rPr lang="en-SG" sz="1000" b="0" i="1" dirty="0" smtClean="0">
                          <a:latin typeface="Cambria Math" panose="02040503050406030204" pitchFamily="18" charset="0"/>
                        </a:rPr>
                        <m:t>𝑓𝑟𝑒𝑞𝑢𝑒𝑛𝑐𝑦</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𝑙𝑜𝑜𝑘𝑏𝑎𝑐𝑘</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𝑑𝑎𝑦𝑠</m:t>
                      </m:r>
                    </m:oMath>
                  </m:oMathPara>
                </a14:m>
                <a:endParaRPr lang="en-SG" sz="1000" b="0" dirty="0"/>
              </a:p>
              <a:p>
                <a:pPr algn="ctr"/>
                <a14:m>
                  <m:oMathPara xmlns:m="http://schemas.openxmlformats.org/officeDocument/2006/math">
                    <m:oMathParaPr>
                      <m:jc m:val="left"/>
                    </m:oMathParaPr>
                    <m:oMath xmlns:m="http://schemas.openxmlformats.org/officeDocument/2006/math">
                      <m:r>
                        <a:rPr lang="en-SG" sz="1000" b="1" i="1" dirty="0" smtClean="0">
                          <a:latin typeface="Cambria Math" panose="02040503050406030204" pitchFamily="18" charset="0"/>
                        </a:rPr>
                        <m:t>𝒎</m:t>
                      </m:r>
                      <m:r>
                        <a:rPr lang="en-SG" sz="1000" b="1" i="1" dirty="0">
                          <a:latin typeface="Cambria Math" panose="02040503050406030204" pitchFamily="18" charset="0"/>
                        </a:rPr>
                        <m:t>:</m:t>
                      </m:r>
                      <m:r>
                        <a:rPr lang="en-SG" sz="1000" b="0" i="1" dirty="0" smtClean="0">
                          <a:latin typeface="Cambria Math" panose="02040503050406030204" pitchFamily="18" charset="0"/>
                        </a:rPr>
                        <m:t>𝑚𝑜𝑛𝑒𝑡𝑎𝑟𝑦</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𝑎𝑚𝑜𝑢𝑛𝑡</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𝑜𝑣𝑒𝑟</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𝑙𝑜𝑜𝑘𝑏𝑎𝑐𝑘</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𝑑𝑎𝑦𝑠</m:t>
                      </m:r>
                    </m:oMath>
                  </m:oMathPara>
                </a14:m>
                <a:endParaRPr lang="en-SG" sz="1000" b="0" dirty="0"/>
              </a:p>
              <a:p>
                <a:pPr algn="ctr"/>
                <a14:m>
                  <m:oMathPara xmlns:m="http://schemas.openxmlformats.org/officeDocument/2006/math">
                    <m:oMathParaPr>
                      <m:jc m:val="left"/>
                    </m:oMathParaPr>
                    <m:oMath xmlns:m="http://schemas.openxmlformats.org/officeDocument/2006/math">
                      <m:r>
                        <a:rPr lang="en-SG" sz="1000" b="1" i="1" dirty="0" smtClean="0">
                          <a:latin typeface="Cambria Math" panose="02040503050406030204" pitchFamily="18" charset="0"/>
                        </a:rPr>
                        <m:t>𝒍𝒐𝒐𝒌𝒃𝒂𝒄𝒌</m:t>
                      </m:r>
                      <m:r>
                        <a:rPr lang="en-SG" sz="1000" b="1" i="1" dirty="0" smtClean="0">
                          <a:latin typeface="Cambria Math" panose="02040503050406030204" pitchFamily="18" charset="0"/>
                        </a:rPr>
                        <m:t> </m:t>
                      </m:r>
                      <m:r>
                        <a:rPr lang="en-SG" sz="1000" b="1" i="1" dirty="0" smtClean="0">
                          <a:latin typeface="Cambria Math" panose="02040503050406030204" pitchFamily="18" charset="0"/>
                        </a:rPr>
                        <m:t>𝒅𝒂𝒚𝒔</m:t>
                      </m:r>
                      <m:r>
                        <a:rPr lang="en-SG" sz="1000" b="1" i="1" dirty="0" smtClean="0">
                          <a:latin typeface="Cambria Math" panose="02040503050406030204" pitchFamily="18" charset="0"/>
                        </a:rPr>
                        <m:t>:</m:t>
                      </m:r>
                    </m:oMath>
                  </m:oMathPara>
                </a14:m>
                <a:endParaRPr lang="en-SG" sz="1000" b="1" i="1" dirty="0">
                  <a:latin typeface="Cambria Math" panose="02040503050406030204" pitchFamily="18" charset="0"/>
                </a:endParaRPr>
              </a:p>
              <a:p>
                <a:pPr marL="171450" indent="-171450">
                  <a:buFont typeface="Wingdings" panose="05000000000000000000" pitchFamily="2" charset="2"/>
                  <a:buChar char="Ø"/>
                </a:pPr>
                <a:r>
                  <a:rPr lang="en-SG" sz="1000" b="0" dirty="0"/>
                  <a:t>If window sensitivity experiments, try 60d|90d|120d</a:t>
                </a:r>
              </a:p>
              <a:p>
                <a:pPr marL="171450" indent="-171450">
                  <a:buFont typeface="Wingdings" panose="05000000000000000000" pitchFamily="2" charset="2"/>
                  <a:buChar char="Ø"/>
                </a:pPr>
                <a:r>
                  <a:rPr lang="en-SG" sz="1000" b="0" dirty="0"/>
                  <a:t>Else, use fr</a:t>
                </a:r>
                <a:r>
                  <a:rPr lang="en-SG" sz="1000" dirty="0"/>
                  <a:t>ozen lookback</a:t>
                </a:r>
                <a:endParaRPr lang="en-SG" sz="1000" b="0" dirty="0"/>
              </a:p>
              <a:p>
                <a:endParaRPr lang="en-SG" sz="1000" dirty="0"/>
              </a:p>
              <a:p>
                <a:r>
                  <a:rPr lang="en-SG" sz="1000" b="1" dirty="0"/>
                  <a:t>Parameter factors trade-off:</a:t>
                </a:r>
              </a:p>
              <a:p>
                <a:pPr marL="171450" indent="-171450">
                  <a:buFont typeface="Wingdings" panose="05000000000000000000" pitchFamily="2" charset="2"/>
                  <a:buChar char="Ø"/>
                </a:pPr>
                <a:r>
                  <a:rPr lang="en-SG" sz="1000" b="1" dirty="0"/>
                  <a:t>Recency </a:t>
                </a:r>
                <a:r>
                  <a:rPr lang="en-SG" sz="1000" dirty="0"/>
                  <a:t>decay non-linearly </a:t>
                </a:r>
                <a14:m>
                  <m:oMath xmlns:m="http://schemas.openxmlformats.org/officeDocument/2006/math">
                    <m:f>
                      <m:fPr>
                        <m:ctrlPr>
                          <a:rPr lang="en-SG" sz="1000" i="1" dirty="0">
                            <a:latin typeface="Cambria Math" panose="02040503050406030204" pitchFamily="18" charset="0"/>
                          </a:rPr>
                        </m:ctrlPr>
                      </m:fPr>
                      <m:num>
                        <m:r>
                          <a:rPr lang="en-SG" sz="1000" i="1" dirty="0">
                            <a:latin typeface="Cambria Math" panose="02040503050406030204" pitchFamily="18" charset="0"/>
                          </a:rPr>
                          <m:t>1</m:t>
                        </m:r>
                      </m:num>
                      <m:den>
                        <m:r>
                          <a:rPr lang="en-SG" sz="1000" i="1" dirty="0">
                            <a:latin typeface="Cambria Math" panose="02040503050406030204" pitchFamily="18" charset="0"/>
                          </a:rPr>
                          <m:t>1+</m:t>
                        </m:r>
                        <m:r>
                          <a:rPr lang="en-SG" sz="1000" i="1" dirty="0">
                            <a:latin typeface="Cambria Math" panose="02040503050406030204" pitchFamily="18" charset="0"/>
                          </a:rPr>
                          <m:t>𝑟</m:t>
                        </m:r>
                      </m:den>
                    </m:f>
                  </m:oMath>
                </a14:m>
                <a:endParaRPr lang="en-SG" sz="1000" dirty="0"/>
              </a:p>
              <a:p>
                <a:pPr marL="171450" indent="-171450">
                  <a:buFont typeface="Wingdings" panose="05000000000000000000" pitchFamily="2" charset="2"/>
                  <a:buChar char="Ø"/>
                </a:pPr>
                <a:r>
                  <a:rPr lang="en-SG" sz="1000" dirty="0"/>
                  <a:t>Medium weight (0,5) to </a:t>
                </a:r>
                <a:r>
                  <a:rPr lang="en-SG" sz="1000" b="1" dirty="0"/>
                  <a:t>frequency</a:t>
                </a:r>
              </a:p>
              <a:p>
                <a:pPr marL="171450" indent="-171450">
                  <a:buFont typeface="Wingdings" panose="05000000000000000000" pitchFamily="2" charset="2"/>
                  <a:buChar char="Ø"/>
                </a:pPr>
                <a:r>
                  <a:rPr lang="en-SG" sz="1000" dirty="0"/>
                  <a:t>Low weight (0.01) to </a:t>
                </a:r>
                <a:r>
                  <a:rPr lang="en-SG" sz="1000" b="1" dirty="0"/>
                  <a:t>monetary</a:t>
                </a:r>
                <a:r>
                  <a:rPr lang="en-SG" sz="1000" dirty="0"/>
                  <a:t> so outliers skew don’t dominate</a:t>
                </a:r>
                <a:endParaRPr lang="en-SG" sz="1000" b="1" dirty="0"/>
              </a:p>
              <a:p>
                <a:endParaRPr lang="en-SG" sz="1000" dirty="0"/>
              </a:p>
              <a:p>
                <a:r>
                  <a:rPr lang="en-SG" sz="1000" b="1" dirty="0"/>
                  <a:t>Score increase from below:</a:t>
                </a:r>
              </a:p>
              <a:p>
                <a:pPr marL="171450" indent="-171450">
                  <a:buFont typeface="Wingdings" panose="05000000000000000000" pitchFamily="2" charset="2"/>
                  <a:buChar char="Ø"/>
                </a:pPr>
                <a:r>
                  <a:rPr lang="en-SG" sz="1000" dirty="0"/>
                  <a:t>higher frequency</a:t>
                </a:r>
              </a:p>
              <a:p>
                <a:pPr marL="171450" indent="-171450">
                  <a:buFont typeface="Wingdings" panose="05000000000000000000" pitchFamily="2" charset="2"/>
                  <a:buChar char="Ø"/>
                </a:pPr>
                <a:r>
                  <a:rPr lang="en-SG" sz="1000" dirty="0"/>
                  <a:t>higher monetary</a:t>
                </a:r>
              </a:p>
              <a:p>
                <a:pPr marL="171450" indent="-171450">
                  <a:buFont typeface="Wingdings" panose="05000000000000000000" pitchFamily="2" charset="2"/>
                  <a:buChar char="Ø"/>
                </a:pPr>
                <a:r>
                  <a:rPr lang="en-SG" sz="1000" dirty="0"/>
                  <a:t>more recent purchase</a:t>
                </a:r>
              </a:p>
            </p:txBody>
          </p:sp>
        </mc:Choice>
        <mc:Fallback xmlns="">
          <p:sp>
            <p:nvSpPr>
              <p:cNvPr id="9" name="TextBox 8">
                <a:extLst>
                  <a:ext uri="{FF2B5EF4-FFF2-40B4-BE49-F238E27FC236}">
                    <a16:creationId xmlns:a16="http://schemas.microsoft.com/office/drawing/2014/main" id="{ECE1585F-6840-E688-8CB5-6F430CA47693}"/>
                  </a:ext>
                </a:extLst>
              </p:cNvPr>
              <p:cNvSpPr txBox="1">
                <a:spLocks noRot="1" noChangeAspect="1" noMove="1" noResize="1" noEditPoints="1" noAdjustHandles="1" noChangeArrowheads="1" noChangeShapeType="1" noTextEdit="1"/>
              </p:cNvSpPr>
              <p:nvPr/>
            </p:nvSpPr>
            <p:spPr>
              <a:xfrm>
                <a:off x="8279424" y="2196072"/>
                <a:ext cx="3805750" cy="3526030"/>
              </a:xfrm>
              <a:prstGeom prst="rect">
                <a:avLst/>
              </a:prstGeom>
              <a:blipFill>
                <a:blip r:embed="rId4"/>
                <a:stretch>
                  <a:fillRect/>
                </a:stretch>
              </a:blipFill>
            </p:spPr>
            <p:txBody>
              <a:bodyPr/>
              <a:lstStyle/>
              <a:p>
                <a:r>
                  <a:rPr lang="en-SG">
                    <a:noFill/>
                  </a:rPr>
                  <a:t> </a:t>
                </a:r>
              </a:p>
            </p:txBody>
          </p:sp>
        </mc:Fallback>
      </mc:AlternateContent>
      <p:sp>
        <p:nvSpPr>
          <p:cNvPr id="12" name="TextBox 11">
            <a:extLst>
              <a:ext uri="{FF2B5EF4-FFF2-40B4-BE49-F238E27FC236}">
                <a16:creationId xmlns:a16="http://schemas.microsoft.com/office/drawing/2014/main" id="{AA60F309-69BF-F0CE-C414-B6A261D3ECF5}"/>
              </a:ext>
            </a:extLst>
          </p:cNvPr>
          <p:cNvSpPr txBox="1"/>
          <p:nvPr/>
        </p:nvSpPr>
        <p:spPr>
          <a:xfrm>
            <a:off x="8208499" y="1791279"/>
            <a:ext cx="3253673" cy="461665"/>
          </a:xfrm>
          <a:prstGeom prst="rect">
            <a:avLst/>
          </a:prstGeom>
          <a:noFill/>
        </p:spPr>
        <p:txBody>
          <a:bodyPr wrap="square">
            <a:spAutoFit/>
          </a:bodyPr>
          <a:lstStyle/>
          <a:p>
            <a:r>
              <a:rPr lang="en-SG" sz="1200" b="1" dirty="0"/>
              <a:t>Policy C (Business heuristic baseline): Target top ranked RFM users</a:t>
            </a:r>
          </a:p>
        </p:txBody>
      </p:sp>
      <p:sp>
        <p:nvSpPr>
          <p:cNvPr id="13" name="TextBox 12">
            <a:extLst>
              <a:ext uri="{FF2B5EF4-FFF2-40B4-BE49-F238E27FC236}">
                <a16:creationId xmlns:a16="http://schemas.microsoft.com/office/drawing/2014/main" id="{0101EFF1-185C-C568-2FF6-25BC2612F650}"/>
              </a:ext>
            </a:extLst>
          </p:cNvPr>
          <p:cNvSpPr txBox="1"/>
          <p:nvPr/>
        </p:nvSpPr>
        <p:spPr>
          <a:xfrm>
            <a:off x="3876675" y="1940472"/>
            <a:ext cx="3590926" cy="276999"/>
          </a:xfrm>
          <a:prstGeom prst="rect">
            <a:avLst/>
          </a:prstGeom>
          <a:noFill/>
        </p:spPr>
        <p:txBody>
          <a:bodyPr wrap="square">
            <a:spAutoFit/>
          </a:bodyPr>
          <a:lstStyle/>
          <a:p>
            <a:r>
              <a:rPr lang="en-SG" sz="1200" b="1" dirty="0"/>
              <a:t>Policy B (Random baseline)</a:t>
            </a:r>
          </a:p>
        </p:txBody>
      </p:sp>
      <p:sp>
        <p:nvSpPr>
          <p:cNvPr id="14" name="TextBox 13">
            <a:extLst>
              <a:ext uri="{FF2B5EF4-FFF2-40B4-BE49-F238E27FC236}">
                <a16:creationId xmlns:a16="http://schemas.microsoft.com/office/drawing/2014/main" id="{7BA4785F-139C-5735-94ED-0C468472C5CC}"/>
              </a:ext>
            </a:extLst>
          </p:cNvPr>
          <p:cNvSpPr txBox="1"/>
          <p:nvPr/>
        </p:nvSpPr>
        <p:spPr>
          <a:xfrm>
            <a:off x="3947600" y="2196072"/>
            <a:ext cx="4189974" cy="861774"/>
          </a:xfrm>
          <a:prstGeom prst="rect">
            <a:avLst/>
          </a:prstGeom>
          <a:solidFill>
            <a:schemeClr val="accent6">
              <a:lumMod val="20000"/>
              <a:lumOff val="80000"/>
            </a:schemeClr>
          </a:solidFill>
        </p:spPr>
        <p:txBody>
          <a:bodyPr wrap="square">
            <a:spAutoFit/>
          </a:bodyPr>
          <a:lstStyle/>
          <a:p>
            <a:r>
              <a:rPr lang="en-SG" sz="1000" b="1" u="sng" dirty="0"/>
              <a:t>Formula</a:t>
            </a:r>
            <a:endParaRPr lang="en-SG" sz="1000" b="1" dirty="0"/>
          </a:p>
          <a:p>
            <a:r>
              <a:rPr lang="en-SG" sz="1000" b="1" dirty="0"/>
              <a:t>Deterministic pseudo-random: </a:t>
            </a:r>
          </a:p>
          <a:p>
            <a:r>
              <a:rPr lang="en-SG" sz="1000" b="1" dirty="0"/>
              <a:t>score = Hash to [0,1] by (user id, as_of_date. "policy_random")</a:t>
            </a:r>
          </a:p>
          <a:p>
            <a:endParaRPr lang="en-SG" sz="1000" b="1" dirty="0"/>
          </a:p>
          <a:p>
            <a:r>
              <a:rPr lang="en-SG" sz="1000" b="1" dirty="0"/>
              <a:t>Purpose: </a:t>
            </a:r>
            <a:r>
              <a:rPr lang="en-SG" sz="1000" dirty="0"/>
              <a:t>Sanity baseline</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BA6A739C-D42C-722B-F8D5-AA4046CE4E8A}"/>
                  </a:ext>
                </a:extLst>
              </p:cNvPr>
              <p:cNvSpPr txBox="1"/>
              <p:nvPr/>
            </p:nvSpPr>
            <p:spPr>
              <a:xfrm>
                <a:off x="3912577" y="3635921"/>
                <a:ext cx="3178499" cy="646331"/>
              </a:xfrm>
              <a:prstGeom prst="rect">
                <a:avLst/>
              </a:prstGeom>
              <a:solidFill>
                <a:schemeClr val="accent2">
                  <a:lumMod val="20000"/>
                  <a:lumOff val="80000"/>
                </a:schemeClr>
              </a:solidFill>
            </p:spPr>
            <p:txBody>
              <a:bodyPr wrap="square">
                <a:spAutoFit/>
              </a:bodyPr>
              <a:lstStyle/>
              <a:p>
                <a:r>
                  <a:rPr lang="en-SG" sz="1200" b="1" dirty="0"/>
                  <a:t>Decision Rule (shared across policies): </a:t>
                </a:r>
                <a:r>
                  <a:rPr lang="en-SG" sz="1200" dirty="0"/>
                  <a:t>Rank users by policy score </a:t>
                </a:r>
                <a14:m>
                  <m:oMath xmlns:m="http://schemas.openxmlformats.org/officeDocument/2006/math">
                    <m:r>
                      <a:rPr lang="en-SG" sz="1200" b="0" i="1" dirty="0">
                        <a:latin typeface="Cambria Math" panose="02040503050406030204" pitchFamily="18" charset="0"/>
                        <a:ea typeface="Cambria Math" panose="02040503050406030204" pitchFamily="18" charset="0"/>
                      </a:rPr>
                      <m:t>→</m:t>
                    </m:r>
                  </m:oMath>
                </a14:m>
                <a:r>
                  <a:rPr lang="en-SG" sz="1200" dirty="0"/>
                  <a:t> Select Top K users under budget constraint</a:t>
                </a:r>
              </a:p>
            </p:txBody>
          </p:sp>
        </mc:Choice>
        <mc:Fallback xmlns="">
          <p:sp>
            <p:nvSpPr>
              <p:cNvPr id="16" name="TextBox 15">
                <a:extLst>
                  <a:ext uri="{FF2B5EF4-FFF2-40B4-BE49-F238E27FC236}">
                    <a16:creationId xmlns:a16="http://schemas.microsoft.com/office/drawing/2014/main" id="{BA6A739C-D42C-722B-F8D5-AA4046CE4E8A}"/>
                  </a:ext>
                </a:extLst>
              </p:cNvPr>
              <p:cNvSpPr txBox="1">
                <a:spLocks noRot="1" noChangeAspect="1" noMove="1" noResize="1" noEditPoints="1" noAdjustHandles="1" noChangeArrowheads="1" noChangeShapeType="1" noTextEdit="1"/>
              </p:cNvSpPr>
              <p:nvPr/>
            </p:nvSpPr>
            <p:spPr>
              <a:xfrm>
                <a:off x="3912577" y="3635921"/>
                <a:ext cx="3178499" cy="646331"/>
              </a:xfrm>
              <a:prstGeom prst="rect">
                <a:avLst/>
              </a:prstGeom>
              <a:blipFill>
                <a:blip r:embed="rId5"/>
                <a:stretch>
                  <a:fillRect l="-192" b="-6604"/>
                </a:stretch>
              </a:blipFill>
            </p:spPr>
            <p:txBody>
              <a:bodyPr/>
              <a:lstStyle/>
              <a:p>
                <a:r>
                  <a:rPr lang="en-SG">
                    <a:noFill/>
                  </a:rPr>
                  <a:t> </a:t>
                </a:r>
              </a:p>
            </p:txBody>
          </p:sp>
        </mc:Fallback>
      </mc:AlternateContent>
    </p:spTree>
    <p:extLst>
      <p:ext uri="{BB962C8B-B14F-4D97-AF65-F5344CB8AC3E}">
        <p14:creationId xmlns:p14="http://schemas.microsoft.com/office/powerpoint/2010/main" val="18513887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24CE1A-222A-95DE-E490-5A401FAB90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77EF3C-681F-A540-DA08-BF462DB9E507}"/>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Policy Scoring Mechanics)</a:t>
            </a:r>
          </a:p>
        </p:txBody>
      </p:sp>
      <p:sp>
        <p:nvSpPr>
          <p:cNvPr id="3" name="TextBox 2">
            <a:extLst>
              <a:ext uri="{FF2B5EF4-FFF2-40B4-BE49-F238E27FC236}">
                <a16:creationId xmlns:a16="http://schemas.microsoft.com/office/drawing/2014/main" id="{45BD69C9-2101-6D92-3E7B-BDBDF1B1D291}"/>
              </a:ext>
            </a:extLst>
          </p:cNvPr>
          <p:cNvSpPr txBox="1"/>
          <p:nvPr/>
        </p:nvSpPr>
        <p:spPr>
          <a:xfrm>
            <a:off x="1502879" y="1905000"/>
            <a:ext cx="5450581" cy="4862870"/>
          </a:xfrm>
          <a:prstGeom prst="rect">
            <a:avLst/>
          </a:prstGeom>
          <a:solidFill>
            <a:schemeClr val="accent6">
              <a:lumMod val="20000"/>
              <a:lumOff val="80000"/>
            </a:schemeClr>
          </a:solidFill>
        </p:spPr>
        <p:txBody>
          <a:bodyPr wrap="square">
            <a:spAutoFit/>
          </a:bodyPr>
          <a:lstStyle/>
          <a:p>
            <a:r>
              <a:rPr lang="en-SG" sz="1000" dirty="0"/>
              <a:t>    </a:t>
            </a:r>
            <a:r>
              <a:rPr lang="en-SG" sz="1000" b="1" dirty="0"/>
              <a:t>Note: </a:t>
            </a:r>
            <a:r>
              <a:rPr lang="en-SG" sz="1000" dirty="0"/>
              <a:t>Calibration is important because the predicted probability is used</a:t>
            </a:r>
          </a:p>
          <a:p>
            <a:r>
              <a:rPr lang="en-SG" sz="1000" dirty="0"/>
              <a:t>    directly in expected-value ranking downstream.</a:t>
            </a:r>
            <a:br>
              <a:rPr lang="en-SG" sz="1000" dirty="0"/>
            </a:br>
            <a:endParaRPr lang="en-SG" sz="1000" dirty="0"/>
          </a:p>
          <a:p>
            <a:r>
              <a:rPr lang="en-SG" sz="1000" dirty="0"/>
              <a:t>    </a:t>
            </a:r>
            <a:r>
              <a:rPr lang="en-SG" sz="1000" b="1" dirty="0"/>
              <a:t>Calibration:</a:t>
            </a:r>
          </a:p>
          <a:p>
            <a:r>
              <a:rPr lang="en-SG" sz="1000" dirty="0"/>
              <a:t>        Classification models often output probabilities that are poorly calibrated</a:t>
            </a:r>
          </a:p>
          <a:p>
            <a:r>
              <a:rPr lang="en-SG" sz="1000" dirty="0"/>
              <a:t>        (e.g., a predicted 0.8 probability may only correspond to ~0.6 actual event</a:t>
            </a:r>
          </a:p>
          <a:p>
            <a:r>
              <a:rPr lang="en-SG" sz="1000" dirty="0"/>
              <a:t>        frequency). Calibration adjusts these predicted probabilities so they better</a:t>
            </a:r>
          </a:p>
          <a:p>
            <a:r>
              <a:rPr lang="en-SG" sz="1000" dirty="0"/>
              <a:t>        reflect true outcome frequencies.</a:t>
            </a:r>
          </a:p>
          <a:p>
            <a:endParaRPr lang="en-SG" sz="1000" dirty="0"/>
          </a:p>
          <a:p>
            <a:r>
              <a:rPr lang="en-SG" sz="1000" dirty="0"/>
              <a:t>        This implementation uses Platt scaling via</a:t>
            </a:r>
          </a:p>
          <a:p>
            <a:r>
              <a:rPr lang="en-SG" sz="1000" dirty="0"/>
              <a:t>        `CalibratedClassifierCV(method="sigmoid", cv=3)`.</a:t>
            </a:r>
            <a:br>
              <a:rPr lang="en-SG" sz="1000" dirty="0"/>
            </a:br>
            <a:endParaRPr lang="en-SG" sz="1000" dirty="0"/>
          </a:p>
          <a:p>
            <a:r>
              <a:rPr lang="en-SG" sz="1000" dirty="0"/>
              <a:t>        </a:t>
            </a:r>
            <a:r>
              <a:rPr lang="en-SG" sz="1000" b="1" dirty="0"/>
              <a:t>Internally:</a:t>
            </a:r>
          </a:p>
          <a:p>
            <a:r>
              <a:rPr lang="en-SG" sz="1000" dirty="0"/>
              <a:t>            1) Split (X_fit, y_fit) into 3 folds</a:t>
            </a:r>
          </a:p>
          <a:p>
            <a:r>
              <a:rPr lang="en-SG" sz="1000" dirty="0"/>
              <a:t>            2) Train the base model on 2 folds</a:t>
            </a:r>
          </a:p>
          <a:p>
            <a:r>
              <a:rPr lang="en-SG" sz="1000" dirty="0"/>
              <a:t>            3) Predict probabilities on the held-out fold</a:t>
            </a:r>
          </a:p>
          <a:p>
            <a:r>
              <a:rPr lang="en-SG" sz="1000" dirty="0"/>
              <a:t>            4) Collect out-of-fold predictions</a:t>
            </a:r>
          </a:p>
          <a:p>
            <a:r>
              <a:rPr lang="en-SG" sz="1000" dirty="0"/>
              <a:t>            5) Fit a sigmoid mapping that adjusts the model's pre-calibrated predicted </a:t>
            </a:r>
          </a:p>
          <a:p>
            <a:r>
              <a:rPr lang="en-SG" sz="1000" dirty="0"/>
              <a:t>                probabilities to calibrated probabilities</a:t>
            </a:r>
          </a:p>
          <a:p>
            <a:endParaRPr lang="en-SG" sz="1000" dirty="0"/>
          </a:p>
          <a:p>
            <a:r>
              <a:rPr lang="en-SG" sz="1000" dirty="0"/>
              <a:t>    </a:t>
            </a:r>
            <a:r>
              <a:rPr lang="en-SG" sz="1000" b="1" dirty="0"/>
              <a:t>Temporal caveat:</a:t>
            </a:r>
          </a:p>
          <a:p>
            <a:r>
              <a:rPr lang="en-SG" sz="1000" dirty="0"/>
              <a:t>        The 3-fold CV used inside `CalibratedClassifierCV` ignores temporal ordering</a:t>
            </a:r>
          </a:p>
          <a:p>
            <a:r>
              <a:rPr lang="en-SG" sz="1000" dirty="0"/>
              <a:t>        and may mix rows from different snapshot timestamps within (X_fit, y_fit).</a:t>
            </a:r>
            <a:br>
              <a:rPr lang="en-SG" sz="1000" dirty="0"/>
            </a:br>
            <a:endParaRPr lang="en-SG" sz="1000" dirty="0"/>
          </a:p>
          <a:p>
            <a:r>
              <a:rPr lang="en-SG" sz="1000" dirty="0"/>
              <a:t>        The leakage impact is limited because it occurs only within the training partition</a:t>
            </a:r>
          </a:p>
          <a:p>
            <a:r>
              <a:rPr lang="en-SG" sz="1000" dirty="0"/>
              <a:t>        and does not affect downstream validation or test evaluation:</a:t>
            </a:r>
          </a:p>
          <a:p>
            <a:r>
              <a:rPr lang="en-SG" sz="1000" dirty="0"/>
              <a:t>        a) Calibration only adjusts the model's pre-calibrated predicted probabilities.</a:t>
            </a:r>
          </a:p>
          <a:p>
            <a:r>
              <a:rPr lang="en-SG" sz="1000" dirty="0"/>
              <a:t>        b) The temporal mixing arises from the CV folds used to generate</a:t>
            </a:r>
          </a:p>
          <a:p>
            <a:r>
              <a:rPr lang="en-SG" sz="1000" dirty="0"/>
              <a:t>           out-of-fold predictions.</a:t>
            </a:r>
          </a:p>
          <a:p>
            <a:r>
              <a:rPr lang="en-SG" sz="1000" dirty="0"/>
              <a:t>        c) True model evaluation (validation/test) still respects the</a:t>
            </a:r>
          </a:p>
          <a:p>
            <a:r>
              <a:rPr lang="en-SG" sz="1000" dirty="0"/>
              <a:t>           temporal split and therefore remains leakage-free.</a:t>
            </a:r>
          </a:p>
        </p:txBody>
      </p:sp>
    </p:spTree>
    <p:extLst>
      <p:ext uri="{BB962C8B-B14F-4D97-AF65-F5344CB8AC3E}">
        <p14:creationId xmlns:p14="http://schemas.microsoft.com/office/powerpoint/2010/main" val="33843275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1C3934-A786-90DB-EDA7-75BBBD67F0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18C3CF-0643-2207-9A88-48D2ED83C2E6}"/>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Key Results)</a:t>
            </a:r>
          </a:p>
        </p:txBody>
      </p:sp>
      <p:sp>
        <p:nvSpPr>
          <p:cNvPr id="5" name="TextBox 4">
            <a:extLst>
              <a:ext uri="{FF2B5EF4-FFF2-40B4-BE49-F238E27FC236}">
                <a16:creationId xmlns:a16="http://schemas.microsoft.com/office/drawing/2014/main" id="{034713A9-7F42-6D9C-4B33-86ADD1881846}"/>
              </a:ext>
            </a:extLst>
          </p:cNvPr>
          <p:cNvSpPr txBox="1"/>
          <p:nvPr/>
        </p:nvSpPr>
        <p:spPr>
          <a:xfrm>
            <a:off x="1625438" y="1905000"/>
            <a:ext cx="9740950" cy="4524315"/>
          </a:xfrm>
          <a:prstGeom prst="rect">
            <a:avLst/>
          </a:prstGeom>
          <a:noFill/>
        </p:spPr>
        <p:txBody>
          <a:bodyPr wrap="square">
            <a:spAutoFit/>
          </a:bodyPr>
          <a:lstStyle/>
          <a:p>
            <a:r>
              <a:rPr lang="en-SG" sz="1200" b="1" u="sng" dirty="0"/>
              <a:t>Executive Takeaway</a:t>
            </a:r>
          </a:p>
          <a:p>
            <a:pPr marL="285750" indent="-285750">
              <a:buFont typeface="Wingdings" panose="05000000000000000000" pitchFamily="2" charset="2"/>
              <a:buChar char="Ø"/>
            </a:pPr>
            <a:r>
              <a:rPr lang="en-SG" sz="1200" dirty="0"/>
              <a:t>ML targeting (xgboost expected-value user ranking) is recommended for budget allocation as it consistently beats naive targeting (Random).</a:t>
            </a:r>
          </a:p>
          <a:p>
            <a:pPr marL="285750" indent="-285750">
              <a:buFont typeface="Wingdings" panose="05000000000000000000" pitchFamily="2" charset="2"/>
              <a:buChar char="Ø"/>
            </a:pPr>
            <a:r>
              <a:rPr lang="en-SG" sz="1200" dirty="0"/>
              <a:t>ML targeting is competitive with heuristic RFM and provides a more extensible framework as richer data features become available (Why ML may be preferred over heuristic approaches).</a:t>
            </a:r>
          </a:p>
          <a:p>
            <a:pPr marL="285750" indent="-285750">
              <a:buFont typeface="Wingdings" panose="05000000000000000000" pitchFamily="2" charset="2"/>
              <a:buChar char="Ø"/>
            </a:pPr>
            <a:r>
              <a:rPr lang="en-SG" sz="1200" dirty="0"/>
              <a:t>Continue benchmarking against RFM each retraining cycle to maintain performance guardrails.</a:t>
            </a:r>
          </a:p>
          <a:p>
            <a:endParaRPr lang="en-SG" sz="1200" dirty="0"/>
          </a:p>
          <a:p>
            <a:r>
              <a:rPr lang="en-SG" sz="1200" b="1" dirty="0"/>
              <a:t>Initial cycle freeze decision (Best PR-AUC):</a:t>
            </a:r>
          </a:p>
          <a:p>
            <a:pPr marL="171450" indent="-171450">
              <a:buFont typeface="Wingdings" panose="05000000000000000000" pitchFamily="2" charset="2"/>
              <a:buChar char="Ø"/>
            </a:pPr>
            <a:r>
              <a:rPr lang="en-SG" sz="1200" b="1" dirty="0"/>
              <a:t>ML propensity model: xgboost </a:t>
            </a:r>
            <a:r>
              <a:rPr lang="en-SG" sz="1200" dirty="0"/>
              <a:t>(vs logistic regression)</a:t>
            </a:r>
          </a:p>
          <a:p>
            <a:pPr marL="171450" indent="-171450">
              <a:buFont typeface="Wingdings" panose="05000000000000000000" pitchFamily="2" charset="2"/>
              <a:buChar char="Ø"/>
            </a:pPr>
            <a:r>
              <a:rPr lang="en-SG" sz="1200" b="1" dirty="0"/>
              <a:t>prediction window: 90d</a:t>
            </a:r>
            <a:endParaRPr lang="en-SG" sz="1200" dirty="0"/>
          </a:p>
          <a:p>
            <a:pPr marL="171450" indent="-171450">
              <a:buFont typeface="Wingdings" panose="05000000000000000000" pitchFamily="2" charset="2"/>
              <a:buChar char="Ø"/>
            </a:pPr>
            <a:r>
              <a:rPr lang="en-SG" sz="1200" b="1" dirty="0"/>
              <a:t>feature lookback: 120d (chosen long-term signal) + 30d (always include short-term signal)</a:t>
            </a:r>
          </a:p>
          <a:p>
            <a:endParaRPr lang="en-SG" sz="1200" dirty="0">
              <a:solidFill>
                <a:srgbClr val="FF0000"/>
              </a:solidFill>
            </a:endParaRPr>
          </a:p>
          <a:p>
            <a:r>
              <a:rPr lang="en-SG" sz="1200" b="1" u="sng" dirty="0"/>
              <a:t>Key Steps &amp; Reporting</a:t>
            </a:r>
          </a:p>
          <a:p>
            <a:pPr marL="228600" indent="-228600">
              <a:buFont typeface="+mj-lt"/>
              <a:buAutoNum type="arabicPeriod"/>
            </a:pPr>
            <a:r>
              <a:rPr lang="en-SG" sz="1200" dirty="0"/>
              <a:t>Window Sensitivity + Freeze Decision (Train + Validation)</a:t>
            </a:r>
          </a:p>
          <a:p>
            <a:pPr marL="228600" indent="-228600">
              <a:buFont typeface="+mj-lt"/>
              <a:buAutoNum type="arabicPeriod"/>
            </a:pPr>
            <a:r>
              <a:rPr lang="en-SG" sz="1200" dirty="0"/>
              <a:t>Frozen Model Quality (Validation Slice; Drift Signal Monitor)</a:t>
            </a:r>
          </a:p>
          <a:p>
            <a:pPr marL="228600" indent="-228600">
              <a:buFont typeface="+mj-lt"/>
              <a:buAutoNum type="arabicPeriod"/>
            </a:pPr>
            <a:r>
              <a:rPr lang="en-SG" sz="1200" dirty="0"/>
              <a:t>Policy Comparison Under Budget Constraint (Test Slice)</a:t>
            </a:r>
          </a:p>
          <a:p>
            <a:endParaRPr lang="en-SG" sz="1200" dirty="0"/>
          </a:p>
          <a:p>
            <a:r>
              <a:rPr lang="en-SG" sz="1200" b="1" u="sng" dirty="0"/>
              <a:t>Key Setup</a:t>
            </a:r>
          </a:p>
          <a:p>
            <a:r>
              <a:rPr lang="en-SG" sz="1200" dirty="0"/>
              <a:t>Each cycle has 12 snapshots 10M-1M-1M train-validate-test split. Subsequent retraining cycles are quarterly overlapping.</a:t>
            </a:r>
          </a:p>
          <a:p>
            <a:pPr marL="171450" indent="-171450">
              <a:buFont typeface="Wingdings" panose="05000000000000000000" pitchFamily="2" charset="2"/>
              <a:buChar char="Ø"/>
            </a:pPr>
            <a:r>
              <a:rPr lang="en-SG" sz="1200" dirty="0"/>
              <a:t>Initial cycle ending 2010-11-01</a:t>
            </a:r>
          </a:p>
          <a:p>
            <a:pPr marL="171450" indent="-171450">
              <a:buFont typeface="Wingdings" panose="05000000000000000000" pitchFamily="2" charset="2"/>
              <a:buChar char="Ø"/>
            </a:pPr>
            <a:r>
              <a:rPr lang="en-SG" sz="1200" dirty="0"/>
              <a:t>Retrain cycle ending 2011-02-01</a:t>
            </a:r>
          </a:p>
          <a:p>
            <a:pPr marL="171450" indent="-171450">
              <a:buFont typeface="Wingdings" panose="05000000000000000000" pitchFamily="2" charset="2"/>
              <a:buChar char="Ø"/>
            </a:pPr>
            <a:endParaRPr lang="en-SG" sz="1200" dirty="0"/>
          </a:p>
          <a:p>
            <a:r>
              <a:rPr lang="en-SG" sz="1200" dirty="0"/>
              <a:t>Window Sensitivity is only performed on initial cycle and decision freeze once, unless there is significant need to retrain with different configurations.</a:t>
            </a:r>
          </a:p>
        </p:txBody>
      </p:sp>
    </p:spTree>
    <p:extLst>
      <p:ext uri="{BB962C8B-B14F-4D97-AF65-F5344CB8AC3E}">
        <p14:creationId xmlns:p14="http://schemas.microsoft.com/office/powerpoint/2010/main" val="13126706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98911-679D-43AC-DCCF-D22CE9FFB7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F4E315-C835-C18A-46BE-18669D085CD2}"/>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Key Results)</a:t>
            </a:r>
          </a:p>
        </p:txBody>
      </p:sp>
      <p:sp>
        <p:nvSpPr>
          <p:cNvPr id="6" name="TextBox 5">
            <a:extLst>
              <a:ext uri="{FF2B5EF4-FFF2-40B4-BE49-F238E27FC236}">
                <a16:creationId xmlns:a16="http://schemas.microsoft.com/office/drawing/2014/main" id="{FD6858D0-52F2-D013-A9E3-F16520EC6B32}"/>
              </a:ext>
            </a:extLst>
          </p:cNvPr>
          <p:cNvSpPr txBox="1"/>
          <p:nvPr/>
        </p:nvSpPr>
        <p:spPr>
          <a:xfrm>
            <a:off x="398145" y="2044005"/>
            <a:ext cx="4495800" cy="1384995"/>
          </a:xfrm>
          <a:prstGeom prst="rect">
            <a:avLst/>
          </a:prstGeom>
          <a:solidFill>
            <a:schemeClr val="accent5">
              <a:lumMod val="20000"/>
              <a:lumOff val="80000"/>
            </a:schemeClr>
          </a:solidFill>
        </p:spPr>
        <p:txBody>
          <a:bodyPr wrap="square">
            <a:spAutoFit/>
          </a:bodyPr>
          <a:lstStyle/>
          <a:p>
            <a:r>
              <a:rPr lang="en-SG" sz="1200" b="1" u="sng" dirty="0"/>
              <a:t>Window Sensitivity + Freeze Decision (Train + Validation)</a:t>
            </a:r>
          </a:p>
          <a:p>
            <a:endParaRPr lang="en-SG" sz="1200" dirty="0"/>
          </a:p>
          <a:p>
            <a:r>
              <a:rPr lang="en-SG" sz="1200" b="1" dirty="0"/>
              <a:t>Initial cycle freeze decision (Best PR-AUC):</a:t>
            </a:r>
          </a:p>
          <a:p>
            <a:pPr marL="171450" indent="-171450">
              <a:buFont typeface="Wingdings" panose="05000000000000000000" pitchFamily="2" charset="2"/>
              <a:buChar char="Ø"/>
            </a:pPr>
            <a:r>
              <a:rPr lang="en-SG" sz="1200" b="1" dirty="0"/>
              <a:t>ML propensity model: xgboost </a:t>
            </a:r>
            <a:r>
              <a:rPr lang="en-SG" sz="1200" dirty="0"/>
              <a:t>(vs logistic regression)</a:t>
            </a:r>
          </a:p>
          <a:p>
            <a:pPr marL="171450" indent="-171450">
              <a:buFont typeface="Wingdings" panose="05000000000000000000" pitchFamily="2" charset="2"/>
              <a:buChar char="Ø"/>
            </a:pPr>
            <a:r>
              <a:rPr lang="en-SG" sz="1200" b="1" dirty="0"/>
              <a:t>prediction window: 90d</a:t>
            </a:r>
            <a:endParaRPr lang="en-SG" sz="1200" dirty="0"/>
          </a:p>
          <a:p>
            <a:pPr marL="171450" indent="-171450">
              <a:buFont typeface="Wingdings" panose="05000000000000000000" pitchFamily="2" charset="2"/>
              <a:buChar char="Ø"/>
            </a:pPr>
            <a:r>
              <a:rPr lang="en-SG" sz="1200" b="1" dirty="0"/>
              <a:t>feature lookback: 120d (chosen long-term signal) + 30d (always include short-term signal)</a:t>
            </a:r>
          </a:p>
        </p:txBody>
      </p:sp>
      <p:pic>
        <p:nvPicPr>
          <p:cNvPr id="18" name="Picture 17">
            <a:extLst>
              <a:ext uri="{FF2B5EF4-FFF2-40B4-BE49-F238E27FC236}">
                <a16:creationId xmlns:a16="http://schemas.microsoft.com/office/drawing/2014/main" id="{4C053D9C-48E1-1560-5138-61379A3B1ACC}"/>
              </a:ext>
            </a:extLst>
          </p:cNvPr>
          <p:cNvPicPr>
            <a:picLocks noChangeAspect="1"/>
          </p:cNvPicPr>
          <p:nvPr/>
        </p:nvPicPr>
        <p:blipFill>
          <a:blip r:embed="rId3"/>
          <a:stretch>
            <a:fillRect/>
          </a:stretch>
        </p:blipFill>
        <p:spPr>
          <a:xfrm>
            <a:off x="5021580" y="1789614"/>
            <a:ext cx="6772275" cy="4925291"/>
          </a:xfrm>
          <a:prstGeom prst="rect">
            <a:avLst/>
          </a:prstGeom>
        </p:spPr>
      </p:pic>
      <p:sp>
        <p:nvSpPr>
          <p:cNvPr id="3" name="TextBox 2">
            <a:extLst>
              <a:ext uri="{FF2B5EF4-FFF2-40B4-BE49-F238E27FC236}">
                <a16:creationId xmlns:a16="http://schemas.microsoft.com/office/drawing/2014/main" id="{62F3C295-D88A-627A-60A6-F1B978E28957}"/>
              </a:ext>
            </a:extLst>
          </p:cNvPr>
          <p:cNvSpPr txBox="1"/>
          <p:nvPr/>
        </p:nvSpPr>
        <p:spPr>
          <a:xfrm>
            <a:off x="398145" y="3613667"/>
            <a:ext cx="3440430" cy="400110"/>
          </a:xfrm>
          <a:prstGeom prst="rect">
            <a:avLst/>
          </a:prstGeom>
          <a:solidFill>
            <a:schemeClr val="accent6">
              <a:lumMod val="20000"/>
              <a:lumOff val="80000"/>
            </a:schemeClr>
          </a:solidFill>
        </p:spPr>
        <p:txBody>
          <a:bodyPr wrap="square">
            <a:spAutoFit/>
          </a:bodyPr>
          <a:lstStyle/>
          <a:p>
            <a:pPr marL="171450" indent="-171450">
              <a:buFont typeface="Wingdings" panose="05000000000000000000" pitchFamily="2" charset="2"/>
              <a:buChar char="Ø"/>
            </a:pPr>
            <a:r>
              <a:rPr lang="en-SG" sz="1000" b="1" dirty="0"/>
              <a:t>Primary metric: PR-AUC</a:t>
            </a:r>
            <a:r>
              <a:rPr lang="en-SG" sz="1000" dirty="0"/>
              <a:t> (positive-class targeting)</a:t>
            </a:r>
          </a:p>
          <a:p>
            <a:pPr marL="171450" indent="-171450">
              <a:buFont typeface="Wingdings" panose="05000000000000000000" pitchFamily="2" charset="2"/>
              <a:buChar char="Ø"/>
            </a:pPr>
            <a:r>
              <a:rPr lang="en-SG" sz="1000" b="1" dirty="0"/>
              <a:t>Guardrail metrics: </a:t>
            </a:r>
            <a:r>
              <a:rPr lang="en-SG" sz="1000" dirty="0"/>
              <a:t>Others listed</a:t>
            </a:r>
            <a:endParaRPr lang="en-SG" sz="1000" b="1" dirty="0"/>
          </a:p>
        </p:txBody>
      </p:sp>
    </p:spTree>
    <p:extLst>
      <p:ext uri="{BB962C8B-B14F-4D97-AF65-F5344CB8AC3E}">
        <p14:creationId xmlns:p14="http://schemas.microsoft.com/office/powerpoint/2010/main" val="8293580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224508-C8DF-E54C-4F8B-B3CE06CAA7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06B833-35F5-C4A1-589C-A30FDE3C13AD}"/>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Key Results)</a:t>
            </a:r>
          </a:p>
        </p:txBody>
      </p:sp>
      <p:graphicFrame>
        <p:nvGraphicFramePr>
          <p:cNvPr id="3" name="Table 2">
            <a:extLst>
              <a:ext uri="{FF2B5EF4-FFF2-40B4-BE49-F238E27FC236}">
                <a16:creationId xmlns:a16="http://schemas.microsoft.com/office/drawing/2014/main" id="{BAC83FF5-345C-5B93-250B-CF649EBADCBF}"/>
              </a:ext>
            </a:extLst>
          </p:cNvPr>
          <p:cNvGraphicFramePr>
            <a:graphicFrameLocks noGrp="1"/>
          </p:cNvGraphicFramePr>
          <p:nvPr>
            <p:extLst>
              <p:ext uri="{D42A27DB-BD31-4B8C-83A1-F6EECF244321}">
                <p14:modId xmlns:p14="http://schemas.microsoft.com/office/powerpoint/2010/main" val="1017029578"/>
              </p:ext>
            </p:extLst>
          </p:nvPr>
        </p:nvGraphicFramePr>
        <p:xfrm>
          <a:off x="207644" y="5483463"/>
          <a:ext cx="9029899" cy="1351101"/>
        </p:xfrm>
        <a:graphic>
          <a:graphicData uri="http://schemas.openxmlformats.org/drawingml/2006/table">
            <a:tbl>
              <a:tblPr firstRow="1" bandRow="1">
                <a:tableStyleId>{5C22544A-7EE6-4342-B048-85BDC9FD1C3A}</a:tableStyleId>
              </a:tblPr>
              <a:tblGrid>
                <a:gridCol w="1009081">
                  <a:extLst>
                    <a:ext uri="{9D8B030D-6E8A-4147-A177-3AD203B41FA5}">
                      <a16:colId xmlns:a16="http://schemas.microsoft.com/office/drawing/2014/main" val="1578905552"/>
                    </a:ext>
                  </a:extLst>
                </a:gridCol>
                <a:gridCol w="780727">
                  <a:extLst>
                    <a:ext uri="{9D8B030D-6E8A-4147-A177-3AD203B41FA5}">
                      <a16:colId xmlns:a16="http://schemas.microsoft.com/office/drawing/2014/main" val="2062257706"/>
                    </a:ext>
                  </a:extLst>
                </a:gridCol>
                <a:gridCol w="780727">
                  <a:extLst>
                    <a:ext uri="{9D8B030D-6E8A-4147-A177-3AD203B41FA5}">
                      <a16:colId xmlns:a16="http://schemas.microsoft.com/office/drawing/2014/main" val="1376440620"/>
                    </a:ext>
                  </a:extLst>
                </a:gridCol>
                <a:gridCol w="780727">
                  <a:extLst>
                    <a:ext uri="{9D8B030D-6E8A-4147-A177-3AD203B41FA5}">
                      <a16:colId xmlns:a16="http://schemas.microsoft.com/office/drawing/2014/main" val="2345419753"/>
                    </a:ext>
                  </a:extLst>
                </a:gridCol>
                <a:gridCol w="780727">
                  <a:extLst>
                    <a:ext uri="{9D8B030D-6E8A-4147-A177-3AD203B41FA5}">
                      <a16:colId xmlns:a16="http://schemas.microsoft.com/office/drawing/2014/main" val="732468506"/>
                    </a:ext>
                  </a:extLst>
                </a:gridCol>
                <a:gridCol w="780727">
                  <a:extLst>
                    <a:ext uri="{9D8B030D-6E8A-4147-A177-3AD203B41FA5}">
                      <a16:colId xmlns:a16="http://schemas.microsoft.com/office/drawing/2014/main" val="2691792509"/>
                    </a:ext>
                  </a:extLst>
                </a:gridCol>
                <a:gridCol w="261108">
                  <a:extLst>
                    <a:ext uri="{9D8B030D-6E8A-4147-A177-3AD203B41FA5}">
                      <a16:colId xmlns:a16="http://schemas.microsoft.com/office/drawing/2014/main" val="1399751869"/>
                    </a:ext>
                  </a:extLst>
                </a:gridCol>
                <a:gridCol w="771215">
                  <a:extLst>
                    <a:ext uri="{9D8B030D-6E8A-4147-A177-3AD203B41FA5}">
                      <a16:colId xmlns:a16="http://schemas.microsoft.com/office/drawing/2014/main" val="1981105691"/>
                    </a:ext>
                  </a:extLst>
                </a:gridCol>
                <a:gridCol w="771215">
                  <a:extLst>
                    <a:ext uri="{9D8B030D-6E8A-4147-A177-3AD203B41FA5}">
                      <a16:colId xmlns:a16="http://schemas.microsoft.com/office/drawing/2014/main" val="3071759914"/>
                    </a:ext>
                  </a:extLst>
                </a:gridCol>
                <a:gridCol w="771215">
                  <a:extLst>
                    <a:ext uri="{9D8B030D-6E8A-4147-A177-3AD203B41FA5}">
                      <a16:colId xmlns:a16="http://schemas.microsoft.com/office/drawing/2014/main" val="3553065861"/>
                    </a:ext>
                  </a:extLst>
                </a:gridCol>
                <a:gridCol w="771215">
                  <a:extLst>
                    <a:ext uri="{9D8B030D-6E8A-4147-A177-3AD203B41FA5}">
                      <a16:colId xmlns:a16="http://schemas.microsoft.com/office/drawing/2014/main" val="2094940533"/>
                    </a:ext>
                  </a:extLst>
                </a:gridCol>
                <a:gridCol w="771215">
                  <a:extLst>
                    <a:ext uri="{9D8B030D-6E8A-4147-A177-3AD203B41FA5}">
                      <a16:colId xmlns:a16="http://schemas.microsoft.com/office/drawing/2014/main" val="4271781969"/>
                    </a:ext>
                  </a:extLst>
                </a:gridCol>
              </a:tblGrid>
              <a:tr h="255830">
                <a:tc>
                  <a:txBody>
                    <a:bodyPr/>
                    <a:lstStyle/>
                    <a:p>
                      <a:r>
                        <a:rPr lang="en-SG" sz="1000" dirty="0"/>
                        <a:t>Cycle</a:t>
                      </a:r>
                    </a:p>
                  </a:txBody>
                  <a:tcPr/>
                </a:tc>
                <a:tc gridSpan="5">
                  <a:txBody>
                    <a:bodyPr/>
                    <a:lstStyle/>
                    <a:p>
                      <a:pPr algn="ctr"/>
                      <a:r>
                        <a:rPr lang="en-SG" sz="1000" dirty="0"/>
                        <a:t>Revenue per Targeted User (Historical Realized)</a:t>
                      </a: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dirty="0"/>
                    </a:p>
                  </a:txBody>
                  <a:tcPr/>
                </a:tc>
                <a:tc>
                  <a:txBody>
                    <a:bodyPr/>
                    <a:lstStyle/>
                    <a:p>
                      <a:endParaRPr lang="en-SG" sz="1000" dirty="0"/>
                    </a:p>
                  </a:txBody>
                  <a:tcPr/>
                </a:tc>
                <a:tc gridSpan="5">
                  <a:txBody>
                    <a:bodyPr/>
                    <a:lstStyle/>
                    <a:p>
                      <a:pPr algn="ctr"/>
                      <a:r>
                        <a:rPr lang="en-SG" sz="1000" dirty="0"/>
                        <a:t>Purchase Rate (Historical Realized)</a:t>
                      </a:r>
                    </a:p>
                  </a:txBody>
                  <a:tcPr/>
                </a:tc>
                <a:tc hMerge="1">
                  <a:txBody>
                    <a:bodyPr/>
                    <a:lstStyle/>
                    <a:p>
                      <a:endParaRPr lang="en-SG" sz="1200" dirty="0"/>
                    </a:p>
                  </a:txBody>
                  <a:tcPr/>
                </a:tc>
                <a:tc hMerge="1">
                  <a:txBody>
                    <a:bodyPr/>
                    <a:lstStyle/>
                    <a:p>
                      <a:endParaRPr lang="en-SG" sz="1200" dirty="0"/>
                    </a:p>
                  </a:txBody>
                  <a:tcPr/>
                </a:tc>
                <a:tc hMerge="1">
                  <a:txBody>
                    <a:bodyPr/>
                    <a:lstStyle/>
                    <a:p>
                      <a:endParaRPr lang="en-SG" sz="1200" dirty="0"/>
                    </a:p>
                  </a:txBody>
                  <a:tcPr/>
                </a:tc>
                <a:tc hMerge="1">
                  <a:txBody>
                    <a:bodyPr/>
                    <a:lstStyle/>
                    <a:p>
                      <a:endParaRPr lang="en-SG" sz="1200" dirty="0"/>
                    </a:p>
                  </a:txBody>
                  <a:tcPr/>
                </a:tc>
                <a:extLst>
                  <a:ext uri="{0D108BD9-81ED-4DB2-BD59-A6C34878D82A}">
                    <a16:rowId xmlns:a16="http://schemas.microsoft.com/office/drawing/2014/main" val="1796225289"/>
                  </a:ext>
                </a:extLst>
              </a:tr>
              <a:tr h="575617">
                <a:tc>
                  <a:txBody>
                    <a:bodyPr/>
                    <a:lstStyle/>
                    <a:p>
                      <a:endParaRPr lang="en-SG" sz="1000" dirty="0"/>
                    </a:p>
                  </a:txBody>
                  <a:tcPr/>
                </a:tc>
                <a:tc>
                  <a:txBody>
                    <a:bodyPr/>
                    <a:lstStyle/>
                    <a:p>
                      <a:r>
                        <a:rPr lang="en-SG" sz="1000" b="1" dirty="0"/>
                        <a:t>ML</a:t>
                      </a:r>
                    </a:p>
                  </a:txBody>
                  <a:tcPr/>
                </a:tc>
                <a:tc>
                  <a:txBody>
                    <a:bodyPr/>
                    <a:lstStyle/>
                    <a:p>
                      <a:r>
                        <a:rPr lang="en-SG" sz="1000" b="1" dirty="0"/>
                        <a:t>Random</a:t>
                      </a:r>
                    </a:p>
                  </a:txBody>
                  <a:tcPr/>
                </a:tc>
                <a:tc>
                  <a:txBody>
                    <a:bodyPr/>
                    <a:lstStyle/>
                    <a:p>
                      <a:r>
                        <a:rPr lang="en-SG" sz="1000" b="1" dirty="0"/>
                        <a:t>RFM</a:t>
                      </a:r>
                    </a:p>
                  </a:txBody>
                  <a:tcPr/>
                </a:tc>
                <a:tc>
                  <a:txBody>
                    <a:bodyPr/>
                    <a:lstStyle/>
                    <a:p>
                      <a:r>
                        <a:rPr lang="en-SG" sz="1000" b="1" dirty="0"/>
                        <a:t>ML vs Random</a:t>
                      </a:r>
                    </a:p>
                  </a:txBody>
                  <a:tcPr/>
                </a:tc>
                <a:tc>
                  <a:txBody>
                    <a:bodyPr/>
                    <a:lstStyle/>
                    <a:p>
                      <a:r>
                        <a:rPr lang="en-SG" sz="1000" b="1" dirty="0"/>
                        <a:t>ML vs RFM</a:t>
                      </a:r>
                    </a:p>
                  </a:txBody>
                  <a:tcPr/>
                </a:tc>
                <a:tc>
                  <a:txBody>
                    <a:bodyPr/>
                    <a:lstStyle/>
                    <a:p>
                      <a:endParaRPr lang="en-SG" sz="1000" b="1" dirty="0"/>
                    </a:p>
                  </a:txBody>
                  <a:tcPr/>
                </a:tc>
                <a:tc>
                  <a:txBody>
                    <a:bodyPr/>
                    <a:lstStyle/>
                    <a:p>
                      <a:r>
                        <a:rPr lang="en-SG" sz="1000" b="1" dirty="0"/>
                        <a:t>ML</a:t>
                      </a:r>
                    </a:p>
                  </a:txBody>
                  <a:tcPr/>
                </a:tc>
                <a:tc>
                  <a:txBody>
                    <a:bodyPr/>
                    <a:lstStyle/>
                    <a:p>
                      <a:r>
                        <a:rPr lang="en-SG" sz="1000" b="1" dirty="0"/>
                        <a:t>Random</a:t>
                      </a:r>
                    </a:p>
                  </a:txBody>
                  <a:tcPr/>
                </a:tc>
                <a:tc>
                  <a:txBody>
                    <a:bodyPr/>
                    <a:lstStyle/>
                    <a:p>
                      <a:r>
                        <a:rPr lang="en-SG" sz="1000" b="1" dirty="0"/>
                        <a:t>RFM</a:t>
                      </a:r>
                    </a:p>
                  </a:txBody>
                  <a:tcPr/>
                </a:tc>
                <a:tc>
                  <a:txBody>
                    <a:bodyPr/>
                    <a:lstStyle/>
                    <a:p>
                      <a:r>
                        <a:rPr lang="en-SG" sz="1000" b="1" dirty="0"/>
                        <a:t>ML vs Random</a:t>
                      </a:r>
                    </a:p>
                  </a:txBody>
                  <a:tcPr/>
                </a:tc>
                <a:tc>
                  <a:txBody>
                    <a:bodyPr/>
                    <a:lstStyle/>
                    <a:p>
                      <a:r>
                        <a:rPr lang="en-SG" sz="1000" b="1" dirty="0"/>
                        <a:t>ML vs RFM</a:t>
                      </a:r>
                    </a:p>
                  </a:txBody>
                  <a:tcPr/>
                </a:tc>
                <a:extLst>
                  <a:ext uri="{0D108BD9-81ED-4DB2-BD59-A6C34878D82A}">
                    <a16:rowId xmlns:a16="http://schemas.microsoft.com/office/drawing/2014/main" val="2130758308"/>
                  </a:ext>
                </a:extLst>
              </a:tr>
              <a:tr h="259827">
                <a:tc>
                  <a:txBody>
                    <a:bodyPr/>
                    <a:lstStyle/>
                    <a:p>
                      <a:r>
                        <a:rPr lang="en-SG" sz="1000" dirty="0">
                          <a:solidFill>
                            <a:schemeClr val="tx1"/>
                          </a:solidFill>
                        </a:rPr>
                        <a:t>Initial</a:t>
                      </a: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1432.0</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471.5</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1444.4</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+960.5</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-12.3</a:t>
                      </a:r>
                    </a:p>
                  </a:txBody>
                  <a:tcPr marL="95250" marR="95250" marT="47625" marB="47625" anchor="ctr"/>
                </a:tc>
                <a:tc>
                  <a:txBody>
                    <a:bodyPr/>
                    <a:lstStyle/>
                    <a:p>
                      <a:endParaRPr lang="en-SG" sz="1000" dirty="0">
                        <a:solidFill>
                          <a:srgbClr val="FF0000"/>
                        </a:solidFill>
                      </a:endParaRP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0.68</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0.41</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0.70</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+0.27</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-0.02</a:t>
                      </a:r>
                    </a:p>
                  </a:txBody>
                  <a:tcPr marL="95250" marR="95250" marT="47625" marB="47625" anchor="ctr"/>
                </a:tc>
                <a:extLst>
                  <a:ext uri="{0D108BD9-81ED-4DB2-BD59-A6C34878D82A}">
                    <a16:rowId xmlns:a16="http://schemas.microsoft.com/office/drawing/2014/main" val="2952646974"/>
                  </a:ext>
                </a:extLst>
              </a:tr>
              <a:tr h="259827">
                <a:tc>
                  <a:txBody>
                    <a:bodyPr/>
                    <a:lstStyle/>
                    <a:p>
                      <a:r>
                        <a:rPr lang="en-SG" sz="1000" b="0" dirty="0">
                          <a:solidFill>
                            <a:schemeClr val="tx1"/>
                          </a:solidFill>
                        </a:rPr>
                        <a:t>Retrain</a:t>
                      </a:r>
                      <a:endParaRPr lang="en-SG" sz="1000" b="0" baseline="30000" dirty="0">
                        <a:solidFill>
                          <a:schemeClr val="tx1"/>
                        </a:solidFill>
                      </a:endParaRP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956.0</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323.1</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949.3</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+632.9</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+6.7</a:t>
                      </a:r>
                    </a:p>
                  </a:txBody>
                  <a:tcPr marL="95250" marR="95250" marT="47625" marB="47625" anchor="ctr"/>
                </a:tc>
                <a:tc>
                  <a:txBody>
                    <a:bodyPr/>
                    <a:lstStyle/>
                    <a:p>
                      <a:endParaRPr lang="en-SG" sz="1000" b="1" dirty="0">
                        <a:solidFill>
                          <a:srgbClr val="FF0000"/>
                        </a:solidFill>
                      </a:endParaRP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0.66</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0.35</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0.65</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+0.31</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+0.01</a:t>
                      </a:r>
                    </a:p>
                  </a:txBody>
                  <a:tcPr marL="95250" marR="95250" marT="47625" marB="47625" anchor="ctr"/>
                </a:tc>
                <a:extLst>
                  <a:ext uri="{0D108BD9-81ED-4DB2-BD59-A6C34878D82A}">
                    <a16:rowId xmlns:a16="http://schemas.microsoft.com/office/drawing/2014/main" val="1452641054"/>
                  </a:ext>
                </a:extLst>
              </a:tr>
            </a:tbl>
          </a:graphicData>
        </a:graphic>
      </p:graphicFrame>
      <p:graphicFrame>
        <p:nvGraphicFramePr>
          <p:cNvPr id="9" name="Table 8">
            <a:extLst>
              <a:ext uri="{FF2B5EF4-FFF2-40B4-BE49-F238E27FC236}">
                <a16:creationId xmlns:a16="http://schemas.microsoft.com/office/drawing/2014/main" id="{00CDA52A-AB67-E5D3-EA02-3C580E6B363F}"/>
              </a:ext>
            </a:extLst>
          </p:cNvPr>
          <p:cNvGraphicFramePr>
            <a:graphicFrameLocks noGrp="1"/>
          </p:cNvGraphicFramePr>
          <p:nvPr>
            <p:extLst>
              <p:ext uri="{D42A27DB-BD31-4B8C-83A1-F6EECF244321}">
                <p14:modId xmlns:p14="http://schemas.microsoft.com/office/powerpoint/2010/main" val="3856167075"/>
              </p:ext>
            </p:extLst>
          </p:nvPr>
        </p:nvGraphicFramePr>
        <p:xfrm>
          <a:off x="207644" y="2768144"/>
          <a:ext cx="6826174" cy="1584959"/>
        </p:xfrm>
        <a:graphic>
          <a:graphicData uri="http://schemas.openxmlformats.org/drawingml/2006/table">
            <a:tbl>
              <a:tblPr firstRow="1" bandRow="1">
                <a:tableStyleId>{5C22544A-7EE6-4342-B048-85BDC9FD1C3A}</a:tableStyleId>
              </a:tblPr>
              <a:tblGrid>
                <a:gridCol w="1362394">
                  <a:extLst>
                    <a:ext uri="{9D8B030D-6E8A-4147-A177-3AD203B41FA5}">
                      <a16:colId xmlns:a16="http://schemas.microsoft.com/office/drawing/2014/main" val="1578905552"/>
                    </a:ext>
                  </a:extLst>
                </a:gridCol>
                <a:gridCol w="1092756">
                  <a:extLst>
                    <a:ext uri="{9D8B030D-6E8A-4147-A177-3AD203B41FA5}">
                      <a16:colId xmlns:a16="http://schemas.microsoft.com/office/drawing/2014/main" val="2062257706"/>
                    </a:ext>
                  </a:extLst>
                </a:gridCol>
                <a:gridCol w="1092756">
                  <a:extLst>
                    <a:ext uri="{9D8B030D-6E8A-4147-A177-3AD203B41FA5}">
                      <a16:colId xmlns:a16="http://schemas.microsoft.com/office/drawing/2014/main" val="1376440620"/>
                    </a:ext>
                  </a:extLst>
                </a:gridCol>
                <a:gridCol w="1092756">
                  <a:extLst>
                    <a:ext uri="{9D8B030D-6E8A-4147-A177-3AD203B41FA5}">
                      <a16:colId xmlns:a16="http://schemas.microsoft.com/office/drawing/2014/main" val="4154908257"/>
                    </a:ext>
                  </a:extLst>
                </a:gridCol>
                <a:gridCol w="1092756">
                  <a:extLst>
                    <a:ext uri="{9D8B030D-6E8A-4147-A177-3AD203B41FA5}">
                      <a16:colId xmlns:a16="http://schemas.microsoft.com/office/drawing/2014/main" val="1626176295"/>
                    </a:ext>
                  </a:extLst>
                </a:gridCol>
                <a:gridCol w="1092756">
                  <a:extLst>
                    <a:ext uri="{9D8B030D-6E8A-4147-A177-3AD203B41FA5}">
                      <a16:colId xmlns:a16="http://schemas.microsoft.com/office/drawing/2014/main" val="3684245219"/>
                    </a:ext>
                  </a:extLst>
                </a:gridCol>
              </a:tblGrid>
              <a:tr h="607006">
                <a:tc>
                  <a:txBody>
                    <a:bodyPr/>
                    <a:lstStyle/>
                    <a:p>
                      <a:r>
                        <a:rPr lang="en-SG" sz="1000" u="sng" dirty="0"/>
                        <a:t>Propensity Model</a:t>
                      </a:r>
                      <a:r>
                        <a:rPr lang="en-SG" sz="1000" dirty="0"/>
                        <a:t> Propensity Ranking Quality</a:t>
                      </a:r>
                    </a:p>
                  </a:txBody>
                  <a:tcPr/>
                </a:tc>
                <a:tc>
                  <a:txBody>
                    <a:bodyPr/>
                    <a:lstStyle/>
                    <a:p>
                      <a:r>
                        <a:rPr lang="en-SG" sz="1000" dirty="0"/>
                        <a:t>PR-AUC</a:t>
                      </a:r>
                    </a:p>
                  </a:txBody>
                  <a:tcPr/>
                </a:tc>
                <a:tc>
                  <a:txBody>
                    <a:bodyPr/>
                    <a:lstStyle/>
                    <a:p>
                      <a:r>
                        <a:rPr lang="en-SG" sz="1000" dirty="0"/>
                        <a:t>ROC-AUC</a:t>
                      </a:r>
                    </a:p>
                  </a:txBody>
                  <a:tcPr/>
                </a:tc>
                <a:tc>
                  <a:txBody>
                    <a:bodyPr/>
                    <a:lstStyle/>
                    <a:p>
                      <a:r>
                        <a:rPr lang="en-SG" sz="1000" dirty="0"/>
                        <a:t>Top-Decile Lift</a:t>
                      </a:r>
                    </a:p>
                  </a:txBody>
                  <a:tcPr/>
                </a:tc>
                <a:tc>
                  <a:txBody>
                    <a:bodyPr/>
                    <a:lstStyle/>
                    <a:p>
                      <a:r>
                        <a:rPr lang="en-SG" sz="1000" dirty="0"/>
                        <a:t>Brier</a:t>
                      </a:r>
                    </a:p>
                  </a:txBody>
                  <a:tcPr/>
                </a:tc>
                <a:tc>
                  <a:txBody>
                    <a:bodyPr/>
                    <a:lstStyle/>
                    <a:p>
                      <a:r>
                        <a:rPr lang="en-SG" sz="1000" dirty="0"/>
                        <a:t>ECE</a:t>
                      </a:r>
                    </a:p>
                  </a:txBody>
                  <a:tcPr/>
                </a:tc>
                <a:extLst>
                  <a:ext uri="{0D108BD9-81ED-4DB2-BD59-A6C34878D82A}">
                    <a16:rowId xmlns:a16="http://schemas.microsoft.com/office/drawing/2014/main" val="1796225289"/>
                  </a:ext>
                </a:extLst>
              </a:tr>
              <a:tr h="269780">
                <a:tc>
                  <a:txBody>
                    <a:bodyPr/>
                    <a:lstStyle/>
                    <a:p>
                      <a:r>
                        <a:rPr lang="en-SG" sz="1000" b="0" dirty="0"/>
                        <a:t>Initial</a:t>
                      </a:r>
                    </a:p>
                  </a:txBody>
                  <a:tcPr/>
                </a:tc>
                <a:tc>
                  <a:txBody>
                    <a:bodyPr/>
                    <a:lstStyle/>
                    <a:p>
                      <a:r>
                        <a:rPr lang="en-SG" sz="1000" b="1" dirty="0"/>
                        <a:t>0.75</a:t>
                      </a:r>
                    </a:p>
                  </a:txBody>
                  <a:tcPr/>
                </a:tc>
                <a:tc>
                  <a:txBody>
                    <a:bodyPr/>
                    <a:lstStyle/>
                    <a:p>
                      <a:r>
                        <a:rPr lang="en-SG" sz="1000" b="0" dirty="0"/>
                        <a:t>0.71</a:t>
                      </a:r>
                      <a:endParaRPr lang="en-SG" sz="1000" b="1" dirty="0"/>
                    </a:p>
                  </a:txBody>
                  <a:tcPr/>
                </a:tc>
                <a:tc>
                  <a:txBody>
                    <a:bodyPr/>
                    <a:lstStyle/>
                    <a:p>
                      <a:r>
                        <a:rPr lang="en-SG" sz="1000" b="0" dirty="0"/>
                        <a:t>1.75</a:t>
                      </a:r>
                    </a:p>
                  </a:txBody>
                  <a:tcPr/>
                </a:tc>
                <a:tc>
                  <a:txBody>
                    <a:bodyPr/>
                    <a:lstStyle/>
                    <a:p>
                      <a:r>
                        <a:rPr lang="en-SG" sz="1000" b="0" dirty="0"/>
                        <a:t>0.22</a:t>
                      </a:r>
                    </a:p>
                  </a:txBody>
                  <a:tcPr/>
                </a:tc>
                <a:tc>
                  <a:txBody>
                    <a:bodyPr/>
                    <a:lstStyle/>
                    <a:p>
                      <a:r>
                        <a:rPr lang="en-SG" sz="1000" b="1" dirty="0"/>
                        <a:t>0.03</a:t>
                      </a:r>
                    </a:p>
                  </a:txBody>
                  <a:tcPr/>
                </a:tc>
                <a:extLst>
                  <a:ext uri="{0D108BD9-81ED-4DB2-BD59-A6C34878D82A}">
                    <a16:rowId xmlns:a16="http://schemas.microsoft.com/office/drawing/2014/main" val="2952646974"/>
                  </a:ext>
                </a:extLst>
              </a:tr>
              <a:tr h="269780">
                <a:tc>
                  <a:txBody>
                    <a:bodyPr/>
                    <a:lstStyle/>
                    <a:p>
                      <a:r>
                        <a:rPr lang="en-SG" sz="1000" dirty="0"/>
                        <a:t>Retrain</a:t>
                      </a:r>
                    </a:p>
                  </a:txBody>
                  <a:tcPr/>
                </a:tc>
                <a:tc>
                  <a:txBody>
                    <a:bodyPr/>
                    <a:lstStyle/>
                    <a:p>
                      <a:r>
                        <a:rPr lang="en-SG" sz="1000" b="0" dirty="0"/>
                        <a:t>0.66</a:t>
                      </a:r>
                    </a:p>
                  </a:txBody>
                  <a:tcPr/>
                </a:tc>
                <a:tc>
                  <a:txBody>
                    <a:bodyPr/>
                    <a:lstStyle/>
                    <a:p>
                      <a:r>
                        <a:rPr lang="en-SG" sz="1000" b="1" dirty="0"/>
                        <a:t>0.77</a:t>
                      </a:r>
                    </a:p>
                  </a:txBody>
                  <a:tcPr/>
                </a:tc>
                <a:tc>
                  <a:txBody>
                    <a:bodyPr/>
                    <a:lstStyle/>
                    <a:p>
                      <a:r>
                        <a:rPr lang="en-SG" sz="1000" b="1" dirty="0"/>
                        <a:t>2.52</a:t>
                      </a:r>
                    </a:p>
                  </a:txBody>
                  <a:tcPr/>
                </a:tc>
                <a:tc>
                  <a:txBody>
                    <a:bodyPr/>
                    <a:lstStyle/>
                    <a:p>
                      <a:r>
                        <a:rPr lang="en-SG" sz="1000" b="1" dirty="0"/>
                        <a:t>0.20</a:t>
                      </a:r>
                    </a:p>
                  </a:txBody>
                  <a:tcPr/>
                </a:tc>
                <a:tc>
                  <a:txBody>
                    <a:bodyPr/>
                    <a:lstStyle/>
                    <a:p>
                      <a:r>
                        <a:rPr lang="en-SG" sz="1000" dirty="0"/>
                        <a:t>0.15</a:t>
                      </a:r>
                    </a:p>
                  </a:txBody>
                  <a:tcPr/>
                </a:tc>
                <a:extLst>
                  <a:ext uri="{0D108BD9-81ED-4DB2-BD59-A6C34878D82A}">
                    <a16:rowId xmlns:a16="http://schemas.microsoft.com/office/drawing/2014/main" val="1452641054"/>
                  </a:ext>
                </a:extLst>
              </a:tr>
              <a:tr h="438393">
                <a:tc>
                  <a:txBody>
                    <a:bodyPr/>
                    <a:lstStyle/>
                    <a:p>
                      <a:r>
                        <a:rPr lang="en-SG" sz="1000" dirty="0"/>
                        <a:t>Interpretation</a:t>
                      </a:r>
                    </a:p>
                  </a:txBody>
                  <a:tcPr/>
                </a:tc>
                <a:tc>
                  <a:txBody>
                    <a:bodyPr/>
                    <a:lstStyle/>
                    <a:p>
                      <a:r>
                        <a:rPr lang="en-SG" sz="1000" b="1" dirty="0"/>
                        <a:t>Initial better</a:t>
                      </a:r>
                    </a:p>
                  </a:txBody>
                  <a:tcPr/>
                </a:tc>
                <a:tc>
                  <a:txBody>
                    <a:bodyPr/>
                    <a:lstStyle/>
                    <a:p>
                      <a:r>
                        <a:rPr lang="en-SG" sz="1000" b="1" dirty="0"/>
                        <a:t>Retrain improves</a:t>
                      </a:r>
                    </a:p>
                  </a:txBody>
                  <a:tcPr/>
                </a:tc>
                <a:tc>
                  <a:txBody>
                    <a:bodyPr/>
                    <a:lstStyle/>
                    <a:p>
                      <a:r>
                        <a:rPr lang="en-SG" sz="1000" b="1" dirty="0"/>
                        <a:t>Retrain improves</a:t>
                      </a:r>
                    </a:p>
                  </a:txBody>
                  <a:tcPr/>
                </a:tc>
                <a:tc>
                  <a:txBody>
                    <a:bodyPr/>
                    <a:lstStyle/>
                    <a:p>
                      <a:r>
                        <a:rPr lang="en-SG" sz="1000" b="1" dirty="0"/>
                        <a:t>Retrain improves</a:t>
                      </a:r>
                    </a:p>
                  </a:txBody>
                  <a:tcPr/>
                </a:tc>
                <a:tc>
                  <a:txBody>
                    <a:bodyPr/>
                    <a:lstStyle/>
                    <a:p>
                      <a:r>
                        <a:rPr lang="en-SG" sz="1000" b="1" dirty="0"/>
                        <a:t>Initial better</a:t>
                      </a:r>
                    </a:p>
                  </a:txBody>
                  <a:tcPr/>
                </a:tc>
                <a:extLst>
                  <a:ext uri="{0D108BD9-81ED-4DB2-BD59-A6C34878D82A}">
                    <a16:rowId xmlns:a16="http://schemas.microsoft.com/office/drawing/2014/main" val="464861382"/>
                  </a:ext>
                </a:extLst>
              </a:tr>
            </a:tbl>
          </a:graphicData>
        </a:graphic>
      </p:graphicFrame>
      <p:sp>
        <p:nvSpPr>
          <p:cNvPr id="11" name="TextBox 10">
            <a:extLst>
              <a:ext uri="{FF2B5EF4-FFF2-40B4-BE49-F238E27FC236}">
                <a16:creationId xmlns:a16="http://schemas.microsoft.com/office/drawing/2014/main" id="{AEF290A5-84FD-4B00-CEEA-B71CF8E71D85}"/>
              </a:ext>
            </a:extLst>
          </p:cNvPr>
          <p:cNvSpPr txBox="1"/>
          <p:nvPr/>
        </p:nvSpPr>
        <p:spPr>
          <a:xfrm>
            <a:off x="207644" y="4464477"/>
            <a:ext cx="6826174" cy="1015663"/>
          </a:xfrm>
          <a:prstGeom prst="rect">
            <a:avLst/>
          </a:prstGeom>
          <a:solidFill>
            <a:schemeClr val="accent5">
              <a:lumMod val="20000"/>
              <a:lumOff val="80000"/>
            </a:schemeClr>
          </a:solidFill>
        </p:spPr>
        <p:txBody>
          <a:bodyPr wrap="square">
            <a:spAutoFit/>
          </a:bodyPr>
          <a:lstStyle/>
          <a:p>
            <a:r>
              <a:rPr lang="en-SG" sz="1000" b="1" u="sng" dirty="0"/>
              <a:t>Policy Comparison Under Budget Constraint (Test Slice)</a:t>
            </a:r>
          </a:p>
          <a:p>
            <a:pPr marL="285750" indent="-285750">
              <a:buFont typeface="Wingdings" panose="05000000000000000000" pitchFamily="2" charset="2"/>
              <a:buChar char="Ø"/>
            </a:pPr>
            <a:r>
              <a:rPr lang="en-SG" sz="1000" dirty="0"/>
              <a:t>ML targeting (xgboost expected-value user ranking) is recommended for budget allocation as it consistently beats naive targeting (Random).</a:t>
            </a:r>
          </a:p>
          <a:p>
            <a:pPr marL="285750" indent="-285750">
              <a:buFont typeface="Wingdings" panose="05000000000000000000" pitchFamily="2" charset="2"/>
              <a:buChar char="Ø"/>
            </a:pPr>
            <a:r>
              <a:rPr lang="en-SG" sz="1000" dirty="0"/>
              <a:t>ML targeting is competitive with heuristic RFM and provides a more extensible framework as richer data features become available (Why may choose ML over heuristic approach).</a:t>
            </a:r>
          </a:p>
          <a:p>
            <a:pPr marL="285750" indent="-285750">
              <a:buFont typeface="Wingdings" panose="05000000000000000000" pitchFamily="2" charset="2"/>
              <a:buChar char="Ø"/>
            </a:pPr>
            <a:r>
              <a:rPr lang="en-SG" sz="1000" dirty="0"/>
              <a:t>Continue benchmarking against RFM each retraining cycle to maintain performance guardrails.</a:t>
            </a:r>
          </a:p>
        </p:txBody>
      </p:sp>
      <p:sp>
        <p:nvSpPr>
          <p:cNvPr id="12" name="TextBox 11">
            <a:extLst>
              <a:ext uri="{FF2B5EF4-FFF2-40B4-BE49-F238E27FC236}">
                <a16:creationId xmlns:a16="http://schemas.microsoft.com/office/drawing/2014/main" id="{C45FAA5B-049F-F8DE-C5E6-CDEC01CC5CD7}"/>
              </a:ext>
            </a:extLst>
          </p:cNvPr>
          <p:cNvSpPr txBox="1"/>
          <p:nvPr/>
        </p:nvSpPr>
        <p:spPr>
          <a:xfrm>
            <a:off x="207644" y="1767164"/>
            <a:ext cx="6826174" cy="1015663"/>
          </a:xfrm>
          <a:prstGeom prst="rect">
            <a:avLst/>
          </a:prstGeom>
          <a:solidFill>
            <a:schemeClr val="accent5">
              <a:lumMod val="20000"/>
              <a:lumOff val="80000"/>
            </a:schemeClr>
          </a:solidFill>
        </p:spPr>
        <p:txBody>
          <a:bodyPr wrap="square">
            <a:spAutoFit/>
          </a:bodyPr>
          <a:lstStyle/>
          <a:p>
            <a:r>
              <a:rPr lang="en-SG" sz="1000" b="1" u="sng" dirty="0"/>
              <a:t>Frozen Model Quality (Validation Slice; Drift Signal Monitor)</a:t>
            </a:r>
          </a:p>
          <a:p>
            <a:r>
              <a:rPr lang="en-SG" sz="1000" b="1" dirty="0"/>
              <a:t>Drift monitoring (data/model): </a:t>
            </a:r>
          </a:p>
          <a:p>
            <a:pPr marL="171450" indent="-171450">
              <a:buFont typeface="Wingdings" panose="05000000000000000000" pitchFamily="2" charset="2"/>
              <a:buChar char="Ø"/>
            </a:pPr>
            <a:r>
              <a:rPr lang="en-SG" sz="1000" dirty="0"/>
              <a:t>Validation errors increase in retrain cycle — possible data/model drift signal; monitor alongside policy outcomes.</a:t>
            </a:r>
          </a:p>
          <a:p>
            <a:pPr marL="171450" indent="-171450">
              <a:buFont typeface="Wingdings" panose="05000000000000000000" pitchFamily="2" charset="2"/>
              <a:buChar char="Ø"/>
            </a:pPr>
            <a:r>
              <a:rPr lang="en-SG" sz="1000" dirty="0"/>
              <a:t>Retrained model seems to concentrate buyers more effectively in top segments </a:t>
            </a:r>
            <a:r>
              <a:rPr lang="en-SG" sz="1000" b="1" dirty="0"/>
              <a:t>(Top-Decile Lift improves)</a:t>
            </a:r>
            <a:r>
              <a:rPr lang="en-SG" sz="1000" dirty="0"/>
              <a:t>, although </a:t>
            </a:r>
            <a:r>
              <a:rPr lang="en-SG" sz="1000" b="1" dirty="0"/>
              <a:t>ranking (PR-AUC) and calibration (ECE) declined</a:t>
            </a:r>
            <a:r>
              <a:rPr lang="en-SG" sz="1000" dirty="0"/>
              <a:t>.</a:t>
            </a:r>
          </a:p>
        </p:txBody>
      </p:sp>
      <p:graphicFrame>
        <p:nvGraphicFramePr>
          <p:cNvPr id="15" name="Table 14">
            <a:extLst>
              <a:ext uri="{FF2B5EF4-FFF2-40B4-BE49-F238E27FC236}">
                <a16:creationId xmlns:a16="http://schemas.microsoft.com/office/drawing/2014/main" id="{B71E60CE-3C16-BE0E-6021-71E0F5E1CDFA}"/>
              </a:ext>
            </a:extLst>
          </p:cNvPr>
          <p:cNvGraphicFramePr>
            <a:graphicFrameLocks noGrp="1"/>
          </p:cNvGraphicFramePr>
          <p:nvPr>
            <p:extLst>
              <p:ext uri="{D42A27DB-BD31-4B8C-83A1-F6EECF244321}">
                <p14:modId xmlns:p14="http://schemas.microsoft.com/office/powerpoint/2010/main" val="4253195766"/>
              </p:ext>
            </p:extLst>
          </p:nvPr>
        </p:nvGraphicFramePr>
        <p:xfrm>
          <a:off x="7256704" y="2768145"/>
          <a:ext cx="4727652" cy="1584960"/>
        </p:xfrm>
        <a:graphic>
          <a:graphicData uri="http://schemas.openxmlformats.org/drawingml/2006/table">
            <a:tbl>
              <a:tblPr firstRow="1" bandRow="1">
                <a:tableStyleId>{5C22544A-7EE6-4342-B048-85BDC9FD1C3A}</a:tableStyleId>
              </a:tblPr>
              <a:tblGrid>
                <a:gridCol w="1424574">
                  <a:extLst>
                    <a:ext uri="{9D8B030D-6E8A-4147-A177-3AD203B41FA5}">
                      <a16:colId xmlns:a16="http://schemas.microsoft.com/office/drawing/2014/main" val="2444121692"/>
                    </a:ext>
                  </a:extLst>
                </a:gridCol>
                <a:gridCol w="1101026">
                  <a:extLst>
                    <a:ext uri="{9D8B030D-6E8A-4147-A177-3AD203B41FA5}">
                      <a16:colId xmlns:a16="http://schemas.microsoft.com/office/drawing/2014/main" val="1796582741"/>
                    </a:ext>
                  </a:extLst>
                </a:gridCol>
                <a:gridCol w="1101026">
                  <a:extLst>
                    <a:ext uri="{9D8B030D-6E8A-4147-A177-3AD203B41FA5}">
                      <a16:colId xmlns:a16="http://schemas.microsoft.com/office/drawing/2014/main" val="3043283912"/>
                    </a:ext>
                  </a:extLst>
                </a:gridCol>
                <a:gridCol w="1101026">
                  <a:extLst>
                    <a:ext uri="{9D8B030D-6E8A-4147-A177-3AD203B41FA5}">
                      <a16:colId xmlns:a16="http://schemas.microsoft.com/office/drawing/2014/main" val="2318209426"/>
                    </a:ext>
                  </a:extLst>
                </a:gridCol>
              </a:tblGrid>
              <a:tr h="548640">
                <a:tc>
                  <a:txBody>
                    <a:bodyPr/>
                    <a:lstStyle/>
                    <a:p>
                      <a:r>
                        <a:rPr lang="en-SG" sz="1000" u="sng" dirty="0"/>
                        <a:t>Revenue Prediction Model</a:t>
                      </a:r>
                    </a:p>
                    <a:p>
                      <a:r>
                        <a:rPr lang="en-SG" sz="1000" dirty="0"/>
                        <a:t>Revenue Regression Error</a:t>
                      </a:r>
                    </a:p>
                  </a:txBody>
                  <a:tcPr/>
                </a:tc>
                <a:tc>
                  <a:txBody>
                    <a:bodyPr/>
                    <a:lstStyle/>
                    <a:p>
                      <a:r>
                        <a:rPr lang="en-SG" sz="1000" dirty="0"/>
                        <a:t>RMSE</a:t>
                      </a:r>
                    </a:p>
                  </a:txBody>
                  <a:tcPr/>
                </a:tc>
                <a:tc>
                  <a:txBody>
                    <a:bodyPr/>
                    <a:lstStyle/>
                    <a:p>
                      <a:r>
                        <a:rPr lang="en-SG" sz="1000" dirty="0"/>
                        <a:t>MAE</a:t>
                      </a:r>
                    </a:p>
                  </a:txBody>
                  <a:tcPr/>
                </a:tc>
                <a:tc>
                  <a:txBody>
                    <a:bodyPr/>
                    <a:lstStyle/>
                    <a:p>
                      <a:r>
                        <a:rPr lang="en-SG" sz="1000" dirty="0"/>
                        <a:t>MAPE</a:t>
                      </a:r>
                    </a:p>
                  </a:txBody>
                  <a:tcPr/>
                </a:tc>
                <a:extLst>
                  <a:ext uri="{0D108BD9-81ED-4DB2-BD59-A6C34878D82A}">
                    <a16:rowId xmlns:a16="http://schemas.microsoft.com/office/drawing/2014/main" val="911247395"/>
                  </a:ext>
                </a:extLst>
              </a:tr>
              <a:tr h="243840">
                <a:tc>
                  <a:txBody>
                    <a:bodyPr/>
                    <a:lstStyle/>
                    <a:p>
                      <a:r>
                        <a:rPr lang="en-SG" sz="1000" b="0" dirty="0"/>
                        <a:t>Initial</a:t>
                      </a:r>
                    </a:p>
                  </a:txBody>
                  <a:tcPr/>
                </a:tc>
                <a:tc>
                  <a:txBody>
                    <a:bodyPr/>
                    <a:lstStyle/>
                    <a:p>
                      <a:r>
                        <a:rPr lang="en-SG" sz="1000" b="1" dirty="0"/>
                        <a:t>2019</a:t>
                      </a:r>
                    </a:p>
                  </a:txBody>
                  <a:tcPr/>
                </a:tc>
                <a:tc>
                  <a:txBody>
                    <a:bodyPr/>
                    <a:lstStyle/>
                    <a:p>
                      <a:r>
                        <a:rPr lang="en-SG" sz="1000" b="1" dirty="0"/>
                        <a:t>692</a:t>
                      </a:r>
                    </a:p>
                  </a:txBody>
                  <a:tcPr/>
                </a:tc>
                <a:tc>
                  <a:txBody>
                    <a:bodyPr/>
                    <a:lstStyle/>
                    <a:p>
                      <a:r>
                        <a:rPr lang="en-SG" sz="1000" b="1" dirty="0"/>
                        <a:t>1.2</a:t>
                      </a:r>
                    </a:p>
                  </a:txBody>
                  <a:tcPr/>
                </a:tc>
                <a:extLst>
                  <a:ext uri="{0D108BD9-81ED-4DB2-BD59-A6C34878D82A}">
                    <a16:rowId xmlns:a16="http://schemas.microsoft.com/office/drawing/2014/main" val="2861243702"/>
                  </a:ext>
                </a:extLst>
              </a:tr>
              <a:tr h="243840">
                <a:tc>
                  <a:txBody>
                    <a:bodyPr/>
                    <a:lstStyle/>
                    <a:p>
                      <a:r>
                        <a:rPr lang="en-SG" sz="1000" dirty="0"/>
                        <a:t>Retrain</a:t>
                      </a:r>
                    </a:p>
                  </a:txBody>
                  <a:tcPr/>
                </a:tc>
                <a:tc>
                  <a:txBody>
                    <a:bodyPr/>
                    <a:lstStyle/>
                    <a:p>
                      <a:r>
                        <a:rPr lang="en-SG" sz="1000" b="0" dirty="0"/>
                        <a:t>2873</a:t>
                      </a:r>
                    </a:p>
                  </a:txBody>
                  <a:tcPr/>
                </a:tc>
                <a:tc>
                  <a:txBody>
                    <a:bodyPr/>
                    <a:lstStyle/>
                    <a:p>
                      <a:r>
                        <a:rPr lang="en-SG" sz="1000" b="0" dirty="0"/>
                        <a:t>801</a:t>
                      </a:r>
                    </a:p>
                  </a:txBody>
                  <a:tcPr/>
                </a:tc>
                <a:tc>
                  <a:txBody>
                    <a:bodyPr/>
                    <a:lstStyle/>
                    <a:p>
                      <a:r>
                        <a:rPr lang="en-SG" sz="1000" b="0" dirty="0"/>
                        <a:t>2.7</a:t>
                      </a:r>
                    </a:p>
                  </a:txBody>
                  <a:tcPr/>
                </a:tc>
                <a:extLst>
                  <a:ext uri="{0D108BD9-81ED-4DB2-BD59-A6C34878D82A}">
                    <a16:rowId xmlns:a16="http://schemas.microsoft.com/office/drawing/2014/main" val="2491070102"/>
                  </a:ext>
                </a:extLst>
              </a:tr>
              <a:tr h="396240">
                <a:tc>
                  <a:txBody>
                    <a:bodyPr/>
                    <a:lstStyle/>
                    <a:p>
                      <a:r>
                        <a:rPr lang="en-SG" sz="1000" dirty="0"/>
                        <a:t>Interpretation</a:t>
                      </a:r>
                    </a:p>
                  </a:txBody>
                  <a:tcPr/>
                </a:tc>
                <a:tc>
                  <a:txBody>
                    <a:bodyPr/>
                    <a:lstStyle/>
                    <a:p>
                      <a:r>
                        <a:rPr lang="en-SG" sz="1000" b="1" dirty="0"/>
                        <a:t>Initial better</a:t>
                      </a:r>
                    </a:p>
                  </a:txBody>
                  <a:tcPr/>
                </a:tc>
                <a:tc>
                  <a:txBody>
                    <a:bodyPr/>
                    <a:lstStyle/>
                    <a:p>
                      <a:r>
                        <a:rPr lang="en-SG" sz="1000" b="1" dirty="0"/>
                        <a:t>Initial better</a:t>
                      </a:r>
                    </a:p>
                  </a:txBody>
                  <a:tcPr/>
                </a:tc>
                <a:tc>
                  <a:txBody>
                    <a:bodyPr/>
                    <a:lstStyle/>
                    <a:p>
                      <a:r>
                        <a:rPr lang="en-SG" sz="1000" b="1" dirty="0"/>
                        <a:t>Initial better</a:t>
                      </a:r>
                    </a:p>
                  </a:txBody>
                  <a:tcPr/>
                </a:tc>
                <a:extLst>
                  <a:ext uri="{0D108BD9-81ED-4DB2-BD59-A6C34878D82A}">
                    <a16:rowId xmlns:a16="http://schemas.microsoft.com/office/drawing/2014/main" val="2195298637"/>
                  </a:ext>
                </a:extLst>
              </a:tr>
            </a:tbl>
          </a:graphicData>
        </a:graphic>
      </p:graphicFrame>
      <p:sp>
        <p:nvSpPr>
          <p:cNvPr id="8" name="TextBox 7">
            <a:extLst>
              <a:ext uri="{FF2B5EF4-FFF2-40B4-BE49-F238E27FC236}">
                <a16:creationId xmlns:a16="http://schemas.microsoft.com/office/drawing/2014/main" id="{740617C8-E75E-1062-B441-752A5BC46210}"/>
              </a:ext>
            </a:extLst>
          </p:cNvPr>
          <p:cNvSpPr txBox="1"/>
          <p:nvPr/>
        </p:nvSpPr>
        <p:spPr>
          <a:xfrm>
            <a:off x="7256704" y="1765330"/>
            <a:ext cx="4935296" cy="861774"/>
          </a:xfrm>
          <a:prstGeom prst="rect">
            <a:avLst/>
          </a:prstGeom>
          <a:solidFill>
            <a:schemeClr val="accent6">
              <a:lumMod val="20000"/>
              <a:lumOff val="80000"/>
            </a:schemeClr>
          </a:solidFill>
        </p:spPr>
        <p:txBody>
          <a:bodyPr wrap="square">
            <a:spAutoFit/>
          </a:bodyPr>
          <a:lstStyle/>
          <a:p>
            <a:r>
              <a:rPr lang="en-SG" sz="1000" b="1" dirty="0"/>
              <a:t>Primary metric: PR-AUC</a:t>
            </a:r>
            <a:r>
              <a:rPr lang="en-SG" sz="1000" dirty="0"/>
              <a:t> (positive-class targeting)</a:t>
            </a:r>
          </a:p>
          <a:p>
            <a:r>
              <a:rPr lang="en-SG" sz="1000" b="1" dirty="0"/>
              <a:t>Other guardrail metrics</a:t>
            </a:r>
          </a:p>
          <a:p>
            <a:pPr marL="171450" indent="-171450">
              <a:buFont typeface="Wingdings" panose="05000000000000000000" pitchFamily="2" charset="2"/>
              <a:buChar char="Ø"/>
            </a:pPr>
            <a:r>
              <a:rPr lang="en-SG" sz="1000" b="1" dirty="0"/>
              <a:t>Ranking (AUC, Top-Decile Lift): </a:t>
            </a:r>
            <a:r>
              <a:rPr lang="en-SG" sz="1000" dirty="0"/>
              <a:t>Whether buyers rank above non-buyers</a:t>
            </a:r>
          </a:p>
          <a:p>
            <a:pPr marL="171450" indent="-171450">
              <a:buFont typeface="Wingdings" panose="05000000000000000000" pitchFamily="2" charset="2"/>
              <a:buChar char="Ø"/>
            </a:pPr>
            <a:r>
              <a:rPr lang="en-SG" sz="1000" b="1" dirty="0"/>
              <a:t>Calibration (Brier, ECE): </a:t>
            </a:r>
            <a:r>
              <a:rPr lang="en-SG" sz="1000" dirty="0"/>
              <a:t>Whether predicted probabilities are accurate</a:t>
            </a:r>
          </a:p>
          <a:p>
            <a:pPr marL="171450" indent="-171450">
              <a:buFont typeface="Wingdings" panose="05000000000000000000" pitchFamily="2" charset="2"/>
              <a:buChar char="Ø"/>
            </a:pPr>
            <a:r>
              <a:rPr lang="en-SG" sz="1000" b="1" dirty="0"/>
              <a:t>Revenue error metrics</a:t>
            </a:r>
          </a:p>
        </p:txBody>
      </p:sp>
      <p:sp>
        <p:nvSpPr>
          <p:cNvPr id="10" name="TextBox 9">
            <a:extLst>
              <a:ext uri="{FF2B5EF4-FFF2-40B4-BE49-F238E27FC236}">
                <a16:creationId xmlns:a16="http://schemas.microsoft.com/office/drawing/2014/main" id="{EA1A2570-42A7-DE58-513A-832A526CDD07}"/>
              </a:ext>
            </a:extLst>
          </p:cNvPr>
          <p:cNvSpPr txBox="1"/>
          <p:nvPr/>
        </p:nvSpPr>
        <p:spPr>
          <a:xfrm>
            <a:off x="7256704" y="4480074"/>
            <a:ext cx="4935296" cy="400110"/>
          </a:xfrm>
          <a:prstGeom prst="rect">
            <a:avLst/>
          </a:prstGeom>
          <a:solidFill>
            <a:schemeClr val="accent6">
              <a:lumMod val="20000"/>
              <a:lumOff val="80000"/>
            </a:schemeClr>
          </a:solidFill>
        </p:spPr>
        <p:txBody>
          <a:bodyPr wrap="square">
            <a:spAutoFit/>
          </a:bodyPr>
          <a:lstStyle/>
          <a:p>
            <a:pPr marL="171450" indent="-171450">
              <a:buFont typeface="Wingdings" panose="05000000000000000000" pitchFamily="2" charset="2"/>
              <a:buChar char="Ø"/>
            </a:pPr>
            <a:r>
              <a:rPr lang="en-SG" sz="1000" b="1" dirty="0"/>
              <a:t>Selection Rule:</a:t>
            </a:r>
            <a:r>
              <a:rPr lang="en-SG" sz="1000" dirty="0"/>
              <a:t> Maximize </a:t>
            </a:r>
            <a:r>
              <a:rPr lang="en-SG" sz="1000" b="1" dirty="0"/>
              <a:t>Revenue per Targeted User (Historical Realized)</a:t>
            </a:r>
          </a:p>
          <a:p>
            <a:pPr marL="171450" indent="-171450">
              <a:buFont typeface="Wingdings" panose="05000000000000000000" pitchFamily="2" charset="2"/>
              <a:buChar char="Ø"/>
            </a:pPr>
            <a:r>
              <a:rPr lang="en-SG" sz="1000" b="1" dirty="0"/>
              <a:t>Secondary Metric: Purchase Rate (Historical Realized)</a:t>
            </a:r>
          </a:p>
        </p:txBody>
      </p:sp>
    </p:spTree>
    <p:extLst>
      <p:ext uri="{BB962C8B-B14F-4D97-AF65-F5344CB8AC3E}">
        <p14:creationId xmlns:p14="http://schemas.microsoft.com/office/powerpoint/2010/main" val="34345352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776822-04DE-BD0E-22EF-73A4E5F5EB0F}"/>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51F5C934-9F6A-DF02-4196-746E32B3ECB0}"/>
              </a:ext>
            </a:extLst>
          </p:cNvPr>
          <p:cNvSpPr>
            <a:spLocks noGrp="1"/>
          </p:cNvSpPr>
          <p:nvPr>
            <p:ph type="title"/>
          </p:nvPr>
        </p:nvSpPr>
        <p:spPr>
          <a:xfrm>
            <a:off x="1625438" y="624110"/>
            <a:ext cx="10242712" cy="1280890"/>
          </a:xfrm>
        </p:spPr>
        <p:txBody>
          <a:bodyPr>
            <a:normAutofit/>
          </a:bodyPr>
          <a:lstStyle/>
          <a:p>
            <a:r>
              <a:rPr lang="en-SG" dirty="0"/>
              <a:t>Recommender Engine</a:t>
            </a:r>
            <a:br>
              <a:rPr lang="en-SG" dirty="0"/>
            </a:br>
            <a:r>
              <a:rPr lang="en-SG" dirty="0"/>
              <a:t>(Appendix – Model &amp; Evaluation Design)</a:t>
            </a:r>
          </a:p>
        </p:txBody>
      </p:sp>
      <p:sp>
        <p:nvSpPr>
          <p:cNvPr id="6" name="TextBox 5">
            <a:extLst>
              <a:ext uri="{FF2B5EF4-FFF2-40B4-BE49-F238E27FC236}">
                <a16:creationId xmlns:a16="http://schemas.microsoft.com/office/drawing/2014/main" id="{20F85F21-580C-9983-2A05-499B457290EF}"/>
              </a:ext>
            </a:extLst>
          </p:cNvPr>
          <p:cNvSpPr txBox="1"/>
          <p:nvPr/>
        </p:nvSpPr>
        <p:spPr>
          <a:xfrm>
            <a:off x="130951" y="1715928"/>
            <a:ext cx="2408082" cy="246221"/>
          </a:xfrm>
          <a:prstGeom prst="rect">
            <a:avLst/>
          </a:prstGeom>
          <a:noFill/>
        </p:spPr>
        <p:txBody>
          <a:bodyPr wrap="square">
            <a:spAutoFit/>
          </a:bodyPr>
          <a:lstStyle/>
          <a:p>
            <a:r>
              <a:rPr lang="en-SG" sz="1000" b="1" u="sng" dirty="0"/>
              <a:t>Experiments Setup</a:t>
            </a:r>
          </a:p>
        </p:txBody>
      </p:sp>
      <p:graphicFrame>
        <p:nvGraphicFramePr>
          <p:cNvPr id="15" name="Table 14">
            <a:extLst>
              <a:ext uri="{FF2B5EF4-FFF2-40B4-BE49-F238E27FC236}">
                <a16:creationId xmlns:a16="http://schemas.microsoft.com/office/drawing/2014/main" id="{B4D11709-B9C4-9586-9A18-2639A9DA59F9}"/>
              </a:ext>
            </a:extLst>
          </p:cNvPr>
          <p:cNvGraphicFramePr>
            <a:graphicFrameLocks noGrp="1"/>
          </p:cNvGraphicFramePr>
          <p:nvPr>
            <p:extLst>
              <p:ext uri="{D42A27DB-BD31-4B8C-83A1-F6EECF244321}">
                <p14:modId xmlns:p14="http://schemas.microsoft.com/office/powerpoint/2010/main" val="2647371340"/>
              </p:ext>
            </p:extLst>
          </p:nvPr>
        </p:nvGraphicFramePr>
        <p:xfrm>
          <a:off x="4955292" y="1943227"/>
          <a:ext cx="7135149" cy="1188720"/>
        </p:xfrm>
        <a:graphic>
          <a:graphicData uri="http://schemas.openxmlformats.org/drawingml/2006/table">
            <a:tbl>
              <a:tblPr firstRow="1" bandRow="1">
                <a:tableStyleId>{5C22544A-7EE6-4342-B048-85BDC9FD1C3A}</a:tableStyleId>
              </a:tblPr>
              <a:tblGrid>
                <a:gridCol w="2378383">
                  <a:extLst>
                    <a:ext uri="{9D8B030D-6E8A-4147-A177-3AD203B41FA5}">
                      <a16:colId xmlns:a16="http://schemas.microsoft.com/office/drawing/2014/main" val="2179503555"/>
                    </a:ext>
                  </a:extLst>
                </a:gridCol>
                <a:gridCol w="2378383">
                  <a:extLst>
                    <a:ext uri="{9D8B030D-6E8A-4147-A177-3AD203B41FA5}">
                      <a16:colId xmlns:a16="http://schemas.microsoft.com/office/drawing/2014/main" val="269056205"/>
                    </a:ext>
                  </a:extLst>
                </a:gridCol>
                <a:gridCol w="2378383">
                  <a:extLst>
                    <a:ext uri="{9D8B030D-6E8A-4147-A177-3AD203B41FA5}">
                      <a16:colId xmlns:a16="http://schemas.microsoft.com/office/drawing/2014/main" val="1475438144"/>
                    </a:ext>
                  </a:extLst>
                </a:gridCol>
              </a:tblGrid>
              <a:tr h="0">
                <a:tc>
                  <a:txBody>
                    <a:bodyPr/>
                    <a:lstStyle/>
                    <a:p>
                      <a:r>
                        <a:rPr lang="en-SG" sz="800" dirty="0">
                          <a:latin typeface="+mj-lt"/>
                        </a:rPr>
                        <a:t>Model Baseline</a:t>
                      </a:r>
                    </a:p>
                  </a:txBody>
                  <a:tcPr/>
                </a:tc>
                <a:tc>
                  <a:txBody>
                    <a:bodyPr/>
                    <a:lstStyle/>
                    <a:p>
                      <a:r>
                        <a:rPr lang="en-SG" sz="800" dirty="0">
                          <a:latin typeface="+mj-lt"/>
                        </a:rPr>
                        <a:t>Type</a:t>
                      </a:r>
                    </a:p>
                  </a:txBody>
                  <a:tcPr/>
                </a:tc>
                <a:tc>
                  <a:txBody>
                    <a:bodyPr/>
                    <a:lstStyle/>
                    <a:p>
                      <a:r>
                        <a:rPr lang="en-SG" sz="800" dirty="0">
                          <a:latin typeface="+mj-lt"/>
                        </a:rPr>
                        <a:t>Why included</a:t>
                      </a:r>
                    </a:p>
                  </a:txBody>
                  <a:tcPr/>
                </a:tc>
                <a:extLst>
                  <a:ext uri="{0D108BD9-81ED-4DB2-BD59-A6C34878D82A}">
                    <a16:rowId xmlns:a16="http://schemas.microsoft.com/office/drawing/2014/main" val="3663766056"/>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0 — Random Baseline</a:t>
                      </a:r>
                    </a:p>
                  </a:txBody>
                  <a:tcPr/>
                </a:tc>
                <a:tc>
                  <a:txBody>
                    <a:bodyPr/>
                    <a:lstStyle/>
                    <a:p>
                      <a:r>
                        <a:rPr lang="en-SG" sz="800" dirty="0">
                          <a:latin typeface="+mj-lt"/>
                        </a:rPr>
                        <a:t>Statistical (Null Model)</a:t>
                      </a: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Theoretical Floor</a:t>
                      </a:r>
                      <a:endParaRPr lang="en-SG" sz="800" dirty="0">
                        <a:latin typeface="+mj-lt"/>
                      </a:endParaRPr>
                    </a:p>
                  </a:txBody>
                  <a:tcPr/>
                </a:tc>
                <a:extLst>
                  <a:ext uri="{0D108BD9-81ED-4DB2-BD59-A6C34878D82A}">
                    <a16:rowId xmlns:a16="http://schemas.microsoft.com/office/drawing/2014/main" val="3699583526"/>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1 — Popularity Baseline</a:t>
                      </a: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Heuristic</a:t>
                      </a:r>
                      <a:endParaRPr lang="en-SG" sz="800" dirty="0">
                        <a:latin typeface="+mj-lt"/>
                      </a:endParaRP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Heuristic Baseline</a:t>
                      </a:r>
                      <a:endParaRPr lang="en-SG" sz="800" dirty="0">
                        <a:latin typeface="+mj-lt"/>
                      </a:endParaRPr>
                    </a:p>
                  </a:txBody>
                  <a:tcPr/>
                </a:tc>
                <a:extLst>
                  <a:ext uri="{0D108BD9-81ED-4DB2-BD59-A6C34878D82A}">
                    <a16:rowId xmlns:a16="http://schemas.microsoft.com/office/drawing/2014/main" val="2904777083"/>
                  </a:ext>
                </a:extLst>
              </a:tr>
              <a:tr h="157807">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2 — Matrix Factorization (TruncatedSVD)</a:t>
                      </a:r>
                    </a:p>
                  </a:txBody>
                  <a:tcPr/>
                </a:tc>
                <a:tc>
                  <a:txBody>
                    <a:bodyPr/>
                    <a:lstStyle/>
                    <a:p>
                      <a:r>
                        <a:rPr lang="en-SG" sz="800" dirty="0">
                          <a:latin typeface="+mj-lt"/>
                        </a:rPr>
                        <a:t>Classical ML: </a:t>
                      </a:r>
                      <a:r>
                        <a:rPr lang="en-SG" sz="800" kern="1200" dirty="0">
                          <a:solidFill>
                            <a:schemeClr val="dk1"/>
                          </a:solidFill>
                          <a:latin typeface="+mn-lt"/>
                          <a:ea typeface="+mn-ea"/>
                          <a:cs typeface="+mn-cs"/>
                        </a:rPr>
                        <a:t>Collaborative Filtering (CF) </a:t>
                      </a:r>
                      <a:endParaRPr lang="en-SG" sz="800" dirty="0">
                        <a:latin typeface="+mj-lt"/>
                      </a:endParaRPr>
                    </a:p>
                  </a:txBody>
                  <a:tcPr/>
                </a:tc>
                <a:tc>
                  <a:txBody>
                    <a:bodyPr/>
                    <a:lstStyle/>
                    <a:p>
                      <a:r>
                        <a:rPr lang="en-SG" sz="800" dirty="0">
                          <a:latin typeface="+mj-lt"/>
                        </a:rPr>
                        <a:t>Strong benchmark</a:t>
                      </a:r>
                    </a:p>
                  </a:txBody>
                  <a:tcPr/>
                </a:tc>
                <a:extLst>
                  <a:ext uri="{0D108BD9-81ED-4DB2-BD59-A6C34878D82A}">
                    <a16:rowId xmlns:a16="http://schemas.microsoft.com/office/drawing/2014/main" val="3642296864"/>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3 — Two-Tower</a:t>
                      </a: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Neural Retrieval</a:t>
                      </a:r>
                      <a:endParaRPr lang="en-SG" sz="800" dirty="0">
                        <a:latin typeface="+mj-lt"/>
                      </a:endParaRPr>
                    </a:p>
                  </a:txBody>
                  <a:tcPr/>
                </a:tc>
                <a:tc>
                  <a:txBody>
                    <a:bodyPr/>
                    <a:lstStyle/>
                    <a:p>
                      <a:r>
                        <a:rPr lang="en-SG" sz="800" dirty="0">
                          <a:latin typeface="+mj-lt"/>
                        </a:rPr>
                        <a:t>Scalable, extensible</a:t>
                      </a:r>
                    </a:p>
                  </a:txBody>
                  <a:tcPr/>
                </a:tc>
                <a:extLst>
                  <a:ext uri="{0D108BD9-81ED-4DB2-BD59-A6C34878D82A}">
                    <a16:rowId xmlns:a16="http://schemas.microsoft.com/office/drawing/2014/main" val="958386671"/>
                  </a:ext>
                </a:extLst>
              </a:tr>
            </a:tbl>
          </a:graphicData>
        </a:graphic>
      </p:graphicFrame>
      <p:sp>
        <p:nvSpPr>
          <p:cNvPr id="16" name="TextBox 15">
            <a:extLst>
              <a:ext uri="{FF2B5EF4-FFF2-40B4-BE49-F238E27FC236}">
                <a16:creationId xmlns:a16="http://schemas.microsoft.com/office/drawing/2014/main" id="{3FD133D6-D112-CF19-3B45-279C7F1D5343}"/>
              </a:ext>
            </a:extLst>
          </p:cNvPr>
          <p:cNvSpPr txBox="1"/>
          <p:nvPr/>
        </p:nvSpPr>
        <p:spPr>
          <a:xfrm>
            <a:off x="4888617" y="1715214"/>
            <a:ext cx="3181349" cy="246221"/>
          </a:xfrm>
          <a:prstGeom prst="rect">
            <a:avLst/>
          </a:prstGeom>
          <a:noFill/>
        </p:spPr>
        <p:txBody>
          <a:bodyPr wrap="square">
            <a:spAutoFit/>
          </a:bodyPr>
          <a:lstStyle/>
          <a:p>
            <a:r>
              <a:rPr lang="en-SG" sz="1000" b="1" u="sng" dirty="0"/>
              <a:t>Hierarchy of Baselines for Recommenders</a:t>
            </a:r>
          </a:p>
        </p:txBody>
      </p:sp>
      <p:graphicFrame>
        <p:nvGraphicFramePr>
          <p:cNvPr id="17" name="Table 16">
            <a:extLst>
              <a:ext uri="{FF2B5EF4-FFF2-40B4-BE49-F238E27FC236}">
                <a16:creationId xmlns:a16="http://schemas.microsoft.com/office/drawing/2014/main" id="{BC0EC9A6-0C4E-FA84-9042-067543E52BC7}"/>
              </a:ext>
            </a:extLst>
          </p:cNvPr>
          <p:cNvGraphicFramePr>
            <a:graphicFrameLocks noGrp="1"/>
          </p:cNvGraphicFramePr>
          <p:nvPr>
            <p:extLst>
              <p:ext uri="{D42A27DB-BD31-4B8C-83A1-F6EECF244321}">
                <p14:modId xmlns:p14="http://schemas.microsoft.com/office/powerpoint/2010/main" val="1182475284"/>
              </p:ext>
            </p:extLst>
          </p:nvPr>
        </p:nvGraphicFramePr>
        <p:xfrm>
          <a:off x="218025" y="1961434"/>
          <a:ext cx="4642017" cy="4896567"/>
        </p:xfrm>
        <a:graphic>
          <a:graphicData uri="http://schemas.openxmlformats.org/drawingml/2006/table">
            <a:tbl>
              <a:tblPr firstRow="1" bandRow="1">
                <a:tableStyleId>{5C22544A-7EE6-4342-B048-85BDC9FD1C3A}</a:tableStyleId>
              </a:tblPr>
              <a:tblGrid>
                <a:gridCol w="1597870">
                  <a:extLst>
                    <a:ext uri="{9D8B030D-6E8A-4147-A177-3AD203B41FA5}">
                      <a16:colId xmlns:a16="http://schemas.microsoft.com/office/drawing/2014/main" val="2179503555"/>
                    </a:ext>
                  </a:extLst>
                </a:gridCol>
                <a:gridCol w="3044147">
                  <a:extLst>
                    <a:ext uri="{9D8B030D-6E8A-4147-A177-3AD203B41FA5}">
                      <a16:colId xmlns:a16="http://schemas.microsoft.com/office/drawing/2014/main" val="269056205"/>
                    </a:ext>
                  </a:extLst>
                </a:gridCol>
              </a:tblGrid>
              <a:tr h="300398">
                <a:tc>
                  <a:txBody>
                    <a:bodyPr/>
                    <a:lstStyle/>
                    <a:p>
                      <a:r>
                        <a:rPr lang="en-SG" sz="800" dirty="0">
                          <a:latin typeface="+mj-lt"/>
                        </a:rPr>
                        <a:t>Experiments Setup</a:t>
                      </a:r>
                    </a:p>
                  </a:txBody>
                  <a:tcPr/>
                </a:tc>
                <a:tc>
                  <a:txBody>
                    <a:bodyPr/>
                    <a:lstStyle/>
                    <a:p>
                      <a:r>
                        <a:rPr lang="en-SG" sz="800" dirty="0">
                          <a:latin typeface="+mj-lt"/>
                        </a:rPr>
                        <a:t>Description</a:t>
                      </a:r>
                    </a:p>
                  </a:txBody>
                  <a:tcPr/>
                </a:tc>
                <a:extLst>
                  <a:ext uri="{0D108BD9-81ED-4DB2-BD59-A6C34878D82A}">
                    <a16:rowId xmlns:a16="http://schemas.microsoft.com/office/drawing/2014/main" val="3663766056"/>
                  </a:ext>
                </a:extLst>
              </a:tr>
              <a:tr h="890203">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Time-based split (chronological, no leakage)</a:t>
                      </a:r>
                    </a:p>
                  </a:txBody>
                  <a:tcPr/>
                </a:tc>
                <a:tc>
                  <a:txBody>
                    <a:bodyPr/>
                    <a:lstStyle/>
                    <a:p>
                      <a:r>
                        <a:rPr lang="en-SG" sz="800" dirty="0">
                          <a:latin typeface="+mj-lt"/>
                        </a:rPr>
                        <a:t>For each user, use earliest interactions for </a:t>
                      </a:r>
                      <a:r>
                        <a:rPr lang="en-SG" sz="800" b="1" i="1" dirty="0">
                          <a:latin typeface="+mj-lt"/>
                        </a:rPr>
                        <a:t>`train`</a:t>
                      </a:r>
                      <a:r>
                        <a:rPr lang="en-SG" sz="800" dirty="0">
                          <a:latin typeface="+mj-lt"/>
                        </a:rPr>
                        <a:t>, second-latest for </a:t>
                      </a:r>
                      <a:r>
                        <a:rPr lang="en-SG" sz="800" b="1" i="1" dirty="0">
                          <a:latin typeface="+mj-lt"/>
                        </a:rPr>
                        <a:t>`validation`</a:t>
                      </a:r>
                      <a:r>
                        <a:rPr lang="en-SG" sz="800" dirty="0">
                          <a:latin typeface="+mj-lt"/>
                        </a:rPr>
                        <a:t>, latest for </a:t>
                      </a:r>
                      <a:r>
                        <a:rPr lang="en-SG" sz="800" b="1" i="1" dirty="0">
                          <a:latin typeface="+mj-lt"/>
                        </a:rPr>
                        <a:t>`test`</a:t>
                      </a:r>
                      <a:r>
                        <a:rPr lang="en-SG" sz="800" dirty="0">
                          <a:latin typeface="+mj-lt"/>
                        </a:rPr>
                        <a:t>.</a:t>
                      </a:r>
                    </a:p>
                    <a:p>
                      <a:endParaRPr lang="en-SG" sz="800" dirty="0">
                        <a:latin typeface="+mj-lt"/>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kern="1200" dirty="0">
                          <a:solidFill>
                            <a:schemeClr val="dk1"/>
                          </a:solidFill>
                          <a:latin typeface="+mn-lt"/>
                          <a:ea typeface="+mn-ea"/>
                          <a:cs typeface="+mn-cs"/>
                        </a:rPr>
                        <a:t>Why: </a:t>
                      </a:r>
                      <a:r>
                        <a:rPr lang="en-SG" sz="800" kern="1200" dirty="0">
                          <a:solidFill>
                            <a:schemeClr val="dk1"/>
                          </a:solidFill>
                          <a:latin typeface="+mn-lt"/>
                          <a:ea typeface="+mn-ea"/>
                          <a:cs typeface="+mn-cs"/>
                        </a:rPr>
                        <a:t>Prevent temporal leakage</a:t>
                      </a:r>
                      <a:r>
                        <a:rPr lang="en-SG" sz="800" kern="1200" dirty="0">
                          <a:solidFill>
                            <a:schemeClr val="dk1"/>
                          </a:solidFill>
                          <a:latin typeface="+mj-lt"/>
                          <a:ea typeface="+mn-ea"/>
                          <a:cs typeface="+mn-cs"/>
                        </a:rPr>
                        <a:t>.</a:t>
                      </a:r>
                      <a:endParaRPr lang="en-SG" sz="800" kern="1200" dirty="0">
                        <a:solidFill>
                          <a:schemeClr val="dk1"/>
                        </a:solidFill>
                        <a:latin typeface="+mn-lt"/>
                        <a:ea typeface="+mn-ea"/>
                        <a:cs typeface="+mn-cs"/>
                      </a:endParaRPr>
                    </a:p>
                  </a:txBody>
                  <a:tcPr/>
                </a:tc>
                <a:extLst>
                  <a:ext uri="{0D108BD9-81ED-4DB2-BD59-A6C34878D82A}">
                    <a16:rowId xmlns:a16="http://schemas.microsoft.com/office/drawing/2014/main" val="3699583526"/>
                  </a:ext>
                </a:extLst>
              </a:tr>
              <a:tr h="1512253">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Train/Val/Test proportions</a:t>
                      </a:r>
                    </a:p>
                  </a:txBody>
                  <a:tcPr/>
                </a:tc>
                <a:tc>
                  <a:txBody>
                    <a:bodyPr/>
                    <a:lstStyle/>
                    <a:p>
                      <a:r>
                        <a:rPr lang="en-SG" sz="800" dirty="0">
                          <a:latin typeface="+mj-lt"/>
                        </a:rPr>
                        <a:t>User-level chronological holdout:</a:t>
                      </a:r>
                    </a:p>
                    <a:p>
                      <a:pPr marL="171450" indent="-171450">
                        <a:buFont typeface="Wingdings" panose="05000000000000000000" pitchFamily="2" charset="2"/>
                        <a:buChar char="Ø"/>
                      </a:pPr>
                      <a:r>
                        <a:rPr lang="en-SG" sz="800" b="1" i="1" dirty="0">
                          <a:latin typeface="+mj-lt"/>
                        </a:rPr>
                        <a:t>`train:` </a:t>
                      </a:r>
                      <a:r>
                        <a:rPr lang="en-SG" sz="800" dirty="0">
                          <a:latin typeface="+mj-lt"/>
                        </a:rPr>
                        <a:t>all interactions except the latest two</a:t>
                      </a:r>
                    </a:p>
                    <a:p>
                      <a:pPr marL="171450" indent="-171450">
                        <a:buFont typeface="Wingdings" panose="05000000000000000000" pitchFamily="2" charset="2"/>
                        <a:buChar char="Ø"/>
                      </a:pPr>
                      <a:r>
                        <a:rPr lang="en-SG" sz="800" b="1" i="1" dirty="0">
                          <a:latin typeface="+mj-lt"/>
                        </a:rPr>
                        <a:t>`validation:`</a:t>
                      </a:r>
                      <a:r>
                        <a:rPr lang="en-SG" sz="800" dirty="0">
                          <a:latin typeface="+mj-lt"/>
                        </a:rPr>
                        <a:t> the second-latest interaction</a:t>
                      </a:r>
                    </a:p>
                    <a:p>
                      <a:pPr marL="171450" indent="-171450">
                        <a:buFont typeface="Wingdings" panose="05000000000000000000" pitchFamily="2" charset="2"/>
                        <a:buChar char="Ø"/>
                      </a:pPr>
                      <a:r>
                        <a:rPr lang="en-SG" sz="800" b="1" i="1" dirty="0">
                          <a:latin typeface="+mj-lt"/>
                        </a:rPr>
                        <a:t>`test:`</a:t>
                      </a:r>
                      <a:r>
                        <a:rPr lang="en-SG" sz="800" dirty="0">
                          <a:latin typeface="+mj-lt"/>
                        </a:rPr>
                        <a:t> the latest interaction</a:t>
                      </a:r>
                    </a:p>
                    <a:p>
                      <a:pPr marL="171450" indent="-171450">
                        <a:buFont typeface="Wingdings" panose="05000000000000000000" pitchFamily="2" charset="2"/>
                        <a:buChar char="Ø"/>
                      </a:pPr>
                      <a:r>
                        <a:rPr lang="en-SG" sz="800" dirty="0">
                          <a:latin typeface="+mj-lt"/>
                        </a:rPr>
                        <a:t>users with fewer than 3 interactions are excluded from ranking evaluation</a:t>
                      </a:r>
                    </a:p>
                    <a:p>
                      <a:pPr marL="0" indent="0">
                        <a:buFont typeface="Wingdings" panose="05000000000000000000" pitchFamily="2" charset="2"/>
                        <a:buNone/>
                      </a:pPr>
                      <a:endParaRPr lang="en-SG" sz="800" dirty="0">
                        <a:latin typeface="+mj-lt"/>
                      </a:endParaRPr>
                    </a:p>
                    <a:p>
                      <a:pPr marL="0" indent="0">
                        <a:buFont typeface="Wingdings" panose="05000000000000000000" pitchFamily="2" charset="2"/>
                        <a:buNone/>
                      </a:pPr>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Next-item prediction protocol.</a:t>
                      </a:r>
                      <a:endParaRPr lang="en-SG" sz="800" dirty="0">
                        <a:latin typeface="+mj-lt"/>
                      </a:endParaRPr>
                    </a:p>
                  </a:txBody>
                  <a:tcPr/>
                </a:tc>
                <a:extLst>
                  <a:ext uri="{0D108BD9-81ED-4DB2-BD59-A6C34878D82A}">
                    <a16:rowId xmlns:a16="http://schemas.microsoft.com/office/drawing/2014/main" val="2904777083"/>
                  </a:ext>
                </a:extLst>
              </a:tr>
              <a:tr h="890203">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Implicit feedback setting</a:t>
                      </a:r>
                    </a:p>
                  </a:txBody>
                  <a:tcPr/>
                </a:tc>
                <a:tc>
                  <a:txBody>
                    <a:bodyPr/>
                    <a:lstStyle/>
                    <a:p>
                      <a:r>
                        <a:rPr lang="en-SG" sz="800" dirty="0">
                          <a:latin typeface="+mj-lt"/>
                        </a:rPr>
                        <a:t>We model observed transactions as positive interaction signals </a:t>
                      </a:r>
                      <a:r>
                        <a:rPr kumimoji="0" lang="en-SG" sz="800" b="0" i="0" u="none" strike="noStrike" kern="1200" cap="none" spc="0" normalizeH="0" baseline="0" noProof="0" dirty="0">
                          <a:ln>
                            <a:noFill/>
                          </a:ln>
                          <a:solidFill>
                            <a:prstClr val="black"/>
                          </a:solidFill>
                          <a:effectLst/>
                          <a:uLnTx/>
                          <a:uFillTx/>
                          <a:latin typeface="+mn-lt"/>
                          <a:ea typeface="+mn-ea"/>
                          <a:cs typeface="+mn-cs"/>
                        </a:rPr>
                        <a:t>(purchase events)</a:t>
                      </a:r>
                      <a:r>
                        <a:rPr lang="en-SG" sz="800" dirty="0">
                          <a:latin typeface="+mj-lt"/>
                        </a:rPr>
                        <a:t>, with no explicit rating scale (e.g., 1-5).</a:t>
                      </a:r>
                    </a:p>
                    <a:p>
                      <a:endParaRPr lang="en-SG" sz="800" dirty="0">
                        <a:latin typeface="+mj-lt"/>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No explicit ratings available.</a:t>
                      </a:r>
                      <a:endParaRPr lang="en-SG" sz="800" kern="1200" dirty="0">
                        <a:solidFill>
                          <a:schemeClr val="dk1"/>
                        </a:solidFill>
                        <a:latin typeface="+mn-lt"/>
                        <a:ea typeface="+mn-ea"/>
                        <a:cs typeface="+mn-cs"/>
                      </a:endParaRPr>
                    </a:p>
                  </a:txBody>
                  <a:tcPr/>
                </a:tc>
                <a:extLst>
                  <a:ext uri="{0D108BD9-81ED-4DB2-BD59-A6C34878D82A}">
                    <a16:rowId xmlns:a16="http://schemas.microsoft.com/office/drawing/2014/main" val="3642296864"/>
                  </a:ext>
                </a:extLst>
              </a:tr>
              <a:tr h="731238">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Interaction matrix construction</a:t>
                      </a:r>
                    </a:p>
                  </a:txBody>
                  <a:tcPr/>
                </a:tc>
                <a:tc>
                  <a:txBody>
                    <a:bodyPr/>
                    <a:lstStyle/>
                    <a:p>
                      <a:r>
                        <a:rPr lang="en-SG" sz="800" dirty="0">
                          <a:latin typeface="+mj-lt"/>
                        </a:rPr>
                        <a:t>Build a sparse user-item binary matrix from </a:t>
                      </a:r>
                      <a:r>
                        <a:rPr lang="en-SG" sz="800" b="1" i="1" dirty="0">
                          <a:latin typeface="+mj-lt"/>
                        </a:rPr>
                        <a:t>`train`</a:t>
                      </a:r>
                      <a:r>
                        <a:rPr lang="en-SG" sz="800" dirty="0">
                          <a:latin typeface="+mj-lt"/>
                        </a:rPr>
                        <a:t> interactions only; this becomes the core input for MF/two-tower retrieval.</a:t>
                      </a:r>
                    </a:p>
                    <a:p>
                      <a:endParaRPr lang="en-SG" sz="800" dirty="0">
                        <a:latin typeface="+mj-lt"/>
                      </a:endParaRPr>
                    </a:p>
                  </a:txBody>
                  <a:tcPr/>
                </a:tc>
                <a:extLst>
                  <a:ext uri="{0D108BD9-81ED-4DB2-BD59-A6C34878D82A}">
                    <a16:rowId xmlns:a16="http://schemas.microsoft.com/office/drawing/2014/main" val="958386671"/>
                  </a:ext>
                </a:extLst>
              </a:tr>
              <a:tr h="572272">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Evaluation protocol</a:t>
                      </a:r>
                    </a:p>
                  </a:txBody>
                  <a:tcPr/>
                </a:tc>
                <a:tc>
                  <a:txBody>
                    <a:bodyPr/>
                    <a:lstStyle/>
                    <a:p>
                      <a:r>
                        <a:rPr lang="en-SG" sz="800" dirty="0">
                          <a:latin typeface="+mj-lt"/>
                        </a:rPr>
                        <a:t>Compare </a:t>
                      </a:r>
                      <a:r>
                        <a:rPr lang="en-SG" sz="800" b="1" i="1" dirty="0">
                          <a:latin typeface="+mj-lt"/>
                        </a:rPr>
                        <a:t>`popularity`, `MF`, `Two-Tower`</a:t>
                      </a:r>
                      <a:r>
                        <a:rPr lang="en-SG" sz="800" dirty="0">
                          <a:latin typeface="+mj-lt"/>
                        </a:rPr>
                        <a:t>; select by validation </a:t>
                      </a:r>
                      <a:r>
                        <a:rPr lang="en-SG" sz="800" b="1" i="1" dirty="0">
                          <a:latin typeface="+mj-lt"/>
                        </a:rPr>
                        <a:t>`Recall@20`</a:t>
                      </a:r>
                      <a:r>
                        <a:rPr lang="en-SG" sz="800" dirty="0">
                          <a:latin typeface="+mj-lt"/>
                        </a:rPr>
                        <a:t>, report final test metrics at </a:t>
                      </a:r>
                      <a:r>
                        <a:rPr lang="en-SG" sz="800" b="1" i="1" dirty="0">
                          <a:latin typeface="+mj-lt"/>
                        </a:rPr>
                        <a:t>`K={10,20}` candidates</a:t>
                      </a:r>
                    </a:p>
                  </a:txBody>
                  <a:tcPr/>
                </a:tc>
                <a:extLst>
                  <a:ext uri="{0D108BD9-81ED-4DB2-BD59-A6C34878D82A}">
                    <a16:rowId xmlns:a16="http://schemas.microsoft.com/office/drawing/2014/main" val="3672692947"/>
                  </a:ext>
                </a:extLst>
              </a:tr>
            </a:tbl>
          </a:graphicData>
        </a:graphic>
      </p:graphicFrame>
      <p:graphicFrame>
        <p:nvGraphicFramePr>
          <p:cNvPr id="18" name="Table 17">
            <a:extLst>
              <a:ext uri="{FF2B5EF4-FFF2-40B4-BE49-F238E27FC236}">
                <a16:creationId xmlns:a16="http://schemas.microsoft.com/office/drawing/2014/main" id="{25310CFA-6757-94ED-72B4-5D5429256EB0}"/>
              </a:ext>
            </a:extLst>
          </p:cNvPr>
          <p:cNvGraphicFramePr>
            <a:graphicFrameLocks noGrp="1"/>
          </p:cNvGraphicFramePr>
          <p:nvPr>
            <p:extLst>
              <p:ext uri="{D42A27DB-BD31-4B8C-83A1-F6EECF244321}">
                <p14:modId xmlns:p14="http://schemas.microsoft.com/office/powerpoint/2010/main" val="1386332091"/>
              </p:ext>
            </p:extLst>
          </p:nvPr>
        </p:nvGraphicFramePr>
        <p:xfrm>
          <a:off x="4955292" y="3167416"/>
          <a:ext cx="7135150" cy="3662632"/>
        </p:xfrm>
        <a:graphic>
          <a:graphicData uri="http://schemas.openxmlformats.org/drawingml/2006/table">
            <a:tbl>
              <a:tblPr firstRow="1" bandRow="1">
                <a:tableStyleId>{5C22544A-7EE6-4342-B048-85BDC9FD1C3A}</a:tableStyleId>
              </a:tblPr>
              <a:tblGrid>
                <a:gridCol w="931158">
                  <a:extLst>
                    <a:ext uri="{9D8B030D-6E8A-4147-A177-3AD203B41FA5}">
                      <a16:colId xmlns:a16="http://schemas.microsoft.com/office/drawing/2014/main" val="2179503555"/>
                    </a:ext>
                  </a:extLst>
                </a:gridCol>
                <a:gridCol w="6203992">
                  <a:extLst>
                    <a:ext uri="{9D8B030D-6E8A-4147-A177-3AD203B41FA5}">
                      <a16:colId xmlns:a16="http://schemas.microsoft.com/office/drawing/2014/main" val="269056205"/>
                    </a:ext>
                  </a:extLst>
                </a:gridCol>
              </a:tblGrid>
              <a:tr h="362630">
                <a:tc>
                  <a:txBody>
                    <a:bodyPr/>
                    <a:lstStyle/>
                    <a:p>
                      <a:r>
                        <a:rPr lang="en-SG" sz="800" dirty="0">
                          <a:latin typeface="+mj-lt"/>
                        </a:rPr>
                        <a:t>Model Baseline</a:t>
                      </a:r>
                    </a:p>
                  </a:txBody>
                  <a:tcPr/>
                </a:tc>
                <a:tc>
                  <a:txBody>
                    <a:bodyPr/>
                    <a:lstStyle/>
                    <a:p>
                      <a:r>
                        <a:rPr lang="en-SG" sz="800" dirty="0">
                          <a:latin typeface="+mj-lt"/>
                        </a:rPr>
                        <a:t>Model Design &amp; Convergence Policy</a:t>
                      </a:r>
                    </a:p>
                  </a:txBody>
                  <a:tcPr/>
                </a:tc>
                <a:extLst>
                  <a:ext uri="{0D108BD9-81ED-4DB2-BD59-A6C34878D82A}">
                    <a16:rowId xmlns:a16="http://schemas.microsoft.com/office/drawing/2014/main" val="3663766056"/>
                  </a:ext>
                </a:extLst>
              </a:tr>
              <a:tr h="36263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Two-Tower</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Architecture: </a:t>
                      </a:r>
                      <a:r>
                        <a:rPr lang="en-SG" sz="800" dirty="0"/>
                        <a:t>Embedding-only dual encoder (no hidden layers).</a:t>
                      </a:r>
                      <a:endParaRPr lang="en-SG" sz="800" dirty="0">
                        <a:latin typeface="+mj-lt"/>
                      </a:endParaRPr>
                    </a:p>
                    <a:p>
                      <a:r>
                        <a:rPr lang="en-SG" sz="800" b="1" dirty="0">
                          <a:latin typeface="+mj-lt"/>
                        </a:rPr>
                        <a:t>Why: </a:t>
                      </a:r>
                      <a:r>
                        <a:rPr lang="en-SG" sz="800" dirty="0">
                          <a:latin typeface="+mj-lt"/>
                        </a:rPr>
                        <a:t>No justification to increase complexity with hidden layers.</a:t>
                      </a:r>
                    </a:p>
                  </a:txBody>
                  <a:tcPr/>
                </a:tc>
                <a:extLst>
                  <a:ext uri="{0D108BD9-81ED-4DB2-BD59-A6C34878D82A}">
                    <a16:rowId xmlns:a16="http://schemas.microsoft.com/office/drawing/2014/main" val="3699583526"/>
                  </a:ext>
                </a:extLst>
              </a:tr>
              <a:tr h="758226">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Scoring Function: </a:t>
                      </a:r>
                      <a:r>
                        <a:rPr lang="en-SG" sz="800" dirty="0"/>
                        <a:t>Dot-product retrieval with L2-normalized embeddings (cosine-style), temperature-scaled logits.</a:t>
                      </a:r>
                      <a:endParaRPr lang="en-SG" sz="800" dirty="0">
                        <a:latin typeface="+mj-lt"/>
                      </a:endParaRPr>
                    </a:p>
                    <a:p>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Stable default with cosine similarity ranking, better optimization control.</a:t>
                      </a:r>
                    </a:p>
                    <a:p>
                      <a:r>
                        <a:rPr lang="en-SG" sz="800" b="1" i="1" kern="1200" dirty="0">
                          <a:solidFill>
                            <a:schemeClr val="dk1"/>
                          </a:solidFill>
                          <a:latin typeface="+mn-lt"/>
                          <a:ea typeface="+mn-ea"/>
                          <a:cs typeface="+mn-cs"/>
                        </a:rPr>
                        <a:t>`temperature` </a:t>
                      </a:r>
                      <a:r>
                        <a:rPr lang="en-SG" sz="800" b="1" i="0" kern="1200" dirty="0">
                          <a:solidFill>
                            <a:schemeClr val="dk1"/>
                          </a:solidFill>
                          <a:latin typeface="+mn-lt"/>
                          <a:ea typeface="+mn-ea"/>
                          <a:cs typeface="+mn-cs"/>
                        </a:rPr>
                        <a:t>(during training)</a:t>
                      </a:r>
                      <a:r>
                        <a:rPr lang="en-SG" sz="800" b="0" kern="1200" dirty="0">
                          <a:solidFill>
                            <a:schemeClr val="dk1"/>
                          </a:solidFill>
                          <a:latin typeface="+mn-lt"/>
                          <a:ea typeface="+mn-ea"/>
                          <a:cs typeface="+mn-cs"/>
                        </a:rPr>
                        <a:t> rescales logits by </a:t>
                      </a:r>
                      <a:r>
                        <a:rPr lang="en-SG" sz="800" b="1" i="1" kern="1200" dirty="0">
                          <a:solidFill>
                            <a:schemeClr val="dk1"/>
                          </a:solidFill>
                          <a:latin typeface="+mn-lt"/>
                          <a:ea typeface="+mn-ea"/>
                          <a:cs typeface="+mn-cs"/>
                        </a:rPr>
                        <a:t>`1/T`</a:t>
                      </a:r>
                      <a:r>
                        <a:rPr lang="en-SG" sz="800" b="0" kern="1200" dirty="0">
                          <a:solidFill>
                            <a:schemeClr val="dk1"/>
                          </a:solidFill>
                          <a:latin typeface="+mn-lt"/>
                          <a:ea typeface="+mn-ea"/>
                          <a:cs typeface="+mn-cs"/>
                        </a:rPr>
                        <a:t> before softmax. Low (high) temperature sharpen (flatten) the softmax probability distribution to amplify (dampen) probability score differences to get stronger (weaker) separation between positives and negatives. There is no temperature control at serving or evaluation.</a:t>
                      </a:r>
                      <a:endParaRPr lang="en-SG" sz="800" b="0" dirty="0">
                        <a:latin typeface="+mj-lt"/>
                      </a:endParaRPr>
                    </a:p>
                  </a:txBody>
                  <a:tcPr/>
                </a:tc>
                <a:extLst>
                  <a:ext uri="{0D108BD9-81ED-4DB2-BD59-A6C34878D82A}">
                    <a16:rowId xmlns:a16="http://schemas.microsoft.com/office/drawing/2014/main" val="2904777083"/>
                  </a:ext>
                </a:extLst>
              </a:tr>
              <a:tr h="36263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Negative Strategy: </a:t>
                      </a:r>
                      <a:r>
                        <a:rPr lang="en-SG" sz="800" dirty="0"/>
                        <a:t>In-batch negatives + globally sampled random negative.</a:t>
                      </a:r>
                      <a:endParaRPr lang="en-SG" sz="800" dirty="0">
                        <a:latin typeface="+mj-lt"/>
                      </a:endParaRPr>
                    </a:p>
                    <a:p>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Stronger contrastive signal without heavy complexity.</a:t>
                      </a:r>
                      <a:endParaRPr lang="en-SG" sz="800" b="0" dirty="0">
                        <a:latin typeface="+mj-lt"/>
                      </a:endParaRPr>
                    </a:p>
                  </a:txBody>
                  <a:tcPr/>
                </a:tc>
                <a:extLst>
                  <a:ext uri="{0D108BD9-81ED-4DB2-BD59-A6C34878D82A}">
                    <a16:rowId xmlns:a16="http://schemas.microsoft.com/office/drawing/2014/main" val="3642296864"/>
                  </a:ext>
                </a:extLst>
              </a:tr>
              <a:tr h="494495">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Loss Function Objectives: </a:t>
                      </a:r>
                      <a:r>
                        <a:rPr lang="en-SG" sz="800" dirty="0"/>
                        <a:t>Cross-entropy over positive item vs in-batch/sampled negatives (maximize separation for retrieval ranking).</a:t>
                      </a:r>
                      <a:endParaRPr lang="en-SG" sz="800" dirty="0">
                        <a:latin typeface="+mj-lt"/>
                      </a:endParaRPr>
                    </a:p>
                    <a:p>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Standard retrieval objective, directly optimizes ranking separation.</a:t>
                      </a:r>
                      <a:endParaRPr lang="en-SG" sz="800" b="0" dirty="0">
                        <a:latin typeface="+mj-lt"/>
                      </a:endParaRPr>
                    </a:p>
                  </a:txBody>
                  <a:tcPr/>
                </a:tc>
                <a:extLst>
                  <a:ext uri="{0D108BD9-81ED-4DB2-BD59-A6C34878D82A}">
                    <a16:rowId xmlns:a16="http://schemas.microsoft.com/office/drawing/2014/main" val="958386671"/>
                  </a:ext>
                </a:extLst>
              </a:tr>
              <a:tr h="36263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Convergence Control:</a:t>
                      </a:r>
                      <a:r>
                        <a:rPr lang="en-SG" sz="800" dirty="0"/>
                        <a:t> early stopping on validation </a:t>
                      </a:r>
                      <a:r>
                        <a:rPr lang="en-SG" sz="800" b="1" dirty="0"/>
                        <a:t>1)</a:t>
                      </a:r>
                      <a:r>
                        <a:rPr lang="en-SG" sz="800" b="1" i="1" dirty="0"/>
                        <a:t>`Recall@20` if stop improving on few iterations or 2) maximum iterations.</a:t>
                      </a:r>
                      <a:endParaRPr lang="en-SG" sz="800" b="1" i="1" u="sng" dirty="0"/>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Aligns stopping rule to business-facing retrieval metric (recall).</a:t>
                      </a:r>
                      <a:endParaRPr lang="en-SG" sz="800" b="0" i="1" u="sng" dirty="0"/>
                    </a:p>
                  </a:txBody>
                  <a:tcPr/>
                </a:tc>
                <a:extLst>
                  <a:ext uri="{0D108BD9-81ED-4DB2-BD59-A6C34878D82A}">
                    <a16:rowId xmlns:a16="http://schemas.microsoft.com/office/drawing/2014/main" val="961452546"/>
                  </a:ext>
                </a:extLst>
              </a:tr>
              <a:tr h="494495">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Popularity</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0" i="0" u="none" dirty="0"/>
                        <a:t>Rank by global item interaction frequency (log1p transform).</a:t>
                      </a: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i="0" u="none" dirty="0"/>
                        <a:t>Why: </a:t>
                      </a:r>
                      <a:r>
                        <a:rPr lang="en-SG" sz="800" b="0" i="0" u="none" dirty="0"/>
                        <a:t>Fast heuristic floor; sanity check above random. </a:t>
                      </a: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i="1" u="none" dirty="0"/>
                        <a:t>`log1p(c)`</a:t>
                      </a:r>
                      <a:r>
                        <a:rPr lang="en-SG" sz="800" b="0" i="0" u="none" dirty="0"/>
                        <a:t> transforms item count </a:t>
                      </a:r>
                      <a:r>
                        <a:rPr lang="en-SG" sz="800" b="1" i="1" u="none" dirty="0"/>
                        <a:t>`c`</a:t>
                      </a:r>
                      <a:r>
                        <a:rPr lang="en-SG" sz="800" b="0" i="0" u="none" dirty="0"/>
                        <a:t> to </a:t>
                      </a:r>
                      <a:r>
                        <a:rPr lang="en-SG" sz="800" b="1" i="1" u="none" dirty="0"/>
                        <a:t>`log(1 + c)`</a:t>
                      </a:r>
                      <a:r>
                        <a:rPr lang="en-SG" sz="800" b="0" i="0" u="none" dirty="0"/>
                        <a:t>, reducing skew to limit impact of popular items dominating rankings.</a:t>
                      </a:r>
                      <a:endParaRPr lang="en-SG" sz="800" b="1" i="1" u="none" dirty="0"/>
                    </a:p>
                  </a:txBody>
                  <a:tcPr/>
                </a:tc>
                <a:extLst>
                  <a:ext uri="{0D108BD9-81ED-4DB2-BD59-A6C34878D82A}">
                    <a16:rowId xmlns:a16="http://schemas.microsoft.com/office/drawing/2014/main" val="3662575616"/>
                  </a:ext>
                </a:extLst>
              </a:tr>
              <a:tr h="370326">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MF</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0" i="0" u="none" dirty="0"/>
                        <a:t>TruncatedSVD on train-only implicit user-item matrix (TF-IDF weighting) then normalized cosine-similarity style.</a:t>
                      </a: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i="0" u="none" dirty="0"/>
                        <a:t>Why: </a:t>
                      </a:r>
                      <a:r>
                        <a:rPr lang="en-SG" sz="800" b="0" i="0" u="none" dirty="0"/>
                        <a:t>Strong classical collaborative-filtering benchmark. </a:t>
                      </a:r>
                      <a:r>
                        <a:rPr lang="en-SG" sz="800" b="1" i="0" u="none" dirty="0"/>
                        <a:t>TF-IDF </a:t>
                      </a:r>
                      <a:r>
                        <a:rPr lang="en-SG" sz="800" b="0" i="0" u="none" dirty="0"/>
                        <a:t>lets rarer items get higher weights to reduce popularity bias.</a:t>
                      </a:r>
                      <a:r>
                        <a:rPr lang="en-SG" sz="800" b="1" i="0" u="none" dirty="0"/>
                        <a:t> </a:t>
                      </a:r>
                      <a:endParaRPr lang="en-SG" sz="800" b="0" i="0" u="none" dirty="0"/>
                    </a:p>
                  </a:txBody>
                  <a:tcPr/>
                </a:tc>
                <a:extLst>
                  <a:ext uri="{0D108BD9-81ED-4DB2-BD59-A6C34878D82A}">
                    <a16:rowId xmlns:a16="http://schemas.microsoft.com/office/drawing/2014/main" val="136168750"/>
                  </a:ext>
                </a:extLst>
              </a:tr>
            </a:tbl>
          </a:graphicData>
        </a:graphic>
      </p:graphicFrame>
    </p:spTree>
    <p:extLst>
      <p:ext uri="{BB962C8B-B14F-4D97-AF65-F5344CB8AC3E}">
        <p14:creationId xmlns:p14="http://schemas.microsoft.com/office/powerpoint/2010/main" val="39772547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FBC4D-24EF-3B7F-8E95-F6C32159DC09}"/>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5365481F-DA3D-7105-DDBB-8F93499DC852}"/>
              </a:ext>
            </a:extLst>
          </p:cNvPr>
          <p:cNvSpPr>
            <a:spLocks noGrp="1"/>
          </p:cNvSpPr>
          <p:nvPr>
            <p:ph type="title"/>
          </p:nvPr>
        </p:nvSpPr>
        <p:spPr>
          <a:xfrm>
            <a:off x="1625438" y="624110"/>
            <a:ext cx="10242712" cy="1280890"/>
          </a:xfrm>
        </p:spPr>
        <p:txBody>
          <a:bodyPr>
            <a:normAutofit/>
          </a:bodyPr>
          <a:lstStyle/>
          <a:p>
            <a:r>
              <a:rPr lang="en-SG" dirty="0"/>
              <a:t>Recommender Engine</a:t>
            </a:r>
            <a:br>
              <a:rPr lang="en-SG" dirty="0"/>
            </a:br>
            <a:r>
              <a:rPr lang="en-SG" dirty="0"/>
              <a:t>(Appendix – Model Scoring Mechanics)</a:t>
            </a:r>
          </a:p>
        </p:txBody>
      </p:sp>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1D7EC224-8D80-A7FE-79C2-55BC8616EB70}"/>
                  </a:ext>
                </a:extLst>
              </p:cNvPr>
              <p:cNvSpPr txBox="1"/>
              <p:nvPr/>
            </p:nvSpPr>
            <p:spPr>
              <a:xfrm>
                <a:off x="2739380" y="1844040"/>
                <a:ext cx="1908820" cy="2858796"/>
              </a:xfrm>
              <a:prstGeom prst="rect">
                <a:avLst/>
              </a:prstGeom>
              <a:solidFill>
                <a:schemeClr val="accent6">
                  <a:lumMod val="20000"/>
                  <a:lumOff val="80000"/>
                </a:schemeClr>
              </a:solidFill>
            </p:spPr>
            <p:txBody>
              <a:bodyPr wrap="square">
                <a:spAutoFit/>
              </a:bodyPr>
              <a:lstStyle/>
              <a:p>
                <a:r>
                  <a:rPr lang="en-SG" sz="1000" b="1" u="sng" dirty="0"/>
                  <a:t>Popularity</a:t>
                </a:r>
                <a:endParaRPr lang="en-SG" sz="1000" b="1" i="1" u="sng" dirty="0">
                  <a:latin typeface="Cambria Math" panose="02040503050406030204" pitchFamily="18" charset="0"/>
                </a:endParaRPr>
              </a:p>
              <a:p>
                <a:r>
                  <a:rPr lang="en-SG" sz="1000" b="1" dirty="0"/>
                  <a:t>Core Idea</a:t>
                </a:r>
              </a:p>
              <a:p>
                <a:r>
                  <a:rPr lang="en-SG" sz="1000" dirty="0"/>
                  <a:t>Global ranking based on item frequency.</a:t>
                </a:r>
                <a:endParaRPr lang="en-SG" sz="1000" b="1" i="1" u="sng" dirty="0">
                  <a:latin typeface="Cambria Math" panose="02040503050406030204" pitchFamily="18" charset="0"/>
                </a:endParaRPr>
              </a:p>
              <a:p>
                <a:endParaRPr lang="en-SG" sz="1000" b="1" i="1" u="sng" dirty="0">
                  <a:latin typeface="Cambria Math" panose="02040503050406030204" pitchFamily="18" charset="0"/>
                </a:endParaRPr>
              </a:p>
              <a:p>
                <a:r>
                  <a:rPr lang="en-SG" sz="1000" b="1" dirty="0"/>
                  <a:t>Scoring Formula</a:t>
                </a:r>
                <a:endParaRPr lang="en-SG" sz="1000" b="1" i="1" u="sng"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SG" sz="1000" i="1">
                          <a:latin typeface="Cambria Math" panose="02040503050406030204" pitchFamily="18" charset="0"/>
                        </a:rPr>
                        <m:t>𝑠𝑐𝑜𝑟𝑒</m:t>
                      </m:r>
                      <m:r>
                        <a:rPr lang="en-SG" sz="1000" i="1">
                          <a:latin typeface="Cambria Math" panose="02040503050406030204" pitchFamily="18" charset="0"/>
                        </a:rPr>
                        <m:t>(</m:t>
                      </m:r>
                      <m:r>
                        <a:rPr lang="en-SG" sz="1000" i="1">
                          <a:latin typeface="Cambria Math" panose="02040503050406030204" pitchFamily="18" charset="0"/>
                        </a:rPr>
                        <m:t>𝑖</m:t>
                      </m:r>
                      <m:r>
                        <a:rPr lang="en-SG" sz="1000" i="1">
                          <a:latin typeface="Cambria Math" panose="02040503050406030204" pitchFamily="18" charset="0"/>
                        </a:rPr>
                        <m:t>)=</m:t>
                      </m:r>
                      <m:r>
                        <a:rPr lang="en-SG" sz="1000" i="1">
                          <a:latin typeface="Cambria Math" panose="02040503050406030204" pitchFamily="18" charset="0"/>
                        </a:rPr>
                        <m:t>𝑙𝑜𝑔</m:t>
                      </m:r>
                      <m:r>
                        <a:rPr lang="en-SG" sz="1000" i="1">
                          <a:latin typeface="Cambria Math" panose="02040503050406030204" pitchFamily="18" charset="0"/>
                        </a:rPr>
                        <m:t>(1+</m:t>
                      </m:r>
                      <m:sSub>
                        <m:sSubPr>
                          <m:ctrlPr>
                            <a:rPr lang="en-SG" sz="1000" i="1">
                              <a:latin typeface="Cambria Math" panose="02040503050406030204" pitchFamily="18" charset="0"/>
                            </a:rPr>
                          </m:ctrlPr>
                        </m:sSubPr>
                        <m:e>
                          <m:r>
                            <a:rPr lang="en-SG" sz="1000" i="1">
                              <a:latin typeface="Cambria Math" panose="02040503050406030204" pitchFamily="18" charset="0"/>
                            </a:rPr>
                            <m:t>𝑖𝑛𝑡𝑒𝑟𝑎𝑐𝑡𝑖𝑜𝑛</m:t>
                          </m:r>
                          <m:r>
                            <a:rPr lang="en-SG" sz="1000" i="1">
                              <a:latin typeface="Cambria Math" panose="02040503050406030204" pitchFamily="18" charset="0"/>
                            </a:rPr>
                            <m:t>_</m:t>
                          </m:r>
                          <m:r>
                            <a:rPr lang="en-SG" sz="1000" i="1">
                              <a:latin typeface="Cambria Math" panose="02040503050406030204" pitchFamily="18" charset="0"/>
                            </a:rPr>
                            <m:t>𝑐𝑜𝑢𝑛𝑡</m:t>
                          </m:r>
                        </m:e>
                        <m:sub>
                          <m:r>
                            <a:rPr lang="en-SG" sz="1000" i="1">
                              <a:latin typeface="Cambria Math" panose="02040503050406030204" pitchFamily="18" charset="0"/>
                            </a:rPr>
                            <m:t>𝑖</m:t>
                          </m:r>
                        </m:sub>
                      </m:sSub>
                      <m:r>
                        <a:rPr lang="en-SG" sz="1000" i="1">
                          <a:latin typeface="Cambria Math" panose="02040503050406030204" pitchFamily="18" charset="0"/>
                        </a:rPr>
                        <m:t>​)</m:t>
                      </m:r>
                    </m:oMath>
                  </m:oMathPara>
                </a14:m>
                <a:endParaRPr lang="en-SG" sz="1000" b="1" dirty="0"/>
              </a:p>
              <a:p>
                <a:endParaRPr lang="en-SG" sz="1000" dirty="0"/>
              </a:p>
              <a:p>
                <a:r>
                  <a:rPr lang="en-SG" sz="1000" b="1" dirty="0"/>
                  <a:t>What This Means</a:t>
                </a:r>
              </a:p>
              <a:p>
                <a:r>
                  <a:rPr lang="en-SG" sz="1000" dirty="0"/>
                  <a:t>Item popularity global ranking based on number of users interacting with item</a:t>
                </a:r>
              </a:p>
              <a:p>
                <a:endParaRPr lang="en-SG" sz="1000" b="1" dirty="0"/>
              </a:p>
              <a:p>
                <a:r>
                  <a:rPr lang="en-SG" sz="1000" b="1" dirty="0"/>
                  <a:t>Key Limitation</a:t>
                </a:r>
              </a:p>
              <a:p>
                <a:r>
                  <a:rPr lang="en-SG" sz="1000" dirty="0"/>
                  <a:t>No personalization (global ranking only).</a:t>
                </a:r>
              </a:p>
            </p:txBody>
          </p:sp>
        </mc:Choice>
        <mc:Fallback>
          <p:sp>
            <p:nvSpPr>
              <p:cNvPr id="11" name="TextBox 10">
                <a:extLst>
                  <a:ext uri="{FF2B5EF4-FFF2-40B4-BE49-F238E27FC236}">
                    <a16:creationId xmlns:a16="http://schemas.microsoft.com/office/drawing/2014/main" id="{1D7EC224-8D80-A7FE-79C2-55BC8616EB70}"/>
                  </a:ext>
                </a:extLst>
              </p:cNvPr>
              <p:cNvSpPr txBox="1">
                <a:spLocks noRot="1" noChangeAspect="1" noMove="1" noResize="1" noEditPoints="1" noAdjustHandles="1" noChangeArrowheads="1" noChangeShapeType="1" noTextEdit="1"/>
              </p:cNvSpPr>
              <p:nvPr/>
            </p:nvSpPr>
            <p:spPr>
              <a:xfrm>
                <a:off x="2739380" y="1844040"/>
                <a:ext cx="1908820" cy="2858796"/>
              </a:xfrm>
              <a:prstGeom prst="rect">
                <a:avLst/>
              </a:prstGeom>
              <a:blipFill>
                <a:blip r:embed="rId2"/>
                <a:stretch>
                  <a:fillRect b="-427"/>
                </a:stretch>
              </a:blipFill>
            </p:spPr>
            <p:txBody>
              <a:bodyPr/>
              <a:lstStyle/>
              <a:p>
                <a:r>
                  <a:rPr lang="en-SG">
                    <a:noFill/>
                  </a:rPr>
                  <a:t> </a:t>
                </a:r>
              </a:p>
            </p:txBody>
          </p:sp>
        </mc:Fallback>
      </mc:AlternateContent>
      <p:graphicFrame>
        <p:nvGraphicFramePr>
          <p:cNvPr id="13" name="Table 12">
            <a:extLst>
              <a:ext uri="{FF2B5EF4-FFF2-40B4-BE49-F238E27FC236}">
                <a16:creationId xmlns:a16="http://schemas.microsoft.com/office/drawing/2014/main" id="{DB3F428C-4313-B78F-4545-E859918663BB}"/>
              </a:ext>
            </a:extLst>
          </p:cNvPr>
          <p:cNvGraphicFramePr>
            <a:graphicFrameLocks noGrp="1"/>
          </p:cNvGraphicFramePr>
          <p:nvPr>
            <p:extLst>
              <p:ext uri="{D42A27DB-BD31-4B8C-83A1-F6EECF244321}">
                <p14:modId xmlns:p14="http://schemas.microsoft.com/office/powerpoint/2010/main" val="3003203820"/>
              </p:ext>
            </p:extLst>
          </p:nvPr>
        </p:nvGraphicFramePr>
        <p:xfrm>
          <a:off x="176358" y="4829175"/>
          <a:ext cx="4471842" cy="1798320"/>
        </p:xfrm>
        <a:graphic>
          <a:graphicData uri="http://schemas.openxmlformats.org/drawingml/2006/table">
            <a:tbl>
              <a:tblPr firstRow="1" bandRow="1">
                <a:tableStyleId>{5C22544A-7EE6-4342-B048-85BDC9FD1C3A}</a:tableStyleId>
              </a:tblPr>
              <a:tblGrid>
                <a:gridCol w="1490614">
                  <a:extLst>
                    <a:ext uri="{9D8B030D-6E8A-4147-A177-3AD203B41FA5}">
                      <a16:colId xmlns:a16="http://schemas.microsoft.com/office/drawing/2014/main" val="4060743706"/>
                    </a:ext>
                  </a:extLst>
                </a:gridCol>
                <a:gridCol w="1490614">
                  <a:extLst>
                    <a:ext uri="{9D8B030D-6E8A-4147-A177-3AD203B41FA5}">
                      <a16:colId xmlns:a16="http://schemas.microsoft.com/office/drawing/2014/main" val="515727559"/>
                    </a:ext>
                  </a:extLst>
                </a:gridCol>
                <a:gridCol w="1490614">
                  <a:extLst>
                    <a:ext uri="{9D8B030D-6E8A-4147-A177-3AD203B41FA5}">
                      <a16:colId xmlns:a16="http://schemas.microsoft.com/office/drawing/2014/main" val="3264573054"/>
                    </a:ext>
                  </a:extLst>
                </a:gridCol>
              </a:tblGrid>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schemeClr val="bg1"/>
                          </a:solidFill>
                          <a:effectLst/>
                          <a:uLnTx/>
                          <a:uFillTx/>
                          <a:latin typeface="+mj-lt"/>
                          <a:ea typeface="+mn-ea"/>
                          <a:cs typeface="+mn-cs"/>
                        </a:rPr>
                        <a:t>Models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schemeClr val="bg1"/>
                          </a:solidFill>
                          <a:effectLst/>
                          <a:uLnTx/>
                          <a:uFillTx/>
                          <a:latin typeface="+mj-lt"/>
                          <a:ea typeface="+mn-ea"/>
                          <a:cs typeface="+mn-cs"/>
                        </a:rPr>
                        <a:t>Representation</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schemeClr val="bg1"/>
                          </a:solidFill>
                          <a:effectLst/>
                          <a:uLnTx/>
                          <a:uFillTx/>
                          <a:latin typeface="+mj-lt"/>
                          <a:ea typeface="+mn-ea"/>
                          <a:cs typeface="+mn-cs"/>
                        </a:rPr>
                        <a:t>Personalization; User-Level Parameter Learning</a:t>
                      </a:r>
                    </a:p>
                  </a:txBody>
                  <a:tcPr/>
                </a:tc>
                <a:extLst>
                  <a:ext uri="{0D108BD9-81ED-4DB2-BD59-A6C34878D82A}">
                    <a16:rowId xmlns:a16="http://schemas.microsoft.com/office/drawing/2014/main" val="2152344009"/>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0 — Random Baseline</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Zero-information No-preference</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srgbClr val="FF0000"/>
                          </a:solidFill>
                          <a:effectLst/>
                          <a:uLnTx/>
                          <a:uFillTx/>
                          <a:latin typeface="+mn-lt"/>
                          <a:ea typeface="+mn-ea"/>
                          <a:cs typeface="+mn-cs"/>
                        </a:rPr>
                        <a:t>X</a:t>
                      </a: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extLst>
                  <a:ext uri="{0D108BD9-81ED-4DB2-BD59-A6C34878D82A}">
                    <a16:rowId xmlns:a16="http://schemas.microsoft.com/office/drawing/2014/main" val="3871482802"/>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1 — Popularity Baseline</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Global interaction count ranking</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srgbClr val="FF0000"/>
                          </a:solidFill>
                          <a:effectLst/>
                          <a:uLnTx/>
                          <a:uFillTx/>
                          <a:latin typeface="+mn-lt"/>
                          <a:ea typeface="+mn-ea"/>
                          <a:cs typeface="+mn-cs"/>
                        </a:rPr>
                        <a:t>X</a:t>
                      </a: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extLst>
                  <a:ext uri="{0D108BD9-81ED-4DB2-BD59-A6C34878D82A}">
                    <a16:rowId xmlns:a16="http://schemas.microsoft.com/office/drawing/2014/main" val="133472287"/>
                  </a:ext>
                </a:extLst>
              </a:tr>
              <a:tr h="157807">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2 — Matrix Factorization (TruncatedSVD)</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Low-rank embeddings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Matrix factorization</a:t>
                      </a:r>
                    </a:p>
                  </a:txBody>
                  <a:tcPr/>
                </a:tc>
                <a:extLst>
                  <a:ext uri="{0D108BD9-81ED-4DB2-BD59-A6C34878D82A}">
                    <a16:rowId xmlns:a16="http://schemas.microsoft.com/office/drawing/2014/main" val="3699107035"/>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3 — Two-Tower</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Neural embeddings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Supervised contrastive neural training</a:t>
                      </a:r>
                    </a:p>
                  </a:txBody>
                  <a:tcPr/>
                </a:tc>
                <a:extLst>
                  <a:ext uri="{0D108BD9-81ED-4DB2-BD59-A6C34878D82A}">
                    <a16:rowId xmlns:a16="http://schemas.microsoft.com/office/drawing/2014/main" val="786766233"/>
                  </a:ext>
                </a:extLst>
              </a:tr>
            </a:tbl>
          </a:graphicData>
        </a:graphic>
      </p:graphicFrame>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87EB407-9A19-5C20-3542-FAC00F9F2D80}"/>
                  </a:ext>
                </a:extLst>
              </p:cNvPr>
              <p:cNvSpPr txBox="1"/>
              <p:nvPr/>
            </p:nvSpPr>
            <p:spPr>
              <a:xfrm>
                <a:off x="4757647" y="1844040"/>
                <a:ext cx="3406040" cy="4862870"/>
              </a:xfrm>
              <a:prstGeom prst="rect">
                <a:avLst/>
              </a:prstGeom>
              <a:solidFill>
                <a:schemeClr val="accent6">
                  <a:lumMod val="20000"/>
                  <a:lumOff val="80000"/>
                </a:schemeClr>
              </a:solidFill>
            </p:spPr>
            <p:txBody>
              <a:bodyPr wrap="square">
                <a:spAutoFit/>
              </a:bodyPr>
              <a:lstStyle/>
              <a:p>
                <a:r>
                  <a:rPr lang="en-SG" sz="1000" b="1" u="sng" dirty="0"/>
                  <a:t>Matrix Factorization (MF); Latent Collaborative Filtering (CF)</a:t>
                </a:r>
              </a:p>
              <a:p>
                <a:endParaRPr lang="en-SG" sz="1000" b="1" i="1" u="sng" dirty="0">
                  <a:latin typeface="Cambria Math" panose="02040503050406030204" pitchFamily="18" charset="0"/>
                </a:endParaRPr>
              </a:p>
              <a:p>
                <a:r>
                  <a:rPr lang="en-SG" sz="1000" b="1" dirty="0"/>
                  <a:t>Core Idea</a:t>
                </a:r>
              </a:p>
              <a:p>
                <a:r>
                  <a:rPr lang="en-SG" sz="1000" dirty="0"/>
                  <a:t>Factorize sparse interaction matrix:</a:t>
                </a:r>
              </a:p>
              <a:p>
                <a:pPr/>
                <a14:m>
                  <m:oMathPara xmlns:m="http://schemas.openxmlformats.org/officeDocument/2006/math">
                    <m:oMathParaPr>
                      <m:jc m:val="centerGroup"/>
                    </m:oMathParaPr>
                    <m:oMath xmlns:m="http://schemas.openxmlformats.org/officeDocument/2006/math">
                      <m:r>
                        <a:rPr lang="en-SG" sz="1000" b="0" i="1" smtClean="0">
                          <a:latin typeface="Cambria Math" panose="02040503050406030204" pitchFamily="18" charset="0"/>
                        </a:rPr>
                        <m:t>𝑅</m:t>
                      </m:r>
                      <m:r>
                        <a:rPr lang="en-SG" sz="1000" i="1" smtClean="0">
                          <a:latin typeface="Cambria Math" panose="02040503050406030204" pitchFamily="18" charset="0"/>
                          <a:ea typeface="Cambria Math" panose="02040503050406030204" pitchFamily="18" charset="0"/>
                        </a:rPr>
                        <m:t>≈</m:t>
                      </m:r>
                      <m:r>
                        <a:rPr lang="en-SG" sz="1000" b="0" i="1" smtClean="0">
                          <a:latin typeface="Cambria Math" panose="02040503050406030204" pitchFamily="18" charset="0"/>
                        </a:rPr>
                        <m:t>𝑈</m:t>
                      </m:r>
                      <m:sSup>
                        <m:sSupPr>
                          <m:ctrlPr>
                            <a:rPr lang="en-SG" sz="1000" b="0" i="1" smtClean="0">
                              <a:latin typeface="Cambria Math" panose="02040503050406030204" pitchFamily="18" charset="0"/>
                            </a:rPr>
                          </m:ctrlPr>
                        </m:sSupPr>
                        <m:e>
                          <m:r>
                            <a:rPr lang="en-SG" sz="1000" b="0" i="1" smtClean="0">
                              <a:latin typeface="Cambria Math" panose="02040503050406030204" pitchFamily="18" charset="0"/>
                            </a:rPr>
                            <m:t>𝑉</m:t>
                          </m:r>
                        </m:e>
                        <m:sup>
                          <m:r>
                            <a:rPr lang="en-SG" sz="1000" b="0" i="1" smtClean="0">
                              <a:latin typeface="Cambria Math" panose="02040503050406030204" pitchFamily="18" charset="0"/>
                            </a:rPr>
                            <m:t>𝑇</m:t>
                          </m:r>
                        </m:sup>
                      </m:sSup>
                    </m:oMath>
                  </m:oMathPara>
                </a14:m>
                <a:endParaRPr lang="en-SG" sz="1000" b="1" dirty="0"/>
              </a:p>
              <a:p>
                <a14:m>
                  <m:oMath xmlns:m="http://schemas.openxmlformats.org/officeDocument/2006/math">
                    <m:sSub>
                      <m:sSubPr>
                        <m:ctrlPr>
                          <a:rPr lang="en-SG" sz="1000" b="1" i="1" smtClean="0">
                            <a:latin typeface="Cambria Math" panose="02040503050406030204" pitchFamily="18" charset="0"/>
                          </a:rPr>
                        </m:ctrlPr>
                      </m:sSubPr>
                      <m:e>
                        <m:r>
                          <a:rPr lang="en-SG" sz="1000" b="1" i="1" smtClean="0">
                            <a:latin typeface="Cambria Math" panose="02040503050406030204" pitchFamily="18" charset="0"/>
                          </a:rPr>
                          <m:t>𝑼</m:t>
                        </m:r>
                      </m:e>
                      <m:sub>
                        <m:r>
                          <a:rPr lang="en-SG" sz="1000" b="1" i="1" smtClean="0">
                            <a:latin typeface="Cambria Math" panose="02040503050406030204" pitchFamily="18" charset="0"/>
                          </a:rPr>
                          <m:t>𝑼</m:t>
                        </m:r>
                      </m:sub>
                    </m:sSub>
                    <m:r>
                      <a:rPr lang="en-SG" sz="1000" b="1" i="1" smtClean="0">
                        <a:latin typeface="Cambria Math" panose="02040503050406030204" pitchFamily="18" charset="0"/>
                      </a:rPr>
                      <m:t>:</m:t>
                    </m:r>
                    <m:r>
                      <a:rPr lang="en-SG" sz="1000" b="0" i="1" smtClean="0">
                        <a:latin typeface="Cambria Math" panose="02040503050406030204" pitchFamily="18" charset="0"/>
                      </a:rPr>
                      <m:t>𝑢𝑠𝑒𝑟</m:t>
                    </m:r>
                    <m:r>
                      <a:rPr lang="en-SG" sz="1000" b="0" i="1" smtClean="0">
                        <a:latin typeface="Cambria Math" panose="02040503050406030204" pitchFamily="18" charset="0"/>
                      </a:rPr>
                      <m:t> </m:t>
                    </m:r>
                    <m:r>
                      <a:rPr lang="en-SG" sz="1000" b="0" i="1" smtClean="0">
                        <a:latin typeface="Cambria Math" panose="02040503050406030204" pitchFamily="18" charset="0"/>
                      </a:rPr>
                      <m:t>𝑙𝑎𝑡𝑒𝑛𝑡</m:t>
                    </m:r>
                    <m:r>
                      <a:rPr lang="en-SG" sz="1000" b="0" i="1" smtClean="0">
                        <a:latin typeface="Cambria Math" panose="02040503050406030204" pitchFamily="18" charset="0"/>
                      </a:rPr>
                      <m:t> </m:t>
                    </m:r>
                    <m:r>
                      <a:rPr lang="en-SG" sz="1000" b="0" i="1" smtClean="0">
                        <a:latin typeface="Cambria Math" panose="02040503050406030204" pitchFamily="18" charset="0"/>
                      </a:rPr>
                      <m:t>𝑣𝑒𝑐𝑡𝑜𝑟</m:t>
                    </m:r>
                    <m:r>
                      <m:rPr>
                        <m:nor/>
                      </m:rPr>
                      <a:rPr lang="en-SG" sz="1000" i="1" dirty="0">
                        <a:latin typeface="Cambria Math" panose="02040503050406030204" pitchFamily="18" charset="0"/>
                      </a:rPr>
                      <m:t>(</m:t>
                    </m:r>
                    <m:r>
                      <m:rPr>
                        <m:nor/>
                      </m:rPr>
                      <a:rPr lang="en-SG" sz="1000" i="1" dirty="0">
                        <a:latin typeface="Cambria Math" panose="02040503050406030204" pitchFamily="18" charset="0"/>
                      </a:rPr>
                      <m:t>embeddings</m:t>
                    </m:r>
                    <m:r>
                      <m:rPr>
                        <m:nor/>
                      </m:rPr>
                      <a:rPr lang="en-SG" sz="1000" i="1" dirty="0">
                        <a:latin typeface="Cambria Math" panose="02040503050406030204" pitchFamily="18" charset="0"/>
                      </a:rPr>
                      <m:t>)</m:t>
                    </m:r>
                  </m:oMath>
                </a14:m>
                <a:r>
                  <a:rPr lang="en-SG" sz="1000" b="0" i="1" dirty="0">
                    <a:latin typeface="Cambria Math" panose="02040503050406030204" pitchFamily="18" charset="0"/>
                  </a:rPr>
                  <a:t>; (users x k) shape</a:t>
                </a:r>
              </a:p>
              <a:p>
                <a:pPr/>
                <a14:m>
                  <m:oMathPara xmlns:m="http://schemas.openxmlformats.org/officeDocument/2006/math">
                    <m:oMathParaPr>
                      <m:jc m:val="left"/>
                    </m:oMathParaPr>
                    <m:oMath xmlns:m="http://schemas.openxmlformats.org/officeDocument/2006/math">
                      <m:sSub>
                        <m:sSubPr>
                          <m:ctrlPr>
                            <a:rPr lang="en-SG" sz="1000" b="1" i="1">
                              <a:latin typeface="Cambria Math" panose="02040503050406030204" pitchFamily="18" charset="0"/>
                            </a:rPr>
                          </m:ctrlPr>
                        </m:sSubPr>
                        <m:e>
                          <m:r>
                            <a:rPr lang="en-SG" sz="1000" b="1" i="1" smtClean="0">
                              <a:latin typeface="Cambria Math" panose="02040503050406030204" pitchFamily="18" charset="0"/>
                            </a:rPr>
                            <m:t>𝑽</m:t>
                          </m:r>
                        </m:e>
                        <m:sub>
                          <m:r>
                            <a:rPr lang="en-SG" sz="1000" b="1" i="1">
                              <a:latin typeface="Cambria Math" panose="02040503050406030204" pitchFamily="18" charset="0"/>
                            </a:rPr>
                            <m:t>𝑼</m:t>
                          </m:r>
                        </m:sub>
                      </m:sSub>
                      <m:r>
                        <a:rPr lang="en-SG" sz="1000" b="1" i="1">
                          <a:latin typeface="Cambria Math" panose="02040503050406030204" pitchFamily="18" charset="0"/>
                        </a:rPr>
                        <m:t>:</m:t>
                      </m:r>
                      <m:r>
                        <a:rPr lang="en-SG" sz="1000" b="0" i="1" smtClean="0">
                          <a:latin typeface="Cambria Math" panose="02040503050406030204" pitchFamily="18" charset="0"/>
                        </a:rPr>
                        <m:t>𝑖𝑡𝑒𝑚</m:t>
                      </m:r>
                      <m:r>
                        <a:rPr lang="en-SG" sz="1000" i="1">
                          <a:latin typeface="Cambria Math" panose="02040503050406030204" pitchFamily="18" charset="0"/>
                        </a:rPr>
                        <m:t> </m:t>
                      </m:r>
                      <m:r>
                        <a:rPr lang="en-SG" sz="1000" i="1">
                          <a:latin typeface="Cambria Math" panose="02040503050406030204" pitchFamily="18" charset="0"/>
                        </a:rPr>
                        <m:t>𝑙𝑎𝑡𝑒𝑛𝑡</m:t>
                      </m:r>
                      <m:r>
                        <a:rPr lang="en-SG" sz="1000" i="1">
                          <a:latin typeface="Cambria Math" panose="02040503050406030204" pitchFamily="18" charset="0"/>
                        </a:rPr>
                        <m:t> </m:t>
                      </m:r>
                      <m:r>
                        <a:rPr lang="en-SG" sz="1000" i="1">
                          <a:latin typeface="Cambria Math" panose="02040503050406030204" pitchFamily="18" charset="0"/>
                        </a:rPr>
                        <m:t>𝑣𝑒𝑐𝑡𝑜𝑟</m:t>
                      </m:r>
                      <m:r>
                        <m:rPr>
                          <m:nor/>
                        </m:rPr>
                        <a:rPr lang="en-SG" sz="1000" i="1" dirty="0">
                          <a:latin typeface="Cambria Math" panose="02040503050406030204" pitchFamily="18" charset="0"/>
                        </a:rPr>
                        <m:t>(</m:t>
                      </m:r>
                      <m:r>
                        <m:rPr>
                          <m:nor/>
                        </m:rPr>
                        <a:rPr lang="en-SG" sz="1000" i="1" dirty="0">
                          <a:latin typeface="Cambria Math" panose="02040503050406030204" pitchFamily="18" charset="0"/>
                        </a:rPr>
                        <m:t>embeddings</m:t>
                      </m:r>
                      <m:r>
                        <m:rPr>
                          <m:nor/>
                        </m:rPr>
                        <a:rPr lang="en-SG" sz="1000" i="1" dirty="0">
                          <a:latin typeface="Cambria Math" panose="02040503050406030204" pitchFamily="18" charset="0"/>
                        </a:rPr>
                        <m:t>); (</m:t>
                      </m:r>
                      <m:r>
                        <m:rPr>
                          <m:nor/>
                        </m:rPr>
                        <a:rPr lang="en-SG" sz="1000" b="0" i="1" dirty="0" smtClean="0">
                          <a:latin typeface="Cambria Math" panose="02040503050406030204" pitchFamily="18" charset="0"/>
                        </a:rPr>
                        <m:t>items</m:t>
                      </m:r>
                      <m:r>
                        <m:rPr>
                          <m:nor/>
                        </m:rPr>
                        <a:rPr lang="en-SG" sz="1000" b="0" i="1" dirty="0" smtClean="0">
                          <a:latin typeface="Cambria Math" panose="02040503050406030204" pitchFamily="18" charset="0"/>
                        </a:rPr>
                        <m:t> </m:t>
                      </m:r>
                      <m:r>
                        <m:rPr>
                          <m:nor/>
                        </m:rPr>
                        <a:rPr lang="en-SG" sz="1000" b="0" i="1" dirty="0" smtClean="0">
                          <a:latin typeface="Cambria Math" panose="02040503050406030204" pitchFamily="18" charset="0"/>
                        </a:rPr>
                        <m:t>x</m:t>
                      </m:r>
                      <m:r>
                        <m:rPr>
                          <m:nor/>
                        </m:rPr>
                        <a:rPr lang="en-SG" sz="1000" b="0" i="1" dirty="0" smtClean="0">
                          <a:latin typeface="Cambria Math" panose="02040503050406030204" pitchFamily="18" charset="0"/>
                        </a:rPr>
                        <m:t> </m:t>
                      </m:r>
                      <m:r>
                        <m:rPr>
                          <m:nor/>
                        </m:rPr>
                        <a:rPr lang="en-SG" sz="1000" b="0" i="1" dirty="0" smtClean="0">
                          <a:latin typeface="Cambria Math" panose="02040503050406030204" pitchFamily="18" charset="0"/>
                        </a:rPr>
                        <m:t>k</m:t>
                      </m:r>
                      <m:r>
                        <m:rPr>
                          <m:nor/>
                        </m:rPr>
                        <a:rPr lang="en-SG" sz="1000" b="0" i="1" dirty="0" smtClean="0">
                          <a:latin typeface="Cambria Math" panose="02040503050406030204" pitchFamily="18" charset="0"/>
                        </a:rPr>
                        <m:t>) </m:t>
                      </m:r>
                      <m:r>
                        <m:rPr>
                          <m:nor/>
                        </m:rPr>
                        <a:rPr lang="en-SG" sz="1000" b="0" i="1" dirty="0" smtClean="0">
                          <a:latin typeface="Cambria Math" panose="02040503050406030204" pitchFamily="18" charset="0"/>
                        </a:rPr>
                        <m:t>shape</m:t>
                      </m:r>
                    </m:oMath>
                  </m:oMathPara>
                </a14:m>
                <a:endParaRPr lang="en-SG" sz="1000" i="1" dirty="0">
                  <a:latin typeface="Cambria Math" panose="02040503050406030204" pitchFamily="18" charset="0"/>
                </a:endParaRPr>
              </a:p>
              <a:p>
                <a14:m>
                  <m:oMath xmlns:m="http://schemas.openxmlformats.org/officeDocument/2006/math">
                    <m:r>
                      <a:rPr lang="en-SG" sz="1000" b="1" i="1" smtClean="0">
                        <a:latin typeface="Cambria Math" panose="02040503050406030204" pitchFamily="18" charset="0"/>
                      </a:rPr>
                      <m:t>𝑹</m:t>
                    </m:r>
                    <m:r>
                      <a:rPr lang="en-SG" sz="1000" b="1" i="1">
                        <a:latin typeface="Cambria Math" panose="02040503050406030204" pitchFamily="18" charset="0"/>
                      </a:rPr>
                      <m:t>:</m:t>
                    </m:r>
                  </m:oMath>
                </a14:m>
                <a:r>
                  <a:rPr lang="en-SG" sz="1000" i="1" dirty="0">
                    <a:latin typeface="Cambria Math" panose="02040503050406030204" pitchFamily="18" charset="0"/>
                  </a:rPr>
                  <a:t> (users x item) shape</a:t>
                </a:r>
              </a:p>
              <a:p>
                <a:pPr/>
                <a14:m>
                  <m:oMathPara xmlns:m="http://schemas.openxmlformats.org/officeDocument/2006/math">
                    <m:oMathParaPr>
                      <m:jc m:val="left"/>
                    </m:oMathParaPr>
                    <m:oMath xmlns:m="http://schemas.openxmlformats.org/officeDocument/2006/math">
                      <m:r>
                        <a:rPr lang="en-SG" sz="1000" b="1" i="1" smtClean="0">
                          <a:latin typeface="Cambria Math" panose="02040503050406030204" pitchFamily="18" charset="0"/>
                        </a:rPr>
                        <m:t>𝒌</m:t>
                      </m:r>
                      <m:r>
                        <a:rPr lang="en-SG" sz="1000" b="1" i="1">
                          <a:latin typeface="Cambria Math" panose="02040503050406030204" pitchFamily="18" charset="0"/>
                        </a:rPr>
                        <m:t>:</m:t>
                      </m:r>
                      <m:r>
                        <a:rPr lang="en-SG" sz="1000" b="0" i="1" smtClean="0">
                          <a:latin typeface="Cambria Math" panose="02040503050406030204" pitchFamily="18" charset="0"/>
                        </a:rPr>
                        <m:t>𝑒𝑚𝑏𝑒𝑑𝑑𝑖𝑛𝑔</m:t>
                      </m:r>
                      <m:r>
                        <a:rPr lang="en-SG" sz="1000" b="0" i="1" smtClean="0">
                          <a:latin typeface="Cambria Math" panose="02040503050406030204" pitchFamily="18" charset="0"/>
                        </a:rPr>
                        <m:t> </m:t>
                      </m:r>
                      <m:r>
                        <a:rPr lang="en-SG" sz="1000" b="0" i="1" smtClean="0">
                          <a:latin typeface="Cambria Math" panose="02040503050406030204" pitchFamily="18" charset="0"/>
                        </a:rPr>
                        <m:t>𝑠𝑖𝑧𝑒</m:t>
                      </m:r>
                    </m:oMath>
                  </m:oMathPara>
                </a14:m>
                <a:endParaRPr lang="en-SG" sz="1000" dirty="0"/>
              </a:p>
              <a:p>
                <a:endParaRPr lang="en-SG" sz="1000" dirty="0"/>
              </a:p>
              <a:p>
                <a:r>
                  <a:rPr lang="en-SG" sz="1000" dirty="0"/>
                  <a:t>Implemented via TruncatedSVD (computes top-k singular vectors for low-rank approximation). Full-rank = min(#users, #items); MF constraints rank to k </a:t>
                </a:r>
                <a14:m>
                  <m:oMath xmlns:m="http://schemas.openxmlformats.org/officeDocument/2006/math">
                    <m:r>
                      <a:rPr lang="en-SG" sz="1000" i="1" smtClean="0">
                        <a:latin typeface="Cambria Math" panose="02040503050406030204" pitchFamily="18" charset="0"/>
                        <a:ea typeface="Cambria Math" panose="02040503050406030204" pitchFamily="18" charset="0"/>
                      </a:rPr>
                      <m:t>≪</m:t>
                    </m:r>
                  </m:oMath>
                </a14:m>
                <a:r>
                  <a:rPr lang="en-SG" sz="1000" dirty="0"/>
                  <a:t> full rank.</a:t>
                </a:r>
              </a:p>
              <a:p>
                <a:endParaRPr lang="en-SG" sz="1000" b="1" i="1" u="sng" dirty="0">
                  <a:latin typeface="Cambria Math" panose="02040503050406030204" pitchFamily="18" charset="0"/>
                </a:endParaRPr>
              </a:p>
              <a:p>
                <a:r>
                  <a:rPr lang="en-SG" sz="1000" b="1" dirty="0"/>
                  <a:t>Scoring Formula</a:t>
                </a:r>
                <a:endParaRPr lang="en-SG" sz="1000" b="1" i="1" u="sng" dirty="0">
                  <a:latin typeface="Cambria Math" panose="02040503050406030204" pitchFamily="18" charset="0"/>
                </a:endParaRPr>
              </a:p>
              <a:p>
                <a:pPr/>
                <a14:m>
                  <m:oMathPara xmlns:m="http://schemas.openxmlformats.org/officeDocument/2006/math">
                    <m:oMathParaPr>
                      <m:jc m:val="center"/>
                    </m:oMathParaPr>
                    <m:oMath xmlns:m="http://schemas.openxmlformats.org/officeDocument/2006/math">
                      <m:r>
                        <a:rPr lang="en-SG" sz="1000" i="1">
                          <a:latin typeface="Cambria Math" panose="02040503050406030204" pitchFamily="18" charset="0"/>
                        </a:rPr>
                        <m:t>𝑠𝑐𝑜𝑟𝑒</m:t>
                      </m:r>
                      <m:r>
                        <a:rPr lang="en-SG" sz="1000" i="1">
                          <a:latin typeface="Cambria Math" panose="02040503050406030204" pitchFamily="18" charset="0"/>
                        </a:rPr>
                        <m:t>(</m:t>
                      </m:r>
                      <m:r>
                        <a:rPr lang="en-SG" sz="1000" b="0" i="1" smtClean="0">
                          <a:latin typeface="Cambria Math" panose="02040503050406030204" pitchFamily="18" charset="0"/>
                        </a:rPr>
                        <m:t>𝑢</m:t>
                      </m:r>
                      <m:r>
                        <a:rPr lang="en-SG" sz="1000" b="0" i="1" smtClean="0">
                          <a:latin typeface="Cambria Math" panose="02040503050406030204" pitchFamily="18" charset="0"/>
                        </a:rPr>
                        <m:t>, </m:t>
                      </m:r>
                      <m:r>
                        <a:rPr lang="en-SG" sz="1000" i="1">
                          <a:latin typeface="Cambria Math" panose="02040503050406030204" pitchFamily="18" charset="0"/>
                        </a:rPr>
                        <m:t>𝑖</m:t>
                      </m:r>
                      <m:r>
                        <a:rPr lang="en-SG" sz="1000" i="1">
                          <a:latin typeface="Cambria Math" panose="02040503050406030204" pitchFamily="18" charset="0"/>
                        </a:rPr>
                        <m:t>)=</m:t>
                      </m:r>
                      <m:sSub>
                        <m:sSubPr>
                          <m:ctrlPr>
                            <a:rPr lang="en-SG" sz="1000" i="1" smtClean="0">
                              <a:latin typeface="Cambria Math" panose="02040503050406030204" pitchFamily="18" charset="0"/>
                            </a:rPr>
                          </m:ctrlPr>
                        </m:sSubPr>
                        <m:e>
                          <m:r>
                            <a:rPr lang="en-SG" sz="1000" b="0" i="1" smtClean="0">
                              <a:latin typeface="Cambria Math" panose="02040503050406030204" pitchFamily="18" charset="0"/>
                            </a:rPr>
                            <m:t>𝑈</m:t>
                          </m:r>
                        </m:e>
                        <m:sub>
                          <m:r>
                            <a:rPr lang="en-SG" sz="1000" b="0" i="1" smtClean="0">
                              <a:latin typeface="Cambria Math" panose="02040503050406030204" pitchFamily="18" charset="0"/>
                            </a:rPr>
                            <m:t>𝑢</m:t>
                          </m:r>
                        </m:sub>
                      </m:sSub>
                      <m:r>
                        <a:rPr lang="en-SG" sz="1000" i="1" smtClean="0">
                          <a:latin typeface="Cambria Math" panose="02040503050406030204" pitchFamily="18" charset="0"/>
                          <a:ea typeface="Cambria Math" panose="02040503050406030204" pitchFamily="18" charset="0"/>
                        </a:rPr>
                        <m:t>∙</m:t>
                      </m:r>
                      <m:sSub>
                        <m:sSubPr>
                          <m:ctrlPr>
                            <a:rPr lang="en-SG" sz="1000" i="1">
                              <a:latin typeface="Cambria Math" panose="02040503050406030204" pitchFamily="18" charset="0"/>
                            </a:rPr>
                          </m:ctrlPr>
                        </m:sSubPr>
                        <m:e>
                          <m:r>
                            <a:rPr lang="en-SG" sz="1000" b="0" i="1" smtClean="0">
                              <a:latin typeface="Cambria Math" panose="02040503050406030204" pitchFamily="18" charset="0"/>
                            </a:rPr>
                            <m:t>𝑉</m:t>
                          </m:r>
                        </m:e>
                        <m:sub>
                          <m:r>
                            <a:rPr lang="en-SG" sz="1000" b="0" i="1" smtClean="0">
                              <a:latin typeface="Cambria Math" panose="02040503050406030204" pitchFamily="18" charset="0"/>
                            </a:rPr>
                            <m:t>𝑖</m:t>
                          </m:r>
                        </m:sub>
                      </m:sSub>
                    </m:oMath>
                  </m:oMathPara>
                </a14:m>
                <a:endParaRPr lang="en-SG" sz="1000" b="1" dirty="0"/>
              </a:p>
              <a:p>
                <a:endParaRPr lang="en-SG" sz="1000" dirty="0"/>
              </a:p>
              <a:p>
                <a:r>
                  <a:rPr lang="en-SG" sz="1000" b="1" dirty="0"/>
                  <a:t>What This Means</a:t>
                </a:r>
              </a:p>
              <a:p>
                <a:pPr marL="171450" indent="-171450">
                  <a:buFont typeface="Wingdings" panose="05000000000000000000" pitchFamily="2" charset="2"/>
                  <a:buChar char="Ø"/>
                </a:pPr>
                <a:r>
                  <a:rPr lang="en-SG" sz="1000" dirty="0"/>
                  <a:t>Personalized ranking</a:t>
                </a:r>
              </a:p>
              <a:p>
                <a:pPr marL="171450" indent="-171450">
                  <a:buFont typeface="Wingdings" panose="05000000000000000000" pitchFamily="2" charset="2"/>
                  <a:buChar char="Ø"/>
                </a:pPr>
                <a:r>
                  <a:rPr lang="en-SG" sz="1000" dirty="0"/>
                  <a:t>Based on shared latent factors</a:t>
                </a:r>
              </a:p>
              <a:p>
                <a:pPr marL="171450" indent="-171450">
                  <a:buFont typeface="Wingdings" panose="05000000000000000000" pitchFamily="2" charset="2"/>
                  <a:buChar char="Ø"/>
                </a:pPr>
                <a:r>
                  <a:rPr lang="en-SG" sz="1000" dirty="0"/>
                  <a:t>Learned from co-interaction</a:t>
                </a:r>
                <a:endParaRPr lang="en-SG" sz="1000" b="1" dirty="0"/>
              </a:p>
              <a:p>
                <a:endParaRPr lang="en-SG" sz="1000" b="1" dirty="0"/>
              </a:p>
              <a:p>
                <a:r>
                  <a:rPr lang="en-SG" sz="1000" b="1" dirty="0"/>
                  <a:t>Key Limitation</a:t>
                </a:r>
              </a:p>
              <a:p>
                <a:r>
                  <a:rPr lang="en-SG" sz="1000" dirty="0"/>
                  <a:t>Assumes linear low-rank structure which has limited expressiveness vs neural models </a:t>
                </a:r>
                <a:r>
                  <a:rPr lang="en-SG" sz="1000" b="1" dirty="0"/>
                  <a:t>(but can be a strength because it is a stable low-complexity model with less noise when compared to neural training).</a:t>
                </a:r>
              </a:p>
            </p:txBody>
          </p:sp>
        </mc:Choice>
        <mc:Fallback xmlns="">
          <p:sp>
            <p:nvSpPr>
              <p:cNvPr id="5" name="TextBox 4">
                <a:extLst>
                  <a:ext uri="{FF2B5EF4-FFF2-40B4-BE49-F238E27FC236}">
                    <a16:creationId xmlns:a16="http://schemas.microsoft.com/office/drawing/2014/main" id="{287EB407-9A19-5C20-3542-FAC00F9F2D80}"/>
                  </a:ext>
                </a:extLst>
              </p:cNvPr>
              <p:cNvSpPr txBox="1">
                <a:spLocks noRot="1" noChangeAspect="1" noMove="1" noResize="1" noEditPoints="1" noAdjustHandles="1" noChangeArrowheads="1" noChangeShapeType="1" noTextEdit="1"/>
              </p:cNvSpPr>
              <p:nvPr/>
            </p:nvSpPr>
            <p:spPr>
              <a:xfrm>
                <a:off x="4757647" y="1844040"/>
                <a:ext cx="3406040" cy="4862870"/>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7E46001F-9023-0651-BB03-40CAF7BCAC84}"/>
                  </a:ext>
                </a:extLst>
              </p:cNvPr>
              <p:cNvSpPr txBox="1"/>
              <p:nvPr/>
            </p:nvSpPr>
            <p:spPr>
              <a:xfrm>
                <a:off x="8273133" y="1844040"/>
                <a:ext cx="3833141" cy="4900893"/>
              </a:xfrm>
              <a:prstGeom prst="rect">
                <a:avLst/>
              </a:prstGeom>
              <a:solidFill>
                <a:schemeClr val="accent6">
                  <a:lumMod val="20000"/>
                  <a:lumOff val="80000"/>
                </a:schemeClr>
              </a:solidFill>
            </p:spPr>
            <p:txBody>
              <a:bodyPr wrap="square">
                <a:spAutoFit/>
              </a:bodyPr>
              <a:lstStyle/>
              <a:p>
                <a:r>
                  <a:rPr lang="en-SG" sz="1000" b="1" u="sng" dirty="0"/>
                  <a:t>Two-Tower Neural Retrieval</a:t>
                </a:r>
              </a:p>
              <a:p>
                <a:endParaRPr lang="en-SG" sz="1000" b="1" i="1" u="sng" dirty="0">
                  <a:latin typeface="Cambria Math" panose="02040503050406030204" pitchFamily="18" charset="0"/>
                </a:endParaRPr>
              </a:p>
              <a:p>
                <a:r>
                  <a:rPr lang="en-SG" sz="1000" b="1" dirty="0"/>
                  <a:t>Core Idea</a:t>
                </a:r>
              </a:p>
              <a:p>
                <a:r>
                  <a:rPr lang="en-SG" sz="1000" dirty="0"/>
                  <a:t>Generalizes MF with learned neural parameterization.</a:t>
                </a:r>
              </a:p>
              <a:p>
                <a:endParaRPr lang="en-SG" sz="1000" b="1" dirty="0"/>
              </a:p>
              <a:p>
                <a:r>
                  <a:rPr lang="en-SG" sz="1000" dirty="0"/>
                  <a:t>Learn embeddings via supervised contrastive training (User Tower, Item Tower).</a:t>
                </a:r>
              </a:p>
              <a:p>
                <a:endParaRPr lang="en-SG" sz="1000" b="1" i="1" u="sng" dirty="0">
                  <a:latin typeface="Cambria Math" panose="02040503050406030204" pitchFamily="18" charset="0"/>
                </a:endParaRPr>
              </a:p>
              <a:p>
                <a:r>
                  <a:rPr lang="en-SG" sz="1000" b="1" dirty="0"/>
                  <a:t>Scoring Formula</a:t>
                </a:r>
                <a:endParaRPr lang="en-SG" sz="1000" b="1" i="1" u="sng" dirty="0">
                  <a:latin typeface="Cambria Math" panose="02040503050406030204" pitchFamily="18" charset="0"/>
                </a:endParaRPr>
              </a:p>
              <a:p>
                <a:pPr/>
                <a14:m>
                  <m:oMathPara xmlns:m="http://schemas.openxmlformats.org/officeDocument/2006/math">
                    <m:oMathParaPr>
                      <m:jc m:val="center"/>
                    </m:oMathParaPr>
                    <m:oMath xmlns:m="http://schemas.openxmlformats.org/officeDocument/2006/math">
                      <m:r>
                        <a:rPr lang="en-SG" sz="1000" i="1">
                          <a:latin typeface="Cambria Math" panose="02040503050406030204" pitchFamily="18" charset="0"/>
                        </a:rPr>
                        <m:t>𝑙𝑜𝑔𝑖𝑡</m:t>
                      </m:r>
                      <m:r>
                        <a:rPr lang="en-SG" sz="1000" i="1">
                          <a:latin typeface="Cambria Math" panose="02040503050406030204" pitchFamily="18" charset="0"/>
                        </a:rPr>
                        <m:t> </m:t>
                      </m:r>
                      <m:r>
                        <a:rPr lang="en-SG" sz="1000" i="1">
                          <a:latin typeface="Cambria Math" panose="02040503050406030204" pitchFamily="18" charset="0"/>
                        </a:rPr>
                        <m:t>𝑠𝑐𝑜𝑟𝑒</m:t>
                      </m:r>
                      <m:d>
                        <m:dPr>
                          <m:ctrlPr>
                            <a:rPr lang="en-SG" sz="1000" i="1">
                              <a:latin typeface="Cambria Math" panose="02040503050406030204" pitchFamily="18" charset="0"/>
                            </a:rPr>
                          </m:ctrlPr>
                        </m:dPr>
                        <m:e>
                          <m:r>
                            <a:rPr lang="en-SG" sz="1000" b="0" i="1" smtClean="0">
                              <a:latin typeface="Cambria Math" panose="02040503050406030204" pitchFamily="18" charset="0"/>
                            </a:rPr>
                            <m:t>𝑢</m:t>
                          </m:r>
                          <m:r>
                            <a:rPr lang="en-SG" sz="1000" b="0" i="1" smtClean="0">
                              <a:latin typeface="Cambria Math" panose="02040503050406030204" pitchFamily="18" charset="0"/>
                            </a:rPr>
                            <m:t>,</m:t>
                          </m:r>
                          <m:r>
                            <a:rPr lang="en-SG" sz="1000" b="0" i="1" smtClean="0">
                              <a:latin typeface="Cambria Math" panose="02040503050406030204" pitchFamily="18" charset="0"/>
                            </a:rPr>
                            <m:t>𝑖</m:t>
                          </m:r>
                        </m:e>
                      </m:d>
                      <m:r>
                        <a:rPr lang="en-SG" sz="1000" i="1">
                          <a:latin typeface="Cambria Math" panose="02040503050406030204" pitchFamily="18" charset="0"/>
                        </a:rPr>
                        <m:t>=</m:t>
                      </m:r>
                      <m:acc>
                        <m:accPr>
                          <m:chr m:val="̂"/>
                          <m:ctrlPr>
                            <a:rPr lang="en-SG" sz="1000" i="1">
                              <a:latin typeface="Cambria Math" panose="02040503050406030204" pitchFamily="18" charset="0"/>
                            </a:rPr>
                          </m:ctrlPr>
                        </m:accPr>
                        <m:e>
                          <m:r>
                            <a:rPr lang="en-SG" sz="1000" i="1">
                              <a:latin typeface="Cambria Math" panose="02040503050406030204" pitchFamily="18" charset="0"/>
                            </a:rPr>
                            <m:t>𝑢</m:t>
                          </m:r>
                        </m:e>
                      </m:acc>
                      <m:r>
                        <a:rPr lang="en-SG" sz="1000" i="1">
                          <a:latin typeface="Cambria Math" panose="02040503050406030204" pitchFamily="18" charset="0"/>
                          <a:ea typeface="Cambria Math" panose="02040503050406030204" pitchFamily="18" charset="0"/>
                        </a:rPr>
                        <m:t>⋅</m:t>
                      </m:r>
                      <m:acc>
                        <m:accPr>
                          <m:chr m:val="̂"/>
                          <m:ctrlPr>
                            <a:rPr lang="en-SG" sz="1000" i="1">
                              <a:latin typeface="Cambria Math" panose="02040503050406030204" pitchFamily="18" charset="0"/>
                            </a:rPr>
                          </m:ctrlPr>
                        </m:accPr>
                        <m:e>
                          <m:r>
                            <a:rPr lang="en-SG" sz="1000" i="1">
                              <a:latin typeface="Cambria Math" panose="02040503050406030204" pitchFamily="18" charset="0"/>
                            </a:rPr>
                            <m:t>𝑣</m:t>
                          </m:r>
                        </m:e>
                      </m:acc>
                    </m:oMath>
                  </m:oMathPara>
                </a14:m>
                <a:endParaRPr lang="en-SG" sz="1000" b="0"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SG" sz="1000" b="1" i="1" smtClean="0">
                          <a:latin typeface="Cambria Math" panose="02040503050406030204" pitchFamily="18" charset="0"/>
                        </a:rPr>
                        <m:t>𝒍𝒐𝒈𝒊𝒕</m:t>
                      </m:r>
                      <m:r>
                        <a:rPr lang="en-SG" sz="1000" b="1" i="1" smtClean="0">
                          <a:latin typeface="Cambria Math" panose="02040503050406030204" pitchFamily="18" charset="0"/>
                        </a:rPr>
                        <m:t> </m:t>
                      </m:r>
                      <m:r>
                        <a:rPr lang="en-SG" sz="1000" b="1" i="1" smtClean="0">
                          <a:latin typeface="Cambria Math" panose="02040503050406030204" pitchFamily="18" charset="0"/>
                        </a:rPr>
                        <m:t>𝒔𝒄𝒐𝒓𝒆</m:t>
                      </m:r>
                      <m:r>
                        <a:rPr lang="en-SG" sz="1000" b="1" i="1" smtClean="0">
                          <a:latin typeface="Cambria Math" panose="02040503050406030204" pitchFamily="18" charset="0"/>
                        </a:rPr>
                        <m:t>:</m:t>
                      </m:r>
                      <m:r>
                        <a:rPr lang="en-SG" sz="1000" i="1">
                          <a:latin typeface="Cambria Math" panose="02040503050406030204" pitchFamily="18" charset="0"/>
                        </a:rPr>
                        <m:t>𝐿</m:t>
                      </m:r>
                      <m:r>
                        <a:rPr lang="en-SG" sz="1000" i="1">
                          <a:latin typeface="Cambria Math" panose="02040503050406030204" pitchFamily="18" charset="0"/>
                        </a:rPr>
                        <m:t>2−</m:t>
                      </m:r>
                      <m:r>
                        <a:rPr lang="en-SG" sz="1000" i="1">
                          <a:latin typeface="Cambria Math" panose="02040503050406030204" pitchFamily="18" charset="0"/>
                        </a:rPr>
                        <m:t>𝑛𝑜𝑟𝑚𝑎𝑙𝑖𝑧𝑒𝑑</m:t>
                      </m:r>
                      <m:r>
                        <a:rPr lang="en-SG" sz="1000" i="1">
                          <a:latin typeface="Cambria Math" panose="02040503050406030204" pitchFamily="18" charset="0"/>
                        </a:rPr>
                        <m:t> </m:t>
                      </m:r>
                      <m:r>
                        <a:rPr lang="en-SG" sz="1000" i="1">
                          <a:latin typeface="Cambria Math" panose="02040503050406030204" pitchFamily="18" charset="0"/>
                        </a:rPr>
                        <m:t>𝑐𝑜𝑠𝑖𝑛𝑒</m:t>
                      </m:r>
                      <m:r>
                        <a:rPr lang="en-SG" sz="1000" i="1">
                          <a:latin typeface="Cambria Math" panose="02040503050406030204" pitchFamily="18" charset="0"/>
                        </a:rPr>
                        <m:t>−</m:t>
                      </m:r>
                      <m:r>
                        <a:rPr lang="en-SG" sz="1000" i="1">
                          <a:latin typeface="Cambria Math" panose="02040503050406030204" pitchFamily="18" charset="0"/>
                        </a:rPr>
                        <m:t>𝑠𝑡𝑦𝑙𝑒</m:t>
                      </m:r>
                      <m:r>
                        <a:rPr lang="en-SG" sz="1000" i="1">
                          <a:latin typeface="Cambria Math" panose="02040503050406030204" pitchFamily="18" charset="0"/>
                        </a:rPr>
                        <m:t> </m:t>
                      </m:r>
                      <m:r>
                        <a:rPr lang="en-SG" sz="1000" i="1">
                          <a:latin typeface="Cambria Math" panose="02040503050406030204" pitchFamily="18" charset="0"/>
                        </a:rPr>
                        <m:t>𝑑𝑜𝑡</m:t>
                      </m:r>
                      <m:r>
                        <a:rPr lang="en-SG" sz="1000" i="1">
                          <a:latin typeface="Cambria Math" panose="02040503050406030204" pitchFamily="18" charset="0"/>
                        </a:rPr>
                        <m:t> </m:t>
                      </m:r>
                      <m:r>
                        <a:rPr lang="en-SG" sz="1000" i="1">
                          <a:latin typeface="Cambria Math" panose="02040503050406030204" pitchFamily="18" charset="0"/>
                        </a:rPr>
                        <m:t>𝑝𝑟𝑜𝑑𝑢𝑐𝑡</m:t>
                      </m:r>
                    </m:oMath>
                  </m:oMathPara>
                </a14:m>
                <a:endParaRPr lang="en-SG" sz="1000" i="1" dirty="0">
                  <a:latin typeface="Cambria Math" panose="02040503050406030204" pitchFamily="18" charset="0"/>
                </a:endParaRPr>
              </a:p>
              <a:p>
                <a:endParaRPr lang="en-SG" sz="1000" b="0" i="1" dirty="0">
                  <a:latin typeface="Cambria Math" panose="02040503050406030204" pitchFamily="18" charset="0"/>
                </a:endParaRPr>
              </a:p>
              <a:p>
                <a:pPr/>
                <a14:m>
                  <m:oMathPara xmlns:m="http://schemas.openxmlformats.org/officeDocument/2006/math">
                    <m:oMathParaPr>
                      <m:jc m:val="center"/>
                    </m:oMathParaPr>
                    <m:oMath xmlns:m="http://schemas.openxmlformats.org/officeDocument/2006/math">
                      <m:r>
                        <a:rPr lang="en-SG" sz="1000" b="1" i="1" smtClean="0">
                          <a:latin typeface="Cambria Math" panose="02040503050406030204" pitchFamily="18" charset="0"/>
                        </a:rPr>
                        <m:t>𝑻𝒓𝒂𝒊𝒏𝒊𝒏𝒈</m:t>
                      </m:r>
                      <m:r>
                        <a:rPr lang="en-SG" sz="1000" b="1" i="1" smtClean="0">
                          <a:latin typeface="Cambria Math" panose="02040503050406030204" pitchFamily="18" charset="0"/>
                        </a:rPr>
                        <m:t> </m:t>
                      </m:r>
                      <m:r>
                        <a:rPr lang="en-SG" sz="1000" b="1" i="1" smtClean="0">
                          <a:latin typeface="Cambria Math" panose="02040503050406030204" pitchFamily="18" charset="0"/>
                        </a:rPr>
                        <m:t>𝒐𝒏𝒍𝒚</m:t>
                      </m:r>
                      <m:r>
                        <a:rPr lang="en-SG" sz="1000" b="1" i="1" smtClean="0">
                          <a:latin typeface="Cambria Math" panose="02040503050406030204" pitchFamily="18" charset="0"/>
                        </a:rPr>
                        <m:t>: </m:t>
                      </m:r>
                      <m:r>
                        <a:rPr lang="en-SG" sz="1000" b="0" i="1" smtClean="0">
                          <a:latin typeface="Cambria Math" panose="02040503050406030204" pitchFamily="18" charset="0"/>
                        </a:rPr>
                        <m:t>𝑠𝑜𝑓𝑡𝑚𝑎𝑥</m:t>
                      </m:r>
                      <m:d>
                        <m:dPr>
                          <m:ctrlPr>
                            <a:rPr lang="en-SG" sz="1000" b="0" i="1" smtClean="0">
                              <a:latin typeface="Cambria Math" panose="02040503050406030204" pitchFamily="18" charset="0"/>
                            </a:rPr>
                          </m:ctrlPr>
                        </m:dPr>
                        <m:e>
                          <m:f>
                            <m:fPr>
                              <m:ctrlPr>
                                <a:rPr lang="en-SG" sz="1000" b="0" i="1" smtClean="0">
                                  <a:latin typeface="Cambria Math" panose="02040503050406030204" pitchFamily="18" charset="0"/>
                                </a:rPr>
                              </m:ctrlPr>
                            </m:fPr>
                            <m:num>
                              <m:r>
                                <a:rPr lang="en-SG" sz="1000" b="0" i="1" smtClean="0">
                                  <a:latin typeface="Cambria Math" panose="02040503050406030204" pitchFamily="18" charset="0"/>
                                </a:rPr>
                                <m:t>𝑙𝑜𝑔𝑖𝑡𝑠</m:t>
                              </m:r>
                            </m:num>
                            <m:den>
                              <m:r>
                                <a:rPr lang="en-SG" sz="1000" b="0" i="1" smtClean="0">
                                  <a:latin typeface="Cambria Math" panose="02040503050406030204" pitchFamily="18" charset="0"/>
                                </a:rPr>
                                <m:t>𝑇</m:t>
                              </m:r>
                            </m:den>
                          </m:f>
                        </m:e>
                      </m:d>
                    </m:oMath>
                  </m:oMathPara>
                </a14:m>
                <a:endParaRPr lang="en-SG" sz="1000" dirty="0"/>
              </a:p>
              <a:p>
                <a:pPr/>
                <a14:m>
                  <m:oMathPara xmlns:m="http://schemas.openxmlformats.org/officeDocument/2006/math">
                    <m:oMathParaPr>
                      <m:jc m:val="left"/>
                    </m:oMathParaPr>
                    <m:oMath xmlns:m="http://schemas.openxmlformats.org/officeDocument/2006/math">
                      <m:r>
                        <a:rPr lang="en-SG" sz="1000" b="1" i="1" smtClean="0">
                          <a:latin typeface="Cambria Math" panose="02040503050406030204" pitchFamily="18" charset="0"/>
                        </a:rPr>
                        <m:t>𝒍𝒐𝒈𝒊𝒕𝒔</m:t>
                      </m:r>
                      <m:r>
                        <a:rPr lang="en-SG" sz="1000" b="1" i="1" smtClean="0">
                          <a:latin typeface="Cambria Math" panose="02040503050406030204" pitchFamily="18" charset="0"/>
                        </a:rPr>
                        <m:t>:</m:t>
                      </m:r>
                      <m:r>
                        <a:rPr lang="en-SG" sz="1000" i="1">
                          <a:latin typeface="Cambria Math" panose="02040503050406030204" pitchFamily="18" charset="0"/>
                        </a:rPr>
                        <m:t>𝑝𝑜𝑠𝑖𝑡𝑖𝑣𝑒</m:t>
                      </m:r>
                      <m:r>
                        <a:rPr lang="en-SG" sz="1000" i="1">
                          <a:latin typeface="Cambria Math" panose="02040503050406030204" pitchFamily="18" charset="0"/>
                        </a:rPr>
                        <m:t> </m:t>
                      </m:r>
                      <m:r>
                        <a:rPr lang="en-SG" sz="1000" i="1">
                          <a:latin typeface="Cambria Math" panose="02040503050406030204" pitchFamily="18" charset="0"/>
                        </a:rPr>
                        <m:t>𝑎𝑛𝑑</m:t>
                      </m:r>
                      <m:r>
                        <a:rPr lang="en-SG" sz="1000" i="1">
                          <a:latin typeface="Cambria Math" panose="02040503050406030204" pitchFamily="18" charset="0"/>
                        </a:rPr>
                        <m:t> </m:t>
                      </m:r>
                      <m:r>
                        <a:rPr lang="en-SG" sz="1000" i="1">
                          <a:latin typeface="Cambria Math" panose="02040503050406030204" pitchFamily="18" charset="0"/>
                        </a:rPr>
                        <m:t>𝑛𝑒𝑔𝑎𝑡𝑖𝑣𝑒</m:t>
                      </m:r>
                      <m:r>
                        <a:rPr lang="en-SG" sz="1000" i="1">
                          <a:latin typeface="Cambria Math" panose="02040503050406030204" pitchFamily="18" charset="0"/>
                        </a:rPr>
                        <m:t> </m:t>
                      </m:r>
                      <m:r>
                        <a:rPr lang="en-SG" sz="1000" i="1">
                          <a:latin typeface="Cambria Math" panose="02040503050406030204" pitchFamily="18" charset="0"/>
                        </a:rPr>
                        <m:t>𝑙𝑜𝑔𝑖𝑡𝑠</m:t>
                      </m:r>
                      <m:r>
                        <a:rPr lang="en-SG" sz="1000" i="1">
                          <a:latin typeface="Cambria Math" panose="02040503050406030204" pitchFamily="18" charset="0"/>
                        </a:rPr>
                        <m:t> (</m:t>
                      </m:r>
                      <m:r>
                        <a:rPr lang="en-SG" sz="1000" i="1">
                          <a:latin typeface="Cambria Math" panose="02040503050406030204" pitchFamily="18" charset="0"/>
                        </a:rPr>
                        <m:t>𝑖𝑛</m:t>
                      </m:r>
                      <m:r>
                        <a:rPr lang="en-SG" sz="1000" i="1">
                          <a:latin typeface="Cambria Math" panose="02040503050406030204" pitchFamily="18" charset="0"/>
                        </a:rPr>
                        <m:t>−</m:t>
                      </m:r>
                      <m:r>
                        <a:rPr lang="en-SG" sz="1000" i="1">
                          <a:latin typeface="Cambria Math" panose="02040503050406030204" pitchFamily="18" charset="0"/>
                        </a:rPr>
                        <m:t>𝑏𝑎𝑡𝑐h</m:t>
                      </m:r>
                      <m:r>
                        <a:rPr lang="en-SG" sz="1000" i="1">
                          <a:latin typeface="Cambria Math" panose="02040503050406030204" pitchFamily="18" charset="0"/>
                        </a:rPr>
                        <m:t> + </m:t>
                      </m:r>
                      <m:r>
                        <a:rPr lang="en-SG" sz="1000" i="1">
                          <a:latin typeface="Cambria Math" panose="02040503050406030204" pitchFamily="18" charset="0"/>
                        </a:rPr>
                        <m:t>𝑠𝑎𝑚𝑝𝑙𝑒𝑑</m:t>
                      </m:r>
                      <m:r>
                        <a:rPr lang="en-SG" sz="1000" i="1">
                          <a:latin typeface="Cambria Math" panose="02040503050406030204" pitchFamily="18" charset="0"/>
                        </a:rPr>
                        <m:t>)</m:t>
                      </m:r>
                    </m:oMath>
                  </m:oMathPara>
                </a14:m>
                <a:endParaRPr lang="en-SG" sz="1000" i="1" dirty="0">
                  <a:latin typeface="Cambria Math" panose="02040503050406030204" pitchFamily="18" charset="0"/>
                </a:endParaRPr>
              </a:p>
              <a:p>
                <a:endParaRPr lang="en-SG" sz="1000" dirty="0"/>
              </a:p>
              <a:p>
                <a:r>
                  <a:rPr lang="en-SG" sz="1000" b="1" dirty="0"/>
                  <a:t>Optimization during training: </a:t>
                </a:r>
                <a:r>
                  <a:rPr lang="en-SG" sz="1000" dirty="0"/>
                  <a:t>Mini-batch gradient descent on contrastive cross-entropy loss; maximize relative score separation between positive (u, i) pairs and negatives.</a:t>
                </a:r>
              </a:p>
              <a:p>
                <a:endParaRPr lang="en-SG" sz="1000" dirty="0"/>
              </a:p>
              <a:p>
                <a:r>
                  <a:rPr lang="en-SG" sz="1000" b="1" dirty="0"/>
                  <a:t>What This Means</a:t>
                </a:r>
                <a:endParaRPr lang="en-SG" sz="1000" dirty="0"/>
              </a:p>
              <a:p>
                <a:pPr marL="171450" indent="-171450">
                  <a:buFont typeface="Wingdings" panose="05000000000000000000" pitchFamily="2" charset="2"/>
                  <a:buChar char="Ø"/>
                </a:pPr>
                <a:r>
                  <a:rPr lang="en-SG" sz="1000" b="1" dirty="0"/>
                  <a:t>Generalizes MF with flexible parameterization and scalable training.</a:t>
                </a:r>
              </a:p>
              <a:p>
                <a:endParaRPr lang="en-SG" sz="1000" b="1" dirty="0"/>
              </a:p>
              <a:p>
                <a:r>
                  <a:rPr lang="en-SG" sz="1000" b="1" dirty="0"/>
                  <a:t>Key Limitation</a:t>
                </a:r>
              </a:p>
              <a:p>
                <a:r>
                  <a:rPr lang="en-SG" sz="1000" dirty="0"/>
                  <a:t>May underperform classical MF especially on limited datasets due to higher optimization complexity in neural training.</a:t>
                </a:r>
              </a:p>
              <a:p>
                <a:endParaRPr lang="en-SG" sz="1000" dirty="0"/>
              </a:p>
              <a:p>
                <a:endParaRPr lang="en-SG" sz="1000" dirty="0"/>
              </a:p>
              <a:p>
                <a:endParaRPr lang="en-SG" sz="1000" dirty="0"/>
              </a:p>
            </p:txBody>
          </p:sp>
        </mc:Choice>
        <mc:Fallback xmlns="">
          <p:sp>
            <p:nvSpPr>
              <p:cNvPr id="6" name="TextBox 5">
                <a:extLst>
                  <a:ext uri="{FF2B5EF4-FFF2-40B4-BE49-F238E27FC236}">
                    <a16:creationId xmlns:a16="http://schemas.microsoft.com/office/drawing/2014/main" id="{7E46001F-9023-0651-BB03-40CAF7BCAC84}"/>
                  </a:ext>
                </a:extLst>
              </p:cNvPr>
              <p:cNvSpPr txBox="1">
                <a:spLocks noRot="1" noChangeAspect="1" noMove="1" noResize="1" noEditPoints="1" noAdjustHandles="1" noChangeArrowheads="1" noChangeShapeType="1" noTextEdit="1"/>
              </p:cNvSpPr>
              <p:nvPr/>
            </p:nvSpPr>
            <p:spPr>
              <a:xfrm>
                <a:off x="8273133" y="1844040"/>
                <a:ext cx="3833141" cy="4900893"/>
              </a:xfrm>
              <a:prstGeom prst="rect">
                <a:avLst/>
              </a:prstGeom>
              <a:blipFill>
                <a:blip r:embed="rId4"/>
                <a:stretch>
                  <a:fillRect/>
                </a:stretch>
              </a:blipFill>
            </p:spPr>
            <p:txBody>
              <a:bodyPr/>
              <a:lstStyle/>
              <a:p>
                <a:r>
                  <a:rPr lang="en-SG">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FFD39FC1-E7FE-0653-7013-031429C5330E}"/>
                  </a:ext>
                </a:extLst>
              </p:cNvPr>
              <p:cNvSpPr txBox="1"/>
              <p:nvPr/>
            </p:nvSpPr>
            <p:spPr>
              <a:xfrm>
                <a:off x="176360" y="1836420"/>
                <a:ext cx="2453573" cy="2862322"/>
              </a:xfrm>
              <a:prstGeom prst="rect">
                <a:avLst/>
              </a:prstGeom>
              <a:solidFill>
                <a:schemeClr val="accent6">
                  <a:lumMod val="20000"/>
                  <a:lumOff val="80000"/>
                </a:schemeClr>
              </a:solidFill>
            </p:spPr>
            <p:txBody>
              <a:bodyPr wrap="square">
                <a:spAutoFit/>
              </a:bodyPr>
              <a:lstStyle/>
              <a:p>
                <a:r>
                  <a:rPr lang="en-SG" sz="1000" b="1" u="sng" dirty="0"/>
                  <a:t>Random Baseline (Null Model)</a:t>
                </a:r>
              </a:p>
              <a:p>
                <a:endParaRPr lang="en-SG" sz="1000" b="1" i="1" u="sng" dirty="0">
                  <a:latin typeface="Cambria Math" panose="02040503050406030204" pitchFamily="18" charset="0"/>
                </a:endParaRPr>
              </a:p>
              <a:p>
                <a:r>
                  <a:rPr lang="en-SG" sz="1000" b="1" dirty="0"/>
                  <a:t>Core Idea</a:t>
                </a:r>
              </a:p>
              <a:p>
                <a:r>
                  <a:rPr lang="en-SG" sz="1000" dirty="0"/>
                  <a:t>Random uniform scoring for any user-item pairing.</a:t>
                </a:r>
                <a:endParaRPr lang="en-SG" sz="1000" b="1" i="1" u="sng" dirty="0">
                  <a:latin typeface="Cambria Math" panose="02040503050406030204" pitchFamily="18" charset="0"/>
                </a:endParaRPr>
              </a:p>
              <a:p>
                <a:endParaRPr lang="en-SG" sz="1000" b="1" i="1" u="sng" dirty="0">
                  <a:latin typeface="Cambria Math" panose="02040503050406030204" pitchFamily="18" charset="0"/>
                </a:endParaRPr>
              </a:p>
              <a:p>
                <a:r>
                  <a:rPr lang="en-SG" sz="1000" b="1" dirty="0"/>
                  <a:t>Scoring Formula</a:t>
                </a:r>
                <a:endParaRPr lang="en-SG" sz="1000" b="1" i="1" u="sng"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SG" sz="1000" i="1">
                          <a:latin typeface="Cambria Math" panose="02040503050406030204" pitchFamily="18" charset="0"/>
                        </a:rPr>
                        <m:t>𝑠𝑐𝑜𝑟𝑒</m:t>
                      </m:r>
                      <m:d>
                        <m:dPr>
                          <m:ctrlPr>
                            <a:rPr lang="en-SG" sz="1000" i="1">
                              <a:latin typeface="Cambria Math" panose="02040503050406030204" pitchFamily="18" charset="0"/>
                            </a:rPr>
                          </m:ctrlPr>
                        </m:dPr>
                        <m:e>
                          <m:r>
                            <a:rPr lang="en-SG" sz="1000" b="0" i="1" smtClean="0">
                              <a:latin typeface="Cambria Math" panose="02040503050406030204" pitchFamily="18" charset="0"/>
                            </a:rPr>
                            <m:t>𝑢</m:t>
                          </m:r>
                          <m:r>
                            <a:rPr lang="en-SG" sz="1000" b="0" i="1" smtClean="0">
                              <a:latin typeface="Cambria Math" panose="02040503050406030204" pitchFamily="18" charset="0"/>
                            </a:rPr>
                            <m:t>,</m:t>
                          </m:r>
                          <m:r>
                            <a:rPr lang="en-SG" sz="1000" b="0" i="1" smtClean="0">
                              <a:latin typeface="Cambria Math" panose="02040503050406030204" pitchFamily="18" charset="0"/>
                            </a:rPr>
                            <m:t>𝑖</m:t>
                          </m:r>
                        </m:e>
                      </m:d>
                      <m:r>
                        <a:rPr lang="en-SG" sz="1000" b="0" i="1" smtClean="0">
                          <a:latin typeface="Cambria Math" panose="02040503050406030204" pitchFamily="18" charset="0"/>
                        </a:rPr>
                        <m:t> ~ </m:t>
                      </m:r>
                      <m:r>
                        <a:rPr lang="en-SG" sz="1000" b="0" i="1" smtClean="0">
                          <a:latin typeface="Cambria Math" panose="02040503050406030204" pitchFamily="18" charset="0"/>
                        </a:rPr>
                        <m:t>𝑈𝑛𝑖𝑓𝑜𝑟𝑚</m:t>
                      </m:r>
                      <m:r>
                        <a:rPr lang="en-SG" sz="1000" b="0" i="1" smtClean="0">
                          <a:latin typeface="Cambria Math" panose="02040503050406030204" pitchFamily="18" charset="0"/>
                        </a:rPr>
                        <m:t>(0.1)</m:t>
                      </m:r>
                    </m:oMath>
                  </m:oMathPara>
                </a14:m>
                <a:endParaRPr lang="en-SG" sz="1000" b="1" dirty="0"/>
              </a:p>
              <a:p>
                <a:endParaRPr lang="en-SG" sz="1000" dirty="0"/>
              </a:p>
              <a:p>
                <a:r>
                  <a:rPr lang="en-SG" sz="1000" b="1" dirty="0"/>
                  <a:t>What This Means</a:t>
                </a:r>
              </a:p>
              <a:p>
                <a:pPr marL="171450" indent="-171450">
                  <a:buFont typeface="Wingdings" panose="05000000000000000000" pitchFamily="2" charset="2"/>
                  <a:buChar char="Ø"/>
                </a:pPr>
                <a:r>
                  <a:rPr lang="en-SG" sz="1000" dirty="0"/>
                  <a:t>Zero-information No-preference model</a:t>
                </a:r>
              </a:p>
              <a:p>
                <a:pPr marL="171450" indent="-171450">
                  <a:buFont typeface="Wingdings" panose="05000000000000000000" pitchFamily="2" charset="2"/>
                  <a:buChar char="Ø"/>
                </a:pPr>
                <a:r>
                  <a:rPr lang="en-SG" sz="1000" dirty="0"/>
                  <a:t>Establish theoretical floor</a:t>
                </a:r>
              </a:p>
              <a:p>
                <a:pPr marL="171450" indent="-171450">
                  <a:buFont typeface="Wingdings" panose="05000000000000000000" pitchFamily="2" charset="2"/>
                  <a:buChar char="Ø"/>
                </a:pPr>
                <a:endParaRPr lang="en-SG" sz="1000" dirty="0"/>
              </a:p>
              <a:p>
                <a:pPr marL="171450" indent="-171450">
                  <a:buFont typeface="Wingdings" panose="05000000000000000000" pitchFamily="2" charset="2"/>
                  <a:buChar char="Ø"/>
                </a:pPr>
                <a:endParaRPr lang="en-SG" sz="1000" dirty="0"/>
              </a:p>
              <a:p>
                <a:pPr marL="171450" indent="-171450">
                  <a:buFont typeface="Wingdings" panose="05000000000000000000" pitchFamily="2" charset="2"/>
                  <a:buChar char="Ø"/>
                </a:pPr>
                <a:endParaRPr lang="en-SG" sz="1000" dirty="0"/>
              </a:p>
              <a:p>
                <a:pPr marL="171450" indent="-171450">
                  <a:buFont typeface="Wingdings" panose="05000000000000000000" pitchFamily="2" charset="2"/>
                  <a:buChar char="Ø"/>
                </a:pPr>
                <a:endParaRPr lang="en-SG" sz="1000" dirty="0"/>
              </a:p>
              <a:p>
                <a:pPr marL="171450" indent="-171450">
                  <a:buFont typeface="Wingdings" panose="05000000000000000000" pitchFamily="2" charset="2"/>
                  <a:buChar char="Ø"/>
                </a:pPr>
                <a:endParaRPr lang="en-SG" sz="1000" dirty="0"/>
              </a:p>
            </p:txBody>
          </p:sp>
        </mc:Choice>
        <mc:Fallback>
          <p:sp>
            <p:nvSpPr>
              <p:cNvPr id="7" name="TextBox 6">
                <a:extLst>
                  <a:ext uri="{FF2B5EF4-FFF2-40B4-BE49-F238E27FC236}">
                    <a16:creationId xmlns:a16="http://schemas.microsoft.com/office/drawing/2014/main" id="{FFD39FC1-E7FE-0653-7013-031429C5330E}"/>
                  </a:ext>
                </a:extLst>
              </p:cNvPr>
              <p:cNvSpPr txBox="1">
                <a:spLocks noRot="1" noChangeAspect="1" noMove="1" noResize="1" noEditPoints="1" noAdjustHandles="1" noChangeArrowheads="1" noChangeShapeType="1" noTextEdit="1"/>
              </p:cNvSpPr>
              <p:nvPr/>
            </p:nvSpPr>
            <p:spPr>
              <a:xfrm>
                <a:off x="176360" y="1836420"/>
                <a:ext cx="2453573" cy="2862322"/>
              </a:xfrm>
              <a:prstGeom prst="rect">
                <a:avLst/>
              </a:prstGeom>
              <a:blipFill>
                <a:blip r:embed="rId5"/>
                <a:stretch>
                  <a:fillRect/>
                </a:stretch>
              </a:blipFill>
            </p:spPr>
            <p:txBody>
              <a:bodyPr/>
              <a:lstStyle/>
              <a:p>
                <a:r>
                  <a:rPr lang="en-SG">
                    <a:noFill/>
                  </a:rPr>
                  <a:t> </a:t>
                </a:r>
              </a:p>
            </p:txBody>
          </p:sp>
        </mc:Fallback>
      </mc:AlternateContent>
    </p:spTree>
    <p:extLst>
      <p:ext uri="{BB962C8B-B14F-4D97-AF65-F5344CB8AC3E}">
        <p14:creationId xmlns:p14="http://schemas.microsoft.com/office/powerpoint/2010/main" val="14312627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ED3EB9-F11A-E1BB-0680-1C5FF818CF77}"/>
              </a:ext>
            </a:extLst>
          </p:cNvPr>
          <p:cNvSpPr>
            <a:spLocks noGrp="1"/>
          </p:cNvSpPr>
          <p:nvPr>
            <p:ph type="title"/>
          </p:nvPr>
        </p:nvSpPr>
        <p:spPr>
          <a:xfrm>
            <a:off x="1625438" y="624110"/>
            <a:ext cx="10242712" cy="1280890"/>
          </a:xfrm>
        </p:spPr>
        <p:txBody>
          <a:bodyPr>
            <a:normAutofit/>
          </a:bodyPr>
          <a:lstStyle/>
          <a:p>
            <a:r>
              <a:rPr lang="en-SG" dirty="0"/>
              <a:t>Recommender Engine</a:t>
            </a:r>
            <a:br>
              <a:rPr lang="en-SG" dirty="0"/>
            </a:br>
            <a:r>
              <a:rPr lang="en-SG" dirty="0"/>
              <a:t>(Appendix – Key Results)</a:t>
            </a:r>
          </a:p>
        </p:txBody>
      </p:sp>
      <p:sp>
        <p:nvSpPr>
          <p:cNvPr id="5" name="TextBox 4">
            <a:extLst>
              <a:ext uri="{FF2B5EF4-FFF2-40B4-BE49-F238E27FC236}">
                <a16:creationId xmlns:a16="http://schemas.microsoft.com/office/drawing/2014/main" id="{3B93D838-0147-4FC0-0ED7-9C3FEC136916}"/>
              </a:ext>
            </a:extLst>
          </p:cNvPr>
          <p:cNvSpPr txBox="1"/>
          <p:nvPr/>
        </p:nvSpPr>
        <p:spPr>
          <a:xfrm>
            <a:off x="1253782" y="1871743"/>
            <a:ext cx="9761059" cy="3785652"/>
          </a:xfrm>
          <a:prstGeom prst="rect">
            <a:avLst/>
          </a:prstGeom>
          <a:solidFill>
            <a:schemeClr val="accent5">
              <a:lumMod val="20000"/>
              <a:lumOff val="80000"/>
            </a:schemeClr>
          </a:solidFill>
        </p:spPr>
        <p:txBody>
          <a:bodyPr wrap="square">
            <a:spAutoFit/>
          </a:bodyPr>
          <a:lstStyle/>
          <a:p>
            <a:r>
              <a:rPr lang="en-SG" sz="1600" b="1" u="sng" dirty="0"/>
              <a:t>Executive Takeaway</a:t>
            </a:r>
          </a:p>
          <a:p>
            <a:pPr marL="285750" indent="-285750">
              <a:buFont typeface="Wingdings" panose="05000000000000000000" pitchFamily="2" charset="2"/>
              <a:buChar char="Ø"/>
            </a:pPr>
            <a:r>
              <a:rPr lang="en-SG" sz="1600" b="1" dirty="0"/>
              <a:t>Matrix Factorization </a:t>
            </a:r>
            <a:r>
              <a:rPr lang="en-SG" sz="1600" dirty="0"/>
              <a:t>is the current production default for Stage 1 Candidate Retrieval</a:t>
            </a:r>
          </a:p>
          <a:p>
            <a:pPr marL="285750" indent="-285750">
              <a:buFont typeface="Wingdings" panose="05000000000000000000" pitchFamily="2" charset="2"/>
              <a:buChar char="Ø"/>
            </a:pPr>
            <a:r>
              <a:rPr lang="en-SG" sz="1600" b="1" dirty="0"/>
              <a:t>Two-Tower </a:t>
            </a:r>
            <a:r>
              <a:rPr lang="en-SG" sz="1600" dirty="0"/>
              <a:t>remains a challenger pending richer features</a:t>
            </a:r>
          </a:p>
          <a:p>
            <a:pPr marL="285750" indent="-285750">
              <a:buFont typeface="Wingdings" panose="05000000000000000000" pitchFamily="2" charset="2"/>
              <a:buChar char="Ø"/>
            </a:pPr>
            <a:r>
              <a:rPr lang="en-SG" sz="1600" b="1" dirty="0"/>
              <a:t>Popularity</a:t>
            </a:r>
            <a:r>
              <a:rPr lang="en-SG" sz="1600" dirty="0"/>
              <a:t> as sanity baseline.</a:t>
            </a:r>
          </a:p>
          <a:p>
            <a:pPr marL="285750" indent="-285750">
              <a:buFont typeface="Wingdings" panose="05000000000000000000" pitchFamily="2" charset="2"/>
              <a:buChar char="Ø"/>
            </a:pPr>
            <a:r>
              <a:rPr lang="en-SG" sz="1600" dirty="0"/>
              <a:t>Secondary metrics </a:t>
            </a:r>
            <a:r>
              <a:rPr lang="en-SG" sz="1600" b="1" dirty="0"/>
              <a:t>(NDCG, HitRate)</a:t>
            </a:r>
            <a:r>
              <a:rPr lang="en-SG" sz="1600" dirty="0"/>
              <a:t> monitored; no conflicting signals with </a:t>
            </a:r>
            <a:r>
              <a:rPr lang="en-SG" sz="1600" b="1" dirty="0"/>
              <a:t>Recall@20.</a:t>
            </a:r>
          </a:p>
          <a:p>
            <a:endParaRPr lang="en-SG" sz="1600" b="1" dirty="0"/>
          </a:p>
          <a:p>
            <a:endParaRPr lang="en-SG" sz="1600" b="1" dirty="0"/>
          </a:p>
          <a:p>
            <a:r>
              <a:rPr lang="en-SG" sz="1600" b="1" u="sng" dirty="0"/>
              <a:t>Model Comparison (Recall@20)</a:t>
            </a:r>
          </a:p>
          <a:p>
            <a:endParaRPr lang="en-SG" sz="1600" b="1" dirty="0"/>
          </a:p>
          <a:p>
            <a:endParaRPr lang="en-SG" sz="1600" b="1" dirty="0"/>
          </a:p>
          <a:p>
            <a:endParaRPr lang="en-SG" sz="1600" b="1" dirty="0"/>
          </a:p>
          <a:p>
            <a:endParaRPr lang="en-SG" sz="1600" b="1" dirty="0"/>
          </a:p>
          <a:p>
            <a:endParaRPr lang="en-SG" sz="1600" b="1" dirty="0"/>
          </a:p>
          <a:p>
            <a:endParaRPr lang="en-SG" sz="1600" b="1" dirty="0"/>
          </a:p>
          <a:p>
            <a:r>
              <a:rPr lang="en-SG" sz="1600" b="1" dirty="0"/>
              <a:t>Selection Rule: </a:t>
            </a:r>
            <a:r>
              <a:rPr lang="en-SG" sz="1600" dirty="0"/>
              <a:t>Maximize validation </a:t>
            </a:r>
            <a:r>
              <a:rPr lang="en-SG" sz="1600" b="1" dirty="0"/>
              <a:t>Recall@20</a:t>
            </a:r>
          </a:p>
        </p:txBody>
      </p:sp>
      <p:graphicFrame>
        <p:nvGraphicFramePr>
          <p:cNvPr id="3" name="Table 2">
            <a:extLst>
              <a:ext uri="{FF2B5EF4-FFF2-40B4-BE49-F238E27FC236}">
                <a16:creationId xmlns:a16="http://schemas.microsoft.com/office/drawing/2014/main" id="{2B3EF80E-5EFB-8504-D8D5-A7C6B9EE0771}"/>
              </a:ext>
            </a:extLst>
          </p:cNvPr>
          <p:cNvGraphicFramePr>
            <a:graphicFrameLocks noGrp="1"/>
          </p:cNvGraphicFramePr>
          <p:nvPr>
            <p:extLst>
              <p:ext uri="{D42A27DB-BD31-4B8C-83A1-F6EECF244321}">
                <p14:modId xmlns:p14="http://schemas.microsoft.com/office/powerpoint/2010/main" val="1691110620"/>
              </p:ext>
            </p:extLst>
          </p:nvPr>
        </p:nvGraphicFramePr>
        <p:xfrm>
          <a:off x="1348375" y="3948982"/>
          <a:ext cx="3340050" cy="1345782"/>
        </p:xfrm>
        <a:graphic>
          <a:graphicData uri="http://schemas.openxmlformats.org/drawingml/2006/table">
            <a:tbl>
              <a:tblPr firstRow="1" bandRow="1">
                <a:tableStyleId>{5C22544A-7EE6-4342-B048-85BDC9FD1C3A}</a:tableStyleId>
              </a:tblPr>
              <a:tblGrid>
                <a:gridCol w="1113350">
                  <a:extLst>
                    <a:ext uri="{9D8B030D-6E8A-4147-A177-3AD203B41FA5}">
                      <a16:colId xmlns:a16="http://schemas.microsoft.com/office/drawing/2014/main" val="1578905552"/>
                    </a:ext>
                  </a:extLst>
                </a:gridCol>
                <a:gridCol w="1113350">
                  <a:extLst>
                    <a:ext uri="{9D8B030D-6E8A-4147-A177-3AD203B41FA5}">
                      <a16:colId xmlns:a16="http://schemas.microsoft.com/office/drawing/2014/main" val="2062257706"/>
                    </a:ext>
                  </a:extLst>
                </a:gridCol>
                <a:gridCol w="1113350">
                  <a:extLst>
                    <a:ext uri="{9D8B030D-6E8A-4147-A177-3AD203B41FA5}">
                      <a16:colId xmlns:a16="http://schemas.microsoft.com/office/drawing/2014/main" val="1376440620"/>
                    </a:ext>
                  </a:extLst>
                </a:gridCol>
              </a:tblGrid>
              <a:tr h="371730">
                <a:tc>
                  <a:txBody>
                    <a:bodyPr/>
                    <a:lstStyle/>
                    <a:p>
                      <a:r>
                        <a:rPr lang="en-SG" sz="1200" dirty="0"/>
                        <a:t>Model</a:t>
                      </a:r>
                    </a:p>
                  </a:txBody>
                  <a:tcPr/>
                </a:tc>
                <a:tc>
                  <a:txBody>
                    <a:bodyPr/>
                    <a:lstStyle/>
                    <a:p>
                      <a:r>
                        <a:rPr lang="en-SG" sz="1200" dirty="0"/>
                        <a:t>Recall@20 (Validation)</a:t>
                      </a:r>
                    </a:p>
                  </a:txBody>
                  <a:tcPr/>
                </a:tc>
                <a:tc>
                  <a:txBody>
                    <a:bodyPr/>
                    <a:lstStyle/>
                    <a:p>
                      <a:r>
                        <a:rPr lang="en-SG" sz="1200" dirty="0"/>
                        <a:t>Recall@20 (Test)</a:t>
                      </a:r>
                    </a:p>
                  </a:txBody>
                  <a:tcPr/>
                </a:tc>
                <a:extLst>
                  <a:ext uri="{0D108BD9-81ED-4DB2-BD59-A6C34878D82A}">
                    <a16:rowId xmlns:a16="http://schemas.microsoft.com/office/drawing/2014/main" val="1796225289"/>
                  </a:ext>
                </a:extLst>
              </a:tr>
              <a:tr h="301034">
                <a:tc>
                  <a:txBody>
                    <a:bodyPr/>
                    <a:lstStyle/>
                    <a:p>
                      <a:r>
                        <a:rPr lang="en-SG" sz="1200" dirty="0"/>
                        <a:t>Popularity</a:t>
                      </a:r>
                    </a:p>
                  </a:txBody>
                  <a:tcPr/>
                </a:tc>
                <a:tc>
                  <a:txBody>
                    <a:bodyPr/>
                    <a:lstStyle/>
                    <a:p>
                      <a:r>
                        <a:rPr lang="en-SG" sz="1200" dirty="0"/>
                        <a:t>0.056</a:t>
                      </a:r>
                    </a:p>
                  </a:txBody>
                  <a:tcPr/>
                </a:tc>
                <a:tc>
                  <a:txBody>
                    <a:bodyPr/>
                    <a:lstStyle/>
                    <a:p>
                      <a:r>
                        <a:rPr lang="en-SG" sz="1200" dirty="0"/>
                        <a:t>0.067</a:t>
                      </a:r>
                    </a:p>
                  </a:txBody>
                  <a:tcPr/>
                </a:tc>
                <a:extLst>
                  <a:ext uri="{0D108BD9-81ED-4DB2-BD59-A6C34878D82A}">
                    <a16:rowId xmlns:a16="http://schemas.microsoft.com/office/drawing/2014/main" val="2952646974"/>
                  </a:ext>
                </a:extLst>
              </a:tr>
              <a:tr h="293774">
                <a:tc>
                  <a:txBody>
                    <a:bodyPr/>
                    <a:lstStyle/>
                    <a:p>
                      <a:r>
                        <a:rPr lang="en-SG" sz="1200" b="1" dirty="0"/>
                        <a:t>MF</a:t>
                      </a:r>
                    </a:p>
                  </a:txBody>
                  <a:tcPr/>
                </a:tc>
                <a:tc>
                  <a:txBody>
                    <a:bodyPr/>
                    <a:lstStyle/>
                    <a:p>
                      <a:r>
                        <a:rPr lang="en-SG" sz="1200" b="1" dirty="0"/>
                        <a:t>0.125</a:t>
                      </a:r>
                    </a:p>
                  </a:txBody>
                  <a:tcPr/>
                </a:tc>
                <a:tc>
                  <a:txBody>
                    <a:bodyPr/>
                    <a:lstStyle/>
                    <a:p>
                      <a:r>
                        <a:rPr lang="en-SG" sz="1200" b="1" dirty="0"/>
                        <a:t>0.096</a:t>
                      </a:r>
                    </a:p>
                  </a:txBody>
                  <a:tcPr/>
                </a:tc>
                <a:extLst>
                  <a:ext uri="{0D108BD9-81ED-4DB2-BD59-A6C34878D82A}">
                    <a16:rowId xmlns:a16="http://schemas.microsoft.com/office/drawing/2014/main" val="1452641054"/>
                  </a:ext>
                </a:extLst>
              </a:tr>
              <a:tr h="293774">
                <a:tc>
                  <a:txBody>
                    <a:bodyPr/>
                    <a:lstStyle/>
                    <a:p>
                      <a:r>
                        <a:rPr lang="en-SG" sz="1200" dirty="0"/>
                        <a:t>Two-Tower</a:t>
                      </a:r>
                    </a:p>
                  </a:txBody>
                  <a:tcPr/>
                </a:tc>
                <a:tc>
                  <a:txBody>
                    <a:bodyPr/>
                    <a:lstStyle/>
                    <a:p>
                      <a:r>
                        <a:rPr lang="en-SG" sz="1200" dirty="0"/>
                        <a:t>0.100</a:t>
                      </a:r>
                    </a:p>
                  </a:txBody>
                  <a:tcPr/>
                </a:tc>
                <a:tc>
                  <a:txBody>
                    <a:bodyPr/>
                    <a:lstStyle/>
                    <a:p>
                      <a:r>
                        <a:rPr lang="en-SG" sz="1200" dirty="0"/>
                        <a:t>0.073</a:t>
                      </a:r>
                    </a:p>
                  </a:txBody>
                  <a:tcPr/>
                </a:tc>
                <a:extLst>
                  <a:ext uri="{0D108BD9-81ED-4DB2-BD59-A6C34878D82A}">
                    <a16:rowId xmlns:a16="http://schemas.microsoft.com/office/drawing/2014/main" val="840444793"/>
                  </a:ext>
                </a:extLst>
              </a:tr>
            </a:tbl>
          </a:graphicData>
        </a:graphic>
      </p:graphicFrame>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DA3C42B-54F2-25E1-2036-96242D058184}"/>
                  </a:ext>
                </a:extLst>
              </p:cNvPr>
              <p:cNvSpPr txBox="1"/>
              <p:nvPr/>
            </p:nvSpPr>
            <p:spPr>
              <a:xfrm>
                <a:off x="5864771" y="6027003"/>
                <a:ext cx="6327231" cy="830997"/>
              </a:xfrm>
              <a:prstGeom prst="rect">
                <a:avLst/>
              </a:prstGeom>
              <a:solidFill>
                <a:schemeClr val="accent6">
                  <a:lumMod val="20000"/>
                  <a:lumOff val="80000"/>
                </a:schemeClr>
              </a:solidFill>
            </p:spPr>
            <p:txBody>
              <a:bodyPr wrap="square">
                <a:spAutoFit/>
              </a:bodyPr>
              <a:lstStyle/>
              <a:p>
                <a:r>
                  <a:rPr lang="en-SG" sz="1200" b="1" u="sng" dirty="0"/>
                  <a:t>Evaluation Metrics (Reference)</a:t>
                </a:r>
              </a:p>
              <a:p>
                <a:pPr marL="171450" indent="-171450">
                  <a:buFont typeface="Wingdings" panose="05000000000000000000" pitchFamily="2" charset="2"/>
                  <a:buChar char="Ø"/>
                </a:pPr>
                <a:r>
                  <a:rPr lang="en-SG" sz="1200" b="1" dirty="0"/>
                  <a:t>Recall@K (Item Coverage): </a:t>
                </a:r>
                <a:r>
                  <a:rPr lang="en-SG" sz="1200" dirty="0"/>
                  <a:t>% of relevant items retrieved in top-K search</a:t>
                </a:r>
              </a:p>
              <a:p>
                <a:pPr marL="171450" indent="-171450">
                  <a:buFont typeface="Wingdings" panose="05000000000000000000" pitchFamily="2" charset="2"/>
                  <a:buChar char="Ø"/>
                </a:pPr>
                <a:r>
                  <a:rPr lang="en-SG" sz="1200" b="1" dirty="0"/>
                  <a:t>NDCG@K (Item Relevance): </a:t>
                </a:r>
                <a:r>
                  <a:rPr lang="en-SG" sz="1200" dirty="0"/>
                  <a:t>position-aware ranking quality metric in top-K search</a:t>
                </a:r>
              </a:p>
              <a:p>
                <a:pPr marL="171450" indent="-171450">
                  <a:buFont typeface="Wingdings" panose="05000000000000000000" pitchFamily="2" charset="2"/>
                  <a:buChar char="Ø"/>
                </a:pPr>
                <a:r>
                  <a:rPr lang="en-SG" sz="1200" b="1" dirty="0"/>
                  <a:t>HitRate@K (Forgiving Item Coverage): </a:t>
                </a:r>
                <a:r>
                  <a:rPr lang="en-SG" sz="1200" dirty="0"/>
                  <a:t>% of users </a:t>
                </a:r>
                <a14:m>
                  <m:oMath xmlns:m="http://schemas.openxmlformats.org/officeDocument/2006/math">
                    <m:r>
                      <a:rPr lang="en-SG" sz="1200" i="1" smtClean="0">
                        <a:latin typeface="Cambria Math" panose="02040503050406030204" pitchFamily="18" charset="0"/>
                        <a:ea typeface="Cambria Math" panose="02040503050406030204" pitchFamily="18" charset="0"/>
                      </a:rPr>
                      <m:t>≥</m:t>
                    </m:r>
                  </m:oMath>
                </a14:m>
                <a:r>
                  <a:rPr lang="en-SG" sz="1200" dirty="0"/>
                  <a:t> 1 relevant item in top-K search</a:t>
                </a:r>
              </a:p>
            </p:txBody>
          </p:sp>
        </mc:Choice>
        <mc:Fallback xmlns="">
          <p:sp>
            <p:nvSpPr>
              <p:cNvPr id="10" name="TextBox 9">
                <a:extLst>
                  <a:ext uri="{FF2B5EF4-FFF2-40B4-BE49-F238E27FC236}">
                    <a16:creationId xmlns:a16="http://schemas.microsoft.com/office/drawing/2014/main" id="{9DA3C42B-54F2-25E1-2036-96242D058184}"/>
                  </a:ext>
                </a:extLst>
              </p:cNvPr>
              <p:cNvSpPr txBox="1">
                <a:spLocks noRot="1" noChangeAspect="1" noMove="1" noResize="1" noEditPoints="1" noAdjustHandles="1" noChangeArrowheads="1" noChangeShapeType="1" noTextEdit="1"/>
              </p:cNvSpPr>
              <p:nvPr/>
            </p:nvSpPr>
            <p:spPr>
              <a:xfrm>
                <a:off x="5864771" y="6027003"/>
                <a:ext cx="6327231" cy="830997"/>
              </a:xfrm>
              <a:prstGeom prst="rect">
                <a:avLst/>
              </a:prstGeom>
              <a:blipFill>
                <a:blip r:embed="rId3"/>
                <a:stretch>
                  <a:fillRect b="-5147"/>
                </a:stretch>
              </a:blipFill>
            </p:spPr>
            <p:txBody>
              <a:bodyPr/>
              <a:lstStyle/>
              <a:p>
                <a:r>
                  <a:rPr lang="en-SG">
                    <a:noFill/>
                  </a:rPr>
                  <a:t> </a:t>
                </a:r>
              </a:p>
            </p:txBody>
          </p:sp>
        </mc:Fallback>
      </mc:AlternateContent>
    </p:spTree>
    <p:extLst>
      <p:ext uri="{BB962C8B-B14F-4D97-AF65-F5344CB8AC3E}">
        <p14:creationId xmlns:p14="http://schemas.microsoft.com/office/powerpoint/2010/main" val="668752119"/>
      </p:ext>
    </p:extLst>
  </p:cSld>
  <p:clrMapOvr>
    <a:masterClrMapping/>
  </p:clrMapOvr>
</p:sld>
</file>

<file path=ppt/theme/theme1.xml><?xml version="1.0" encoding="utf-8"?>
<a:theme xmlns:a="http://schemas.openxmlformats.org/drawingml/2006/main" name="Wisp">
  <a:themeElements>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fontScheme name="Wisp">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isp">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Wisp" id="{7CB32D59-10C0-40DD-B7BD-2E94284A981C}" vid="{24B1A44C-C006-48B2-A4D7-E5549B3D8CD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Wisp</Template>
  <TotalTime>4325</TotalTime>
  <Words>3982</Words>
  <Application>Microsoft Office PowerPoint</Application>
  <PresentationFormat>Widescreen</PresentationFormat>
  <Paragraphs>571</Paragraphs>
  <Slides>14</Slides>
  <Notes>11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14</vt:i4>
      </vt:variant>
    </vt:vector>
  </HeadingPairs>
  <TitlesOfParts>
    <vt:vector size="22" baseType="lpstr">
      <vt:lpstr>Century Gothic (Body)</vt:lpstr>
      <vt:lpstr>Aptos</vt:lpstr>
      <vt:lpstr>Arial</vt:lpstr>
      <vt:lpstr>Cambria Math</vt:lpstr>
      <vt:lpstr>Century Gothic</vt:lpstr>
      <vt:lpstr>Wingdings</vt:lpstr>
      <vt:lpstr>Wingdings 3</vt:lpstr>
      <vt:lpstr>Wisp</vt:lpstr>
      <vt:lpstr>Architecture</vt:lpstr>
      <vt:lpstr>Marketplace Growth Optimization with ML</vt:lpstr>
      <vt:lpstr>Overall Platform Architecture</vt:lpstr>
      <vt:lpstr>Purchase Propensity Engine</vt:lpstr>
      <vt:lpstr>Recommender Engine</vt:lpstr>
      <vt:lpstr>Purchase Propensity Engine (Appendix – Model &amp; Evaluation Design)</vt:lpstr>
      <vt:lpstr>Purchase Propensity Engine (Appendix – Policy Scoring Mechanics)</vt:lpstr>
      <vt:lpstr>Purchase Propensity Engine (Appendix – Policy Scoring Mechanics)</vt:lpstr>
      <vt:lpstr>Purchase Propensity Engine (Appendix – Key Results)</vt:lpstr>
      <vt:lpstr>Purchase Propensity Engine (Appendix – Key Results)</vt:lpstr>
      <vt:lpstr>Purchase Propensity Engine (Appendix – Key Results)</vt:lpstr>
      <vt:lpstr>Recommender Engine (Appendix – Model &amp; Evaluation Design)</vt:lpstr>
      <vt:lpstr>Recommender Engine (Appendix – Model Scoring Mechanics)</vt:lpstr>
      <vt:lpstr>Recommender Engine (Appendix – Key Results)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Humphrey Tan</dc:creator>
  <cp:lastModifiedBy>Humphrey Tan</cp:lastModifiedBy>
  <cp:revision>1243</cp:revision>
  <dcterms:created xsi:type="dcterms:W3CDTF">2026-02-22T04:36:36Z</dcterms:created>
  <dcterms:modified xsi:type="dcterms:W3CDTF">2026-03-16T07:53:53Z</dcterms:modified>
</cp:coreProperties>
</file>