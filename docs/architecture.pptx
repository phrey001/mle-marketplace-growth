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2.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83" r:id="rId1"/>
  </p:sldMasterIdLst>
  <p:notesMasterIdLst>
    <p:notesMasterId r:id="rId12"/>
  </p:notesMasterIdLst>
  <p:sldIdLst>
    <p:sldId id="256" r:id="rId2"/>
    <p:sldId id="257" r:id="rId3"/>
    <p:sldId id="258" r:id="rId4"/>
    <p:sldId id="260" r:id="rId5"/>
    <p:sldId id="262" r:id="rId6"/>
    <p:sldId id="265" r:id="rId7"/>
    <p:sldId id="264" r:id="rId8"/>
    <p:sldId id="267" r:id="rId9"/>
    <p:sldId id="263"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17C3D5E-C80A-43A9-9E6D-B27078164170}">
          <p14:sldIdLst>
            <p14:sldId id="256"/>
            <p14:sldId id="257"/>
            <p14:sldId id="258"/>
            <p14:sldId id="260"/>
          </p14:sldIdLst>
        </p14:section>
        <p14:section name="Appendix" id="{178CFB41-C5C4-4518-84B2-9E9202496C7D}">
          <p14:sldIdLst>
            <p14:sldId id="262"/>
            <p14:sldId id="265"/>
            <p14:sldId id="264"/>
            <p14:sldId id="267"/>
            <p14:sldId id="263"/>
          </p14:sldIdLst>
        </p14:section>
        <p14:section name="Reference - delete later" id="{FBBA76E2-51F0-4ED0-B4B3-58CADCFFBF0D}">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53010"/>
    <a:srgbClr val="D1DDB0"/>
    <a:srgbClr val="F9CFC3"/>
    <a:srgbClr val="FAE5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6247" autoAdjust="0"/>
  </p:normalViewPr>
  <p:slideViewPr>
    <p:cSldViewPr snapToGrid="0">
      <p:cViewPr>
        <p:scale>
          <a:sx n="100" d="100"/>
          <a:sy n="100" d="100"/>
        </p:scale>
        <p:origin x="912" y="312"/>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_rels/data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0B5B70DB-C372-486F-A52D-26714D56BF44}">
      <dgm:prSet custT="1"/>
      <dgm:spPr/>
      <dgm:t>
        <a:bodyPr/>
        <a:lstStyle/>
        <a:p>
          <a:r>
            <a:rPr lang="en-SG" sz="1400" b="1" dirty="0"/>
            <a:t>Purchase Propensity Engine</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dirty="0"/>
        </a:p>
      </dgm:t>
    </dgm:pt>
    <dgm:pt modelId="{BE1CF92B-E233-45F0-86C5-16F51FF2EC39}">
      <dgm:prSet custT="1"/>
      <dgm:spPr/>
      <dgm:t>
        <a:bodyPr/>
        <a:lstStyle/>
        <a:p>
          <a:r>
            <a:rPr lang="en-SG" sz="1200" dirty="0"/>
            <a:t>Training Pipeline (Offline): Purchase Propensity Modelling</a:t>
          </a:r>
        </a:p>
      </dgm:t>
    </dgm:pt>
    <dgm:pt modelId="{CADBA3B3-0E95-46E3-BD45-554A451764AE}" type="parTrans" cxnId="{7FE6A1F6-0295-4FF9-BD45-AA6601A252D0}">
      <dgm:prSet/>
      <dgm:spPr/>
      <dgm:t>
        <a:bodyPr/>
        <a:lstStyle/>
        <a:p>
          <a:endParaRPr lang="en-SG"/>
        </a:p>
      </dgm:t>
    </dgm:pt>
    <dgm:pt modelId="{C7B67B06-F568-4F00-A990-2D3E2833329B}" type="sibTrans" cxnId="{7FE6A1F6-0295-4FF9-BD45-AA6601A252D0}">
      <dgm:prSet/>
      <dgm:spPr/>
      <dgm:t>
        <a:bodyPr/>
        <a:lstStyle/>
        <a:p>
          <a:endParaRPr lang="en-SG"/>
        </a:p>
      </dgm:t>
    </dgm:pt>
    <dgm:pt modelId="{37544A0C-6DF7-435C-8FA1-8FE37503C07D}">
      <dgm:prSet custT="1"/>
      <dgm:spPr/>
      <dgm:t>
        <a:bodyPr/>
        <a:lstStyle/>
        <a:p>
          <a:r>
            <a:rPr lang="en-SG" sz="1200" dirty="0"/>
            <a:t>Serving (Policy) Pipeline: Incentive Allocation (Budget-Constrained)</a:t>
          </a:r>
        </a:p>
      </dgm:t>
    </dgm:pt>
    <dgm:pt modelId="{2CBBC2EE-E3DE-4291-8BDA-AA06740B4FF3}" type="parTrans" cxnId="{6CBE368C-0516-4D4C-AC0F-A6C3E8765701}">
      <dgm:prSet/>
      <dgm:spPr/>
      <dgm:t>
        <a:bodyPr/>
        <a:lstStyle/>
        <a:p>
          <a:endParaRPr lang="en-SG"/>
        </a:p>
      </dgm:t>
    </dgm:pt>
    <dgm:pt modelId="{3E5B9DB5-F3DE-4990-8BEC-F02849DC7160}" type="sibTrans" cxnId="{6CBE368C-0516-4D4C-AC0F-A6C3E8765701}">
      <dgm:prSet/>
      <dgm:spPr/>
      <dgm:t>
        <a:bodyPr/>
        <a:lstStyle/>
        <a:p>
          <a:endParaRPr lang="en-SG"/>
        </a:p>
      </dgm:t>
    </dgm:pt>
    <dgm:pt modelId="{4D17E48B-816F-4E22-9171-D7C3EC19B9C9}">
      <dgm:prSet custT="1"/>
      <dgm:spPr/>
      <dgm:t>
        <a:bodyPr/>
        <a:lstStyle/>
        <a:p>
          <a:r>
            <a:rPr lang="en-SG" sz="1400" b="1" dirty="0"/>
            <a:t>Offline Policy Evaluation</a:t>
          </a:r>
        </a:p>
      </dgm:t>
    </dgm:pt>
    <dgm:pt modelId="{A9EDF49D-A50F-40C5-992A-42017C32CDE9}" type="parTrans" cxnId="{ABE68EB5-A8CC-4A22-A064-1512AFC20EDC}">
      <dgm:prSet/>
      <dgm:spPr/>
      <dgm:t>
        <a:bodyPr/>
        <a:lstStyle/>
        <a:p>
          <a:endParaRPr lang="en-SG"/>
        </a:p>
      </dgm:t>
    </dgm:pt>
    <dgm:pt modelId="{99CF6B85-1B61-459F-A041-5EDD9A2A19E3}" type="sibTrans" cxnId="{ABE68EB5-A8CC-4A22-A064-1512AFC20EDC}">
      <dgm:prSet/>
      <dgm:spPr/>
      <dgm:t>
        <a:bodyPr/>
        <a:lstStyle/>
        <a:p>
          <a:endParaRPr lang="en-SG"/>
        </a:p>
      </dgm:t>
    </dgm:pt>
    <dgm:pt modelId="{7FD1DD7D-D91A-40F2-B4BD-D732FA71855B}">
      <dgm:prSet custT="1"/>
      <dgm:spPr/>
      <dgm:t>
        <a:bodyPr/>
        <a:lstStyle/>
        <a:p>
          <a:r>
            <a:rPr lang="en-SG" sz="1200" dirty="0"/>
            <a:t>Compare Incentive Allocation Policies</a:t>
          </a:r>
        </a:p>
      </dgm:t>
    </dgm:pt>
    <dgm:pt modelId="{20AA30AA-C341-41F7-89B2-1FBC197D229B}" type="parTrans" cxnId="{54D08DBC-3883-4625-A47A-83064D9BDEF2}">
      <dgm:prSet/>
      <dgm:spPr/>
      <dgm:t>
        <a:bodyPr/>
        <a:lstStyle/>
        <a:p>
          <a:endParaRPr lang="en-SG"/>
        </a:p>
      </dgm:t>
    </dgm:pt>
    <dgm:pt modelId="{CEB451CE-E251-4E61-AB34-F6AD802F600D}" type="sibTrans" cxnId="{54D08DBC-3883-4625-A47A-83064D9BDEF2}">
      <dgm:prSet/>
      <dgm:spPr/>
      <dgm:t>
        <a:bodyPr/>
        <a:lstStyle/>
        <a:p>
          <a:endParaRPr lang="en-SG"/>
        </a:p>
      </dgm:t>
    </dgm:pt>
    <dgm:pt modelId="{7C0ADEE1-848F-48CD-9293-0F35786E087E}">
      <dgm:prSet custT="1"/>
      <dgm:spPr/>
      <dgm:t>
        <a:bodyPr/>
        <a:lstStyle/>
        <a:p>
          <a:r>
            <a:rPr lang="en-SG" sz="1200" dirty="0"/>
            <a:t>Compare Assumptions (Freeze After Validation)</a:t>
          </a:r>
        </a:p>
      </dgm:t>
    </dgm:pt>
    <dgm:pt modelId="{54AE1557-8FB0-4B8D-B47D-318B8DD94951}" type="parTrans" cxnId="{E19760E5-1D2A-49EC-92AC-07AFD6E1560E}">
      <dgm:prSet/>
      <dgm:spPr/>
      <dgm:t>
        <a:bodyPr/>
        <a:lstStyle/>
        <a:p>
          <a:endParaRPr lang="en-SG"/>
        </a:p>
      </dgm:t>
    </dgm:pt>
    <dgm:pt modelId="{26AA21C8-1DBE-4D12-B1C0-A1DBA074E1BE}" type="sibTrans" cxnId="{E19760E5-1D2A-49EC-92AC-07AFD6E1560E}">
      <dgm:prSet/>
      <dgm:spPr/>
      <dgm:t>
        <a:bodyPr/>
        <a:lstStyle/>
        <a:p>
          <a:endParaRPr lang="en-SG"/>
        </a:p>
      </dgm:t>
    </dgm:pt>
    <dgm:pt modelId="{6F18769F-A45C-47E8-9743-8DD15455B2C9}" type="pres">
      <dgm:prSet presAssocID="{A7521F9F-9853-4760-AF04-01C8BE6DE7CA}" presName="Name0" presStyleCnt="0">
        <dgm:presLayoutVars>
          <dgm:dir/>
          <dgm:resizeHandles val="exact"/>
        </dgm:presLayoutVars>
      </dgm:prSet>
      <dgm:spPr/>
    </dgm:pt>
    <dgm:pt modelId="{A984A37F-DEE6-432F-A851-EC63949E182D}" type="pres">
      <dgm:prSet presAssocID="{0B5B70DB-C372-486F-A52D-26714D56BF44}" presName="node" presStyleLbl="node1" presStyleIdx="0" presStyleCnt="2" custLinFactNeighborX="-1181" custLinFactNeighborY="-992">
        <dgm:presLayoutVars>
          <dgm:bulletEnabled val="1"/>
        </dgm:presLayoutVars>
      </dgm:prSet>
      <dgm:spPr/>
    </dgm:pt>
    <dgm:pt modelId="{71F89AA5-3D26-438B-9C21-64A60B7CAFE1}" type="pres">
      <dgm:prSet presAssocID="{DC3CC174-F385-4928-94AE-004F8649AC5E}" presName="sibTrans" presStyleLbl="sibTrans2D1" presStyleIdx="0" presStyleCnt="1"/>
      <dgm:spPr/>
    </dgm:pt>
    <dgm:pt modelId="{C844A1A0-E988-420F-9877-1860DF89A1EB}" type="pres">
      <dgm:prSet presAssocID="{DC3CC174-F385-4928-94AE-004F8649AC5E}" presName="connectorText" presStyleLbl="sibTrans2D1" presStyleIdx="0" presStyleCnt="1"/>
      <dgm:spPr/>
    </dgm:pt>
    <dgm:pt modelId="{74BCB0AC-6184-4BC5-9259-9B38484EB0BD}" type="pres">
      <dgm:prSet presAssocID="{4D17E48B-816F-4E22-9171-D7C3EC19B9C9}" presName="node" presStyleLbl="node1" presStyleIdx="1" presStyleCnt="2" custLinFactNeighborX="117" custLinFactNeighborY="-2057">
        <dgm:presLayoutVars>
          <dgm:bulletEnabled val="1"/>
        </dgm:presLayoutVars>
      </dgm:prSet>
      <dgm:spPr/>
    </dgm:pt>
  </dgm:ptLst>
  <dgm:cxnLst>
    <dgm:cxn modelId="{1CA98203-558B-45E4-A7A1-F48A422AE458}" type="presOf" srcId="{4D17E48B-816F-4E22-9171-D7C3EC19B9C9}" destId="{74BCB0AC-6184-4BC5-9259-9B38484EB0BD}" srcOrd="0" destOrd="0" presId="urn:microsoft.com/office/officeart/2005/8/layout/process1"/>
    <dgm:cxn modelId="{6A489771-EB21-4FDB-966A-938C12D56F1B}" type="presOf" srcId="{BE1CF92B-E233-45F0-86C5-16F51FF2EC39}" destId="{A984A37F-DEE6-432F-A851-EC63949E182D}" srcOrd="0" destOrd="1" presId="urn:microsoft.com/office/officeart/2005/8/layout/process1"/>
    <dgm:cxn modelId="{DA368359-F69E-44AE-82BB-864A404D31CC}" type="presOf" srcId="{DC3CC174-F385-4928-94AE-004F8649AC5E}" destId="{71F89AA5-3D26-438B-9C21-64A60B7CAFE1}" srcOrd="0" destOrd="0" presId="urn:microsoft.com/office/officeart/2005/8/layout/process1"/>
    <dgm:cxn modelId="{6CBE368C-0516-4D4C-AC0F-A6C3E8765701}" srcId="{0B5B70DB-C372-486F-A52D-26714D56BF44}" destId="{37544A0C-6DF7-435C-8FA1-8FE37503C07D}" srcOrd="1" destOrd="0" parTransId="{2CBBC2EE-E3DE-4291-8BDA-AA06740B4FF3}" sibTransId="{3E5B9DB5-F3DE-4990-8BEC-F02849DC7160}"/>
    <dgm:cxn modelId="{E347CFAC-3B84-4812-981F-A0AC75794A76}" srcId="{A7521F9F-9853-4760-AF04-01C8BE6DE7CA}" destId="{0B5B70DB-C372-486F-A52D-26714D56BF44}" srcOrd="0" destOrd="0" parTransId="{4E51C9B7-F398-4309-9C2C-8766F2A1A0CB}" sibTransId="{DC3CC174-F385-4928-94AE-004F8649AC5E}"/>
    <dgm:cxn modelId="{ABE68EB5-A8CC-4A22-A064-1512AFC20EDC}" srcId="{A7521F9F-9853-4760-AF04-01C8BE6DE7CA}" destId="{4D17E48B-816F-4E22-9171-D7C3EC19B9C9}" srcOrd="1" destOrd="0" parTransId="{A9EDF49D-A50F-40C5-992A-42017C32CDE9}" sibTransId="{99CF6B85-1B61-459F-A041-5EDD9A2A19E3}"/>
    <dgm:cxn modelId="{C2581CB6-6257-402A-87AE-D20944118EC0}" type="presOf" srcId="{7FD1DD7D-D91A-40F2-B4BD-D732FA71855B}" destId="{74BCB0AC-6184-4BC5-9259-9B38484EB0BD}" srcOrd="0" destOrd="1" presId="urn:microsoft.com/office/officeart/2005/8/layout/process1"/>
    <dgm:cxn modelId="{54D08DBC-3883-4625-A47A-83064D9BDEF2}" srcId="{4D17E48B-816F-4E22-9171-D7C3EC19B9C9}" destId="{7FD1DD7D-D91A-40F2-B4BD-D732FA71855B}" srcOrd="0" destOrd="0" parTransId="{20AA30AA-C341-41F7-89B2-1FBC197D229B}" sibTransId="{CEB451CE-E251-4E61-AB34-F6AD802F600D}"/>
    <dgm:cxn modelId="{2F33BFC9-F43A-43FF-90CC-C178B6C8CACC}" type="presOf" srcId="{A7521F9F-9853-4760-AF04-01C8BE6DE7CA}" destId="{6F18769F-A45C-47E8-9743-8DD15455B2C9}" srcOrd="0" destOrd="0" presId="urn:microsoft.com/office/officeart/2005/8/layout/process1"/>
    <dgm:cxn modelId="{A0FD2FCB-C505-46B4-9907-A616C668311C}" type="presOf" srcId="{0B5B70DB-C372-486F-A52D-26714D56BF44}" destId="{A984A37F-DEE6-432F-A851-EC63949E182D}" srcOrd="0" destOrd="0" presId="urn:microsoft.com/office/officeart/2005/8/layout/process1"/>
    <dgm:cxn modelId="{69A26AE0-E391-45ED-8180-EB7720D9C276}" type="presOf" srcId="{7C0ADEE1-848F-48CD-9293-0F35786E087E}" destId="{A984A37F-DEE6-432F-A851-EC63949E182D}" srcOrd="0" destOrd="3" presId="urn:microsoft.com/office/officeart/2005/8/layout/process1"/>
    <dgm:cxn modelId="{E19760E5-1D2A-49EC-92AC-07AFD6E1560E}" srcId="{0B5B70DB-C372-486F-A52D-26714D56BF44}" destId="{7C0ADEE1-848F-48CD-9293-0F35786E087E}" srcOrd="2" destOrd="0" parTransId="{54AE1557-8FB0-4B8D-B47D-318B8DD94951}" sibTransId="{26AA21C8-1DBE-4D12-B1C0-A1DBA074E1BE}"/>
    <dgm:cxn modelId="{D9C82BEB-FBAA-4E3E-96E6-6FAE1847F7CA}" type="presOf" srcId="{37544A0C-6DF7-435C-8FA1-8FE37503C07D}" destId="{A984A37F-DEE6-432F-A851-EC63949E182D}" srcOrd="0" destOrd="2" presId="urn:microsoft.com/office/officeart/2005/8/layout/process1"/>
    <dgm:cxn modelId="{517781ED-AA1B-43F8-9A7D-3C73DE23B6BD}" type="presOf" srcId="{DC3CC174-F385-4928-94AE-004F8649AC5E}" destId="{C844A1A0-E988-420F-9877-1860DF89A1EB}" srcOrd="1" destOrd="0" presId="urn:microsoft.com/office/officeart/2005/8/layout/process1"/>
    <dgm:cxn modelId="{7FE6A1F6-0295-4FF9-BD45-AA6601A252D0}" srcId="{0B5B70DB-C372-486F-A52D-26714D56BF44}" destId="{BE1CF92B-E233-45F0-86C5-16F51FF2EC39}" srcOrd="0" destOrd="0" parTransId="{CADBA3B3-0E95-46E3-BD45-554A451764AE}" sibTransId="{C7B67B06-F568-4F00-A990-2D3E2833329B}"/>
    <dgm:cxn modelId="{D5486157-BF3A-4C91-865B-2E4472A24377}" type="presParOf" srcId="{6F18769F-A45C-47E8-9743-8DD15455B2C9}" destId="{A984A37F-DEE6-432F-A851-EC63949E182D}" srcOrd="0" destOrd="0" presId="urn:microsoft.com/office/officeart/2005/8/layout/process1"/>
    <dgm:cxn modelId="{6BBE8042-8A1C-4B3B-885B-13B4770D3A4E}" type="presParOf" srcId="{6F18769F-A45C-47E8-9743-8DD15455B2C9}" destId="{71F89AA5-3D26-438B-9C21-64A60B7CAFE1}" srcOrd="1" destOrd="0" presId="urn:microsoft.com/office/officeart/2005/8/layout/process1"/>
    <dgm:cxn modelId="{41143643-5ACB-409D-8EF5-BE70A4378899}" type="presParOf" srcId="{71F89AA5-3D26-438B-9C21-64A60B7CAFE1}" destId="{C844A1A0-E988-420F-9877-1860DF89A1EB}" srcOrd="0" destOrd="0" presId="urn:microsoft.com/office/officeart/2005/8/layout/process1"/>
    <dgm:cxn modelId="{9328C82C-9CD6-48AA-BCD1-24E5140E97BD}" type="presParOf" srcId="{6F18769F-A45C-47E8-9743-8DD15455B2C9}" destId="{74BCB0AC-6184-4BC5-9259-9B38484EB0BD}" srcOrd="2"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81DAF9E1-DC97-46BC-9402-EC7E539BD23B}">
      <dgm:prSet/>
      <dgm:spPr/>
      <dgm:t>
        <a:bodyPr/>
        <a:lstStyle/>
        <a:p>
          <a:r>
            <a:rPr lang="en-SG" dirty="0"/>
            <a:t>Shared Feature Engineering Layer (bronze/silver)</a:t>
          </a:r>
        </a:p>
      </dgm:t>
    </dgm:pt>
    <dgm:pt modelId="{774DEF1E-F047-4F32-AB56-BA562E647A7D}" type="parTrans" cxnId="{497ECFF2-4A89-4347-AA5E-5EE043180273}">
      <dgm:prSet/>
      <dgm:spPr/>
      <dgm:t>
        <a:bodyPr/>
        <a:lstStyle/>
        <a:p>
          <a:endParaRPr lang="en-SG"/>
        </a:p>
      </dgm:t>
    </dgm:pt>
    <dgm:pt modelId="{EA7AE1C2-FEF0-4F32-AB9C-23C83BD88215}" type="sibTrans" cxnId="{497ECFF2-4A89-4347-AA5E-5EE043180273}">
      <dgm:prSet/>
      <dgm:spPr/>
      <dgm:t>
        <a:bodyPr/>
        <a:lstStyle/>
        <a:p>
          <a:endParaRPr lang="en-SG"/>
        </a:p>
      </dgm:t>
    </dgm:pt>
    <dgm:pt modelId="{168ACAE5-0523-42E8-A5C9-EB8487E758CD}">
      <dgm:prSet/>
      <dgm:spPr/>
      <dgm:t>
        <a:bodyPr/>
        <a:lstStyle/>
        <a:p>
          <a:r>
            <a:rPr lang="en-SG" dirty="0"/>
            <a:t>Online Retail transaction dataset of 2 years </a:t>
          </a:r>
          <a:r>
            <a:rPr lang="en-SG" b="0" i="1"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b="0" i="1" dirty="0">
            <a:solidFill>
              <a:srgbClr val="0070C0"/>
            </a:solidFill>
          </a:endParaRPr>
        </a:p>
      </dgm:t>
    </dgm:pt>
    <dgm:pt modelId="{372E7EBD-7A00-4027-AA9B-5C49268CCBF5}" type="parTrans" cxnId="{4EAD2E28-C777-4A91-80D5-67979928E573}">
      <dgm:prSet/>
      <dgm:spPr/>
      <dgm:t>
        <a:bodyPr/>
        <a:lstStyle/>
        <a:p>
          <a:endParaRPr lang="en-SG"/>
        </a:p>
      </dgm:t>
    </dgm:pt>
    <dgm:pt modelId="{B23ADA11-DC68-4FE3-A495-2D6143CCC4E5}" type="sibTrans" cxnId="{4EAD2E28-C777-4A91-80D5-67979928E573}">
      <dgm:prSet/>
      <dgm:spPr/>
      <dgm:t>
        <a:bodyPr/>
        <a:lstStyle/>
        <a:p>
          <a:endParaRPr lang="en-SG"/>
        </a:p>
      </dgm:t>
    </dgm:pt>
    <dgm:pt modelId="{BAE20149-9CD2-4A4C-9615-822EEA0CA46F}" type="pres">
      <dgm:prSet presAssocID="{A7521F9F-9853-4760-AF04-01C8BE6DE7CA}" presName="Name0" presStyleCnt="0">
        <dgm:presLayoutVars>
          <dgm:chMax val="11"/>
          <dgm:chPref val="11"/>
          <dgm:dir/>
          <dgm:resizeHandles/>
        </dgm:presLayoutVars>
      </dgm:prSet>
      <dgm:spPr/>
    </dgm:pt>
    <dgm:pt modelId="{BD64D23D-7A15-4A81-A6E3-B0718F4FD3A0}" type="pres">
      <dgm:prSet presAssocID="{3AEE3E50-0B70-4E20-8A23-DF2C94A810C5}" presName="Accent1" presStyleCnt="0"/>
      <dgm:spPr/>
    </dgm:pt>
    <dgm:pt modelId="{6E50C483-DCCC-4B9C-AE6B-988DC288188A}" type="pres">
      <dgm:prSet presAssocID="{3AEE3E50-0B70-4E20-8A23-DF2C94A810C5}" presName="Accent" presStyleLbl="node1" presStyleIdx="0" presStyleCnt="1"/>
      <dgm:spPr/>
    </dgm:pt>
    <dgm:pt modelId="{6A376E0F-C90E-4CB9-B0AB-D828CA4F9FF2}" type="pres">
      <dgm:prSet presAssocID="{3AEE3E50-0B70-4E20-8A23-DF2C94A810C5}" presName="ParentBackground1" presStyleCnt="0"/>
      <dgm:spPr/>
    </dgm:pt>
    <dgm:pt modelId="{27C934A3-7313-4156-8ED7-DDC09B6D49E2}" type="pres">
      <dgm:prSet presAssocID="{3AEE3E50-0B70-4E20-8A23-DF2C94A810C5}" presName="ParentBackground" presStyleLbl="fgAcc1" presStyleIdx="0" presStyleCnt="1"/>
      <dgm:spPr/>
    </dgm:pt>
    <dgm:pt modelId="{4A4F7823-EAE9-46C3-ABC1-34D954A204CF}" type="pres">
      <dgm:prSet presAssocID="{3AEE3E50-0B70-4E20-8A23-DF2C94A810C5}" presName="Child1" presStyleLbl="revTx" presStyleIdx="0" presStyleCnt="1">
        <dgm:presLayoutVars>
          <dgm:chMax val="0"/>
          <dgm:chPref val="0"/>
          <dgm:bulletEnabled val="1"/>
        </dgm:presLayoutVars>
      </dgm:prSet>
      <dgm:spPr/>
    </dgm:pt>
    <dgm:pt modelId="{D592DE3C-E03A-4374-9246-C25921A80337}" type="pres">
      <dgm:prSet presAssocID="{3AEE3E50-0B70-4E20-8A23-DF2C94A810C5}" presName="Parent1" presStyleLbl="revTx" presStyleIdx="0" presStyleCnt="1">
        <dgm:presLayoutVars>
          <dgm:chMax val="1"/>
          <dgm:chPref val="1"/>
          <dgm:bulletEnabled val="1"/>
        </dgm:presLayoutVars>
      </dgm:prSet>
      <dgm:spPr/>
    </dgm:pt>
  </dgm:ptLst>
  <dgm:cxnLst>
    <dgm:cxn modelId="{4EAD2E28-C777-4A91-80D5-67979928E573}" srcId="{3AEE3E50-0B70-4E20-8A23-DF2C94A810C5}" destId="{168ACAE5-0523-42E8-A5C9-EB8487E758CD}" srcOrd="0" destOrd="0" parTransId="{372E7EBD-7A00-4027-AA9B-5C49268CCBF5}" sibTransId="{B23ADA11-DC68-4FE3-A495-2D6143CCC4E5}"/>
    <dgm:cxn modelId="{65B2B22E-72CC-4EB5-8353-86AEBB03EE39}" srcId="{A7521F9F-9853-4760-AF04-01C8BE6DE7CA}" destId="{3AEE3E50-0B70-4E20-8A23-DF2C94A810C5}" srcOrd="0" destOrd="0" parTransId="{E87FE72D-7C21-4C4E-89B7-B9E78A928E21}" sibTransId="{87E3D749-6CB6-4793-A88E-29194C75DC2E}"/>
    <dgm:cxn modelId="{58A5C43C-4AB4-4072-B9BF-110990539A6D}" type="presOf" srcId="{168ACAE5-0523-42E8-A5C9-EB8487E758CD}" destId="{4A4F7823-EAE9-46C3-ABC1-34D954A204CF}" srcOrd="0" destOrd="0" presId="urn:microsoft.com/office/officeart/2011/layout/CircleProcess"/>
    <dgm:cxn modelId="{244BC07D-ADFF-4472-8431-F41BCD3B5FD8}" type="presOf" srcId="{3AEE3E50-0B70-4E20-8A23-DF2C94A810C5}" destId="{D592DE3C-E03A-4374-9246-C25921A80337}" srcOrd="1" destOrd="0" presId="urn:microsoft.com/office/officeart/2011/layout/CircleProcess"/>
    <dgm:cxn modelId="{1813728D-CD03-43FE-AD9B-C49A0CEA0F8F}" type="presOf" srcId="{A7521F9F-9853-4760-AF04-01C8BE6DE7CA}" destId="{BAE20149-9CD2-4A4C-9615-822EEA0CA46F}" srcOrd="0" destOrd="0" presId="urn:microsoft.com/office/officeart/2011/layout/CircleProcess"/>
    <dgm:cxn modelId="{CFA778AE-9E62-4A8E-BF66-68222C024082}" type="presOf" srcId="{3AEE3E50-0B70-4E20-8A23-DF2C94A810C5}" destId="{27C934A3-7313-4156-8ED7-DDC09B6D49E2}" srcOrd="0" destOrd="0" presId="urn:microsoft.com/office/officeart/2011/layout/CircleProcess"/>
    <dgm:cxn modelId="{497ECFF2-4A89-4347-AA5E-5EE043180273}" srcId="{3AEE3E50-0B70-4E20-8A23-DF2C94A810C5}" destId="{81DAF9E1-DC97-46BC-9402-EC7E539BD23B}" srcOrd="1" destOrd="0" parTransId="{774DEF1E-F047-4F32-AB56-BA562E647A7D}" sibTransId="{EA7AE1C2-FEF0-4F32-AB9C-23C83BD88215}"/>
    <dgm:cxn modelId="{8B33CBF9-3396-447C-BBCE-2DAFD1AB4BFA}" type="presOf" srcId="{81DAF9E1-DC97-46BC-9402-EC7E539BD23B}" destId="{4A4F7823-EAE9-46C3-ABC1-34D954A204CF}" srcOrd="0" destOrd="1" presId="urn:microsoft.com/office/officeart/2011/layout/CircleProcess"/>
    <dgm:cxn modelId="{346B1158-EC48-4EEE-9176-08BB100A4EE3}" type="presParOf" srcId="{BAE20149-9CD2-4A4C-9615-822EEA0CA46F}" destId="{BD64D23D-7A15-4A81-A6E3-B0718F4FD3A0}" srcOrd="0" destOrd="0" presId="urn:microsoft.com/office/officeart/2011/layout/CircleProcess"/>
    <dgm:cxn modelId="{EDCF0721-910C-432A-B189-E3F425765A7A}" type="presParOf" srcId="{BD64D23D-7A15-4A81-A6E3-B0718F4FD3A0}" destId="{6E50C483-DCCC-4B9C-AE6B-988DC288188A}" srcOrd="0" destOrd="0" presId="urn:microsoft.com/office/officeart/2011/layout/CircleProcess"/>
    <dgm:cxn modelId="{1C403461-BECD-4335-94C0-4EFEDD106219}" type="presParOf" srcId="{BAE20149-9CD2-4A4C-9615-822EEA0CA46F}" destId="{6A376E0F-C90E-4CB9-B0AB-D828CA4F9FF2}" srcOrd="1" destOrd="0" presId="urn:microsoft.com/office/officeart/2011/layout/CircleProcess"/>
    <dgm:cxn modelId="{8E740BBD-6D0F-4320-B356-EC22111A7BBF}" type="presParOf" srcId="{6A376E0F-C90E-4CB9-B0AB-D828CA4F9FF2}" destId="{27C934A3-7313-4156-8ED7-DDC09B6D49E2}" srcOrd="0" destOrd="0" presId="urn:microsoft.com/office/officeart/2011/layout/CircleProcess"/>
    <dgm:cxn modelId="{5B78382F-50D9-4623-B404-5EB370E6ED3A}" type="presParOf" srcId="{BAE20149-9CD2-4A4C-9615-822EEA0CA46F}" destId="{4A4F7823-EAE9-46C3-ABC1-34D954A204CF}" srcOrd="2" destOrd="0" presId="urn:microsoft.com/office/officeart/2011/layout/CircleProcess"/>
    <dgm:cxn modelId="{D806BA01-1F95-4A48-9812-F2296A1427F1}" type="presParOf" srcId="{BAE20149-9CD2-4A4C-9615-822EEA0CA46F}" destId="{D592DE3C-E03A-4374-9246-C25921A80337}" srcOrd="3" destOrd="0" presId="urn:microsoft.com/office/officeart/2011/layout/CircleProcess"/>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E878DF7A-3516-4BCB-AA59-99E356A46073}">
      <dgm:prSet custT="1"/>
      <dgm:spPr/>
      <dgm:t>
        <a:bodyPr/>
        <a:lstStyle/>
        <a:p>
          <a:r>
            <a:rPr lang="en-SG" sz="1400" b="1" dirty="0"/>
            <a:t>Recommender Engine</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dirty="0"/>
        </a:p>
      </dgm:t>
    </dgm:pt>
    <dgm:pt modelId="{09C66954-CA12-481A-81EF-C16F06D8EB2B}">
      <dgm:prSet custT="1"/>
      <dgm:spPr/>
      <dgm:t>
        <a:bodyPr/>
        <a:lstStyle/>
        <a:p>
          <a:r>
            <a:rPr lang="en-SG" sz="1200" dirty="0"/>
            <a:t>Training Pipeline (Offline): Two-Tower Collaborative Filtering</a:t>
          </a:r>
        </a:p>
      </dgm:t>
    </dgm:pt>
    <dgm:pt modelId="{FEDCE43D-7C3C-4CD0-95A4-5F4336856A30}" type="parTrans" cxnId="{B001BCEA-12E7-4C97-8AC3-59ED55691DF1}">
      <dgm:prSet/>
      <dgm:spPr/>
      <dgm:t>
        <a:bodyPr/>
        <a:lstStyle/>
        <a:p>
          <a:endParaRPr lang="en-SG"/>
        </a:p>
      </dgm:t>
    </dgm:pt>
    <dgm:pt modelId="{22F76C3E-3F4A-4B6F-A1A7-4EB975212D17}" type="sibTrans" cxnId="{B001BCEA-12E7-4C97-8AC3-59ED55691DF1}">
      <dgm:prSet/>
      <dgm:spPr/>
      <dgm:t>
        <a:bodyPr/>
        <a:lstStyle/>
        <a:p>
          <a:endParaRPr lang="en-SG"/>
        </a:p>
      </dgm:t>
    </dgm:pt>
    <dgm:pt modelId="{668BD968-7D7C-4548-A9C3-39BA39AA91DE}">
      <dgm:prSet custT="1"/>
      <dgm:spPr/>
      <dgm:t>
        <a:bodyPr/>
        <a:lstStyle/>
        <a:p>
          <a:r>
            <a:rPr lang="en-SG" sz="1400" b="1" dirty="0"/>
            <a:t>Offline Model Evaluation</a:t>
          </a:r>
          <a:endParaRPr lang="en-SG" sz="1400" dirty="0"/>
        </a:p>
      </dgm:t>
    </dgm:pt>
    <dgm:pt modelId="{51062191-8FB1-4D1A-AB12-867C760892B6}" type="parTrans" cxnId="{CD81A89C-B532-4213-B6C7-3D7627A466E3}">
      <dgm:prSet/>
      <dgm:spPr/>
      <dgm:t>
        <a:bodyPr/>
        <a:lstStyle/>
        <a:p>
          <a:endParaRPr lang="en-SG"/>
        </a:p>
      </dgm:t>
    </dgm:pt>
    <dgm:pt modelId="{925C0620-2481-44B4-A783-D3BFEC8F2EF3}" type="sibTrans" cxnId="{CD81A89C-B532-4213-B6C7-3D7627A466E3}">
      <dgm:prSet/>
      <dgm:spPr/>
      <dgm:t>
        <a:bodyPr/>
        <a:lstStyle/>
        <a:p>
          <a:endParaRPr lang="en-SG"/>
        </a:p>
      </dgm:t>
    </dgm:pt>
    <dgm:pt modelId="{6A8BE770-976B-4991-9D1C-26116AC48EDC}">
      <dgm:prSet custT="1"/>
      <dgm:spPr/>
      <dgm:t>
        <a:bodyPr/>
        <a:lstStyle/>
        <a:p>
          <a:r>
            <a:rPr lang="en-SG" sz="1200" dirty="0"/>
            <a:t>Proxy metrics for commercial engagement: Recall/NDCG/Hit Rate</a:t>
          </a:r>
        </a:p>
      </dgm:t>
    </dgm:pt>
    <dgm:pt modelId="{0501BE61-703B-41E2-9731-511B0780652B}" type="parTrans" cxnId="{27DB255B-B5FF-454F-BAAD-AF1AB4C204CA}">
      <dgm:prSet/>
      <dgm:spPr/>
      <dgm:t>
        <a:bodyPr/>
        <a:lstStyle/>
        <a:p>
          <a:endParaRPr lang="en-SG"/>
        </a:p>
      </dgm:t>
    </dgm:pt>
    <dgm:pt modelId="{B0B8C39B-D8E1-44D5-9B45-4BCAF65D9127}" type="sibTrans" cxnId="{27DB255B-B5FF-454F-BAAD-AF1AB4C204CA}">
      <dgm:prSet/>
      <dgm:spPr/>
      <dgm:t>
        <a:bodyPr/>
        <a:lstStyle/>
        <a:p>
          <a:endParaRPr lang="en-SG"/>
        </a:p>
      </dgm:t>
    </dgm:pt>
    <dgm:pt modelId="{4C268D6E-5823-4943-A1D0-5661390E54A4}">
      <dgm:prSet custT="1"/>
      <dgm:spPr/>
      <dgm:t>
        <a:bodyPr/>
        <a:lstStyle/>
        <a:p>
          <a:r>
            <a:rPr lang="en-SG" sz="1200" dirty="0"/>
            <a:t>Serving (Retrieval) Pipeline: Stage 1 Candidate Retrieval (Two-Tower Dot Product + ANN)</a:t>
          </a:r>
        </a:p>
      </dgm:t>
    </dgm:pt>
    <dgm:pt modelId="{D77C3BD0-846A-4241-9322-64E7B7736469}" type="parTrans" cxnId="{EC72C0A1-6A05-46C8-956E-AB64B34C1275}">
      <dgm:prSet/>
      <dgm:spPr/>
      <dgm:t>
        <a:bodyPr/>
        <a:lstStyle/>
        <a:p>
          <a:endParaRPr lang="en-SG"/>
        </a:p>
      </dgm:t>
    </dgm:pt>
    <dgm:pt modelId="{917054AE-2A83-49C6-911F-96CDE2B7002D}" type="sibTrans" cxnId="{EC72C0A1-6A05-46C8-956E-AB64B34C1275}">
      <dgm:prSet/>
      <dgm:spPr/>
      <dgm:t>
        <a:bodyPr/>
        <a:lstStyle/>
        <a:p>
          <a:endParaRPr lang="en-SG"/>
        </a:p>
      </dgm:t>
    </dgm:pt>
    <dgm:pt modelId="{F142DB4B-D7AD-4796-AAA4-0E746D3CCCAF}">
      <dgm:prSet custT="1"/>
      <dgm:spPr/>
      <dgm:t>
        <a:bodyPr/>
        <a:lstStyle/>
        <a:p>
          <a:endParaRPr lang="en-SG" sz="1200" dirty="0"/>
        </a:p>
      </dgm:t>
    </dgm:pt>
    <dgm:pt modelId="{C448B19F-99D2-4EA9-A92B-0EE147F61314}" type="parTrans" cxnId="{3F06190A-5A01-4102-A80B-9D993A6F95FD}">
      <dgm:prSet/>
      <dgm:spPr/>
      <dgm:t>
        <a:bodyPr/>
        <a:lstStyle/>
        <a:p>
          <a:endParaRPr lang="en-SG"/>
        </a:p>
      </dgm:t>
    </dgm:pt>
    <dgm:pt modelId="{7454E282-AEB2-41C7-BEEE-257C81452146}" type="sibTrans" cxnId="{3F06190A-5A01-4102-A80B-9D993A6F95FD}">
      <dgm:prSet/>
      <dgm:spPr/>
      <dgm:t>
        <a:bodyPr/>
        <a:lstStyle/>
        <a:p>
          <a:endParaRPr lang="en-SG"/>
        </a:p>
      </dgm:t>
    </dgm:pt>
    <dgm:pt modelId="{49A29645-3F90-4FF4-BDF5-47626EC8689A}" type="pres">
      <dgm:prSet presAssocID="{A7521F9F-9853-4760-AF04-01C8BE6DE7CA}" presName="Name0" presStyleCnt="0">
        <dgm:presLayoutVars>
          <dgm:dir/>
          <dgm:resizeHandles val="exact"/>
        </dgm:presLayoutVars>
      </dgm:prSet>
      <dgm:spPr/>
    </dgm:pt>
    <dgm:pt modelId="{D11E4ACC-F46F-4E3F-B3D5-13482F0C135B}" type="pres">
      <dgm:prSet presAssocID="{E878DF7A-3516-4BCB-AA59-99E356A46073}" presName="node" presStyleLbl="node1" presStyleIdx="0" presStyleCnt="2">
        <dgm:presLayoutVars>
          <dgm:bulletEnabled val="1"/>
        </dgm:presLayoutVars>
      </dgm:prSet>
      <dgm:spPr/>
    </dgm:pt>
    <dgm:pt modelId="{4F230ABA-46E3-4A4E-8801-E05038A704F6}" type="pres">
      <dgm:prSet presAssocID="{8EDF5DBF-CBE7-4C0D-B13F-D8077C96DF81}" presName="sibTrans" presStyleLbl="sibTrans2D1" presStyleIdx="0" presStyleCnt="1"/>
      <dgm:spPr/>
    </dgm:pt>
    <dgm:pt modelId="{EAFCC294-EEFD-41EA-89A9-2BDC76D31A73}" type="pres">
      <dgm:prSet presAssocID="{8EDF5DBF-CBE7-4C0D-B13F-D8077C96DF81}" presName="connectorText" presStyleLbl="sibTrans2D1" presStyleIdx="0" presStyleCnt="1"/>
      <dgm:spPr/>
    </dgm:pt>
    <dgm:pt modelId="{298762B9-1A9A-489F-A7B0-51C707051142}" type="pres">
      <dgm:prSet presAssocID="{668BD968-7D7C-4548-A9C3-39BA39AA91DE}" presName="node" presStyleLbl="node1" presStyleIdx="1" presStyleCnt="2">
        <dgm:presLayoutVars>
          <dgm:bulletEnabled val="1"/>
        </dgm:presLayoutVars>
      </dgm:prSet>
      <dgm:spPr/>
    </dgm:pt>
  </dgm:ptLst>
  <dgm:cxnLst>
    <dgm:cxn modelId="{3F06190A-5A01-4102-A80B-9D993A6F95FD}" srcId="{E878DF7A-3516-4BCB-AA59-99E356A46073}" destId="{F142DB4B-D7AD-4796-AAA4-0E746D3CCCAF}" srcOrd="2" destOrd="0" parTransId="{C448B19F-99D2-4EA9-A92B-0EE147F61314}" sibTransId="{7454E282-AEB2-41C7-BEEE-257C81452146}"/>
    <dgm:cxn modelId="{3331451B-767A-4DA4-BB06-4462AB791AA6}" type="presOf" srcId="{668BD968-7D7C-4548-A9C3-39BA39AA91DE}" destId="{298762B9-1A9A-489F-A7B0-51C707051142}" srcOrd="0" destOrd="0" presId="urn:microsoft.com/office/officeart/2005/8/layout/process1"/>
    <dgm:cxn modelId="{4C56B92F-102A-47D2-BA7A-42D0F78AED38}" type="presOf" srcId="{F142DB4B-D7AD-4796-AAA4-0E746D3CCCAF}" destId="{D11E4ACC-F46F-4E3F-B3D5-13482F0C135B}" srcOrd="0" destOrd="3" presId="urn:microsoft.com/office/officeart/2005/8/layout/process1"/>
    <dgm:cxn modelId="{27DB255B-B5FF-454F-BAAD-AF1AB4C204CA}" srcId="{668BD968-7D7C-4548-A9C3-39BA39AA91DE}" destId="{6A8BE770-976B-4991-9D1C-26116AC48EDC}" srcOrd="0" destOrd="0" parTransId="{0501BE61-703B-41E2-9731-511B0780652B}" sibTransId="{B0B8C39B-D8E1-44D5-9B45-4BCAF65D9127}"/>
    <dgm:cxn modelId="{045E0F5C-0F94-48BA-9FDE-23107E04A8A2}" type="presOf" srcId="{6A8BE770-976B-4991-9D1C-26116AC48EDC}" destId="{298762B9-1A9A-489F-A7B0-51C707051142}" srcOrd="0" destOrd="1" presId="urn:microsoft.com/office/officeart/2005/8/layout/process1"/>
    <dgm:cxn modelId="{92259160-04A2-4024-BEA6-D268E870F9D4}" type="presOf" srcId="{4C268D6E-5823-4943-A1D0-5661390E54A4}" destId="{D11E4ACC-F46F-4E3F-B3D5-13482F0C135B}" srcOrd="0" destOrd="2" presId="urn:microsoft.com/office/officeart/2005/8/layout/process1"/>
    <dgm:cxn modelId="{691B975A-1EB2-49FE-9E6D-1200CC451944}" type="presOf" srcId="{09C66954-CA12-481A-81EF-C16F06D8EB2B}" destId="{D11E4ACC-F46F-4E3F-B3D5-13482F0C135B}" srcOrd="0" destOrd="1" presId="urn:microsoft.com/office/officeart/2005/8/layout/process1"/>
    <dgm:cxn modelId="{CD81A89C-B532-4213-B6C7-3D7627A466E3}" srcId="{A7521F9F-9853-4760-AF04-01C8BE6DE7CA}" destId="{668BD968-7D7C-4548-A9C3-39BA39AA91DE}" srcOrd="1" destOrd="0" parTransId="{51062191-8FB1-4D1A-AB12-867C760892B6}" sibTransId="{925C0620-2481-44B4-A783-D3BFEC8F2EF3}"/>
    <dgm:cxn modelId="{1F17D19C-F7AA-4A41-8C89-02E285BFD35A}" type="presOf" srcId="{E878DF7A-3516-4BCB-AA59-99E356A46073}" destId="{D11E4ACC-F46F-4E3F-B3D5-13482F0C135B}" srcOrd="0" destOrd="0" presId="urn:microsoft.com/office/officeart/2005/8/layout/process1"/>
    <dgm:cxn modelId="{EC72C0A1-6A05-46C8-956E-AB64B34C1275}" srcId="{E878DF7A-3516-4BCB-AA59-99E356A46073}" destId="{4C268D6E-5823-4943-A1D0-5661390E54A4}" srcOrd="1" destOrd="0" parTransId="{D77C3BD0-846A-4241-9322-64E7B7736469}" sibTransId="{917054AE-2A83-49C6-911F-96CDE2B7002D}"/>
    <dgm:cxn modelId="{74911EB3-CA94-4516-B771-EEBF0B929931}" srcId="{A7521F9F-9853-4760-AF04-01C8BE6DE7CA}" destId="{E878DF7A-3516-4BCB-AA59-99E356A46073}" srcOrd="0" destOrd="0" parTransId="{4215D128-B3CD-480F-AA0F-6DDB0B6C6E34}" sibTransId="{8EDF5DBF-CBE7-4C0D-B13F-D8077C96DF81}"/>
    <dgm:cxn modelId="{6D0C46BF-67A0-4EE0-94E3-F20A8C43E5A5}" type="presOf" srcId="{8EDF5DBF-CBE7-4C0D-B13F-D8077C96DF81}" destId="{4F230ABA-46E3-4A4E-8801-E05038A704F6}" srcOrd="0" destOrd="0" presId="urn:microsoft.com/office/officeart/2005/8/layout/process1"/>
    <dgm:cxn modelId="{BE90DDC7-4B23-4CD4-821B-0F214C68E1CE}" type="presOf" srcId="{8EDF5DBF-CBE7-4C0D-B13F-D8077C96DF81}" destId="{EAFCC294-EEFD-41EA-89A9-2BDC76D31A73}" srcOrd="1" destOrd="0" presId="urn:microsoft.com/office/officeart/2005/8/layout/process1"/>
    <dgm:cxn modelId="{B001BCEA-12E7-4C97-8AC3-59ED55691DF1}" srcId="{E878DF7A-3516-4BCB-AA59-99E356A46073}" destId="{09C66954-CA12-481A-81EF-C16F06D8EB2B}" srcOrd="0" destOrd="0" parTransId="{FEDCE43D-7C3C-4CD0-95A4-5F4336856A30}" sibTransId="{22F76C3E-3F4A-4B6F-A1A7-4EB975212D17}"/>
    <dgm:cxn modelId="{6834DEEF-495D-4C07-9F15-C40EC10DF0CC}" type="presOf" srcId="{A7521F9F-9853-4760-AF04-01C8BE6DE7CA}" destId="{49A29645-3F90-4FF4-BDF5-47626EC8689A}" srcOrd="0" destOrd="0" presId="urn:microsoft.com/office/officeart/2005/8/layout/process1"/>
    <dgm:cxn modelId="{CD52D83A-4716-481B-BF19-C575A5C23351}" type="presParOf" srcId="{49A29645-3F90-4FF4-BDF5-47626EC8689A}" destId="{D11E4ACC-F46F-4E3F-B3D5-13482F0C135B}" srcOrd="0" destOrd="0" presId="urn:microsoft.com/office/officeart/2005/8/layout/process1"/>
    <dgm:cxn modelId="{3549375D-A795-46E8-B95B-978376F93F70}" type="presParOf" srcId="{49A29645-3F90-4FF4-BDF5-47626EC8689A}" destId="{4F230ABA-46E3-4A4E-8801-E05038A704F6}" srcOrd="1" destOrd="0" presId="urn:microsoft.com/office/officeart/2005/8/layout/process1"/>
    <dgm:cxn modelId="{2344C5AF-1820-48D3-8994-2F603E5B9638}" type="presParOf" srcId="{4F230ABA-46E3-4A4E-8801-E05038A704F6}" destId="{EAFCC294-EEFD-41EA-89A9-2BDC76D31A73}" srcOrd="0" destOrd="0" presId="urn:microsoft.com/office/officeart/2005/8/layout/process1"/>
    <dgm:cxn modelId="{7BBAC62B-AD78-4DDA-99CA-D452146D3331}" type="presParOf" srcId="{49A29645-3F90-4FF4-BDF5-47626EC8689A}" destId="{298762B9-1A9A-489F-A7B0-51C707051142}" srcOrd="2" destOrd="0" presId="urn:microsoft.com/office/officeart/2005/8/layout/process1"/>
  </dgm:cxnLst>
  <dgm:bg/>
  <dgm:whole/>
  <dgm:extLst>
    <a:ext uri="http://schemas.microsoft.com/office/drawing/2008/diagram">
      <dsp:dataModelExt xmlns:dsp="http://schemas.microsoft.com/office/drawing/2008/diagram" relId="rId1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Feature Store</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E878DF7A-3516-4BCB-AA59-99E356A46073}">
      <dgm:prSet/>
      <dgm:spPr/>
      <dgm:t>
        <a:bodyPr/>
        <a:lstStyle/>
        <a:p>
          <a:r>
            <a:rPr lang="en-SG" b="0" dirty="0">
              <a:solidFill>
                <a:schemeClr val="tx1"/>
              </a:solidFill>
            </a:rPr>
            <a:t>Models Training</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Models Validation</a:t>
          </a:r>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54CB8B97-3A40-4B7B-9585-391D70D1B2E7}" type="pres">
      <dgm:prSet presAssocID="{39EB0991-8EB9-4AFD-A2F2-F6E1F254BE25}" presName="Accent3" presStyleCnt="0"/>
      <dgm:spPr/>
    </dgm:pt>
    <dgm:pt modelId="{9CFC7CA6-F413-4EB9-BC7D-5F9345015BD0}" type="pres">
      <dgm:prSet presAssocID="{39EB0991-8EB9-4AFD-A2F2-F6E1F254BE25}" presName="Accent" presStyleLbl="node1" presStyleIdx="0" presStyleCnt="3"/>
      <dgm:spPr/>
    </dgm:pt>
    <dgm:pt modelId="{330BF626-846A-404C-98A2-9CD9561B67B4}" type="pres">
      <dgm:prSet presAssocID="{39EB0991-8EB9-4AFD-A2F2-F6E1F254BE25}" presName="ParentBackground3" presStyleCnt="0"/>
      <dgm:spPr/>
    </dgm:pt>
    <dgm:pt modelId="{3819A24E-29CD-47FA-8F77-B27A7A92C7B6}" type="pres">
      <dgm:prSet presAssocID="{39EB0991-8EB9-4AFD-A2F2-F6E1F254BE25}" presName="ParentBackground" presStyleLbl="fgAcc1" presStyleIdx="0" presStyleCnt="3"/>
      <dgm:spPr/>
    </dgm:pt>
    <dgm:pt modelId="{A144C653-F3F6-4F5B-B196-13C940068BD6}" type="pres">
      <dgm:prSet presAssocID="{39EB0991-8EB9-4AFD-A2F2-F6E1F254BE25}" presName="Parent3" presStyleLbl="revTx" presStyleIdx="0" presStyleCnt="0">
        <dgm:presLayoutVars>
          <dgm:chMax val="1"/>
          <dgm:chPref val="1"/>
          <dgm:bulletEnabled val="1"/>
        </dgm:presLayoutVars>
      </dgm:prSet>
      <dgm:spPr/>
    </dgm:pt>
    <dgm:pt modelId="{E9C4BACF-EBF8-4935-B06B-6366326CFAA4}" type="pres">
      <dgm:prSet presAssocID="{E878DF7A-3516-4BCB-AA59-99E356A46073}" presName="Accent2" presStyleCnt="0"/>
      <dgm:spPr/>
    </dgm:pt>
    <dgm:pt modelId="{09794B8C-E734-4AD7-92B7-E8D5CAA1082F}" type="pres">
      <dgm:prSet presAssocID="{E878DF7A-3516-4BCB-AA59-99E356A46073}" presName="Accent" presStyleLbl="node1" presStyleIdx="1" presStyleCnt="3"/>
      <dgm:spPr/>
    </dgm:pt>
    <dgm:pt modelId="{6AA97FA9-0D80-4397-8D21-A361BDF79ACB}" type="pres">
      <dgm:prSet presAssocID="{E878DF7A-3516-4BCB-AA59-99E356A46073}" presName="ParentBackground2" presStyleCnt="0"/>
      <dgm:spPr/>
    </dgm:pt>
    <dgm:pt modelId="{686F1890-877A-4652-9D3B-F479BCA8EE98}" type="pres">
      <dgm:prSet presAssocID="{E878DF7A-3516-4BCB-AA59-99E356A46073}" presName="ParentBackground" presStyleLbl="fgAcc1" presStyleIdx="1" presStyleCnt="3"/>
      <dgm:spPr/>
    </dgm:pt>
    <dgm:pt modelId="{238F6C06-5DF1-4E1A-98A8-0F659B517573}" type="pres">
      <dgm:prSet presAssocID="{E878DF7A-3516-4BCB-AA59-99E356A46073}"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BD0F1B09-8FA8-4B79-B854-715F56AF75B5}" type="presOf" srcId="{39EB0991-8EB9-4AFD-A2F2-F6E1F254BE25}" destId="{A144C653-F3F6-4F5B-B196-13C940068BD6}" srcOrd="1" destOrd="0" presId="urn:microsoft.com/office/officeart/2011/layout/CircleProcess"/>
    <dgm:cxn modelId="{507A5811-25B2-4E26-AED7-A4B81AAA4D74}" type="presOf" srcId="{3AEE3E50-0B70-4E20-8A23-DF2C94A810C5}" destId="{EA8B68E1-77F3-4799-AC34-546ABA28C689}"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4DD71B33-73A1-46A4-BE4D-8834127878C0}" type="presOf" srcId="{E878DF7A-3516-4BCB-AA59-99E356A46073}" destId="{238F6C06-5DF1-4E1A-98A8-0F659B517573}" srcOrd="1" destOrd="0" presId="urn:microsoft.com/office/officeart/2011/layout/CircleProcess"/>
    <dgm:cxn modelId="{39FFB166-4089-4277-B84F-241C66A31EDD}" type="presOf" srcId="{3AEE3E50-0B70-4E20-8A23-DF2C94A810C5}" destId="{D41CBF9C-D87B-42FA-83CA-C300FE5ECA73}" srcOrd="0" destOrd="0" presId="urn:microsoft.com/office/officeart/2011/layout/CircleProcess"/>
    <dgm:cxn modelId="{FDA2FF52-F583-4336-A87C-36F9391E190F}" type="presOf" srcId="{E878DF7A-3516-4BCB-AA59-99E356A46073}" destId="{686F1890-877A-4652-9D3B-F479BCA8EE98}" srcOrd="0" destOrd="0" presId="urn:microsoft.com/office/officeart/2011/layout/CircleProcess"/>
    <dgm:cxn modelId="{5ED5CB54-0009-490E-A1A6-8E49FB752E10}" type="presOf" srcId="{39EB0991-8EB9-4AFD-A2F2-F6E1F254BE25}" destId="{3819A24E-29CD-47FA-8F77-B27A7A92C7B6}" srcOrd="0" destOrd="0" presId="urn:microsoft.com/office/officeart/2011/layout/CircleProcess"/>
    <dgm:cxn modelId="{15C2058C-EC37-4FEA-A703-C93AC5402A2C}" srcId="{A7521F9F-9853-4760-AF04-01C8BE6DE7CA}" destId="{39EB0991-8EB9-4AFD-A2F2-F6E1F254BE25}" srcOrd="2" destOrd="0" parTransId="{E6A12652-9F65-4387-B68E-183EBE605256}" sibTransId="{EF4950E5-5C98-4D2B-B111-BF6A7726FECB}"/>
    <dgm:cxn modelId="{74911EB3-CA94-4516-B771-EEBF0B929931}" srcId="{A7521F9F-9853-4760-AF04-01C8BE6DE7CA}" destId="{E878DF7A-3516-4BCB-AA59-99E356A46073}" srcOrd="1" destOrd="0" parTransId="{4215D128-B3CD-480F-AA0F-6DDB0B6C6E34}" sibTransId="{8EDF5DBF-CBE7-4C0D-B13F-D8077C96DF81}"/>
    <dgm:cxn modelId="{F02639C1-497E-4ECC-9980-39FDC410916F}" type="presOf" srcId="{A7521F9F-9853-4760-AF04-01C8BE6DE7CA}" destId="{04AA666C-C578-48EA-AE10-51E0CB9A2732}" srcOrd="0" destOrd="0" presId="urn:microsoft.com/office/officeart/2011/layout/CircleProcess"/>
    <dgm:cxn modelId="{6568CBAC-C75B-4919-BF0B-5A7A3D92F013}" type="presParOf" srcId="{04AA666C-C578-48EA-AE10-51E0CB9A2732}" destId="{54CB8B97-3A40-4B7B-9585-391D70D1B2E7}" srcOrd="0" destOrd="0" presId="urn:microsoft.com/office/officeart/2011/layout/CircleProcess"/>
    <dgm:cxn modelId="{EAAD1771-6229-40B9-BA1A-29A3E25A0748}" type="presParOf" srcId="{54CB8B97-3A40-4B7B-9585-391D70D1B2E7}" destId="{9CFC7CA6-F413-4EB9-BC7D-5F9345015BD0}" srcOrd="0" destOrd="0" presId="urn:microsoft.com/office/officeart/2011/layout/CircleProcess"/>
    <dgm:cxn modelId="{359A368F-92BC-4D8F-BE8E-D8DF963AD64C}" type="presParOf" srcId="{04AA666C-C578-48EA-AE10-51E0CB9A2732}" destId="{330BF626-846A-404C-98A2-9CD9561B67B4}" srcOrd="1" destOrd="0" presId="urn:microsoft.com/office/officeart/2011/layout/CircleProcess"/>
    <dgm:cxn modelId="{AB8B1B1C-1A87-487C-84F8-A27D50F889D5}" type="presParOf" srcId="{330BF626-846A-404C-98A2-9CD9561B67B4}" destId="{3819A24E-29CD-47FA-8F77-B27A7A92C7B6}" srcOrd="0" destOrd="0" presId="urn:microsoft.com/office/officeart/2011/layout/CircleProcess"/>
    <dgm:cxn modelId="{3C6B4F51-57E7-4086-8557-2857803BB1D2}" type="presParOf" srcId="{04AA666C-C578-48EA-AE10-51E0CB9A2732}" destId="{A144C653-F3F6-4F5B-B196-13C940068BD6}" srcOrd="2" destOrd="0" presId="urn:microsoft.com/office/officeart/2011/layout/CircleProcess"/>
    <dgm:cxn modelId="{4E7F1C50-90B3-4131-9787-3CD4EE8BC16B}" type="presParOf" srcId="{04AA666C-C578-48EA-AE10-51E0CB9A2732}" destId="{E9C4BACF-EBF8-4935-B06B-6366326CFAA4}" srcOrd="3" destOrd="0" presId="urn:microsoft.com/office/officeart/2011/layout/CircleProcess"/>
    <dgm:cxn modelId="{78C6C656-A457-4699-873F-D717275398E2}" type="presParOf" srcId="{E9C4BACF-EBF8-4935-B06B-6366326CFAA4}" destId="{09794B8C-E734-4AD7-92B7-E8D5CAA1082F}" srcOrd="0" destOrd="0" presId="urn:microsoft.com/office/officeart/2011/layout/CircleProcess"/>
    <dgm:cxn modelId="{356D4670-6C2C-4C96-87D5-C5BECDCFEED6}" type="presParOf" srcId="{04AA666C-C578-48EA-AE10-51E0CB9A2732}" destId="{6AA97FA9-0D80-4397-8D21-A361BDF79ACB}" srcOrd="4" destOrd="0" presId="urn:microsoft.com/office/officeart/2011/layout/CircleProcess"/>
    <dgm:cxn modelId="{F2E4D560-4C46-428C-8BD2-99EE0DC22F96}" type="presParOf" srcId="{6AA97FA9-0D80-4397-8D21-A361BDF79ACB}" destId="{686F1890-877A-4652-9D3B-F479BCA8EE98}" srcOrd="0" destOrd="0" presId="urn:microsoft.com/office/officeart/2011/layout/CircleProcess"/>
    <dgm:cxn modelId="{F255680B-47D2-4912-8170-31E9323447F6}" type="presParOf" srcId="{04AA666C-C578-48EA-AE10-51E0CB9A2732}" destId="{238F6C06-5DF1-4E1A-98A8-0F659B517573}" srcOrd="5" destOrd="0" presId="urn:microsoft.com/office/officeart/2011/layout/CircleProcess"/>
    <dgm:cxn modelId="{D3AAF21A-162E-4C1A-9F86-D83052471EFB}" type="presParOf" srcId="{04AA666C-C578-48EA-AE10-51E0CB9A2732}" destId="{7BE6644B-3AB6-4114-8B52-3F8FEEDB9F5A}" srcOrd="6" destOrd="0" presId="urn:microsoft.com/office/officeart/2011/layout/CircleProcess"/>
    <dgm:cxn modelId="{F995BF75-249B-478F-84C4-8A86302F4C5E}" type="presParOf" srcId="{7BE6644B-3AB6-4114-8B52-3F8FEEDB9F5A}" destId="{33591AED-BB9F-45EE-A325-54945AB29784}" srcOrd="0" destOrd="0" presId="urn:microsoft.com/office/officeart/2011/layout/CircleProcess"/>
    <dgm:cxn modelId="{FD85EF37-A870-4F8E-B8FD-6B5B080736A6}" type="presParOf" srcId="{04AA666C-C578-48EA-AE10-51E0CB9A2732}" destId="{A3755F47-ED94-41ED-9BF8-1C883C62D6FC}" srcOrd="7" destOrd="0" presId="urn:microsoft.com/office/officeart/2011/layout/CircleProcess"/>
    <dgm:cxn modelId="{4683691E-8712-461D-A5B8-4F57ABC4167E}" type="presParOf" srcId="{A3755F47-ED94-41ED-9BF8-1C883C62D6FC}" destId="{EA8B68E1-77F3-4799-AC34-546ABA28C689}" srcOrd="0" destOrd="0" presId="urn:microsoft.com/office/officeart/2011/layout/CircleProcess"/>
    <dgm:cxn modelId="{2026863B-13C1-4E16-B425-7C95B76B0F94}" type="presParOf" srcId="{04AA666C-C578-48EA-AE10-51E0CB9A2732}" destId="{D41CBF9C-D87B-42FA-83CA-C300FE5ECA73}" srcOrd="8"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Features</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Load Trained Models</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dirty="0">
              <a:solidFill>
                <a:schemeClr val="tx1"/>
              </a:solidFill>
            </a:rPr>
            <a:t>Rank with predicted expected value</a:t>
          </a:r>
        </a:p>
        <a:p>
          <a:r>
            <a:rPr lang="en-SG" dirty="0">
              <a:solidFill>
                <a:schemeClr val="tx1"/>
              </a:solidFill>
            </a:rPr>
            <a:t>(User-Level)</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E878DF7A-3516-4BCB-AA59-99E356A46073}">
      <dgm:prSet/>
      <dgm:spPr/>
      <dgm:t>
        <a:bodyPr/>
        <a:lstStyle/>
        <a:p>
          <a:r>
            <a:rPr lang="en-SG" b="0" dirty="0"/>
            <a:t>Budget-Constrained Optimization (Top K users by EV)</a:t>
          </a:r>
          <a:endParaRPr lang="en-SG" dirty="0"/>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Targeting Decisions</a:t>
          </a:r>
          <a:br>
            <a:rPr lang="en-SG" b="0" dirty="0"/>
          </a:br>
          <a:r>
            <a:rPr lang="en-SG" b="0" dirty="0"/>
            <a:t>(User-level)</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0497FB6-15C4-4FDC-9902-04A28841228C}" type="pres">
      <dgm:prSet presAssocID="{39EB0991-8EB9-4AFD-A2F2-F6E1F254BE25}" presName="Accent5" presStyleCnt="0"/>
      <dgm:spPr/>
    </dgm:pt>
    <dgm:pt modelId="{9CFC7CA6-F413-4EB9-BC7D-5F9345015BD0}" type="pres">
      <dgm:prSet presAssocID="{39EB0991-8EB9-4AFD-A2F2-F6E1F254BE25}" presName="Accent" presStyleLbl="node1" presStyleIdx="0" presStyleCnt="5"/>
      <dgm:spPr/>
    </dgm:pt>
    <dgm:pt modelId="{6326EA35-4BDC-4CAD-9D26-2CA3BDECEBC3}" type="pres">
      <dgm:prSet presAssocID="{39EB0991-8EB9-4AFD-A2F2-F6E1F254BE25}" presName="ParentBackground5" presStyleCnt="0"/>
      <dgm:spPr/>
    </dgm:pt>
    <dgm:pt modelId="{3819A24E-29CD-47FA-8F77-B27A7A92C7B6}" type="pres">
      <dgm:prSet presAssocID="{39EB0991-8EB9-4AFD-A2F2-F6E1F254BE25}" presName="ParentBackground" presStyleLbl="fgAcc1" presStyleIdx="0" presStyleCnt="5"/>
      <dgm:spPr/>
    </dgm:pt>
    <dgm:pt modelId="{D4723DF1-3672-4D83-B5AA-1B72537FA52A}" type="pres">
      <dgm:prSet presAssocID="{39EB0991-8EB9-4AFD-A2F2-F6E1F254BE25}" presName="Parent5" presStyleLbl="revTx" presStyleIdx="0" presStyleCnt="0">
        <dgm:presLayoutVars>
          <dgm:chMax val="1"/>
          <dgm:chPref val="1"/>
          <dgm:bulletEnabled val="1"/>
        </dgm:presLayoutVars>
      </dgm:prSet>
      <dgm:spPr/>
    </dgm:pt>
    <dgm:pt modelId="{40B2D8CB-2943-477D-B606-A48C90917FCF}" type="pres">
      <dgm:prSet presAssocID="{E878DF7A-3516-4BCB-AA59-99E356A46073}" presName="Accent4" presStyleCnt="0"/>
      <dgm:spPr/>
    </dgm:pt>
    <dgm:pt modelId="{09794B8C-E734-4AD7-92B7-E8D5CAA1082F}" type="pres">
      <dgm:prSet presAssocID="{E878DF7A-3516-4BCB-AA59-99E356A46073}" presName="Accent" presStyleLbl="node1" presStyleIdx="1" presStyleCnt="5"/>
      <dgm:spPr/>
    </dgm:pt>
    <dgm:pt modelId="{B6E3CE8A-2A67-4904-9692-C0CC1574C74B}" type="pres">
      <dgm:prSet presAssocID="{E878DF7A-3516-4BCB-AA59-99E356A46073}" presName="ParentBackground4" presStyleCnt="0"/>
      <dgm:spPr/>
    </dgm:pt>
    <dgm:pt modelId="{686F1890-877A-4652-9D3B-F479BCA8EE98}" type="pres">
      <dgm:prSet presAssocID="{E878DF7A-3516-4BCB-AA59-99E356A46073}" presName="ParentBackground" presStyleLbl="fgAcc1" presStyleIdx="1" presStyleCnt="5"/>
      <dgm:spPr/>
    </dgm:pt>
    <dgm:pt modelId="{D6A5B592-FA3D-49A8-86FF-AD731361DF05}" type="pres">
      <dgm:prSet presAssocID="{E878DF7A-3516-4BCB-AA59-99E356A46073}" presName="Parent4" presStyleLbl="revTx" presStyleIdx="0" presStyleCnt="0">
        <dgm:presLayoutVars>
          <dgm:chMax val="1"/>
          <dgm:chPref val="1"/>
          <dgm:bulletEnabled val="1"/>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2" presStyleCnt="5"/>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2" presStyleCnt="5"/>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3" presStyleCnt="5"/>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3" presStyleCnt="5"/>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4" presStyleCnt="5"/>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4" presStyleCnt="5"/>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15C2058C-EC37-4FEA-A703-C93AC5402A2C}" srcId="{A7521F9F-9853-4760-AF04-01C8BE6DE7CA}" destId="{39EB0991-8EB9-4AFD-A2F2-F6E1F254BE25}" srcOrd="4" destOrd="0" parTransId="{E6A12652-9F65-4387-B68E-183EBE605256}" sibTransId="{EF4950E5-5C98-4D2B-B111-BF6A7726FECB}"/>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74911EB3-CA94-4516-B771-EEBF0B929931}" srcId="{A7521F9F-9853-4760-AF04-01C8BE6DE7CA}" destId="{E878DF7A-3516-4BCB-AA59-99E356A46073}" srcOrd="3" destOrd="0" parTransId="{4215D128-B3CD-480F-AA0F-6DDB0B6C6E34}" sibTransId="{8EDF5DBF-CBE7-4C0D-B13F-D8077C96DF81}"/>
    <dgm:cxn modelId="{BB0D7EB4-2EF8-4201-AF4A-6C30B8A2CA3F}" srcId="{A7521F9F-9853-4760-AF04-01C8BE6DE7CA}" destId="{5D502DEF-62E0-41A6-A245-292CD4B08141}" srcOrd="1" destOrd="0" parTransId="{1C95D010-06D0-47CF-83EE-81250928ABB3}" sibTransId="{AC7E2760-2504-4C7A-83E3-CAF9F4BA1E45}"/>
    <dgm:cxn modelId="{F824BDB5-D208-4FEE-8FF7-936311CAFADE}" type="presOf" srcId="{E878DF7A-3516-4BCB-AA59-99E356A46073}" destId="{D6A5B592-FA3D-49A8-86FF-AD731361DF05}" srcOrd="1" destOrd="0" presId="urn:microsoft.com/office/officeart/2011/layout/CircleProcess"/>
    <dgm:cxn modelId="{AB5A45C0-3544-4AC4-A160-D55E9E62EDAD}"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3DDF77CB-F05B-4FDB-B65D-81F9FE32A288}" type="presOf" srcId="{39EB0991-8EB9-4AFD-A2F2-F6E1F254BE25}" destId="{D4723DF1-3672-4D83-B5AA-1B72537FA52A}" srcOrd="1" destOrd="0" presId="urn:microsoft.com/office/officeart/2011/layout/CircleProcess"/>
    <dgm:cxn modelId="{00F81EE8-B86C-4BBA-A20B-BE18535099DF}" type="presOf" srcId="{E878DF7A-3516-4BCB-AA59-99E356A46073}" destId="{686F1890-877A-4652-9D3B-F479BCA8EE98}" srcOrd="0" destOrd="0" presId="urn:microsoft.com/office/officeart/2011/layout/CircleProcess"/>
    <dgm:cxn modelId="{71FF933F-148F-485E-B8E0-0FC67277E1B3}" type="presParOf" srcId="{04AA666C-C578-48EA-AE10-51E0CB9A2732}" destId="{E0497FB6-15C4-4FDC-9902-04A28841228C}" srcOrd="0" destOrd="0" presId="urn:microsoft.com/office/officeart/2011/layout/CircleProcess"/>
    <dgm:cxn modelId="{9205F8F9-A5D3-46EC-AC74-A8DE7011B27A}" type="presParOf" srcId="{E0497FB6-15C4-4FDC-9902-04A28841228C}" destId="{9CFC7CA6-F413-4EB9-BC7D-5F9345015BD0}" srcOrd="0" destOrd="0" presId="urn:microsoft.com/office/officeart/2011/layout/CircleProcess"/>
    <dgm:cxn modelId="{A781ECA4-48BF-49D7-A35E-4173CEC01B6F}" type="presParOf" srcId="{04AA666C-C578-48EA-AE10-51E0CB9A2732}" destId="{6326EA35-4BDC-4CAD-9D26-2CA3BDECEBC3}" srcOrd="1" destOrd="0" presId="urn:microsoft.com/office/officeart/2011/layout/CircleProcess"/>
    <dgm:cxn modelId="{D9651285-2E2E-48E4-88B8-0012BA498CDE}" type="presParOf" srcId="{6326EA35-4BDC-4CAD-9D26-2CA3BDECEBC3}" destId="{3819A24E-29CD-47FA-8F77-B27A7A92C7B6}" srcOrd="0" destOrd="0" presId="urn:microsoft.com/office/officeart/2011/layout/CircleProcess"/>
    <dgm:cxn modelId="{2141F2B3-9021-4D1F-BE91-7868F5BE2609}" type="presParOf" srcId="{04AA666C-C578-48EA-AE10-51E0CB9A2732}" destId="{D4723DF1-3672-4D83-B5AA-1B72537FA52A}" srcOrd="2" destOrd="0" presId="urn:microsoft.com/office/officeart/2011/layout/CircleProcess"/>
    <dgm:cxn modelId="{E9D3A59C-C925-4C1F-BC57-080944345065}" type="presParOf" srcId="{04AA666C-C578-48EA-AE10-51E0CB9A2732}" destId="{40B2D8CB-2943-477D-B606-A48C90917FCF}" srcOrd="3" destOrd="0" presId="urn:microsoft.com/office/officeart/2011/layout/CircleProcess"/>
    <dgm:cxn modelId="{538DD099-FEFD-4E49-BDCC-898A9A003526}" type="presParOf" srcId="{40B2D8CB-2943-477D-B606-A48C90917FCF}" destId="{09794B8C-E734-4AD7-92B7-E8D5CAA1082F}" srcOrd="0" destOrd="0" presId="urn:microsoft.com/office/officeart/2011/layout/CircleProcess"/>
    <dgm:cxn modelId="{84FE941E-7105-424F-8FEE-B3708D2C0D1D}" type="presParOf" srcId="{04AA666C-C578-48EA-AE10-51E0CB9A2732}" destId="{B6E3CE8A-2A67-4904-9692-C0CC1574C74B}" srcOrd="4" destOrd="0" presId="urn:microsoft.com/office/officeart/2011/layout/CircleProcess"/>
    <dgm:cxn modelId="{221C3999-23A1-4439-A58F-BD54B839E416}" type="presParOf" srcId="{B6E3CE8A-2A67-4904-9692-C0CC1574C74B}" destId="{686F1890-877A-4652-9D3B-F479BCA8EE98}" srcOrd="0" destOrd="0" presId="urn:microsoft.com/office/officeart/2011/layout/CircleProcess"/>
    <dgm:cxn modelId="{92D0E682-C67D-42F5-949D-AE7362580FFA}" type="presParOf" srcId="{04AA666C-C578-48EA-AE10-51E0CB9A2732}" destId="{D6A5B592-FA3D-49A8-86FF-AD731361DF05}" srcOrd="5" destOrd="0" presId="urn:microsoft.com/office/officeart/2011/layout/CircleProcess"/>
    <dgm:cxn modelId="{1C702618-8514-4424-BDEF-270599E69135}" type="presParOf" srcId="{04AA666C-C578-48EA-AE10-51E0CB9A2732}" destId="{EFB0D1DF-01AE-412D-951C-CB3056E20CBE}" srcOrd="6"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7"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8" destOrd="0" presId="urn:microsoft.com/office/officeart/2011/layout/CircleProcess"/>
    <dgm:cxn modelId="{479713B9-A341-4B9F-9B1F-3B33E6D50EFC}" type="presParOf" srcId="{04AA666C-C578-48EA-AE10-51E0CB9A2732}" destId="{3CF456E5-F5FD-4528-8243-622B65B9866B}" srcOrd="9"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10"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11" destOrd="0" presId="urn:microsoft.com/office/officeart/2011/layout/CircleProcess"/>
    <dgm:cxn modelId="{64229E5B-833E-44CB-B4A5-D77C8ACF29F3}" type="presParOf" srcId="{04AA666C-C578-48EA-AE10-51E0CB9A2732}" destId="{7BE6644B-3AB6-4114-8B52-3F8FEEDB9F5A}" srcOrd="12"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13"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14"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i="0"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39EB0991-8EB9-4AFD-A2F2-F6E1F254BE25}">
      <dgm:prSet/>
      <dgm:spPr/>
      <dgm:t>
        <a:bodyPr/>
        <a:lstStyle/>
        <a:p>
          <a:r>
            <a:rPr lang="en-SG" b="0" dirty="0"/>
            <a:t>Two-Tower Model Training (Collaborative Filtering)</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CC6EAF1E-7E1F-4C33-B430-807083E89947}" type="pres">
      <dgm:prSet presAssocID="{39EB0991-8EB9-4AFD-A2F2-F6E1F254BE25}" presName="Accent2" presStyleCnt="0"/>
      <dgm:spPr/>
    </dgm:pt>
    <dgm:pt modelId="{9CFC7CA6-F413-4EB9-BC7D-5F9345015BD0}" type="pres">
      <dgm:prSet presAssocID="{39EB0991-8EB9-4AFD-A2F2-F6E1F254BE25}" presName="Accent" presStyleLbl="node1" presStyleIdx="0" presStyleCnt="2"/>
      <dgm:spPr/>
    </dgm:pt>
    <dgm:pt modelId="{539D53E9-0047-4EEA-AE61-B55550B077B8}" type="pres">
      <dgm:prSet presAssocID="{39EB0991-8EB9-4AFD-A2F2-F6E1F254BE25}" presName="ParentBackground2" presStyleCnt="0"/>
      <dgm:spPr/>
    </dgm:pt>
    <dgm:pt modelId="{3819A24E-29CD-47FA-8F77-B27A7A92C7B6}" type="pres">
      <dgm:prSet presAssocID="{39EB0991-8EB9-4AFD-A2F2-F6E1F254BE25}" presName="ParentBackground" presStyleLbl="fgAcc1" presStyleIdx="0" presStyleCnt="2"/>
      <dgm:spPr/>
    </dgm:pt>
    <dgm:pt modelId="{372BC7BB-FCD7-4421-B869-B22ABA269ECD}" type="pres">
      <dgm:prSet presAssocID="{39EB0991-8EB9-4AFD-A2F2-F6E1F254BE25}"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1" presStyleCnt="2"/>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1" presStyleCnt="2"/>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782C8628-4FB5-44B2-9AF4-F888684B236A}"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5C426659-FB7B-4F4F-94BA-0971C81FF64C}" type="presOf" srcId="{39EB0991-8EB9-4AFD-A2F2-F6E1F254BE25}" destId="{372BC7BB-FCD7-4421-B869-B22ABA269ECD}" srcOrd="1" destOrd="0" presId="urn:microsoft.com/office/officeart/2011/layout/CircleProcess"/>
    <dgm:cxn modelId="{15C2058C-EC37-4FEA-A703-C93AC5402A2C}" srcId="{A7521F9F-9853-4760-AF04-01C8BE6DE7CA}" destId="{39EB0991-8EB9-4AFD-A2F2-F6E1F254BE25}" srcOrd="1" destOrd="0" parTransId="{E6A12652-9F65-4387-B68E-183EBE605256}" sibTransId="{EF4950E5-5C98-4D2B-B111-BF6A7726FECB}"/>
    <dgm:cxn modelId="{4B811FAE-2010-4EFA-A284-2F344A710485}"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90AD75F4-1550-4115-903C-2B291FE67C48}" type="presOf" srcId="{3AEE3E50-0B70-4E20-8A23-DF2C94A810C5}" destId="{EA8B68E1-77F3-4799-AC34-546ABA28C689}" srcOrd="0" destOrd="0" presId="urn:microsoft.com/office/officeart/2011/layout/CircleProcess"/>
    <dgm:cxn modelId="{9E2286CA-F296-4D37-9675-B9A2F6A57142}" type="presParOf" srcId="{04AA666C-C578-48EA-AE10-51E0CB9A2732}" destId="{CC6EAF1E-7E1F-4C33-B430-807083E89947}" srcOrd="0" destOrd="0" presId="urn:microsoft.com/office/officeart/2011/layout/CircleProcess"/>
    <dgm:cxn modelId="{C013F972-D3A6-4434-B34E-A54FAAD1F727}" type="presParOf" srcId="{CC6EAF1E-7E1F-4C33-B430-807083E89947}" destId="{9CFC7CA6-F413-4EB9-BC7D-5F9345015BD0}" srcOrd="0" destOrd="0" presId="urn:microsoft.com/office/officeart/2011/layout/CircleProcess"/>
    <dgm:cxn modelId="{84AA7E74-F861-4166-AFF3-89E4F81AC1ED}" type="presParOf" srcId="{04AA666C-C578-48EA-AE10-51E0CB9A2732}" destId="{539D53E9-0047-4EEA-AE61-B55550B077B8}" srcOrd="1" destOrd="0" presId="urn:microsoft.com/office/officeart/2011/layout/CircleProcess"/>
    <dgm:cxn modelId="{8B8D85DC-7CA7-430F-B970-DF6E08CCDEE0}" type="presParOf" srcId="{539D53E9-0047-4EEA-AE61-B55550B077B8}" destId="{3819A24E-29CD-47FA-8F77-B27A7A92C7B6}" srcOrd="0" destOrd="0" presId="urn:microsoft.com/office/officeart/2011/layout/CircleProcess"/>
    <dgm:cxn modelId="{CECFF7B2-FA90-4588-AF8B-16DEBCDCF1CF}" type="presParOf" srcId="{04AA666C-C578-48EA-AE10-51E0CB9A2732}" destId="{372BC7BB-FCD7-4421-B869-B22ABA269ECD}" srcOrd="2" destOrd="0" presId="urn:microsoft.com/office/officeart/2011/layout/CircleProcess"/>
    <dgm:cxn modelId="{D717A9FA-05C3-4782-AA8B-AEDC5B38058A}" type="presParOf" srcId="{04AA666C-C578-48EA-AE10-51E0CB9A2732}" destId="{7BE6644B-3AB6-4114-8B52-3F8FEEDB9F5A}" srcOrd="3" destOrd="0" presId="urn:microsoft.com/office/officeart/2011/layout/CircleProcess"/>
    <dgm:cxn modelId="{3D987564-C02C-4FC2-9B81-8F64BDE21665}" type="presParOf" srcId="{7BE6644B-3AB6-4114-8B52-3F8FEEDB9F5A}" destId="{33591AED-BB9F-45EE-A325-54945AB29784}" srcOrd="0" destOrd="0" presId="urn:microsoft.com/office/officeart/2011/layout/CircleProcess"/>
    <dgm:cxn modelId="{3AA20A3F-8856-4B82-A6E1-A911CD5A1B1B}" type="presParOf" srcId="{04AA666C-C578-48EA-AE10-51E0CB9A2732}" destId="{A3755F47-ED94-41ED-9BF8-1C883C62D6FC}" srcOrd="4" destOrd="0" presId="urn:microsoft.com/office/officeart/2011/layout/CircleProcess"/>
    <dgm:cxn modelId="{F35F4821-18D5-470D-BD7D-31E2256B6711}" type="presParOf" srcId="{A3755F47-ED94-41ED-9BF8-1C883C62D6FC}" destId="{EA8B68E1-77F3-4799-AC34-546ABA28C689}" srcOrd="0" destOrd="0" presId="urn:microsoft.com/office/officeart/2011/layout/CircleProcess"/>
    <dgm:cxn modelId="{A80286B2-07C1-4CBC-B3A5-13997F3EBCD1}" type="presParOf" srcId="{04AA666C-C578-48EA-AE10-51E0CB9A2732}" destId="{D41CBF9C-D87B-42FA-83CA-C300FE5ECA73}" srcOrd="5"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Embedding</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pPr>
            <a:buNone/>
          </a:pPr>
          <a:r>
            <a:rPr lang="en-SG" dirty="0"/>
            <a:t>Cosine Similarity (via L2-normalized embeddings)</a:t>
          </a:r>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b="0" dirty="0"/>
            <a:t>Top-K Retrieval (via ANN index, e.g., FAISS)</a:t>
          </a:r>
          <a:endParaRPr lang="en-SG" dirty="0"/>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0" presStyleCnt="3"/>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0" presStyleCnt="3"/>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1" presStyleCnt="3"/>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1" presStyleCnt="3"/>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BB0D7EB4-2EF8-4201-AF4A-6C30B8A2CA3F}" srcId="{A7521F9F-9853-4760-AF04-01C8BE6DE7CA}" destId="{5D502DEF-62E0-41A6-A245-292CD4B08141}" srcOrd="1" destOrd="0" parTransId="{1C95D010-06D0-47CF-83EE-81250928ABB3}" sibTransId="{AC7E2760-2504-4C7A-83E3-CAF9F4BA1E45}"/>
    <dgm:cxn modelId="{F02639C1-497E-4ECC-9980-39FDC410916F}" type="presOf" srcId="{A7521F9F-9853-4760-AF04-01C8BE6DE7CA}" destId="{04AA666C-C578-48EA-AE10-51E0CB9A2732}" srcOrd="0" destOrd="0" presId="urn:microsoft.com/office/officeart/2011/layout/CircleProcess"/>
    <dgm:cxn modelId="{1C702618-8514-4424-BDEF-270599E69135}" type="presParOf" srcId="{04AA666C-C578-48EA-AE10-51E0CB9A2732}" destId="{EFB0D1DF-01AE-412D-951C-CB3056E20CBE}" srcOrd="0"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1"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2" destOrd="0" presId="urn:microsoft.com/office/officeart/2011/layout/CircleProcess"/>
    <dgm:cxn modelId="{479713B9-A341-4B9F-9B1F-3B33E6D50EFC}" type="presParOf" srcId="{04AA666C-C578-48EA-AE10-51E0CB9A2732}" destId="{3CF456E5-F5FD-4528-8243-622B65B9866B}" srcOrd="3"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4"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5" destOrd="0" presId="urn:microsoft.com/office/officeart/2011/layout/CircleProcess"/>
    <dgm:cxn modelId="{64229E5B-833E-44CB-B4A5-D77C8ACF29F3}" type="presParOf" srcId="{04AA666C-C578-48EA-AE10-51E0CB9A2732}" destId="{7BE6644B-3AB6-4114-8B52-3F8FEEDB9F5A}" srcOrd="6"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7"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8"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4A37F-DEE6-432F-A851-EC63949E182D}">
      <dsp:nvSpPr>
        <dsp:cNvPr id="0" name=""/>
        <dsp:cNvSpPr/>
      </dsp:nvSpPr>
      <dsp:spPr>
        <a:xfrm>
          <a:off x="0" y="159361"/>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Purchase Propensity Engine</a:t>
          </a:r>
        </a:p>
        <a:p>
          <a:pPr marL="114300" lvl="1" indent="-114300" algn="l" defTabSz="533400">
            <a:lnSpc>
              <a:spcPct val="90000"/>
            </a:lnSpc>
            <a:spcBef>
              <a:spcPct val="0"/>
            </a:spcBef>
            <a:spcAft>
              <a:spcPct val="15000"/>
            </a:spcAft>
            <a:buChar char="•"/>
          </a:pPr>
          <a:r>
            <a:rPr lang="en-SG" sz="1200" kern="1200" dirty="0"/>
            <a:t>Training Pipeline (Offline): Purchase Propensity Modelling</a:t>
          </a:r>
        </a:p>
        <a:p>
          <a:pPr marL="114300" lvl="1" indent="-114300" algn="l" defTabSz="533400">
            <a:lnSpc>
              <a:spcPct val="90000"/>
            </a:lnSpc>
            <a:spcBef>
              <a:spcPct val="0"/>
            </a:spcBef>
            <a:spcAft>
              <a:spcPct val="15000"/>
            </a:spcAft>
            <a:buChar char="•"/>
          </a:pPr>
          <a:r>
            <a:rPr lang="en-SG" sz="1200" kern="1200" dirty="0"/>
            <a:t>Serving (Policy) Pipeline: Incentive Allocation (Budget-Constrained)</a:t>
          </a:r>
        </a:p>
        <a:p>
          <a:pPr marL="114300" lvl="1" indent="-114300" algn="l" defTabSz="533400">
            <a:lnSpc>
              <a:spcPct val="90000"/>
            </a:lnSpc>
            <a:spcBef>
              <a:spcPct val="0"/>
            </a:spcBef>
            <a:spcAft>
              <a:spcPct val="15000"/>
            </a:spcAft>
            <a:buChar char="•"/>
          </a:pPr>
          <a:r>
            <a:rPr lang="en-SG" sz="1200" kern="1200" dirty="0"/>
            <a:t>Compare Assumptions (Freeze After Validation)</a:t>
          </a:r>
        </a:p>
      </dsp:txBody>
      <dsp:txXfrm>
        <a:off x="52791" y="212152"/>
        <a:ext cx="2898434" cy="1696828"/>
      </dsp:txXfrm>
    </dsp:sp>
    <dsp:sp modelId="{71F89AA5-3D26-438B-9C21-64A60B7CAFE1}">
      <dsp:nvSpPr>
        <dsp:cNvPr id="0" name=""/>
        <dsp:cNvSpPr/>
      </dsp:nvSpPr>
      <dsp:spPr>
        <a:xfrm rot="21584320">
          <a:off x="3305118" y="678387"/>
          <a:ext cx="638349"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119" y="827823"/>
        <a:ext cx="446844" cy="446998"/>
      </dsp:txXfrm>
    </dsp:sp>
    <dsp:sp modelId="{74BCB0AC-6184-4BC5-9259-9B38484EB0BD}">
      <dsp:nvSpPr>
        <dsp:cNvPr id="0" name=""/>
        <dsp:cNvSpPr/>
      </dsp:nvSpPr>
      <dsp:spPr>
        <a:xfrm>
          <a:off x="4208438" y="140165"/>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Policy Evaluation</a:t>
          </a:r>
        </a:p>
        <a:p>
          <a:pPr marL="114300" lvl="1" indent="-114300" algn="l" defTabSz="533400">
            <a:lnSpc>
              <a:spcPct val="90000"/>
            </a:lnSpc>
            <a:spcBef>
              <a:spcPct val="0"/>
            </a:spcBef>
            <a:spcAft>
              <a:spcPct val="15000"/>
            </a:spcAft>
            <a:buChar char="•"/>
          </a:pPr>
          <a:r>
            <a:rPr lang="en-SG" sz="1200" kern="1200" dirty="0"/>
            <a:t>Compare Incentive Allocation Policies</a:t>
          </a:r>
        </a:p>
      </dsp:txBody>
      <dsp:txXfrm>
        <a:off x="4261229" y="192956"/>
        <a:ext cx="2898434" cy="16968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50C483-DCCC-4B9C-AE6B-988DC288188A}">
      <dsp:nvSpPr>
        <dsp:cNvPr id="0" name=""/>
        <dsp:cNvSpPr/>
      </dsp:nvSpPr>
      <dsp:spPr>
        <a:xfrm>
          <a:off x="212510" y="0"/>
          <a:ext cx="2223161" cy="2223161"/>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C934A3-7313-4156-8ED7-DDC09B6D49E2}">
      <dsp:nvSpPr>
        <dsp:cNvPr id="0" name=""/>
        <dsp:cNvSpPr/>
      </dsp:nvSpPr>
      <dsp:spPr>
        <a:xfrm>
          <a:off x="286541" y="74186"/>
          <a:ext cx="2074876" cy="2074788"/>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6830" tIns="36830" rIns="36830" bIns="36830" numCol="1" spcCol="1270" anchor="ctr" anchorCtr="0">
          <a:noAutofit/>
        </a:bodyPr>
        <a:lstStyle/>
        <a:p>
          <a:pPr marL="0" lvl="0" indent="0" algn="ctr" defTabSz="1289050">
            <a:lnSpc>
              <a:spcPct val="90000"/>
            </a:lnSpc>
            <a:spcBef>
              <a:spcPct val="0"/>
            </a:spcBef>
            <a:spcAft>
              <a:spcPct val="35000"/>
            </a:spcAft>
            <a:buNone/>
          </a:pPr>
          <a:r>
            <a:rPr lang="en-SG" sz="2900" kern="1200" dirty="0"/>
            <a:t>Feature Store</a:t>
          </a:r>
        </a:p>
      </dsp:txBody>
      <dsp:txXfrm>
        <a:off x="583111" y="370585"/>
        <a:ext cx="1482182" cy="1481991"/>
      </dsp:txXfrm>
    </dsp:sp>
    <dsp:sp modelId="{4A4F7823-EAE9-46C3-ABC1-34D954A204CF}">
      <dsp:nvSpPr>
        <dsp:cNvPr id="0" name=""/>
        <dsp:cNvSpPr/>
      </dsp:nvSpPr>
      <dsp:spPr>
        <a:xfrm>
          <a:off x="286541" y="2289686"/>
          <a:ext cx="2074876" cy="119325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57150" lvl="1" indent="-57150" algn="l" defTabSz="488950">
            <a:lnSpc>
              <a:spcPct val="90000"/>
            </a:lnSpc>
            <a:spcBef>
              <a:spcPct val="0"/>
            </a:spcBef>
            <a:spcAft>
              <a:spcPct val="15000"/>
            </a:spcAft>
            <a:buChar char="•"/>
          </a:pPr>
          <a:r>
            <a:rPr lang="en-SG" sz="1100" kern="1200" dirty="0"/>
            <a:t>Online Retail transaction dataset of 2 years </a:t>
          </a:r>
          <a:r>
            <a:rPr lang="en-SG" sz="1100" b="0" i="1" kern="1200"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sz="1100" b="0" i="1" kern="1200" dirty="0">
            <a:solidFill>
              <a:srgbClr val="0070C0"/>
            </a:solidFill>
          </a:endParaRPr>
        </a:p>
        <a:p>
          <a:pPr marL="57150" lvl="1" indent="-57150" algn="l" defTabSz="488950">
            <a:lnSpc>
              <a:spcPct val="90000"/>
            </a:lnSpc>
            <a:spcBef>
              <a:spcPct val="0"/>
            </a:spcBef>
            <a:spcAft>
              <a:spcPct val="15000"/>
            </a:spcAft>
            <a:buChar char="•"/>
          </a:pPr>
          <a:r>
            <a:rPr lang="en-SG" sz="1100" kern="1200" dirty="0"/>
            <a:t>Shared Feature Engineering Layer (bronze/silver)</a:t>
          </a:r>
        </a:p>
      </dsp:txBody>
      <dsp:txXfrm>
        <a:off x="286541" y="2289686"/>
        <a:ext cx="2074876" cy="11932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E4ACC-F46F-4E3F-B3D5-13482F0C135B}">
      <dsp:nvSpPr>
        <dsp:cNvPr id="0" name=""/>
        <dsp:cNvSpPr/>
      </dsp:nvSpPr>
      <dsp:spPr>
        <a:xfrm>
          <a:off x="1408"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Recommender Engine</a:t>
          </a:r>
        </a:p>
        <a:p>
          <a:pPr marL="114300" lvl="1" indent="-114300" algn="l" defTabSz="533400">
            <a:lnSpc>
              <a:spcPct val="90000"/>
            </a:lnSpc>
            <a:spcBef>
              <a:spcPct val="0"/>
            </a:spcBef>
            <a:spcAft>
              <a:spcPct val="15000"/>
            </a:spcAft>
            <a:buChar char="•"/>
          </a:pPr>
          <a:r>
            <a:rPr lang="en-SG" sz="1200" kern="1200" dirty="0"/>
            <a:t>Training Pipeline (Offline): Two-Tower Collaborative Filtering</a:t>
          </a:r>
        </a:p>
        <a:p>
          <a:pPr marL="114300" lvl="1" indent="-114300" algn="l" defTabSz="533400">
            <a:lnSpc>
              <a:spcPct val="90000"/>
            </a:lnSpc>
            <a:spcBef>
              <a:spcPct val="0"/>
            </a:spcBef>
            <a:spcAft>
              <a:spcPct val="15000"/>
            </a:spcAft>
            <a:buChar char="•"/>
          </a:pPr>
          <a:r>
            <a:rPr lang="en-SG" sz="1200" kern="1200" dirty="0"/>
            <a:t>Serving (Retrieval) Pipeline: Stage 1 Candidate Retrieval (Two-Tower Dot Product + ANN)</a:t>
          </a:r>
        </a:p>
        <a:p>
          <a:pPr marL="114300" lvl="1" indent="-114300" algn="l" defTabSz="533400">
            <a:lnSpc>
              <a:spcPct val="90000"/>
            </a:lnSpc>
            <a:spcBef>
              <a:spcPct val="0"/>
            </a:spcBef>
            <a:spcAft>
              <a:spcPct val="15000"/>
            </a:spcAft>
            <a:buChar char="•"/>
          </a:pPr>
          <a:endParaRPr lang="en-SG" sz="1200" kern="1200" dirty="0"/>
        </a:p>
      </dsp:txBody>
      <dsp:txXfrm>
        <a:off x="54199" y="133030"/>
        <a:ext cx="2898434" cy="1696827"/>
      </dsp:txXfrm>
    </dsp:sp>
    <dsp:sp modelId="{4F230ABA-46E3-4A4E-8801-E05038A704F6}">
      <dsp:nvSpPr>
        <dsp:cNvPr id="0" name=""/>
        <dsp:cNvSpPr/>
      </dsp:nvSpPr>
      <dsp:spPr>
        <a:xfrm>
          <a:off x="3305826" y="608946"/>
          <a:ext cx="636851"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826" y="757945"/>
        <a:ext cx="445796" cy="446998"/>
      </dsp:txXfrm>
    </dsp:sp>
    <dsp:sp modelId="{298762B9-1A9A-489F-A7B0-51C707051142}">
      <dsp:nvSpPr>
        <dsp:cNvPr id="0" name=""/>
        <dsp:cNvSpPr/>
      </dsp:nvSpPr>
      <dsp:spPr>
        <a:xfrm>
          <a:off x="4207031"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Model Evaluation</a:t>
          </a:r>
          <a:endParaRPr lang="en-SG" sz="1400" kern="1200" dirty="0"/>
        </a:p>
        <a:p>
          <a:pPr marL="114300" lvl="1" indent="-114300" algn="l" defTabSz="533400">
            <a:lnSpc>
              <a:spcPct val="90000"/>
            </a:lnSpc>
            <a:spcBef>
              <a:spcPct val="0"/>
            </a:spcBef>
            <a:spcAft>
              <a:spcPct val="15000"/>
            </a:spcAft>
            <a:buChar char="•"/>
          </a:pPr>
          <a:r>
            <a:rPr lang="en-SG" sz="1200" kern="1200" dirty="0"/>
            <a:t>Proxy metrics for commercial engagement: Recall/NDCG/Hit Rate</a:t>
          </a:r>
        </a:p>
      </dsp:txBody>
      <dsp:txXfrm>
        <a:off x="4259822" y="133030"/>
        <a:ext cx="2898434" cy="16968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5100069" y="558212"/>
          <a:ext cx="1478691" cy="1478965"/>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514916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Models Validation</a:t>
          </a:r>
        </a:p>
      </dsp:txBody>
      <dsp:txXfrm>
        <a:off x="5346517" y="804750"/>
        <a:ext cx="985794" cy="985890"/>
      </dsp:txXfrm>
    </dsp:sp>
    <dsp:sp modelId="{09794B8C-E734-4AD7-92B7-E8D5CAA1082F}">
      <dsp:nvSpPr>
        <dsp:cNvPr id="0" name=""/>
        <dsp:cNvSpPr/>
      </dsp:nvSpPr>
      <dsp:spPr>
        <a:xfrm rot="2700000">
          <a:off x="357357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362089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solidFill>
                <a:schemeClr val="tx1"/>
              </a:solidFill>
            </a:rPr>
            <a:t>Models Training</a:t>
          </a:r>
        </a:p>
      </dsp:txBody>
      <dsp:txXfrm>
        <a:off x="3818247" y="804750"/>
        <a:ext cx="985794" cy="985890"/>
      </dsp:txXfrm>
    </dsp:sp>
    <dsp:sp modelId="{33591AED-BB9F-45EE-A325-54945AB29784}">
      <dsp:nvSpPr>
        <dsp:cNvPr id="0" name=""/>
        <dsp:cNvSpPr/>
      </dsp:nvSpPr>
      <dsp:spPr>
        <a:xfrm rot="2700000">
          <a:off x="204530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209262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Feature Store</a:t>
          </a:r>
          <a:endParaRPr lang="en-SG" sz="1500" kern="1200" dirty="0"/>
        </a:p>
      </dsp:txBody>
      <dsp:txXfrm>
        <a:off x="2289977" y="804750"/>
        <a:ext cx="985794" cy="9858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6732991" y="651808"/>
          <a:ext cx="1535231" cy="1535482"/>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6783648"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Targeting Decisions</a:t>
          </a:r>
          <a:br>
            <a:rPr lang="en-SG" sz="1200" b="0" kern="1200" dirty="0"/>
          </a:br>
          <a:r>
            <a:rPr lang="en-SG" sz="1200" b="0" kern="1200" dirty="0"/>
            <a:t>(User-level)</a:t>
          </a:r>
          <a:endParaRPr lang="en-SG" sz="1200" kern="1200" dirty="0"/>
        </a:p>
      </dsp:txBody>
      <dsp:txXfrm>
        <a:off x="6988727" y="907767"/>
        <a:ext cx="1023759" cy="1023565"/>
      </dsp:txXfrm>
    </dsp:sp>
    <dsp:sp modelId="{09794B8C-E734-4AD7-92B7-E8D5CAA1082F}">
      <dsp:nvSpPr>
        <dsp:cNvPr id="0" name=""/>
        <dsp:cNvSpPr/>
      </dsp:nvSpPr>
      <dsp:spPr>
        <a:xfrm rot="2700000">
          <a:off x="51455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5197760"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Budget-Constrained Optimization (Top K users by EV)</a:t>
          </a:r>
          <a:endParaRPr lang="en-SG" sz="1200" kern="1200" dirty="0"/>
        </a:p>
      </dsp:txBody>
      <dsp:txXfrm>
        <a:off x="5402022" y="907767"/>
        <a:ext cx="1023759" cy="1023565"/>
      </dsp:txXfrm>
    </dsp:sp>
    <dsp:sp modelId="{25459E76-ECB2-469A-B22F-F37E50EF6DD3}">
      <dsp:nvSpPr>
        <dsp:cNvPr id="0" name=""/>
        <dsp:cNvSpPr/>
      </dsp:nvSpPr>
      <dsp:spPr>
        <a:xfrm rot="2700000">
          <a:off x="3559669"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61105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kern="1200" dirty="0">
              <a:solidFill>
                <a:schemeClr val="tx1"/>
              </a:solidFill>
            </a:rPr>
            <a:t>Rank with predicted expected value</a:t>
          </a:r>
        </a:p>
        <a:p>
          <a:pPr marL="0" lvl="0" indent="0" algn="ctr" defTabSz="533400">
            <a:lnSpc>
              <a:spcPct val="90000"/>
            </a:lnSpc>
            <a:spcBef>
              <a:spcPct val="0"/>
            </a:spcBef>
            <a:spcAft>
              <a:spcPct val="35000"/>
            </a:spcAft>
            <a:buNone/>
          </a:pPr>
          <a:r>
            <a:rPr lang="en-SG" sz="1200" kern="1200" dirty="0">
              <a:solidFill>
                <a:schemeClr val="tx1"/>
              </a:solidFill>
            </a:rPr>
            <a:t>(User-Level)</a:t>
          </a:r>
        </a:p>
      </dsp:txBody>
      <dsp:txXfrm>
        <a:off x="3815316" y="907767"/>
        <a:ext cx="1023759" cy="1023565"/>
      </dsp:txXfrm>
    </dsp:sp>
    <dsp:sp modelId="{9B685F5E-EC48-4AED-83A8-FA1EAAD3CB5E}">
      <dsp:nvSpPr>
        <dsp:cNvPr id="0" name=""/>
        <dsp:cNvSpPr/>
      </dsp:nvSpPr>
      <dsp:spPr>
        <a:xfrm rot="2700000">
          <a:off x="1972964"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024349"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Load Trained Models</a:t>
          </a:r>
          <a:endParaRPr lang="en-SG" sz="1200" kern="1200" dirty="0"/>
        </a:p>
      </dsp:txBody>
      <dsp:txXfrm>
        <a:off x="2229428" y="907767"/>
        <a:ext cx="1023759" cy="1023565"/>
      </dsp:txXfrm>
    </dsp:sp>
    <dsp:sp modelId="{33591AED-BB9F-45EE-A325-54945AB29784}">
      <dsp:nvSpPr>
        <dsp:cNvPr id="0" name=""/>
        <dsp:cNvSpPr/>
      </dsp:nvSpPr>
      <dsp:spPr>
        <a:xfrm rot="2700000">
          <a:off x="3862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43764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User Features</a:t>
          </a:r>
          <a:endParaRPr lang="en-SG" sz="1200" kern="1200" dirty="0"/>
        </a:p>
      </dsp:txBody>
      <dsp:txXfrm>
        <a:off x="642722" y="907767"/>
        <a:ext cx="1023759" cy="10235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3077189" y="561413"/>
          <a:ext cx="1487466"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3126749"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kern="1200" dirty="0"/>
            <a:t>Two-Tower Model Training (Collaborative Filtering)</a:t>
          </a:r>
          <a:endParaRPr lang="en-SG" sz="1000" kern="1200" dirty="0"/>
        </a:p>
      </dsp:txBody>
      <dsp:txXfrm>
        <a:off x="3325320" y="809364"/>
        <a:ext cx="991533" cy="991542"/>
      </dsp:txXfrm>
    </dsp:sp>
    <dsp:sp modelId="{33591AED-BB9F-45EE-A325-54945AB29784}">
      <dsp:nvSpPr>
        <dsp:cNvPr id="0" name=""/>
        <dsp:cNvSpPr/>
      </dsp:nvSpPr>
      <dsp:spPr>
        <a:xfrm rot="2700000">
          <a:off x="1540303" y="561247"/>
          <a:ext cx="1487515" cy="1487515"/>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1590053"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i="0" kern="1200" dirty="0"/>
            <a:t>Feature Store</a:t>
          </a:r>
        </a:p>
      </dsp:txBody>
      <dsp:txXfrm>
        <a:off x="1788294" y="809364"/>
        <a:ext cx="991533" cy="991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459E76-ECB2-469A-B22F-F37E50EF6DD3}">
      <dsp:nvSpPr>
        <dsp:cNvPr id="0" name=""/>
        <dsp:cNvSpPr/>
      </dsp:nvSpPr>
      <dsp:spPr>
        <a:xfrm>
          <a:off x="3844625" y="561413"/>
          <a:ext cx="1487169"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894003"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Top-K Retrieval (via ANN index, e.g., FAISS)</a:t>
          </a:r>
          <a:endParaRPr lang="en-SG" sz="1100" kern="1200" dirty="0"/>
        </a:p>
      </dsp:txBody>
      <dsp:txXfrm>
        <a:off x="4092486" y="809364"/>
        <a:ext cx="991446" cy="991542"/>
      </dsp:txXfrm>
    </dsp:sp>
    <dsp:sp modelId="{9B685F5E-EC48-4AED-83A8-FA1EAAD3CB5E}">
      <dsp:nvSpPr>
        <dsp:cNvPr id="0" name=""/>
        <dsp:cNvSpPr/>
      </dsp:nvSpPr>
      <dsp:spPr>
        <a:xfrm rot="2700000">
          <a:off x="2309383"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356971"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kern="1200" dirty="0"/>
            <a:t>Cosine Similarity (via L2-normalized embeddings)</a:t>
          </a:r>
        </a:p>
      </dsp:txBody>
      <dsp:txXfrm>
        <a:off x="2555454" y="809364"/>
        <a:ext cx="991446" cy="991542"/>
      </dsp:txXfrm>
    </dsp:sp>
    <dsp:sp modelId="{33591AED-BB9F-45EE-A325-54945AB29784}">
      <dsp:nvSpPr>
        <dsp:cNvPr id="0" name=""/>
        <dsp:cNvSpPr/>
      </dsp:nvSpPr>
      <dsp:spPr>
        <a:xfrm rot="2700000">
          <a:off x="772351"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819939"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User Embedding</a:t>
          </a:r>
          <a:endParaRPr lang="en-SG" sz="1100" kern="1200" dirty="0"/>
        </a:p>
      </dsp:txBody>
      <dsp:txXfrm>
        <a:off x="1018422" y="809364"/>
        <a:ext cx="991446" cy="99154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343101-6731-49EA-9558-F09A055B6CC7}" type="datetimeFigureOut">
              <a:rPr lang="en-SG" smtClean="0"/>
              <a:t>1/3/2026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494BD5-7EB2-4B74-916E-2CB6F821BA1D}" type="slidenum">
              <a:rPr lang="en-SG" smtClean="0"/>
              <a:t>‹#›</a:t>
            </a:fld>
            <a:endParaRPr lang="en-SG" dirty="0"/>
          </a:p>
        </p:txBody>
      </p:sp>
    </p:spTree>
    <p:extLst>
      <p:ext uri="{BB962C8B-B14F-4D97-AF65-F5344CB8AC3E}">
        <p14:creationId xmlns:p14="http://schemas.microsoft.com/office/powerpoint/2010/main" val="2170228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3</a:t>
            </a:fld>
            <a:endParaRPr lang="en-SG" dirty="0"/>
          </a:p>
        </p:txBody>
      </p:sp>
    </p:spTree>
    <p:extLst>
      <p:ext uri="{BB962C8B-B14F-4D97-AF65-F5344CB8AC3E}">
        <p14:creationId xmlns:p14="http://schemas.microsoft.com/office/powerpoint/2010/main" val="42145351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E5FA-9397-754F-D4A5-91DBC5CC7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791AE-14B4-3040-FA81-23DC32C1EA09}"/>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18D827A-14B1-0E47-9A25-08AA012EAC6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20125E-9A80-4B28-7662-A7ABEAC5FD48}"/>
              </a:ext>
            </a:extLst>
          </p:cNvPr>
          <p:cNvSpPr>
            <a:spLocks noGrp="1"/>
          </p:cNvSpPr>
          <p:nvPr>
            <p:ph type="sldNum" sz="quarter" idx="5"/>
          </p:nvPr>
        </p:nvSpPr>
        <p:spPr/>
        <p:txBody>
          <a:bodyPr/>
          <a:lstStyle/>
          <a:p>
            <a:fld id="{40494BD5-7EB2-4B74-916E-2CB6F821BA1D}" type="slidenum">
              <a:rPr lang="en-SG" smtClean="0"/>
              <a:t>4</a:t>
            </a:fld>
            <a:endParaRPr lang="en-SG" dirty="0"/>
          </a:p>
        </p:txBody>
      </p:sp>
    </p:spTree>
    <p:extLst>
      <p:ext uri="{BB962C8B-B14F-4D97-AF65-F5344CB8AC3E}">
        <p14:creationId xmlns:p14="http://schemas.microsoft.com/office/powerpoint/2010/main" val="33283409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0893D-809A-9F23-6C7A-F16FEA0FEE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F0A98-F180-A4F6-F80A-B2F8BE35658A}"/>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0BFFC309-8425-37C1-9288-F02168FF26D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2B146E0-58CB-2FB6-AC4A-92BAB259EF21}"/>
              </a:ext>
            </a:extLst>
          </p:cNvPr>
          <p:cNvSpPr>
            <a:spLocks noGrp="1"/>
          </p:cNvSpPr>
          <p:nvPr>
            <p:ph type="sldNum" sz="quarter" idx="5"/>
          </p:nvPr>
        </p:nvSpPr>
        <p:spPr/>
        <p:txBody>
          <a:bodyPr/>
          <a:lstStyle/>
          <a:p>
            <a:fld id="{40494BD5-7EB2-4B74-916E-2CB6F821BA1D}" type="slidenum">
              <a:rPr lang="en-SG" smtClean="0"/>
              <a:t>5</a:t>
            </a:fld>
            <a:endParaRPr lang="en-SG" dirty="0"/>
          </a:p>
        </p:txBody>
      </p:sp>
    </p:spTree>
    <p:extLst>
      <p:ext uri="{BB962C8B-B14F-4D97-AF65-F5344CB8AC3E}">
        <p14:creationId xmlns:p14="http://schemas.microsoft.com/office/powerpoint/2010/main" val="35007120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7143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023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160928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21041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53708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95198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5177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403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44448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67435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474808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147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362227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42931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5262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875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SG"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SG"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SG"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SG"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SG"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SG"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SG"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SG"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SG"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SG"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SG"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SG"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SG"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SG"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SG"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SG"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SG"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SG"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SG"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SG"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SG"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SG"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SG"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SG"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3/1/2026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00504642"/>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diagramLayout" Target="../diagrams/layout2.xml"/><Relationship Id="rId13" Type="http://schemas.openxmlformats.org/officeDocument/2006/relationships/diagramLayout" Target="../diagrams/layout3.xml"/><Relationship Id="rId3" Type="http://schemas.openxmlformats.org/officeDocument/2006/relationships/diagramLayout" Target="../diagrams/layout1.xml"/><Relationship Id="rId7" Type="http://schemas.openxmlformats.org/officeDocument/2006/relationships/diagramData" Target="../diagrams/data2.xml"/><Relationship Id="rId12" Type="http://schemas.openxmlformats.org/officeDocument/2006/relationships/diagramData" Target="../diagrams/data3.xml"/><Relationship Id="rId2" Type="http://schemas.openxmlformats.org/officeDocument/2006/relationships/diagramData" Target="../diagrams/data1.xml"/><Relationship Id="rId16" Type="http://schemas.microsoft.com/office/2007/relationships/diagramDrawing" Target="../diagrams/drawing3.xml"/><Relationship Id="rId1" Type="http://schemas.openxmlformats.org/officeDocument/2006/relationships/slideLayout" Target="../slideLayouts/slideLayout2.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5" Type="http://schemas.openxmlformats.org/officeDocument/2006/relationships/diagramColors" Target="../diagrams/colors3.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 Id="rId14" Type="http://schemas.openxmlformats.org/officeDocument/2006/relationships/diagramQuickStyle" Target="../diagrams/quickStyle3.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4.xml"/><Relationship Id="rId7" Type="http://schemas.microsoft.com/office/2007/relationships/diagramDrawing" Target="../diagrams/drawing4.xml"/><Relationship Id="rId12" Type="http://schemas.microsoft.com/office/2007/relationships/diagramDrawing" Target="../diagrams/drawing5.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5.xml"/><Relationship Id="rId5" Type="http://schemas.openxmlformats.org/officeDocument/2006/relationships/diagramQuickStyle" Target="../diagrams/quickStyle4.xml"/><Relationship Id="rId10" Type="http://schemas.openxmlformats.org/officeDocument/2006/relationships/diagramQuickStyle" Target="../diagrams/quickStyle5.xml"/><Relationship Id="rId4" Type="http://schemas.openxmlformats.org/officeDocument/2006/relationships/diagramLayout" Target="../diagrams/layout4.xml"/><Relationship Id="rId9" Type="http://schemas.openxmlformats.org/officeDocument/2006/relationships/diagramLayout" Target="../diagrams/layout5.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A2E8F-8845-67A8-74ED-D98C2505416F}"/>
              </a:ext>
            </a:extLst>
          </p:cNvPr>
          <p:cNvSpPr>
            <a:spLocks noGrp="1"/>
          </p:cNvSpPr>
          <p:nvPr>
            <p:ph type="ctrTitle"/>
          </p:nvPr>
        </p:nvSpPr>
        <p:spPr/>
        <p:txBody>
          <a:bodyPr/>
          <a:lstStyle/>
          <a:p>
            <a:r>
              <a:rPr lang="en-SG" dirty="0"/>
              <a:t>Architecture</a:t>
            </a:r>
          </a:p>
        </p:txBody>
      </p:sp>
      <p:sp>
        <p:nvSpPr>
          <p:cNvPr id="3" name="Subtitle 2">
            <a:extLst>
              <a:ext uri="{FF2B5EF4-FFF2-40B4-BE49-F238E27FC236}">
                <a16:creationId xmlns:a16="http://schemas.microsoft.com/office/drawing/2014/main" id="{FCE74564-2FB7-C283-8E42-88B8940B87D2}"/>
              </a:ext>
            </a:extLst>
          </p:cNvPr>
          <p:cNvSpPr>
            <a:spLocks noGrp="1"/>
          </p:cNvSpPr>
          <p:nvPr>
            <p:ph type="subTitle" idx="1"/>
          </p:nvPr>
        </p:nvSpPr>
        <p:spPr/>
        <p:txBody>
          <a:bodyPr/>
          <a:lstStyle/>
          <a:p>
            <a:r>
              <a:rPr lang="en-SG" dirty="0"/>
              <a:t>Market growth levers with ML</a:t>
            </a:r>
          </a:p>
        </p:txBody>
      </p:sp>
    </p:spTree>
    <p:extLst>
      <p:ext uri="{BB962C8B-B14F-4D97-AF65-F5344CB8AC3E}">
        <p14:creationId xmlns:p14="http://schemas.microsoft.com/office/powerpoint/2010/main" val="1556693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1D5F8-24A7-E001-A198-842863CA806D}"/>
              </a:ext>
            </a:extLst>
          </p:cNvPr>
          <p:cNvSpPr>
            <a:spLocks noGrp="1"/>
          </p:cNvSpPr>
          <p:nvPr>
            <p:ph type="title"/>
          </p:nvPr>
        </p:nvSpPr>
        <p:spPr>
          <a:xfrm>
            <a:off x="1693765" y="624110"/>
            <a:ext cx="8911687" cy="1280890"/>
          </a:xfrm>
        </p:spPr>
        <p:txBody>
          <a:bodyPr/>
          <a:lstStyle/>
          <a:p>
            <a:r>
              <a:rPr lang="en-SG" dirty="0"/>
              <a:t>Overall Platform Architecture</a:t>
            </a:r>
          </a:p>
        </p:txBody>
      </p:sp>
      <p:graphicFrame>
        <p:nvGraphicFramePr>
          <p:cNvPr id="4" name="Content Placeholder 3">
            <a:extLst>
              <a:ext uri="{FF2B5EF4-FFF2-40B4-BE49-F238E27FC236}">
                <a16:creationId xmlns:a16="http://schemas.microsoft.com/office/drawing/2014/main" id="{E391E606-83B6-06E5-92A2-B33A89A06276}"/>
              </a:ext>
            </a:extLst>
          </p:cNvPr>
          <p:cNvGraphicFramePr>
            <a:graphicFrameLocks noGrp="1"/>
          </p:cNvGraphicFramePr>
          <p:nvPr>
            <p:ph idx="1"/>
            <p:extLst>
              <p:ext uri="{D42A27DB-BD31-4B8C-83A1-F6EECF244321}">
                <p14:modId xmlns:p14="http://schemas.microsoft.com/office/powerpoint/2010/main" val="1739337485"/>
              </p:ext>
            </p:extLst>
          </p:nvPr>
        </p:nvGraphicFramePr>
        <p:xfrm>
          <a:off x="4695290" y="1915380"/>
          <a:ext cx="7212458" cy="215689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6" name="Group 5">
            <a:extLst>
              <a:ext uri="{FF2B5EF4-FFF2-40B4-BE49-F238E27FC236}">
                <a16:creationId xmlns:a16="http://schemas.microsoft.com/office/drawing/2014/main" id="{09D6350A-C62D-9AD3-AACC-8FDA0836965F}"/>
              </a:ext>
            </a:extLst>
          </p:cNvPr>
          <p:cNvGrpSpPr/>
          <p:nvPr/>
        </p:nvGrpSpPr>
        <p:grpSpPr>
          <a:xfrm>
            <a:off x="4695290" y="1406605"/>
            <a:ext cx="3129512" cy="634127"/>
            <a:chOff x="4483736" y="2868420"/>
            <a:chExt cx="1769634" cy="1875749"/>
          </a:xfrm>
        </p:grpSpPr>
        <p:sp>
          <p:nvSpPr>
            <p:cNvPr id="7" name="Rectangle 6">
              <a:extLst>
                <a:ext uri="{FF2B5EF4-FFF2-40B4-BE49-F238E27FC236}">
                  <a16:creationId xmlns:a16="http://schemas.microsoft.com/office/drawing/2014/main" id="{4D4AB476-23F7-4BE1-C534-44A66B4F499D}"/>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8" name="TextBox 7">
              <a:extLst>
                <a:ext uri="{FF2B5EF4-FFF2-40B4-BE49-F238E27FC236}">
                  <a16:creationId xmlns:a16="http://schemas.microsoft.com/office/drawing/2014/main" id="{2359E013-CBC5-6C77-893E-C45B462719CF}"/>
                </a:ext>
              </a:extLst>
            </p:cNvPr>
            <p:cNvSpPr txBox="1"/>
            <p:nvPr/>
          </p:nvSpPr>
          <p:spPr>
            <a:xfrm>
              <a:off x="4483736" y="2868420"/>
              <a:ext cx="1769634" cy="18757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Growth Decisioning</a:t>
              </a:r>
              <a:br>
                <a:rPr lang="en-SG" sz="1400" b="1" i="1" kern="1200" dirty="0"/>
              </a:br>
              <a:r>
                <a:rPr lang="en-SG" sz="1400" b="1" i="1" kern="1200" dirty="0"/>
                <a:t>(who to treat, how likely to buy and expected value)</a:t>
              </a:r>
            </a:p>
          </p:txBody>
        </p:sp>
      </p:grpSp>
      <p:grpSp>
        <p:nvGrpSpPr>
          <p:cNvPr id="9" name="Group 8">
            <a:extLst>
              <a:ext uri="{FF2B5EF4-FFF2-40B4-BE49-F238E27FC236}">
                <a16:creationId xmlns:a16="http://schemas.microsoft.com/office/drawing/2014/main" id="{AE30B082-03A0-E250-AAB0-C1F1CC079F8F}"/>
              </a:ext>
            </a:extLst>
          </p:cNvPr>
          <p:cNvGrpSpPr/>
          <p:nvPr/>
        </p:nvGrpSpPr>
        <p:grpSpPr>
          <a:xfrm>
            <a:off x="4695290" y="4082653"/>
            <a:ext cx="3125285" cy="458000"/>
            <a:chOff x="4483736" y="2868423"/>
            <a:chExt cx="1769634" cy="1039355"/>
          </a:xfrm>
        </p:grpSpPr>
        <p:sp>
          <p:nvSpPr>
            <p:cNvPr id="10" name="Rectangle 9">
              <a:extLst>
                <a:ext uri="{FF2B5EF4-FFF2-40B4-BE49-F238E27FC236}">
                  <a16:creationId xmlns:a16="http://schemas.microsoft.com/office/drawing/2014/main" id="{D67DD455-BF20-0754-4FB8-B8F377195B5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1" name="TextBox 10">
              <a:extLst>
                <a:ext uri="{FF2B5EF4-FFF2-40B4-BE49-F238E27FC236}">
                  <a16:creationId xmlns:a16="http://schemas.microsoft.com/office/drawing/2014/main" id="{70D13476-07DF-94B4-E941-088E7E7A769A}"/>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Content/Product Selection</a:t>
              </a:r>
              <a:br>
                <a:rPr lang="en-SG" sz="1400" b="1" i="1" kern="1200" dirty="0"/>
              </a:br>
              <a:r>
                <a:rPr lang="en-SG" sz="1400" b="1" i="1" kern="1200" dirty="0"/>
                <a:t>(what to show to end users)</a:t>
              </a:r>
            </a:p>
          </p:txBody>
        </p:sp>
      </p:grpSp>
      <p:graphicFrame>
        <p:nvGraphicFramePr>
          <p:cNvPr id="12" name="Content Placeholder 3">
            <a:extLst>
              <a:ext uri="{FF2B5EF4-FFF2-40B4-BE49-F238E27FC236}">
                <a16:creationId xmlns:a16="http://schemas.microsoft.com/office/drawing/2014/main" id="{5C59B2FF-27B9-AA73-CF27-200A48AEE7D9}"/>
              </a:ext>
            </a:extLst>
          </p:cNvPr>
          <p:cNvGraphicFramePr>
            <a:graphicFrameLocks/>
          </p:cNvGraphicFramePr>
          <p:nvPr>
            <p:extLst>
              <p:ext uri="{D42A27DB-BD31-4B8C-83A1-F6EECF244321}">
                <p14:modId xmlns:p14="http://schemas.microsoft.com/office/powerpoint/2010/main" val="3292428003"/>
              </p:ext>
            </p:extLst>
          </p:nvPr>
        </p:nvGraphicFramePr>
        <p:xfrm>
          <a:off x="998593" y="2176465"/>
          <a:ext cx="2648182" cy="3482942"/>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graphicFrame>
        <p:nvGraphicFramePr>
          <p:cNvPr id="13" name="Content Placeholder 3">
            <a:extLst>
              <a:ext uri="{FF2B5EF4-FFF2-40B4-BE49-F238E27FC236}">
                <a16:creationId xmlns:a16="http://schemas.microsoft.com/office/drawing/2014/main" id="{DD87D2D7-9DB1-4761-3C21-0B2656A8DAF7}"/>
              </a:ext>
            </a:extLst>
          </p:cNvPr>
          <p:cNvGraphicFramePr>
            <a:graphicFrameLocks/>
          </p:cNvGraphicFramePr>
          <p:nvPr>
            <p:extLst>
              <p:ext uri="{D42A27DB-BD31-4B8C-83A1-F6EECF244321}">
                <p14:modId xmlns:p14="http://schemas.microsoft.com/office/powerpoint/2010/main" val="4239322591"/>
              </p:ext>
            </p:extLst>
          </p:nvPr>
        </p:nvGraphicFramePr>
        <p:xfrm>
          <a:off x="4695290" y="4540653"/>
          <a:ext cx="7212457" cy="1962889"/>
        </p:xfrm>
        <a:graphic>
          <a:graphicData uri="http://schemas.openxmlformats.org/drawingml/2006/diagram">
            <dgm:relIds xmlns:dgm="http://schemas.openxmlformats.org/drawingml/2006/diagram" xmlns:r="http://schemas.openxmlformats.org/officeDocument/2006/relationships" r:dm="rId12" r:lo="rId13" r:qs="rId14" r:cs="rId15"/>
          </a:graphicData>
        </a:graphic>
      </p:graphicFrame>
      <p:grpSp>
        <p:nvGrpSpPr>
          <p:cNvPr id="18" name="Group 17">
            <a:extLst>
              <a:ext uri="{FF2B5EF4-FFF2-40B4-BE49-F238E27FC236}">
                <a16:creationId xmlns:a16="http://schemas.microsoft.com/office/drawing/2014/main" id="{B951E650-B942-3158-9896-A3F7D1EB2E8F}"/>
              </a:ext>
            </a:extLst>
          </p:cNvPr>
          <p:cNvGrpSpPr/>
          <p:nvPr/>
        </p:nvGrpSpPr>
        <p:grpSpPr>
          <a:xfrm>
            <a:off x="3724830" y="3571686"/>
            <a:ext cx="621139" cy="739967"/>
            <a:chOff x="1478545" y="850322"/>
            <a:chExt cx="284531" cy="332847"/>
          </a:xfrm>
        </p:grpSpPr>
        <p:sp>
          <p:nvSpPr>
            <p:cNvPr id="19" name="Arrow: Right 18">
              <a:extLst>
                <a:ext uri="{FF2B5EF4-FFF2-40B4-BE49-F238E27FC236}">
                  <a16:creationId xmlns:a16="http://schemas.microsoft.com/office/drawing/2014/main" id="{AE8E649E-37A5-B2DB-C49C-0C76D7E4BFB7}"/>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0" name="Arrow: Right 4">
              <a:extLst>
                <a:ext uri="{FF2B5EF4-FFF2-40B4-BE49-F238E27FC236}">
                  <a16:creationId xmlns:a16="http://schemas.microsoft.com/office/drawing/2014/main" id="{B3EE6376-0C1D-C523-59A9-3ADB3CF31B87}"/>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33" name="TextBox 32">
            <a:extLst>
              <a:ext uri="{FF2B5EF4-FFF2-40B4-BE49-F238E27FC236}">
                <a16:creationId xmlns:a16="http://schemas.microsoft.com/office/drawing/2014/main" id="{401C60E0-E94D-7DB9-CE8A-B15A952EF65A}"/>
              </a:ext>
            </a:extLst>
          </p:cNvPr>
          <p:cNvSpPr txBox="1"/>
          <p:nvPr/>
        </p:nvSpPr>
        <p:spPr>
          <a:xfrm>
            <a:off x="3476821" y="2815155"/>
            <a:ext cx="1268871" cy="646331"/>
          </a:xfrm>
          <a:prstGeom prst="rect">
            <a:avLst/>
          </a:prstGeom>
          <a:noFill/>
        </p:spPr>
        <p:txBody>
          <a:bodyPr wrap="square">
            <a:spAutoFit/>
          </a:bodyPr>
          <a:lstStyle/>
          <a:p>
            <a:pPr lvl="0">
              <a:buNone/>
            </a:pPr>
            <a:r>
              <a:rPr lang="en-SG" sz="1200" b="0" i="1" dirty="0"/>
              <a:t>ML Engines operate independently</a:t>
            </a:r>
            <a:endParaRPr lang="en-SG" sz="1200" i="1" dirty="0"/>
          </a:p>
        </p:txBody>
      </p:sp>
    </p:spTree>
    <p:extLst>
      <p:ext uri="{BB962C8B-B14F-4D97-AF65-F5344CB8AC3E}">
        <p14:creationId xmlns:p14="http://schemas.microsoft.com/office/powerpoint/2010/main" val="28551013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B4F7-707F-24A9-1D43-3BE9FDA4E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2C1F1-BAF9-51B4-1047-A992A6F229C4}"/>
              </a:ext>
            </a:extLst>
          </p:cNvPr>
          <p:cNvSpPr>
            <a:spLocks noGrp="1"/>
          </p:cNvSpPr>
          <p:nvPr>
            <p:ph type="title"/>
          </p:nvPr>
        </p:nvSpPr>
        <p:spPr>
          <a:xfrm>
            <a:off x="1625439" y="624110"/>
            <a:ext cx="7407012" cy="1280890"/>
          </a:xfrm>
        </p:spPr>
        <p:txBody>
          <a:bodyPr/>
          <a:lstStyle/>
          <a:p>
            <a:r>
              <a:rPr lang="en-SG" dirty="0"/>
              <a:t>Purchase Propensity Engine</a:t>
            </a:r>
          </a:p>
        </p:txBody>
      </p:sp>
      <p:graphicFrame>
        <p:nvGraphicFramePr>
          <p:cNvPr id="4" name="Content Placeholder 3">
            <a:extLst>
              <a:ext uri="{FF2B5EF4-FFF2-40B4-BE49-F238E27FC236}">
                <a16:creationId xmlns:a16="http://schemas.microsoft.com/office/drawing/2014/main" id="{24713D13-677B-884E-3CF7-A0DC0CBF0D2C}"/>
              </a:ext>
            </a:extLst>
          </p:cNvPr>
          <p:cNvGraphicFramePr>
            <a:graphicFrameLocks noGrp="1"/>
          </p:cNvGraphicFramePr>
          <p:nvPr>
            <p:ph idx="1"/>
            <p:extLst>
              <p:ext uri="{D42A27DB-BD31-4B8C-83A1-F6EECF244321}">
                <p14:modId xmlns:p14="http://schemas.microsoft.com/office/powerpoint/2010/main" val="2594623494"/>
              </p:ext>
            </p:extLst>
          </p:nvPr>
        </p:nvGraphicFramePr>
        <p:xfrm>
          <a:off x="187644" y="1324120"/>
          <a:ext cx="8318561" cy="2595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46850E08-40F6-E483-A454-14C0C6F05EAF}"/>
              </a:ext>
            </a:extLst>
          </p:cNvPr>
          <p:cNvGrpSpPr/>
          <p:nvPr/>
        </p:nvGrpSpPr>
        <p:grpSpPr>
          <a:xfrm>
            <a:off x="216720" y="1324120"/>
            <a:ext cx="8138246" cy="393400"/>
            <a:chOff x="3694268" y="2868423"/>
            <a:chExt cx="2559102" cy="1039355"/>
          </a:xfrm>
        </p:grpSpPr>
        <p:sp>
          <p:nvSpPr>
            <p:cNvPr id="19" name="Rectangle 18">
              <a:extLst>
                <a:ext uri="{FF2B5EF4-FFF2-40B4-BE49-F238E27FC236}">
                  <a16:creationId xmlns:a16="http://schemas.microsoft.com/office/drawing/2014/main" id="{6FFF0076-758B-EDEB-8A33-3C84C5BACE2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5DA7D1F0-8685-68AE-D3E5-8468CE71D384}"/>
                </a:ext>
              </a:extLst>
            </p:cNvPr>
            <p:cNvSpPr txBox="1"/>
            <p:nvPr/>
          </p:nvSpPr>
          <p:spPr>
            <a:xfrm>
              <a:off x="3694268"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Purchase Propensity Modelling</a:t>
              </a:r>
            </a:p>
            <a:p>
              <a:pPr marL="0" lvl="1" defTabSz="444500">
                <a:lnSpc>
                  <a:spcPct val="90000"/>
                </a:lnSpc>
                <a:spcBef>
                  <a:spcPct val="0"/>
                </a:spcBef>
                <a:spcAft>
                  <a:spcPct val="15000"/>
                </a:spcAft>
              </a:pPr>
              <a:endParaRPr lang="en-SG" sz="1400" b="1" i="1" dirty="0"/>
            </a:p>
            <a:p>
              <a:pPr marL="0" lvl="1" algn="l" defTabSz="444500">
                <a:lnSpc>
                  <a:spcPct val="90000"/>
                </a:lnSpc>
                <a:spcBef>
                  <a:spcPct val="0"/>
                </a:spcBef>
                <a:spcAft>
                  <a:spcPct val="15000"/>
                </a:spcAft>
              </a:pPr>
              <a:endParaRPr lang="en-SG" sz="1400" b="1" i="1" kern="1200" dirty="0"/>
            </a:p>
          </p:txBody>
        </p:sp>
      </p:grpSp>
      <p:graphicFrame>
        <p:nvGraphicFramePr>
          <p:cNvPr id="42" name="Content Placeholder 3">
            <a:extLst>
              <a:ext uri="{FF2B5EF4-FFF2-40B4-BE49-F238E27FC236}">
                <a16:creationId xmlns:a16="http://schemas.microsoft.com/office/drawing/2014/main" id="{2A7C2445-1A70-4F63-70A0-E6815BC8026E}"/>
              </a:ext>
            </a:extLst>
          </p:cNvPr>
          <p:cNvGraphicFramePr>
            <a:graphicFrameLocks/>
          </p:cNvGraphicFramePr>
          <p:nvPr>
            <p:extLst>
              <p:ext uri="{D42A27DB-BD31-4B8C-83A1-F6EECF244321}">
                <p14:modId xmlns:p14="http://schemas.microsoft.com/office/powerpoint/2010/main" val="3308531120"/>
              </p:ext>
            </p:extLst>
          </p:nvPr>
        </p:nvGraphicFramePr>
        <p:xfrm>
          <a:off x="187645" y="3981101"/>
          <a:ext cx="8336562" cy="28388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86C56604-E1B4-8384-8EF1-38FAABB1C783}"/>
              </a:ext>
            </a:extLst>
          </p:cNvPr>
          <p:cNvGrpSpPr/>
          <p:nvPr/>
        </p:nvGrpSpPr>
        <p:grpSpPr>
          <a:xfrm>
            <a:off x="187644" y="4037196"/>
            <a:ext cx="6037720" cy="393400"/>
            <a:chOff x="4483735" y="2868423"/>
            <a:chExt cx="4477884" cy="1039355"/>
          </a:xfrm>
        </p:grpSpPr>
        <p:sp>
          <p:nvSpPr>
            <p:cNvPr id="44" name="Rectangle 43">
              <a:extLst>
                <a:ext uri="{FF2B5EF4-FFF2-40B4-BE49-F238E27FC236}">
                  <a16:creationId xmlns:a16="http://schemas.microsoft.com/office/drawing/2014/main" id="{82AE1D10-8D32-CDE4-3560-00039426C04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E05085A2-C6D9-4D42-6251-871EE931BB45}"/>
                </a:ext>
              </a:extLst>
            </p:cNvPr>
            <p:cNvSpPr txBox="1"/>
            <p:nvPr/>
          </p:nvSpPr>
          <p:spPr>
            <a:xfrm>
              <a:off x="4483735" y="2868423"/>
              <a:ext cx="447788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(Policy) Pipeline: </a:t>
              </a:r>
              <a:r>
                <a:rPr lang="en-SG" sz="1400" b="1" i="1" dirty="0"/>
                <a:t>Incentive Allocation (Budget-Constrained)</a:t>
              </a:r>
            </a:p>
          </p:txBody>
        </p:sp>
      </p:grpSp>
      <p:grpSp>
        <p:nvGrpSpPr>
          <p:cNvPr id="46" name="Group 45">
            <a:extLst>
              <a:ext uri="{FF2B5EF4-FFF2-40B4-BE49-F238E27FC236}">
                <a16:creationId xmlns:a16="http://schemas.microsoft.com/office/drawing/2014/main" id="{6808C675-6AEE-0335-298D-9A253F564DD3}"/>
              </a:ext>
            </a:extLst>
          </p:cNvPr>
          <p:cNvGrpSpPr/>
          <p:nvPr/>
        </p:nvGrpSpPr>
        <p:grpSpPr>
          <a:xfrm>
            <a:off x="8906887" y="6090950"/>
            <a:ext cx="1288330" cy="707886"/>
            <a:chOff x="4483736" y="2868419"/>
            <a:chExt cx="2631405" cy="1882430"/>
          </a:xfrm>
        </p:grpSpPr>
        <p:sp>
          <p:nvSpPr>
            <p:cNvPr id="47" name="Rectangle 46">
              <a:extLst>
                <a:ext uri="{FF2B5EF4-FFF2-40B4-BE49-F238E27FC236}">
                  <a16:creationId xmlns:a16="http://schemas.microsoft.com/office/drawing/2014/main" id="{A7317167-50AA-4B64-FDF3-DA077D241F3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8" name="TextBox 47">
              <a:extLst>
                <a:ext uri="{FF2B5EF4-FFF2-40B4-BE49-F238E27FC236}">
                  <a16:creationId xmlns:a16="http://schemas.microsoft.com/office/drawing/2014/main" id="{9B9DEA4C-5696-59DA-AC50-D1BACD56DF3C}"/>
                </a:ext>
              </a:extLst>
            </p:cNvPr>
            <p:cNvSpPr txBox="1"/>
            <p:nvPr/>
          </p:nvSpPr>
          <p:spPr>
            <a:xfrm>
              <a:off x="4483736" y="2868419"/>
              <a:ext cx="2631405" cy="188243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(Test)</a:t>
              </a:r>
            </a:p>
          </p:txBody>
        </p:sp>
      </p:grpSp>
      <p:grpSp>
        <p:nvGrpSpPr>
          <p:cNvPr id="49" name="Group 48">
            <a:extLst>
              <a:ext uri="{FF2B5EF4-FFF2-40B4-BE49-F238E27FC236}">
                <a16:creationId xmlns:a16="http://schemas.microsoft.com/office/drawing/2014/main" id="{CF9D8E35-5F06-5171-2245-2632760AFBDB}"/>
              </a:ext>
            </a:extLst>
          </p:cNvPr>
          <p:cNvGrpSpPr/>
          <p:nvPr/>
        </p:nvGrpSpPr>
        <p:grpSpPr>
          <a:xfrm>
            <a:off x="10079580" y="4924916"/>
            <a:ext cx="2112420" cy="1895016"/>
            <a:chOff x="0" y="85649"/>
            <a:chExt cx="3225516" cy="1935309"/>
          </a:xfrm>
        </p:grpSpPr>
        <p:sp>
          <p:nvSpPr>
            <p:cNvPr id="50" name="Rectangle: Rounded Corners 49">
              <a:extLst>
                <a:ext uri="{FF2B5EF4-FFF2-40B4-BE49-F238E27FC236}">
                  <a16:creationId xmlns:a16="http://schemas.microsoft.com/office/drawing/2014/main" id="{D00524B2-8C49-4395-B15D-73696E4F5430}"/>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1" name="Rectangle: Rounded Corners 4">
              <a:extLst>
                <a:ext uri="{FF2B5EF4-FFF2-40B4-BE49-F238E27FC236}">
                  <a16:creationId xmlns:a16="http://schemas.microsoft.com/office/drawing/2014/main" id="{668B9C79-FCC9-3EAF-EDFE-4EE7ECAD690C}"/>
                </a:ext>
              </a:extLst>
            </p:cNvPr>
            <p:cNvSpPr txBox="1"/>
            <p:nvPr/>
          </p:nvSpPr>
          <p:spPr>
            <a:xfrm>
              <a:off x="56682" y="142332"/>
              <a:ext cx="3112151"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lnSpc>
                  <a:spcPct val="90000"/>
                </a:lnSpc>
                <a:spcBef>
                  <a:spcPct val="0"/>
                </a:spcBef>
                <a:spcAft>
                  <a:spcPct val="15000"/>
                </a:spcAft>
              </a:pPr>
              <a:r>
                <a:rPr lang="en-SG" sz="1000" b="1" kern="1200" dirty="0"/>
                <a:t>Compare Policies</a:t>
              </a:r>
              <a:br>
                <a:rPr lang="en-SG" sz="1000" b="1" dirty="0"/>
              </a:br>
              <a:r>
                <a:rPr lang="en-SG" sz="1000" b="1" kern="1200" dirty="0"/>
                <a:t>(Budget-Constrained)</a:t>
              </a:r>
            </a:p>
            <a:p>
              <a:pPr marL="285750" lvl="1" indent="-285750" algn="l" defTabSz="711200">
                <a:lnSpc>
                  <a:spcPct val="90000"/>
                </a:lnSpc>
                <a:spcBef>
                  <a:spcPct val="0"/>
                </a:spcBef>
                <a:spcAft>
                  <a:spcPct val="15000"/>
                </a:spcAft>
                <a:buFont typeface="Wingdings" panose="05000000000000000000" pitchFamily="2" charset="2"/>
                <a:buChar char="Ø"/>
              </a:pPr>
              <a:r>
                <a:rPr lang="en-SG" sz="1000" kern="1200" dirty="0"/>
                <a:t>Policy A (Default ML-driven targeting): Target top ranked by expected value</a:t>
              </a:r>
            </a:p>
            <a:p>
              <a:pPr marL="285750" lvl="1" indent="-285750" algn="l" defTabSz="711200">
                <a:lnSpc>
                  <a:spcPct val="90000"/>
                </a:lnSpc>
                <a:spcBef>
                  <a:spcPct val="0"/>
                </a:spcBef>
                <a:spcAft>
                  <a:spcPct val="15000"/>
                </a:spcAft>
                <a:buFont typeface="Wingdings" panose="05000000000000000000" pitchFamily="2" charset="2"/>
                <a:buChar char="Ø"/>
              </a:pPr>
              <a:r>
                <a:rPr lang="en-SG" sz="1000" kern="1200" dirty="0"/>
                <a:t>Policy B (Native baseline): Target random</a:t>
              </a:r>
            </a:p>
            <a:p>
              <a:pPr marL="285750" lvl="1" indent="-285750" algn="l" defTabSz="711200">
                <a:lnSpc>
                  <a:spcPct val="90000"/>
                </a:lnSpc>
                <a:spcBef>
                  <a:spcPct val="0"/>
                </a:spcBef>
                <a:spcAft>
                  <a:spcPct val="15000"/>
                </a:spcAft>
                <a:buFont typeface="Wingdings" panose="05000000000000000000" pitchFamily="2" charset="2"/>
                <a:buChar char="Ø"/>
              </a:pPr>
              <a:r>
                <a:rPr lang="en-SG" sz="1000" kern="1200" dirty="0"/>
                <a:t>Policy C (Business heuristic baseline): Target top ranked RFM users</a:t>
              </a:r>
              <a:endParaRPr lang="en-SG" sz="1000" dirty="0"/>
            </a:p>
          </p:txBody>
        </p:sp>
      </p:grpSp>
      <p:grpSp>
        <p:nvGrpSpPr>
          <p:cNvPr id="62" name="Group 61">
            <a:extLst>
              <a:ext uri="{FF2B5EF4-FFF2-40B4-BE49-F238E27FC236}">
                <a16:creationId xmlns:a16="http://schemas.microsoft.com/office/drawing/2014/main" id="{3CE3DE68-2FF9-E531-6949-3B0910357F07}"/>
              </a:ext>
            </a:extLst>
          </p:cNvPr>
          <p:cNvGrpSpPr/>
          <p:nvPr/>
        </p:nvGrpSpPr>
        <p:grpSpPr>
          <a:xfrm>
            <a:off x="8584059" y="6122628"/>
            <a:ext cx="284531" cy="332847"/>
            <a:chOff x="1478545" y="850322"/>
            <a:chExt cx="284531" cy="332847"/>
          </a:xfrm>
        </p:grpSpPr>
        <p:sp>
          <p:nvSpPr>
            <p:cNvPr id="63" name="Arrow: Right 62">
              <a:extLst>
                <a:ext uri="{FF2B5EF4-FFF2-40B4-BE49-F238E27FC236}">
                  <a16:creationId xmlns:a16="http://schemas.microsoft.com/office/drawing/2014/main" id="{F2CF6544-5BFB-DE01-AE9B-0BAD845145B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64" name="Arrow: Right 4">
              <a:extLst>
                <a:ext uri="{FF2B5EF4-FFF2-40B4-BE49-F238E27FC236}">
                  <a16:creationId xmlns:a16="http://schemas.microsoft.com/office/drawing/2014/main" id="{70A7DE8F-06AE-ED3E-3CD4-8483F7A09DF1}"/>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66" name="Group 65">
            <a:extLst>
              <a:ext uri="{FF2B5EF4-FFF2-40B4-BE49-F238E27FC236}">
                <a16:creationId xmlns:a16="http://schemas.microsoft.com/office/drawing/2014/main" id="{B8E216D0-9742-F313-4789-1E38F18EAE12}"/>
              </a:ext>
            </a:extLst>
          </p:cNvPr>
          <p:cNvGrpSpPr/>
          <p:nvPr/>
        </p:nvGrpSpPr>
        <p:grpSpPr>
          <a:xfrm>
            <a:off x="6012525" y="6249637"/>
            <a:ext cx="2493680" cy="635935"/>
            <a:chOff x="4483736" y="2868423"/>
            <a:chExt cx="1769634" cy="1039355"/>
          </a:xfrm>
        </p:grpSpPr>
        <p:sp>
          <p:nvSpPr>
            <p:cNvPr id="67" name="Rectangle 66">
              <a:extLst>
                <a:ext uri="{FF2B5EF4-FFF2-40B4-BE49-F238E27FC236}">
                  <a16:creationId xmlns:a16="http://schemas.microsoft.com/office/drawing/2014/main" id="{605C7F8E-1A94-C266-284A-CF04F0D719E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68" name="TextBox 67">
              <a:extLst>
                <a:ext uri="{FF2B5EF4-FFF2-40B4-BE49-F238E27FC236}">
                  <a16:creationId xmlns:a16="http://schemas.microsoft.com/office/drawing/2014/main" id="{02B5E0E6-BB23-F4DC-3B99-4E0D27D83BCE}"/>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000" i="1" dirty="0"/>
                <a:t>Policy is evaluated on actual holdout outcomes (historical realized revenue) across out-of-time snapshot slices</a:t>
              </a:r>
              <a:endParaRPr lang="en-SG" sz="1000" b="1" i="1" kern="1200" dirty="0"/>
            </a:p>
          </p:txBody>
        </p:sp>
      </p:grpSp>
      <p:sp>
        <p:nvSpPr>
          <p:cNvPr id="86" name="TextBox 85">
            <a:extLst>
              <a:ext uri="{FF2B5EF4-FFF2-40B4-BE49-F238E27FC236}">
                <a16:creationId xmlns:a16="http://schemas.microsoft.com/office/drawing/2014/main" id="{27E3D404-5B31-F03C-F812-01930AB01FCD}"/>
              </a:ext>
            </a:extLst>
          </p:cNvPr>
          <p:cNvSpPr txBox="1"/>
          <p:nvPr/>
        </p:nvSpPr>
        <p:spPr>
          <a:xfrm>
            <a:off x="682944" y="2104527"/>
            <a:ext cx="1541920" cy="1171618"/>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Feature engineering includes derived </a:t>
            </a:r>
            <a:r>
              <a:rPr lang="en-SG" sz="1000" b="1" i="1" dirty="0"/>
              <a:t>RFM-style </a:t>
            </a:r>
            <a:r>
              <a:rPr lang="en-SG" sz="1000" i="1" dirty="0"/>
              <a:t>behavioural aggregation at </a:t>
            </a:r>
            <a:r>
              <a:rPr lang="en-SG" sz="1000" b="1" i="1" dirty="0"/>
              <a:t>user level</a:t>
            </a:r>
          </a:p>
        </p:txBody>
      </p:sp>
      <p:sp>
        <p:nvSpPr>
          <p:cNvPr id="6" name="TextBox 5">
            <a:extLst>
              <a:ext uri="{FF2B5EF4-FFF2-40B4-BE49-F238E27FC236}">
                <a16:creationId xmlns:a16="http://schemas.microsoft.com/office/drawing/2014/main" id="{D628A3E5-0910-85BC-4259-9DE399A340E3}"/>
              </a:ext>
            </a:extLst>
          </p:cNvPr>
          <p:cNvSpPr txBox="1"/>
          <p:nvPr/>
        </p:nvSpPr>
        <p:spPr>
          <a:xfrm>
            <a:off x="187644" y="6144741"/>
            <a:ext cx="5738676" cy="707886"/>
          </a:xfrm>
          <a:prstGeom prst="rect">
            <a:avLst/>
          </a:prstGeom>
          <a:noFill/>
        </p:spPr>
        <p:txBody>
          <a:bodyPr wrap="square">
            <a:spAutoFit/>
          </a:bodyPr>
          <a:lstStyle/>
          <a:p>
            <a:pPr lvl="0">
              <a:buNone/>
            </a:pPr>
            <a:r>
              <a:rPr lang="en-SG" sz="1000" i="1" dirty="0"/>
              <a:t>ML targeting policy ranks users based on expected value (predicted purchase probability × predicted revenue) on each prediction window and monthly snapshot slice.</a:t>
            </a:r>
          </a:p>
          <a:p>
            <a:pPr lvl="0">
              <a:buNone/>
            </a:pPr>
            <a:endParaRPr lang="en-SG" sz="1000" i="1" dirty="0"/>
          </a:p>
          <a:p>
            <a:pPr lvl="0">
              <a:buNone/>
            </a:pPr>
            <a:r>
              <a:rPr lang="en-SG" sz="1000" i="1" dirty="0"/>
              <a:t>Non-ML policies (Random, RFM) use their own non-EV ranking rules.</a:t>
            </a:r>
          </a:p>
        </p:txBody>
      </p:sp>
      <p:sp>
        <p:nvSpPr>
          <p:cNvPr id="7" name="TextBox 6">
            <a:extLst>
              <a:ext uri="{FF2B5EF4-FFF2-40B4-BE49-F238E27FC236}">
                <a16:creationId xmlns:a16="http://schemas.microsoft.com/office/drawing/2014/main" id="{5C2ACEE9-046D-1B46-F5FD-0B86899B6C00}"/>
              </a:ext>
            </a:extLst>
          </p:cNvPr>
          <p:cNvSpPr txBox="1"/>
          <p:nvPr/>
        </p:nvSpPr>
        <p:spPr>
          <a:xfrm>
            <a:off x="8686069" y="3525321"/>
            <a:ext cx="3420296" cy="1323439"/>
          </a:xfrm>
          <a:prstGeom prst="rect">
            <a:avLst/>
          </a:prstGeom>
          <a:solidFill>
            <a:schemeClr val="accent4">
              <a:lumMod val="20000"/>
              <a:lumOff val="80000"/>
            </a:schemeClr>
          </a:solidFill>
        </p:spPr>
        <p:txBody>
          <a:bodyPr wrap="square">
            <a:spAutoFit/>
          </a:bodyPr>
          <a:lstStyle/>
          <a:p>
            <a:pPr lvl="0">
              <a:buNone/>
            </a:pPr>
            <a:r>
              <a:rPr lang="en-SG" sz="1000" b="1" i="1" dirty="0"/>
              <a:t>Out Of Scope: No causality incrementality inferred</a:t>
            </a:r>
            <a:endParaRPr lang="en-SG" sz="1000" i="1" dirty="0"/>
          </a:p>
          <a:p>
            <a:pPr lvl="0">
              <a:buNone/>
            </a:pPr>
            <a:endParaRPr lang="en-SG" sz="1000" i="1" dirty="0"/>
          </a:p>
          <a:p>
            <a:pPr lvl="0">
              <a:buNone/>
            </a:pPr>
            <a:r>
              <a:rPr lang="en-SG" sz="1000" i="1" dirty="0"/>
              <a:t>Offline back testing compares allocation policies on a future holdout window. </a:t>
            </a:r>
          </a:p>
          <a:p>
            <a:pPr lvl="0">
              <a:buNone/>
            </a:pPr>
            <a:endParaRPr lang="en-SG" sz="1000" i="1" dirty="0"/>
          </a:p>
          <a:p>
            <a:pPr lvl="0">
              <a:buNone/>
            </a:pPr>
            <a:r>
              <a:rPr lang="en-SG" sz="1000" i="1" dirty="0"/>
              <a:t>True incremental impact would require randomized online experimentation (A/B Testing), which is out of scope for this repository.</a:t>
            </a:r>
          </a:p>
        </p:txBody>
      </p:sp>
      <p:sp>
        <p:nvSpPr>
          <p:cNvPr id="14" name="TextBox 13">
            <a:extLst>
              <a:ext uri="{FF2B5EF4-FFF2-40B4-BE49-F238E27FC236}">
                <a16:creationId xmlns:a16="http://schemas.microsoft.com/office/drawing/2014/main" id="{39EFF3B9-1E18-3E71-4A2D-D3B6203C9F69}"/>
              </a:ext>
            </a:extLst>
          </p:cNvPr>
          <p:cNvSpPr txBox="1"/>
          <p:nvPr/>
        </p:nvSpPr>
        <p:spPr>
          <a:xfrm>
            <a:off x="2129354" y="3368131"/>
            <a:ext cx="4881046" cy="553998"/>
          </a:xfrm>
          <a:prstGeom prst="rect">
            <a:avLst/>
          </a:prstGeom>
          <a:noFill/>
        </p:spPr>
        <p:txBody>
          <a:bodyPr wrap="square">
            <a:spAutoFit/>
          </a:bodyPr>
          <a:lstStyle/>
          <a:p>
            <a:r>
              <a:rPr lang="en-SG" sz="1000" b="1" i="1" dirty="0"/>
              <a:t>Time-based split (Train/Val/Test):</a:t>
            </a:r>
            <a:br>
              <a:rPr lang="en-SG" sz="1000" b="1" i="1" dirty="0"/>
            </a:br>
            <a:r>
              <a:rPr lang="en-SG" sz="1000" b="1" i="1" dirty="0"/>
              <a:t>Historical rolling behavioural features </a:t>
            </a:r>
            <a:r>
              <a:rPr lang="en-SG" sz="1000" i="1" dirty="0"/>
              <a:t>(say 90 days windows) -&gt; </a:t>
            </a:r>
            <a:r>
              <a:rPr lang="en-SG" sz="1000" b="1" i="1" dirty="0"/>
              <a:t>Future purchase probability</a:t>
            </a:r>
            <a:r>
              <a:rPr lang="en-SG" sz="1000" i="1" dirty="0"/>
              <a:t> (say 30 days windows) for </a:t>
            </a:r>
            <a:r>
              <a:rPr lang="en-SG" sz="1000" b="1" i="1" dirty="0"/>
              <a:t>each monthly snapshot slice</a:t>
            </a:r>
          </a:p>
        </p:txBody>
      </p:sp>
      <p:sp>
        <p:nvSpPr>
          <p:cNvPr id="3" name="TextBox 2">
            <a:extLst>
              <a:ext uri="{FF2B5EF4-FFF2-40B4-BE49-F238E27FC236}">
                <a16:creationId xmlns:a16="http://schemas.microsoft.com/office/drawing/2014/main" id="{3CF98565-CA32-50F1-8DCD-0CA591F1094D}"/>
              </a:ext>
            </a:extLst>
          </p:cNvPr>
          <p:cNvSpPr txBox="1"/>
          <p:nvPr/>
        </p:nvSpPr>
        <p:spPr>
          <a:xfrm>
            <a:off x="6743983" y="1841356"/>
            <a:ext cx="1762222" cy="1477328"/>
          </a:xfrm>
          <a:prstGeom prst="rect">
            <a:avLst/>
          </a:prstGeom>
          <a:noFill/>
        </p:spPr>
        <p:txBody>
          <a:bodyPr wrap="square">
            <a:spAutoFit/>
          </a:bodyPr>
          <a:lstStyle/>
          <a:p>
            <a:pPr lvl="0"/>
            <a:r>
              <a:rPr lang="en-SG" sz="1000" b="1" dirty="0"/>
              <a:t>Purchase Propensity Model (logistic/xgboost)</a:t>
            </a:r>
            <a:br>
              <a:rPr lang="en-SG" sz="1000" b="1" dirty="0"/>
            </a:br>
            <a:r>
              <a:rPr lang="en-SG" sz="1000" dirty="0"/>
              <a:t>ROC-AUC / PR-AUC / Top-decile lift / Brier score / ECE</a:t>
            </a:r>
          </a:p>
          <a:p>
            <a:pPr lvl="0"/>
            <a:endParaRPr lang="en-SG" sz="1000" dirty="0"/>
          </a:p>
          <a:p>
            <a:pPr lvl="0"/>
            <a:r>
              <a:rPr lang="en-SG" sz="1000" b="1" dirty="0"/>
              <a:t>Revenue Prediction Model (Regression)</a:t>
            </a:r>
            <a:br>
              <a:rPr lang="en-SG" sz="1000" b="1" dirty="0"/>
            </a:br>
            <a:r>
              <a:rPr lang="en-SG" sz="1000" dirty="0"/>
              <a:t>RMSE / MAE/ MAPE</a:t>
            </a:r>
          </a:p>
        </p:txBody>
      </p:sp>
      <p:grpSp>
        <p:nvGrpSpPr>
          <p:cNvPr id="5" name="Group 4">
            <a:extLst>
              <a:ext uri="{FF2B5EF4-FFF2-40B4-BE49-F238E27FC236}">
                <a16:creationId xmlns:a16="http://schemas.microsoft.com/office/drawing/2014/main" id="{D4C59201-8FED-3DF3-DFC2-AD439062D1F2}"/>
              </a:ext>
            </a:extLst>
          </p:cNvPr>
          <p:cNvGrpSpPr/>
          <p:nvPr/>
        </p:nvGrpSpPr>
        <p:grpSpPr>
          <a:xfrm>
            <a:off x="8907214" y="5206538"/>
            <a:ext cx="1288003" cy="600181"/>
            <a:chOff x="4258103" y="1850783"/>
            <a:chExt cx="4233637" cy="2140179"/>
          </a:xfrm>
        </p:grpSpPr>
        <p:sp>
          <p:nvSpPr>
            <p:cNvPr id="8" name="Rectangle 7">
              <a:extLst>
                <a:ext uri="{FF2B5EF4-FFF2-40B4-BE49-F238E27FC236}">
                  <a16:creationId xmlns:a16="http://schemas.microsoft.com/office/drawing/2014/main" id="{D716203E-5C70-22B9-A065-3FEE00301A1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9" name="TextBox 8">
              <a:extLst>
                <a:ext uri="{FF2B5EF4-FFF2-40B4-BE49-F238E27FC236}">
                  <a16:creationId xmlns:a16="http://schemas.microsoft.com/office/drawing/2014/main" id="{24B85D20-90CB-680E-2A80-4304B2ADD0CF}"/>
                </a:ext>
              </a:extLst>
            </p:cNvPr>
            <p:cNvSpPr txBox="1"/>
            <p:nvPr/>
          </p:nvSpPr>
          <p:spPr>
            <a:xfrm>
              <a:off x="4258103" y="1850783"/>
              <a:ext cx="4233637" cy="214017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(Validation)</a:t>
              </a:r>
            </a:p>
          </p:txBody>
        </p:sp>
      </p:grpSp>
      <p:grpSp>
        <p:nvGrpSpPr>
          <p:cNvPr id="15" name="Group 14">
            <a:extLst>
              <a:ext uri="{FF2B5EF4-FFF2-40B4-BE49-F238E27FC236}">
                <a16:creationId xmlns:a16="http://schemas.microsoft.com/office/drawing/2014/main" id="{E63ED8D1-E2EA-17EE-B95D-9795EDCF0F0E}"/>
              </a:ext>
            </a:extLst>
          </p:cNvPr>
          <p:cNvGrpSpPr/>
          <p:nvPr/>
        </p:nvGrpSpPr>
        <p:grpSpPr>
          <a:xfrm>
            <a:off x="8622357" y="5174939"/>
            <a:ext cx="284531" cy="332847"/>
            <a:chOff x="1478545" y="850322"/>
            <a:chExt cx="284531" cy="332847"/>
          </a:xfrm>
        </p:grpSpPr>
        <p:sp>
          <p:nvSpPr>
            <p:cNvPr id="23" name="Arrow: Right 22">
              <a:extLst>
                <a:ext uri="{FF2B5EF4-FFF2-40B4-BE49-F238E27FC236}">
                  <a16:creationId xmlns:a16="http://schemas.microsoft.com/office/drawing/2014/main" id="{6A46FB25-35B0-7FFC-3EDE-7F99EBB07552}"/>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4" name="Arrow: Right 4">
              <a:extLst>
                <a:ext uri="{FF2B5EF4-FFF2-40B4-BE49-F238E27FC236}">
                  <a16:creationId xmlns:a16="http://schemas.microsoft.com/office/drawing/2014/main" id="{0FD7DEAA-6B1E-A6CC-CD63-1C55593B0A96}"/>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27" name="Group 26">
            <a:extLst>
              <a:ext uri="{FF2B5EF4-FFF2-40B4-BE49-F238E27FC236}">
                <a16:creationId xmlns:a16="http://schemas.microsoft.com/office/drawing/2014/main" id="{96670C5C-24F6-75B9-3630-0A0DC8CC7D56}"/>
              </a:ext>
            </a:extLst>
          </p:cNvPr>
          <p:cNvGrpSpPr/>
          <p:nvPr/>
        </p:nvGrpSpPr>
        <p:grpSpPr>
          <a:xfrm>
            <a:off x="8957280" y="1325139"/>
            <a:ext cx="3047076" cy="264024"/>
            <a:chOff x="4483736" y="2868423"/>
            <a:chExt cx="1769634" cy="1039355"/>
          </a:xfrm>
        </p:grpSpPr>
        <p:sp>
          <p:nvSpPr>
            <p:cNvPr id="28" name="Rectangle 27">
              <a:extLst>
                <a:ext uri="{FF2B5EF4-FFF2-40B4-BE49-F238E27FC236}">
                  <a16:creationId xmlns:a16="http://schemas.microsoft.com/office/drawing/2014/main" id="{49CA91E6-45AA-2A63-9687-4968960BB9E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9" name="TextBox 28">
              <a:extLst>
                <a:ext uri="{FF2B5EF4-FFF2-40B4-BE49-F238E27FC236}">
                  <a16:creationId xmlns:a16="http://schemas.microsoft.com/office/drawing/2014/main" id="{E942BA43-3360-AAE7-B38E-EF1B2F82F430}"/>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Window Sensitivity (Validation)</a:t>
              </a:r>
              <a:endParaRPr lang="en-SG" sz="1400" i="1" dirty="0"/>
            </a:p>
          </p:txBody>
        </p:sp>
      </p:grpSp>
      <p:grpSp>
        <p:nvGrpSpPr>
          <p:cNvPr id="30" name="Group 29">
            <a:extLst>
              <a:ext uri="{FF2B5EF4-FFF2-40B4-BE49-F238E27FC236}">
                <a16:creationId xmlns:a16="http://schemas.microsoft.com/office/drawing/2014/main" id="{44CD42A6-6A1B-5C4A-B259-6B3C539F52EA}"/>
              </a:ext>
            </a:extLst>
          </p:cNvPr>
          <p:cNvGrpSpPr/>
          <p:nvPr/>
        </p:nvGrpSpPr>
        <p:grpSpPr>
          <a:xfrm>
            <a:off x="8622356" y="1282634"/>
            <a:ext cx="284531" cy="332847"/>
            <a:chOff x="1478545" y="850322"/>
            <a:chExt cx="284531" cy="332847"/>
          </a:xfrm>
        </p:grpSpPr>
        <p:sp>
          <p:nvSpPr>
            <p:cNvPr id="31" name="Arrow: Right 30">
              <a:extLst>
                <a:ext uri="{FF2B5EF4-FFF2-40B4-BE49-F238E27FC236}">
                  <a16:creationId xmlns:a16="http://schemas.microsoft.com/office/drawing/2014/main" id="{A33E212B-63B0-B38F-0723-E7C34B12260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32" name="Arrow: Right 4">
              <a:extLst>
                <a:ext uri="{FF2B5EF4-FFF2-40B4-BE49-F238E27FC236}">
                  <a16:creationId xmlns:a16="http://schemas.microsoft.com/office/drawing/2014/main" id="{DF5673BA-D215-69D8-75D0-737673288889}"/>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52" name="Group 51">
            <a:extLst>
              <a:ext uri="{FF2B5EF4-FFF2-40B4-BE49-F238E27FC236}">
                <a16:creationId xmlns:a16="http://schemas.microsoft.com/office/drawing/2014/main" id="{1BD3AA13-C4A7-F2B8-1E1D-254981977AF8}"/>
              </a:ext>
            </a:extLst>
          </p:cNvPr>
          <p:cNvGrpSpPr/>
          <p:nvPr/>
        </p:nvGrpSpPr>
        <p:grpSpPr>
          <a:xfrm>
            <a:off x="8683645" y="1586260"/>
            <a:ext cx="3422720" cy="1178524"/>
            <a:chOff x="0" y="85649"/>
            <a:chExt cx="3225516" cy="1935309"/>
          </a:xfrm>
        </p:grpSpPr>
        <p:sp>
          <p:nvSpPr>
            <p:cNvPr id="56" name="Rectangle: Rounded Corners 55">
              <a:extLst>
                <a:ext uri="{FF2B5EF4-FFF2-40B4-BE49-F238E27FC236}">
                  <a16:creationId xmlns:a16="http://schemas.microsoft.com/office/drawing/2014/main" id="{4855D310-C021-B4A8-7601-00EA639C16CD}"/>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7" name="Rectangle: Rounded Corners 4">
              <a:extLst>
                <a:ext uri="{FF2B5EF4-FFF2-40B4-BE49-F238E27FC236}">
                  <a16:creationId xmlns:a16="http://schemas.microsoft.com/office/drawing/2014/main" id="{B8B199D4-140D-E3C8-2743-5401B1A1A40C}"/>
                </a:ext>
              </a:extLst>
            </p:cNvPr>
            <p:cNvSpPr txBox="1"/>
            <p:nvPr/>
          </p:nvSpPr>
          <p:spPr>
            <a:xfrm>
              <a:off x="56683" y="142334"/>
              <a:ext cx="3112151"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lnSpc>
                  <a:spcPct val="90000"/>
                </a:lnSpc>
                <a:spcBef>
                  <a:spcPct val="0"/>
                </a:spcBef>
                <a:spcAft>
                  <a:spcPct val="15000"/>
                </a:spcAft>
              </a:pPr>
              <a:r>
                <a:rPr lang="en-SG" sz="1000" b="1" kern="1200" dirty="0"/>
                <a:t>Compare Assumptions (Freeze After </a:t>
              </a:r>
              <a:r>
                <a:rPr lang="en-SG" sz="1000" b="1" dirty="0"/>
                <a:t>V</a:t>
              </a:r>
              <a:r>
                <a:rPr lang="en-SG" sz="1000" b="1" kern="1200" dirty="0"/>
                <a:t>alidation)</a:t>
              </a:r>
            </a:p>
            <a:p>
              <a:pPr marL="285750" lvl="1" indent="-285750" algn="l" defTabSz="711200">
                <a:lnSpc>
                  <a:spcPct val="90000"/>
                </a:lnSpc>
                <a:spcBef>
                  <a:spcPct val="0"/>
                </a:spcBef>
                <a:spcAft>
                  <a:spcPct val="15000"/>
                </a:spcAft>
                <a:buFont typeface="Wingdings" panose="05000000000000000000" pitchFamily="2" charset="2"/>
                <a:buChar char="Ø"/>
              </a:pPr>
              <a:r>
                <a:rPr lang="en-SG" sz="1000" b="1" dirty="0"/>
                <a:t>logistic/xgboost </a:t>
              </a:r>
              <a:r>
                <a:rPr lang="en-SG" sz="1000" dirty="0"/>
                <a:t>with different windows</a:t>
              </a:r>
            </a:p>
            <a:p>
              <a:pPr marL="285750" lvl="1" indent="-285750" algn="l" defTabSz="711200">
                <a:lnSpc>
                  <a:spcPct val="90000"/>
                </a:lnSpc>
                <a:spcBef>
                  <a:spcPct val="0"/>
                </a:spcBef>
                <a:spcAft>
                  <a:spcPct val="15000"/>
                </a:spcAft>
                <a:buFont typeface="Wingdings" panose="05000000000000000000" pitchFamily="2" charset="2"/>
                <a:buChar char="Ø"/>
              </a:pPr>
              <a:r>
                <a:rPr lang="en-SG" sz="1000" b="1" dirty="0"/>
                <a:t>Prediction window </a:t>
              </a:r>
              <a:r>
                <a:rPr lang="en-SG" sz="1000" dirty="0"/>
                <a:t>validation with inter-purchase distribution analysis (30d/60d/90d)</a:t>
              </a:r>
            </a:p>
            <a:p>
              <a:pPr marL="285750" lvl="1" indent="-285750" algn="l" defTabSz="711200">
                <a:lnSpc>
                  <a:spcPct val="90000"/>
                </a:lnSpc>
                <a:spcBef>
                  <a:spcPct val="0"/>
                </a:spcBef>
                <a:spcAft>
                  <a:spcPct val="15000"/>
                </a:spcAft>
                <a:buFont typeface="Wingdings" panose="05000000000000000000" pitchFamily="2" charset="2"/>
                <a:buChar char="Ø"/>
              </a:pPr>
              <a:r>
                <a:rPr lang="en-SG" sz="1000" b="1" i="1" dirty="0"/>
                <a:t>Feature lookback window </a:t>
              </a:r>
              <a:r>
                <a:rPr lang="en-SG" sz="1000" i="1" dirty="0"/>
                <a:t>validate with model evaluation metrics (60d/90d/120d)</a:t>
              </a:r>
            </a:p>
          </p:txBody>
        </p:sp>
      </p:grpSp>
      <p:sp>
        <p:nvSpPr>
          <p:cNvPr id="61" name="TextBox 60">
            <a:extLst>
              <a:ext uri="{FF2B5EF4-FFF2-40B4-BE49-F238E27FC236}">
                <a16:creationId xmlns:a16="http://schemas.microsoft.com/office/drawing/2014/main" id="{903E2D77-6379-415E-D39B-B000AA78467A}"/>
              </a:ext>
            </a:extLst>
          </p:cNvPr>
          <p:cNvSpPr txBox="1"/>
          <p:nvPr/>
        </p:nvSpPr>
        <p:spPr>
          <a:xfrm>
            <a:off x="8678534" y="2831353"/>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grpSp>
        <p:nvGrpSpPr>
          <p:cNvPr id="69" name="Group 68">
            <a:extLst>
              <a:ext uri="{FF2B5EF4-FFF2-40B4-BE49-F238E27FC236}">
                <a16:creationId xmlns:a16="http://schemas.microsoft.com/office/drawing/2014/main" id="{FE10CFF9-DA5B-33D4-D518-0AD8DDCC5EFB}"/>
              </a:ext>
            </a:extLst>
          </p:cNvPr>
          <p:cNvGrpSpPr/>
          <p:nvPr/>
        </p:nvGrpSpPr>
        <p:grpSpPr>
          <a:xfrm rot="5400000">
            <a:off x="7066096" y="3797932"/>
            <a:ext cx="284531" cy="332847"/>
            <a:chOff x="1478545" y="850322"/>
            <a:chExt cx="284531" cy="332847"/>
          </a:xfrm>
        </p:grpSpPr>
        <p:sp>
          <p:nvSpPr>
            <p:cNvPr id="70" name="Arrow: Right 69">
              <a:extLst>
                <a:ext uri="{FF2B5EF4-FFF2-40B4-BE49-F238E27FC236}">
                  <a16:creationId xmlns:a16="http://schemas.microsoft.com/office/drawing/2014/main" id="{178279F9-D37B-3CFB-9188-85359CD711D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1" name="Arrow: Right 4">
              <a:extLst>
                <a:ext uri="{FF2B5EF4-FFF2-40B4-BE49-F238E27FC236}">
                  <a16:creationId xmlns:a16="http://schemas.microsoft.com/office/drawing/2014/main" id="{CD642649-57ED-BF75-96A1-A73AC38C8434}"/>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72" name="TextBox 71">
            <a:extLst>
              <a:ext uri="{FF2B5EF4-FFF2-40B4-BE49-F238E27FC236}">
                <a16:creationId xmlns:a16="http://schemas.microsoft.com/office/drawing/2014/main" id="{841A5866-94B3-85D2-525A-1A5E66B01566}"/>
              </a:ext>
            </a:extLst>
          </p:cNvPr>
          <p:cNvSpPr txBox="1"/>
          <p:nvPr/>
        </p:nvSpPr>
        <p:spPr>
          <a:xfrm>
            <a:off x="7364738" y="3687356"/>
            <a:ext cx="1138118" cy="553998"/>
          </a:xfrm>
          <a:prstGeom prst="rect">
            <a:avLst/>
          </a:prstGeom>
          <a:noFill/>
        </p:spPr>
        <p:txBody>
          <a:bodyPr wrap="square">
            <a:spAutoFit/>
          </a:bodyPr>
          <a:lstStyle/>
          <a:p>
            <a:pPr lvl="0"/>
            <a:r>
              <a:rPr lang="en-SG" sz="1000" b="1" dirty="0"/>
              <a:t>Frozen models and windows after validation</a:t>
            </a:r>
            <a:endParaRPr lang="en-SG" sz="1000" dirty="0"/>
          </a:p>
        </p:txBody>
      </p:sp>
    </p:spTree>
    <p:extLst>
      <p:ext uri="{BB962C8B-B14F-4D97-AF65-F5344CB8AC3E}">
        <p14:creationId xmlns:p14="http://schemas.microsoft.com/office/powerpoint/2010/main" val="23599907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523F-6315-8ABE-9E02-48BD2A00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76A6E-DA06-CC5A-FAF4-268A04576F06}"/>
              </a:ext>
            </a:extLst>
          </p:cNvPr>
          <p:cNvSpPr>
            <a:spLocks noGrp="1"/>
          </p:cNvSpPr>
          <p:nvPr>
            <p:ph type="title"/>
          </p:nvPr>
        </p:nvSpPr>
        <p:spPr>
          <a:xfrm>
            <a:off x="1640156" y="624110"/>
            <a:ext cx="7523432" cy="1280890"/>
          </a:xfrm>
        </p:spPr>
        <p:txBody>
          <a:bodyPr/>
          <a:lstStyle/>
          <a:p>
            <a:r>
              <a:rPr lang="en-SG" dirty="0"/>
              <a:t>Recommender Engine</a:t>
            </a:r>
          </a:p>
        </p:txBody>
      </p:sp>
      <p:graphicFrame>
        <p:nvGraphicFramePr>
          <p:cNvPr id="4" name="Content Placeholder 3">
            <a:extLst>
              <a:ext uri="{FF2B5EF4-FFF2-40B4-BE49-F238E27FC236}">
                <a16:creationId xmlns:a16="http://schemas.microsoft.com/office/drawing/2014/main" id="{E5FC3F1C-38C4-A54A-C60A-2A9EB8E9748D}"/>
              </a:ext>
            </a:extLst>
          </p:cNvPr>
          <p:cNvGraphicFramePr>
            <a:graphicFrameLocks noGrp="1"/>
          </p:cNvGraphicFramePr>
          <p:nvPr>
            <p:ph idx="1"/>
            <p:extLst>
              <p:ext uri="{D42A27DB-BD31-4B8C-83A1-F6EECF244321}">
                <p14:modId xmlns:p14="http://schemas.microsoft.com/office/powerpoint/2010/main" val="150259526"/>
              </p:ext>
            </p:extLst>
          </p:nvPr>
        </p:nvGraphicFramePr>
        <p:xfrm>
          <a:off x="3131358" y="1324120"/>
          <a:ext cx="5796885" cy="26100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0042A5DF-25E0-EEF5-952C-367E2F9BBF40}"/>
              </a:ext>
            </a:extLst>
          </p:cNvPr>
          <p:cNvGrpSpPr/>
          <p:nvPr/>
        </p:nvGrpSpPr>
        <p:grpSpPr>
          <a:xfrm>
            <a:off x="3131358" y="1324120"/>
            <a:ext cx="5627645" cy="398885"/>
            <a:chOff x="4483736" y="2868422"/>
            <a:chExt cx="1769634" cy="1039356"/>
          </a:xfrm>
        </p:grpSpPr>
        <p:sp>
          <p:nvSpPr>
            <p:cNvPr id="19" name="Rectangle 18">
              <a:extLst>
                <a:ext uri="{FF2B5EF4-FFF2-40B4-BE49-F238E27FC236}">
                  <a16:creationId xmlns:a16="http://schemas.microsoft.com/office/drawing/2014/main" id="{3EDAEDA5-500C-3385-B1BC-BBFB94BAB9A1}"/>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B7188EE1-6551-B19F-903D-33D0F8B39794}"/>
                </a:ext>
              </a:extLst>
            </p:cNvPr>
            <p:cNvSpPr txBox="1"/>
            <p:nvPr/>
          </p:nvSpPr>
          <p:spPr>
            <a:xfrm>
              <a:off x="4483736" y="2868422"/>
              <a:ext cx="1769634" cy="86160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Two-Tower Collaborative Filtering</a:t>
              </a:r>
              <a:endParaRPr lang="en-SG" sz="1400" b="1" i="1" kern="1200" dirty="0"/>
            </a:p>
          </p:txBody>
        </p:sp>
      </p:grpSp>
      <p:graphicFrame>
        <p:nvGraphicFramePr>
          <p:cNvPr id="42" name="Content Placeholder 3">
            <a:extLst>
              <a:ext uri="{FF2B5EF4-FFF2-40B4-BE49-F238E27FC236}">
                <a16:creationId xmlns:a16="http://schemas.microsoft.com/office/drawing/2014/main" id="{C85F7CF3-93FD-6194-23DE-19C0476E7719}"/>
              </a:ext>
            </a:extLst>
          </p:cNvPr>
          <p:cNvGraphicFramePr>
            <a:graphicFrameLocks/>
          </p:cNvGraphicFramePr>
          <p:nvPr>
            <p:extLst>
              <p:ext uri="{D42A27DB-BD31-4B8C-83A1-F6EECF244321}">
                <p14:modId xmlns:p14="http://schemas.microsoft.com/office/powerpoint/2010/main" val="3955606075"/>
              </p:ext>
            </p:extLst>
          </p:nvPr>
        </p:nvGraphicFramePr>
        <p:xfrm>
          <a:off x="3131357" y="4080395"/>
          <a:ext cx="5796885" cy="261001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66B34FE7-D558-16C3-5BF7-66CBC04802C5}"/>
              </a:ext>
            </a:extLst>
          </p:cNvPr>
          <p:cNvGrpSpPr/>
          <p:nvPr/>
        </p:nvGrpSpPr>
        <p:grpSpPr>
          <a:xfrm>
            <a:off x="3241883" y="4136488"/>
            <a:ext cx="5337038" cy="497651"/>
            <a:chOff x="4483735" y="2868423"/>
            <a:chExt cx="3474763" cy="1039355"/>
          </a:xfrm>
        </p:grpSpPr>
        <p:sp>
          <p:nvSpPr>
            <p:cNvPr id="44" name="Rectangle 43">
              <a:extLst>
                <a:ext uri="{FF2B5EF4-FFF2-40B4-BE49-F238E27FC236}">
                  <a16:creationId xmlns:a16="http://schemas.microsoft.com/office/drawing/2014/main" id="{A5186C26-8634-923F-38BE-FC6F8DB82864}"/>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5E185327-B886-034E-931E-1F50F7050D78}"/>
                </a:ext>
              </a:extLst>
            </p:cNvPr>
            <p:cNvSpPr txBox="1"/>
            <p:nvPr/>
          </p:nvSpPr>
          <p:spPr>
            <a:xfrm>
              <a:off x="4483735" y="2868423"/>
              <a:ext cx="3474763"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(Retrieval) Pipeline: Stage 1 Candidate Retrieval (Two-Tower Dot Product + ANN)</a:t>
              </a:r>
            </a:p>
          </p:txBody>
        </p:sp>
      </p:grpSp>
      <p:sp>
        <p:nvSpPr>
          <p:cNvPr id="65" name="Arrow: Bent 64">
            <a:extLst>
              <a:ext uri="{FF2B5EF4-FFF2-40B4-BE49-F238E27FC236}">
                <a16:creationId xmlns:a16="http://schemas.microsoft.com/office/drawing/2014/main" id="{64EAEDE7-0289-2B8C-7807-86A6147D5724}"/>
              </a:ext>
            </a:extLst>
          </p:cNvPr>
          <p:cNvSpPr/>
          <p:nvPr/>
        </p:nvSpPr>
        <p:spPr>
          <a:xfrm flipH="1">
            <a:off x="9163588" y="283137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5" name="Group 4">
            <a:extLst>
              <a:ext uri="{FF2B5EF4-FFF2-40B4-BE49-F238E27FC236}">
                <a16:creationId xmlns:a16="http://schemas.microsoft.com/office/drawing/2014/main" id="{69881087-05F0-7796-1ACA-9E3DD649F79A}"/>
              </a:ext>
            </a:extLst>
          </p:cNvPr>
          <p:cNvGrpSpPr/>
          <p:nvPr/>
        </p:nvGrpSpPr>
        <p:grpSpPr>
          <a:xfrm>
            <a:off x="9032450" y="5074822"/>
            <a:ext cx="284531" cy="332847"/>
            <a:chOff x="1478545" y="850322"/>
            <a:chExt cx="284531" cy="332847"/>
          </a:xfrm>
        </p:grpSpPr>
        <p:sp>
          <p:nvSpPr>
            <p:cNvPr id="6" name="Arrow: Right 5">
              <a:extLst>
                <a:ext uri="{FF2B5EF4-FFF2-40B4-BE49-F238E27FC236}">
                  <a16:creationId xmlns:a16="http://schemas.microsoft.com/office/drawing/2014/main" id="{EF2C012B-2B75-408E-FC2F-3053B3E1B4D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 name="Arrow: Right 4">
              <a:extLst>
                <a:ext uri="{FF2B5EF4-FFF2-40B4-BE49-F238E27FC236}">
                  <a16:creationId xmlns:a16="http://schemas.microsoft.com/office/drawing/2014/main" id="{07FE2FD6-E7C5-B478-7494-66C4F62D2855}"/>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8" name="Group 7">
            <a:extLst>
              <a:ext uri="{FF2B5EF4-FFF2-40B4-BE49-F238E27FC236}">
                <a16:creationId xmlns:a16="http://schemas.microsoft.com/office/drawing/2014/main" id="{8345A68D-7823-11C4-751A-B5C17CAA21C5}"/>
              </a:ext>
            </a:extLst>
          </p:cNvPr>
          <p:cNvGrpSpPr/>
          <p:nvPr/>
        </p:nvGrpSpPr>
        <p:grpSpPr>
          <a:xfrm>
            <a:off x="9316981" y="4622762"/>
            <a:ext cx="2683236" cy="425556"/>
            <a:chOff x="4483736" y="2868423"/>
            <a:chExt cx="1769634" cy="1039355"/>
          </a:xfrm>
        </p:grpSpPr>
        <p:sp>
          <p:nvSpPr>
            <p:cNvPr id="9" name="Rectangle 8">
              <a:extLst>
                <a:ext uri="{FF2B5EF4-FFF2-40B4-BE49-F238E27FC236}">
                  <a16:creationId xmlns:a16="http://schemas.microsoft.com/office/drawing/2014/main" id="{4B6F77BE-C997-2EF0-5EEB-402351E0310E}"/>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0" name="TextBox 9">
              <a:extLst>
                <a:ext uri="{FF2B5EF4-FFF2-40B4-BE49-F238E27FC236}">
                  <a16:creationId xmlns:a16="http://schemas.microsoft.com/office/drawing/2014/main" id="{79B6C517-E484-72E9-7BB5-F06B79C724F4}"/>
                </a:ext>
              </a:extLst>
            </p:cNvPr>
            <p:cNvSpPr txBox="1"/>
            <p:nvPr/>
          </p:nvSpPr>
          <p:spPr>
            <a:xfrm>
              <a:off x="4483736" y="2868423"/>
              <a:ext cx="1769634" cy="8065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Model Evaluation </a:t>
              </a:r>
            </a:p>
          </p:txBody>
        </p:sp>
      </p:grpSp>
      <p:grpSp>
        <p:nvGrpSpPr>
          <p:cNvPr id="11" name="Group 10">
            <a:extLst>
              <a:ext uri="{FF2B5EF4-FFF2-40B4-BE49-F238E27FC236}">
                <a16:creationId xmlns:a16="http://schemas.microsoft.com/office/drawing/2014/main" id="{DF31B023-9B65-8FBF-C915-B5911855AB2B}"/>
              </a:ext>
            </a:extLst>
          </p:cNvPr>
          <p:cNvGrpSpPr/>
          <p:nvPr/>
        </p:nvGrpSpPr>
        <p:grpSpPr>
          <a:xfrm>
            <a:off x="9421189" y="4953001"/>
            <a:ext cx="2518546" cy="1417114"/>
            <a:chOff x="0" y="85649"/>
            <a:chExt cx="3225516" cy="1935309"/>
          </a:xfrm>
        </p:grpSpPr>
        <p:sp>
          <p:nvSpPr>
            <p:cNvPr id="12" name="Rectangle: Rounded Corners 11">
              <a:extLst>
                <a:ext uri="{FF2B5EF4-FFF2-40B4-BE49-F238E27FC236}">
                  <a16:creationId xmlns:a16="http://schemas.microsoft.com/office/drawing/2014/main" id="{F71DCC3A-1CFC-FD99-7D0F-798AC99F30A4}"/>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3" name="Rectangle: Rounded Corners 4">
              <a:extLst>
                <a:ext uri="{FF2B5EF4-FFF2-40B4-BE49-F238E27FC236}">
                  <a16:creationId xmlns:a16="http://schemas.microsoft.com/office/drawing/2014/main" id="{7F21738A-6ECD-D72F-C776-C3208442DF7D}"/>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defTabSz="711200">
                <a:lnSpc>
                  <a:spcPct val="90000"/>
                </a:lnSpc>
                <a:spcBef>
                  <a:spcPct val="0"/>
                </a:spcBef>
                <a:spcAft>
                  <a:spcPct val="15000"/>
                </a:spcAft>
              </a:pPr>
              <a:r>
                <a:rPr lang="en-SG" sz="1400" dirty="0"/>
                <a:t>Proxy metrics for commercial engagement</a:t>
              </a:r>
              <a:endParaRPr lang="en-SG" sz="1400" kern="1200" dirty="0"/>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Recall</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NDCG Evaluation</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Hit Rate</a:t>
              </a:r>
            </a:p>
          </p:txBody>
        </p:sp>
      </p:grpSp>
      <p:sp>
        <p:nvSpPr>
          <p:cNvPr id="14" name="TextBox 13">
            <a:extLst>
              <a:ext uri="{FF2B5EF4-FFF2-40B4-BE49-F238E27FC236}">
                <a16:creationId xmlns:a16="http://schemas.microsoft.com/office/drawing/2014/main" id="{BFAA6854-1939-B7C6-2A39-5E9D39B67A0C}"/>
              </a:ext>
            </a:extLst>
          </p:cNvPr>
          <p:cNvSpPr txBox="1"/>
          <p:nvPr/>
        </p:nvSpPr>
        <p:spPr>
          <a:xfrm>
            <a:off x="3100757" y="2180901"/>
            <a:ext cx="1632186" cy="1015663"/>
          </a:xfrm>
          <a:prstGeom prst="rect">
            <a:avLst/>
          </a:prstGeom>
          <a:noFill/>
        </p:spPr>
        <p:txBody>
          <a:bodyPr wrap="square">
            <a:spAutoFit/>
          </a:bodyPr>
          <a:lstStyle/>
          <a:p>
            <a:pPr lvl="0"/>
            <a:r>
              <a:rPr lang="en-SG" sz="1000" b="1" i="1" dirty="0"/>
              <a:t>Preprocessing in Feature Store:</a:t>
            </a:r>
            <a:endParaRPr lang="en-SG" sz="1000" i="1" dirty="0"/>
          </a:p>
          <a:p>
            <a:pPr marL="171450" lvl="0" indent="-171450">
              <a:buFont typeface="Wingdings" panose="05000000000000000000" pitchFamily="2" charset="2"/>
              <a:buChar char="Ø"/>
            </a:pPr>
            <a:r>
              <a:rPr lang="en-SG" sz="1000" i="1" dirty="0"/>
              <a:t>Interaction Matrix Construction (Time-aware user–item interaction features)</a:t>
            </a:r>
          </a:p>
        </p:txBody>
      </p:sp>
      <p:sp>
        <p:nvSpPr>
          <p:cNvPr id="15" name="TextBox 14">
            <a:extLst>
              <a:ext uri="{FF2B5EF4-FFF2-40B4-BE49-F238E27FC236}">
                <a16:creationId xmlns:a16="http://schemas.microsoft.com/office/drawing/2014/main" id="{C1752EBF-2C0F-14B9-7A9C-AB7372903286}"/>
              </a:ext>
            </a:extLst>
          </p:cNvPr>
          <p:cNvSpPr txBox="1"/>
          <p:nvPr/>
        </p:nvSpPr>
        <p:spPr>
          <a:xfrm>
            <a:off x="6294637" y="3328223"/>
            <a:ext cx="2284284" cy="553998"/>
          </a:xfrm>
          <a:prstGeom prst="rect">
            <a:avLst/>
          </a:prstGeom>
          <a:noFill/>
        </p:spPr>
        <p:txBody>
          <a:bodyPr wrap="square">
            <a:spAutoFit/>
          </a:bodyPr>
          <a:lstStyle/>
          <a:p>
            <a:pPr lvl="0"/>
            <a:r>
              <a:rPr lang="en-SG" sz="1000" b="1" i="1" dirty="0"/>
              <a:t>Time-based split ((Train/Val/Test): </a:t>
            </a:r>
            <a:r>
              <a:rPr lang="en-SG" sz="1000" i="1" dirty="0"/>
              <a:t>Chronological split (no future data leak into training)</a:t>
            </a:r>
          </a:p>
        </p:txBody>
      </p:sp>
      <p:sp>
        <p:nvSpPr>
          <p:cNvPr id="16" name="TextBox 15">
            <a:extLst>
              <a:ext uri="{FF2B5EF4-FFF2-40B4-BE49-F238E27FC236}">
                <a16:creationId xmlns:a16="http://schemas.microsoft.com/office/drawing/2014/main" id="{5DBE317E-09DD-E978-C40E-A59F7303E440}"/>
              </a:ext>
            </a:extLst>
          </p:cNvPr>
          <p:cNvSpPr txBox="1"/>
          <p:nvPr/>
        </p:nvSpPr>
        <p:spPr>
          <a:xfrm>
            <a:off x="5353104" y="6115993"/>
            <a:ext cx="1724782" cy="400110"/>
          </a:xfrm>
          <a:prstGeom prst="rect">
            <a:avLst/>
          </a:prstGeom>
          <a:noFill/>
        </p:spPr>
        <p:txBody>
          <a:bodyPr wrap="square">
            <a:spAutoFit/>
          </a:bodyPr>
          <a:lstStyle/>
          <a:p>
            <a:pPr lvl="0"/>
            <a:r>
              <a:rPr lang="en-SG" sz="1000" i="1" dirty="0"/>
              <a:t>With precomputed item embeddings</a:t>
            </a:r>
          </a:p>
        </p:txBody>
      </p:sp>
      <p:sp>
        <p:nvSpPr>
          <p:cNvPr id="17" name="TextBox 16">
            <a:extLst>
              <a:ext uri="{FF2B5EF4-FFF2-40B4-BE49-F238E27FC236}">
                <a16:creationId xmlns:a16="http://schemas.microsoft.com/office/drawing/2014/main" id="{7621586B-2D1B-4192-689D-C703D920888D}"/>
              </a:ext>
            </a:extLst>
          </p:cNvPr>
          <p:cNvSpPr txBox="1"/>
          <p:nvPr/>
        </p:nvSpPr>
        <p:spPr>
          <a:xfrm>
            <a:off x="262405" y="1324120"/>
            <a:ext cx="2766007" cy="1477328"/>
          </a:xfrm>
          <a:prstGeom prst="rect">
            <a:avLst/>
          </a:prstGeom>
          <a:solidFill>
            <a:schemeClr val="accent2">
              <a:lumMod val="20000"/>
              <a:lumOff val="80000"/>
            </a:schemeClr>
          </a:solidFill>
        </p:spPr>
        <p:txBody>
          <a:bodyPr wrap="square">
            <a:spAutoFit/>
          </a:bodyPr>
          <a:lstStyle/>
          <a:p>
            <a:pPr lvl="0"/>
            <a:r>
              <a:rPr lang="en-SG" sz="1000" b="1" i="1" u="sng" dirty="0"/>
              <a:t>Terms for reference</a:t>
            </a:r>
          </a:p>
          <a:p>
            <a:pPr lvl="0"/>
            <a:endParaRPr lang="en-SG" sz="1000" b="1" i="1" dirty="0"/>
          </a:p>
          <a:p>
            <a:pPr lvl="0"/>
            <a:r>
              <a:rPr lang="en-SG" sz="1000" b="1" i="1" dirty="0"/>
              <a:t>Collaborative Filtering:</a:t>
            </a:r>
            <a:r>
              <a:rPr lang="en-SG" sz="1000" i="1" dirty="0"/>
              <a:t> Behaviour-driven learning from User-Item Interactions</a:t>
            </a:r>
          </a:p>
          <a:p>
            <a:pPr lvl="0"/>
            <a:endParaRPr lang="en-SG" sz="1000" i="1" dirty="0"/>
          </a:p>
          <a:p>
            <a:r>
              <a:rPr lang="en-SG" sz="1000" b="1" i="1" dirty="0"/>
              <a:t>Two-Tower Model Training: </a:t>
            </a:r>
          </a:p>
          <a:p>
            <a:pPr lvl="0"/>
            <a:r>
              <a:rPr lang="en-SG" sz="1000" i="1" dirty="0"/>
              <a:t>Generate embeddings for both users and items in shared embedding space for recommendations</a:t>
            </a:r>
          </a:p>
        </p:txBody>
      </p:sp>
      <p:sp>
        <p:nvSpPr>
          <p:cNvPr id="21" name="TextBox 20">
            <a:extLst>
              <a:ext uri="{FF2B5EF4-FFF2-40B4-BE49-F238E27FC236}">
                <a16:creationId xmlns:a16="http://schemas.microsoft.com/office/drawing/2014/main" id="{2B6ECFDD-E1D2-C572-2713-33281C1AD597}"/>
              </a:ext>
            </a:extLst>
          </p:cNvPr>
          <p:cNvSpPr txBox="1"/>
          <p:nvPr/>
        </p:nvSpPr>
        <p:spPr>
          <a:xfrm>
            <a:off x="7110765" y="6115992"/>
            <a:ext cx="1883331" cy="400110"/>
          </a:xfrm>
          <a:prstGeom prst="rect">
            <a:avLst/>
          </a:prstGeom>
          <a:noFill/>
        </p:spPr>
        <p:txBody>
          <a:bodyPr wrap="square">
            <a:spAutoFit/>
          </a:bodyPr>
          <a:lstStyle/>
          <a:p>
            <a:pPr lvl="0"/>
            <a:r>
              <a:rPr lang="en-SG" sz="1000" i="1" dirty="0"/>
              <a:t>What content/product to show to end users</a:t>
            </a:r>
          </a:p>
        </p:txBody>
      </p:sp>
      <p:sp>
        <p:nvSpPr>
          <p:cNvPr id="25" name="TextBox 24">
            <a:extLst>
              <a:ext uri="{FF2B5EF4-FFF2-40B4-BE49-F238E27FC236}">
                <a16:creationId xmlns:a16="http://schemas.microsoft.com/office/drawing/2014/main" id="{BEC2D81F-8862-F971-8647-50E0D76022FE}"/>
              </a:ext>
            </a:extLst>
          </p:cNvPr>
          <p:cNvSpPr txBox="1"/>
          <p:nvPr/>
        </p:nvSpPr>
        <p:spPr>
          <a:xfrm>
            <a:off x="9769764" y="2305959"/>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sp>
        <p:nvSpPr>
          <p:cNvPr id="23" name="TextBox 22">
            <a:extLst>
              <a:ext uri="{FF2B5EF4-FFF2-40B4-BE49-F238E27FC236}">
                <a16:creationId xmlns:a16="http://schemas.microsoft.com/office/drawing/2014/main" id="{B6EA18ED-65AA-6B85-C305-93F0E39DC5DC}"/>
              </a:ext>
            </a:extLst>
          </p:cNvPr>
          <p:cNvSpPr txBox="1"/>
          <p:nvPr/>
        </p:nvSpPr>
        <p:spPr>
          <a:xfrm>
            <a:off x="7113100" y="6450431"/>
            <a:ext cx="3289053" cy="400110"/>
          </a:xfrm>
          <a:prstGeom prst="rect">
            <a:avLst/>
          </a:prstGeom>
          <a:noFill/>
        </p:spPr>
        <p:txBody>
          <a:bodyPr wrap="square">
            <a:spAutoFit/>
          </a:bodyPr>
          <a:lstStyle/>
          <a:p>
            <a:pPr lvl="0"/>
            <a:r>
              <a:rPr lang="en-SG" sz="1000" b="1" i="1" dirty="0"/>
              <a:t>ANN: </a:t>
            </a:r>
            <a:r>
              <a:rPr lang="en-SG" sz="1000" i="1" dirty="0"/>
              <a:t>Efficient approximate nearest neighbour search for large catalogs (e.g. millions of items)</a:t>
            </a:r>
          </a:p>
        </p:txBody>
      </p:sp>
      <p:sp>
        <p:nvSpPr>
          <p:cNvPr id="3" name="Rectangle 2">
            <a:extLst>
              <a:ext uri="{FF2B5EF4-FFF2-40B4-BE49-F238E27FC236}">
                <a16:creationId xmlns:a16="http://schemas.microsoft.com/office/drawing/2014/main" id="{A091C461-F45E-330A-BFA4-D37BAB2780E3}"/>
              </a:ext>
            </a:extLst>
          </p:cNvPr>
          <p:cNvSpPr/>
          <p:nvPr/>
        </p:nvSpPr>
        <p:spPr>
          <a:xfrm>
            <a:off x="257784" y="4058814"/>
            <a:ext cx="2634778" cy="1415929"/>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u="sng" dirty="0">
                <a:solidFill>
                  <a:schemeClr val="tx1"/>
                </a:solidFill>
              </a:rPr>
              <a:t>Experiments</a:t>
            </a:r>
          </a:p>
          <a:p>
            <a:endParaRPr lang="en-SG" sz="1000" b="1" dirty="0">
              <a:solidFill>
                <a:schemeClr val="tx1"/>
              </a:solidFill>
            </a:endParaRPr>
          </a:p>
          <a:p>
            <a:r>
              <a:rPr lang="en-SG" sz="1000" b="1" dirty="0">
                <a:solidFill>
                  <a:schemeClr val="tx1"/>
                </a:solidFill>
              </a:rPr>
              <a:t>Popularity</a:t>
            </a:r>
            <a:r>
              <a:rPr lang="en-SG" sz="1000" dirty="0">
                <a:solidFill>
                  <a:schemeClr val="tx1"/>
                </a:solidFill>
              </a:rPr>
              <a:t>: recommends globally most-bought items.</a:t>
            </a:r>
          </a:p>
          <a:p>
            <a:r>
              <a:rPr lang="en-SG" sz="1000" b="1" dirty="0">
                <a:solidFill>
                  <a:schemeClr val="tx1"/>
                </a:solidFill>
              </a:rPr>
              <a:t>MF: </a:t>
            </a:r>
            <a:r>
              <a:rPr lang="en-SG" sz="1000" dirty="0">
                <a:solidFill>
                  <a:schemeClr val="tx1"/>
                </a:solidFill>
              </a:rPr>
              <a:t>Matrix factorization (TruncatedSVD) on user-item interactions.</a:t>
            </a:r>
          </a:p>
          <a:p>
            <a:r>
              <a:rPr lang="en-SG" sz="1000" b="1" dirty="0">
                <a:solidFill>
                  <a:schemeClr val="tx1"/>
                </a:solidFill>
              </a:rPr>
              <a:t>Two-Tower (ML-default): </a:t>
            </a:r>
            <a:r>
              <a:rPr lang="en-SG" sz="1000" dirty="0">
                <a:solidFill>
                  <a:schemeClr val="tx1"/>
                </a:solidFill>
              </a:rPr>
              <a:t>Current architecture model.</a:t>
            </a:r>
          </a:p>
        </p:txBody>
      </p:sp>
      <p:sp>
        <p:nvSpPr>
          <p:cNvPr id="24" name="Rectangle 23">
            <a:extLst>
              <a:ext uri="{FF2B5EF4-FFF2-40B4-BE49-F238E27FC236}">
                <a16:creationId xmlns:a16="http://schemas.microsoft.com/office/drawing/2014/main" id="{42725D59-6665-2915-3741-A1591DBA1EF7}"/>
              </a:ext>
            </a:extLst>
          </p:cNvPr>
          <p:cNvSpPr/>
          <p:nvPr/>
        </p:nvSpPr>
        <p:spPr>
          <a:xfrm>
            <a:off x="257784" y="5573621"/>
            <a:ext cx="2634778" cy="476638"/>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dirty="0">
                <a:solidFill>
                  <a:schemeClr val="tx1"/>
                </a:solidFill>
              </a:rPr>
              <a:t>Out-of-scope: Stage 2 Re-ranking </a:t>
            </a:r>
            <a:r>
              <a:rPr lang="en-SG" sz="1000" dirty="0">
                <a:solidFill>
                  <a:schemeClr val="tx1"/>
                </a:solidFill>
              </a:rPr>
              <a:t>to improve recall</a:t>
            </a:r>
          </a:p>
        </p:txBody>
      </p:sp>
    </p:spTree>
    <p:extLst>
      <p:ext uri="{BB962C8B-B14F-4D97-AF65-F5344CB8AC3E}">
        <p14:creationId xmlns:p14="http://schemas.microsoft.com/office/powerpoint/2010/main" val="17748565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00AB4-5B2E-498C-606C-E38958F65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84CBC-8276-AB0E-EAE6-58604095B83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Model &amp; Evaluation Design)</a:t>
            </a:r>
          </a:p>
        </p:txBody>
      </p:sp>
      <p:sp>
        <p:nvSpPr>
          <p:cNvPr id="5" name="Content Placeholder 4">
            <a:extLst>
              <a:ext uri="{FF2B5EF4-FFF2-40B4-BE49-F238E27FC236}">
                <a16:creationId xmlns:a16="http://schemas.microsoft.com/office/drawing/2014/main" id="{A7A656EC-03BE-FA9E-E7BD-E9BEC2921ED0}"/>
              </a:ext>
            </a:extLst>
          </p:cNvPr>
          <p:cNvSpPr>
            <a:spLocks noGrp="1"/>
          </p:cNvSpPr>
          <p:nvPr>
            <p:ph idx="1"/>
          </p:nvPr>
        </p:nvSpPr>
        <p:spPr>
          <a:xfrm>
            <a:off x="238956" y="1738481"/>
            <a:ext cx="3085269" cy="4812422"/>
          </a:xfrm>
          <a:solidFill>
            <a:schemeClr val="accent6">
              <a:lumMod val="20000"/>
              <a:lumOff val="80000"/>
            </a:schemeClr>
          </a:solidFill>
        </p:spPr>
        <p:txBody>
          <a:bodyPr>
            <a:noAutofit/>
          </a:bodyPr>
          <a:lstStyle/>
          <a:p>
            <a:pPr marL="0" indent="0">
              <a:buNone/>
            </a:pPr>
            <a:r>
              <a:rPr lang="en-SG" sz="1000" b="1" u="sng" dirty="0"/>
              <a:t>Choosing Training Features Example</a:t>
            </a:r>
            <a:br>
              <a:rPr lang="en-SG" sz="1000" b="1" dirty="0"/>
            </a:br>
            <a:r>
              <a:rPr lang="en-SG" sz="1000" b="1" dirty="0"/>
              <a:t>(Profile: 30d prediction window, 90d feature lookback window)</a:t>
            </a:r>
          </a:p>
          <a:p>
            <a:pPr>
              <a:buFont typeface="Wingdings" panose="05000000000000000000" pitchFamily="2" charset="2"/>
              <a:buChar char="Ø"/>
            </a:pPr>
            <a:r>
              <a:rPr lang="en-SG" sz="1000" dirty="0"/>
              <a:t>Both models by default trains on features including RMF of _30d and _90d for prediction window defaults 30d and feature lookback window defaults 90d. </a:t>
            </a:r>
          </a:p>
          <a:p>
            <a:pPr>
              <a:buFont typeface="Wingdings" panose="05000000000000000000" pitchFamily="2" charset="2"/>
              <a:buChar char="Ø"/>
            </a:pPr>
            <a:r>
              <a:rPr lang="en-SG" sz="1000" dirty="0"/>
              <a:t>Other RMF days features are ignored for model training even if they are in feature store for windows sensitivity analysis</a:t>
            </a:r>
            <a:endParaRPr lang="en-SG" sz="1000" b="1" dirty="0"/>
          </a:p>
          <a:p>
            <a:pPr>
              <a:buFont typeface="Wingdings" panose="05000000000000000000" pitchFamily="2" charset="2"/>
              <a:buChar char="Ø"/>
            </a:pPr>
            <a:r>
              <a:rPr lang="en-SG" sz="1000" dirty="0"/>
              <a:t>recency_days</a:t>
            </a:r>
          </a:p>
          <a:p>
            <a:pPr>
              <a:buFont typeface="Wingdings" panose="05000000000000000000" pitchFamily="2" charset="2"/>
              <a:buChar char="Ø"/>
            </a:pPr>
            <a:r>
              <a:rPr lang="en-SG" sz="1000" dirty="0"/>
              <a:t>frequency_30d</a:t>
            </a:r>
          </a:p>
          <a:p>
            <a:pPr>
              <a:buFont typeface="Wingdings" panose="05000000000000000000" pitchFamily="2" charset="2"/>
              <a:buChar char="Ø"/>
            </a:pPr>
            <a:r>
              <a:rPr lang="en-SG" sz="1000" dirty="0"/>
              <a:t>frequency_90d</a:t>
            </a:r>
          </a:p>
          <a:p>
            <a:pPr>
              <a:buFont typeface="Wingdings" panose="05000000000000000000" pitchFamily="2" charset="2"/>
              <a:buChar char="Ø"/>
            </a:pPr>
            <a:r>
              <a:rPr lang="en-SG" sz="1000" dirty="0"/>
              <a:t>monetary_30d</a:t>
            </a:r>
          </a:p>
          <a:p>
            <a:pPr>
              <a:buFont typeface="Wingdings" panose="05000000000000000000" pitchFamily="2" charset="2"/>
              <a:buChar char="Ø"/>
            </a:pPr>
            <a:r>
              <a:rPr lang="en-SG" sz="1000" dirty="0"/>
              <a:t>monetary_90d (capped by spend_cap_quantile)</a:t>
            </a:r>
          </a:p>
          <a:p>
            <a:pPr>
              <a:buFont typeface="Wingdings" panose="05000000000000000000" pitchFamily="2" charset="2"/>
              <a:buChar char="Ø"/>
            </a:pPr>
            <a:r>
              <a:rPr lang="en-SG" sz="1000" dirty="0"/>
              <a:t>avg_basket_value_90d</a:t>
            </a:r>
          </a:p>
          <a:p>
            <a:pPr>
              <a:buFont typeface="Wingdings" panose="05000000000000000000" pitchFamily="2" charset="2"/>
              <a:buChar char="Ø"/>
            </a:pPr>
            <a:r>
              <a:rPr lang="en-SG" sz="1000" dirty="0"/>
              <a:t>country</a:t>
            </a:r>
          </a:p>
          <a:p>
            <a:endParaRPr lang="en-SG" sz="1000" dirty="0"/>
          </a:p>
          <a:p>
            <a:pPr marL="0" indent="0">
              <a:buNone/>
            </a:pPr>
            <a:endParaRPr lang="en-SG" sz="1000" dirty="0"/>
          </a:p>
        </p:txBody>
      </p:sp>
      <p:sp>
        <p:nvSpPr>
          <p:cNvPr id="15" name="Content Placeholder 4">
            <a:extLst>
              <a:ext uri="{FF2B5EF4-FFF2-40B4-BE49-F238E27FC236}">
                <a16:creationId xmlns:a16="http://schemas.microsoft.com/office/drawing/2014/main" id="{88D0DFCD-925E-A834-5E4E-68133C154C72}"/>
              </a:ext>
            </a:extLst>
          </p:cNvPr>
          <p:cNvSpPr txBox="1">
            <a:spLocks/>
          </p:cNvSpPr>
          <p:nvPr/>
        </p:nvSpPr>
        <p:spPr>
          <a:xfrm>
            <a:off x="3524252" y="1736156"/>
            <a:ext cx="2752724" cy="4814747"/>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Window Sensitivity Features Example</a:t>
            </a:r>
            <a:br>
              <a:rPr lang="en-SG" sz="1000" dirty="0"/>
            </a:br>
            <a:r>
              <a:rPr lang="en-SG" sz="1000" dirty="0"/>
              <a:t>Window sensitivity analysis reruns training/model validation with alternate feature profiles while keeping the same split logic.</a:t>
            </a:r>
          </a:p>
          <a:p>
            <a:pPr marL="0" indent="0">
              <a:buNone/>
            </a:pPr>
            <a:r>
              <a:rPr lang="en-SG" sz="1000" dirty="0"/>
              <a:t>For feature-lookback test (with 30d prediction window), it uses:</a:t>
            </a:r>
          </a:p>
          <a:p>
            <a:pPr>
              <a:buFont typeface="Wingdings" panose="05000000000000000000" pitchFamily="2" charset="2"/>
              <a:buChar char="Ø"/>
            </a:pPr>
            <a:r>
              <a:rPr lang="en-SG" sz="1000" b="1" dirty="0"/>
              <a:t>60d lookback profile: </a:t>
            </a:r>
            <a:r>
              <a:rPr lang="en-SG" sz="1000" dirty="0"/>
              <a:t>frequency_60d, monetary_60d, avg_basket_value_60d</a:t>
            </a:r>
          </a:p>
          <a:p>
            <a:pPr>
              <a:buFont typeface="Wingdings" panose="05000000000000000000" pitchFamily="2" charset="2"/>
              <a:buChar char="Ø"/>
            </a:pPr>
            <a:r>
              <a:rPr lang="en-SG" sz="1000" b="1" dirty="0"/>
              <a:t>90d lookback profile: </a:t>
            </a:r>
            <a:r>
              <a:rPr lang="en-SG" sz="1000" dirty="0"/>
              <a:t>frequency_90d, monetary_90d, avg_basket_value_90d</a:t>
            </a:r>
          </a:p>
          <a:p>
            <a:pPr>
              <a:buFont typeface="Wingdings" panose="05000000000000000000" pitchFamily="2" charset="2"/>
              <a:buChar char="Ø"/>
            </a:pPr>
            <a:r>
              <a:rPr lang="en-SG" sz="1000" b="1" dirty="0"/>
              <a:t>120d lookback profile:</a:t>
            </a:r>
            <a:r>
              <a:rPr lang="en-SG" sz="1000" dirty="0"/>
              <a:t> frequency_120d, monetary_120d, avg_basket_value_120d</a:t>
            </a:r>
          </a:p>
          <a:p>
            <a:pPr marL="0" indent="0">
              <a:buNone/>
            </a:pPr>
            <a:r>
              <a:rPr lang="en-SG" sz="1000" dirty="0"/>
              <a:t>Then it compares model validation metrics (PR-AUC, ROC-AUC, lift, Brier, ECE) across these profiles.</a:t>
            </a:r>
          </a:p>
          <a:p>
            <a:pPr marL="0" indent="0">
              <a:buNone/>
            </a:pPr>
            <a:r>
              <a:rPr lang="en-SG" sz="1000" dirty="0"/>
              <a:t>So 60d/120d are used as alternative feature windows for comparison experiments, which is not in the default (90d) serving/train path.</a:t>
            </a:r>
          </a:p>
        </p:txBody>
      </p:sp>
      <p:sp>
        <p:nvSpPr>
          <p:cNvPr id="27" name="Content Placeholder 4">
            <a:extLst>
              <a:ext uri="{FF2B5EF4-FFF2-40B4-BE49-F238E27FC236}">
                <a16:creationId xmlns:a16="http://schemas.microsoft.com/office/drawing/2014/main" id="{39F5347A-284B-3BC5-F757-8595B5B67937}"/>
              </a:ext>
            </a:extLst>
          </p:cNvPr>
          <p:cNvSpPr txBox="1">
            <a:spLocks/>
          </p:cNvSpPr>
          <p:nvPr/>
        </p:nvSpPr>
        <p:spPr>
          <a:xfrm>
            <a:off x="6370440" y="1736156"/>
            <a:ext cx="5697737" cy="3426394"/>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Model Evaluation Metrics</a:t>
            </a:r>
            <a:br>
              <a:rPr lang="en-SG" sz="1000" b="1" dirty="0"/>
            </a:br>
            <a:r>
              <a:rPr lang="en-SG" sz="1000" b="1" dirty="0"/>
              <a:t>Purchase Propensity Model (logistic / xgboost)</a:t>
            </a:r>
          </a:p>
          <a:p>
            <a:pPr>
              <a:buFont typeface="Wingdings" panose="05000000000000000000" pitchFamily="2" charset="2"/>
              <a:buChar char="Ø"/>
            </a:pPr>
            <a:r>
              <a:rPr lang="en-SG" sz="1000" b="1" dirty="0"/>
              <a:t>ROC-AUC: </a:t>
            </a:r>
            <a:r>
              <a:rPr lang="en-SG" sz="1000" dirty="0"/>
              <a:t>Ranking discrimination across thresholds </a:t>
            </a:r>
            <a:r>
              <a:rPr lang="en-SG" sz="1000" dirty="0">
                <a:solidFill>
                  <a:schemeClr val="tx1"/>
                </a:solidFill>
              </a:rPr>
              <a:t>(Ability to rank likely buyers above non-buyers)</a:t>
            </a:r>
          </a:p>
          <a:p>
            <a:pPr>
              <a:buFont typeface="Wingdings" panose="05000000000000000000" pitchFamily="2" charset="2"/>
              <a:buChar char="Ø"/>
            </a:pPr>
            <a:r>
              <a:rPr lang="en-SG" sz="1000" b="1" dirty="0"/>
              <a:t>PR-AUC: </a:t>
            </a:r>
            <a:r>
              <a:rPr lang="en-SG" sz="1000" dirty="0"/>
              <a:t>Precision/recall performance for the positive class</a:t>
            </a:r>
          </a:p>
          <a:p>
            <a:pPr>
              <a:buFont typeface="Wingdings" panose="05000000000000000000" pitchFamily="2" charset="2"/>
              <a:buChar char="Ø"/>
            </a:pPr>
            <a:r>
              <a:rPr lang="en-SG" sz="1000" b="1" dirty="0"/>
              <a:t>Top-decile lift: </a:t>
            </a:r>
            <a:r>
              <a:rPr lang="en-SG" sz="1000" dirty="0"/>
              <a:t>Buyer-rate concentration in top X% vs base rate</a:t>
            </a:r>
          </a:p>
          <a:p>
            <a:pPr>
              <a:buFont typeface="Wingdings" panose="05000000000000000000" pitchFamily="2" charset="2"/>
              <a:buChar char="Ø"/>
            </a:pPr>
            <a:r>
              <a:rPr lang="en-SG" sz="1000" b="1" dirty="0"/>
              <a:t>Brier score: </a:t>
            </a:r>
            <a:r>
              <a:rPr lang="en-SG" sz="1000" dirty="0"/>
              <a:t>Probability error (lower is better)</a:t>
            </a:r>
          </a:p>
          <a:p>
            <a:pPr>
              <a:buFont typeface="Wingdings" panose="05000000000000000000" pitchFamily="2" charset="2"/>
              <a:buChar char="Ø"/>
            </a:pPr>
            <a:r>
              <a:rPr lang="en-SG" sz="1000" b="1" dirty="0"/>
              <a:t>ECE: </a:t>
            </a:r>
            <a:r>
              <a:rPr lang="en-SG" sz="1000" dirty="0">
                <a:solidFill>
                  <a:schemeClr val="tx1"/>
                </a:solidFill>
              </a:rPr>
              <a:t>Calibration Gap - Predicted probabilities aligned with actual outcomes?</a:t>
            </a:r>
            <a:endParaRPr lang="en-SG" sz="1000" b="1" dirty="0">
              <a:solidFill>
                <a:schemeClr val="tx1"/>
              </a:solidFill>
            </a:endParaRPr>
          </a:p>
          <a:p>
            <a:pPr marL="0" indent="0">
              <a:buNone/>
            </a:pPr>
            <a:r>
              <a:rPr lang="en-SG" sz="1000" b="1" dirty="0"/>
              <a:t>Revenue Prediction Model (Regression)</a:t>
            </a:r>
          </a:p>
          <a:p>
            <a:pPr>
              <a:buFont typeface="Wingdings" panose="05000000000000000000" pitchFamily="2" charset="2"/>
              <a:buChar char="Ø"/>
            </a:pPr>
            <a:r>
              <a:rPr lang="en-SG" sz="1000" b="1" dirty="0"/>
              <a:t>RMSE (Root Mean Squared Error) : </a:t>
            </a:r>
            <a:r>
              <a:rPr lang="en-SG" sz="1000" i="1" dirty="0">
                <a:solidFill>
                  <a:schemeClr val="tx1"/>
                </a:solidFill>
              </a:rPr>
              <a:t>“How far off are our revenue predictions, with large mistakes penalized more heavily?”</a:t>
            </a:r>
          </a:p>
          <a:p>
            <a:pPr>
              <a:buFont typeface="Wingdings" panose="05000000000000000000" pitchFamily="2" charset="2"/>
              <a:buChar char="Ø"/>
            </a:pPr>
            <a:r>
              <a:rPr lang="en-SG" sz="1000" b="1" dirty="0"/>
              <a:t>MAE (Mean Absolute Error): </a:t>
            </a:r>
            <a:r>
              <a:rPr lang="en-SG" sz="1000" i="1" dirty="0"/>
              <a:t>“On average, how many dollars are we off per user?”</a:t>
            </a:r>
          </a:p>
          <a:p>
            <a:pPr>
              <a:buFont typeface="Wingdings" panose="05000000000000000000" pitchFamily="2" charset="2"/>
              <a:buChar char="Ø"/>
            </a:pPr>
            <a:r>
              <a:rPr lang="en-SG" sz="1000" b="1" dirty="0"/>
              <a:t>MAPE (Mean Absolute Percentage Error): </a:t>
            </a:r>
            <a:r>
              <a:rPr lang="en-SG" sz="1000" i="1" dirty="0"/>
              <a:t>“On average, how wrong are we in percentage terms?”</a:t>
            </a:r>
          </a:p>
          <a:p>
            <a:pPr marL="0" indent="0">
              <a:buNone/>
            </a:pPr>
            <a:endParaRPr lang="en-SG" sz="1000" b="1" dirty="0"/>
          </a:p>
        </p:txBody>
      </p:sp>
      <p:sp>
        <p:nvSpPr>
          <p:cNvPr id="31" name="Content Placeholder 4">
            <a:extLst>
              <a:ext uri="{FF2B5EF4-FFF2-40B4-BE49-F238E27FC236}">
                <a16:creationId xmlns:a16="http://schemas.microsoft.com/office/drawing/2014/main" id="{3EDD249C-F5CB-DA79-F234-557B633E1B42}"/>
              </a:ext>
            </a:extLst>
          </p:cNvPr>
          <p:cNvSpPr txBox="1">
            <a:spLocks/>
          </p:cNvSpPr>
          <p:nvPr/>
        </p:nvSpPr>
        <p:spPr>
          <a:xfrm>
            <a:off x="6380754" y="5267324"/>
            <a:ext cx="5697737" cy="128357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Retraining</a:t>
            </a:r>
          </a:p>
          <a:p>
            <a:pPr>
              <a:buFont typeface="Wingdings" panose="05000000000000000000" pitchFamily="2" charset="2"/>
              <a:buChar char="Ø"/>
            </a:pPr>
            <a:r>
              <a:rPr lang="en-SG" sz="1000" dirty="0"/>
              <a:t>For each train-val-test split cycle, we prespecify </a:t>
            </a:r>
            <a:r>
              <a:rPr lang="en-SG" sz="1000" b="1" dirty="0"/>
              <a:t>12M per cycle: 10M training, 1M validation, 1M testing</a:t>
            </a:r>
          </a:p>
          <a:p>
            <a:pPr>
              <a:buFont typeface="Wingdings" panose="05000000000000000000" pitchFamily="2" charset="2"/>
              <a:buChar char="Ø"/>
            </a:pPr>
            <a:r>
              <a:rPr lang="en-SG" sz="1000" dirty="0"/>
              <a:t>We then included </a:t>
            </a:r>
            <a:r>
              <a:rPr lang="en-SG" sz="1000" b="1" dirty="0"/>
              <a:t>quarterly retraining on a rolling basis </a:t>
            </a:r>
            <a:r>
              <a:rPr lang="en-SG" sz="1000" dirty="0"/>
              <a:t>with lightweight infra in this project demo since we have ~2 years dataset</a:t>
            </a:r>
          </a:p>
          <a:p>
            <a:pPr marL="0" indent="0">
              <a:buNone/>
            </a:pPr>
            <a:endParaRPr lang="en-SG" sz="1000" b="1" dirty="0"/>
          </a:p>
        </p:txBody>
      </p:sp>
      <p:sp>
        <p:nvSpPr>
          <p:cNvPr id="33" name="TextBox 32">
            <a:extLst>
              <a:ext uri="{FF2B5EF4-FFF2-40B4-BE49-F238E27FC236}">
                <a16:creationId xmlns:a16="http://schemas.microsoft.com/office/drawing/2014/main" id="{FFB04D6F-522B-558C-1C82-92D71E57E02F}"/>
              </a:ext>
            </a:extLst>
          </p:cNvPr>
          <p:cNvSpPr txBox="1"/>
          <p:nvPr/>
        </p:nvSpPr>
        <p:spPr>
          <a:xfrm>
            <a:off x="8037315" y="6611779"/>
            <a:ext cx="4335660" cy="246221"/>
          </a:xfrm>
          <a:prstGeom prst="rect">
            <a:avLst/>
          </a:prstGeom>
          <a:noFill/>
        </p:spPr>
        <p:txBody>
          <a:bodyPr wrap="square">
            <a:spAutoFit/>
          </a:bodyPr>
          <a:lstStyle/>
          <a:p>
            <a:r>
              <a:rPr lang="en-SG" sz="1000" b="1" dirty="0"/>
              <a:t>Note: </a:t>
            </a:r>
            <a:r>
              <a:rPr lang="en-SG" sz="1000" dirty="0"/>
              <a:t>See repository docs for specs and implementation details.</a:t>
            </a:r>
          </a:p>
        </p:txBody>
      </p:sp>
    </p:spTree>
    <p:extLst>
      <p:ext uri="{BB962C8B-B14F-4D97-AF65-F5344CB8AC3E}">
        <p14:creationId xmlns:p14="http://schemas.microsoft.com/office/powerpoint/2010/main" val="18762141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249916C-8E0E-8B77-EA7B-5D3B240902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5EB954-BB0F-53A4-2B87-F6E02CE6FA24}"/>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3" name="Rectangle 2">
            <a:extLst>
              <a:ext uri="{FF2B5EF4-FFF2-40B4-BE49-F238E27FC236}">
                <a16:creationId xmlns:a16="http://schemas.microsoft.com/office/drawing/2014/main" id="{0FFED59F-BDF5-6DBC-C6F3-46F72414C9F9}"/>
              </a:ext>
            </a:extLst>
          </p:cNvPr>
          <p:cNvSpPr/>
          <p:nvPr/>
        </p:nvSpPr>
        <p:spPr>
          <a:xfrm>
            <a:off x="10566562" y="1"/>
            <a:ext cx="1625438" cy="704850"/>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dirty="0">
                <a:solidFill>
                  <a:srgbClr val="FF0000"/>
                </a:solidFill>
              </a:rPr>
              <a:t>Key results to update</a:t>
            </a:r>
          </a:p>
        </p:txBody>
      </p:sp>
      <p:sp>
        <p:nvSpPr>
          <p:cNvPr id="5" name="TextBox 4">
            <a:extLst>
              <a:ext uri="{FF2B5EF4-FFF2-40B4-BE49-F238E27FC236}">
                <a16:creationId xmlns:a16="http://schemas.microsoft.com/office/drawing/2014/main" id="{E13B94BF-30F1-1F5A-5D97-8C2A6736D0DD}"/>
              </a:ext>
            </a:extLst>
          </p:cNvPr>
          <p:cNvSpPr txBox="1"/>
          <p:nvPr/>
        </p:nvSpPr>
        <p:spPr>
          <a:xfrm>
            <a:off x="395656" y="1905000"/>
            <a:ext cx="6100762" cy="3754874"/>
          </a:xfrm>
          <a:prstGeom prst="rect">
            <a:avLst/>
          </a:prstGeom>
          <a:noFill/>
        </p:spPr>
        <p:txBody>
          <a:bodyPr wrap="square">
            <a:spAutoFit/>
          </a:bodyPr>
          <a:lstStyle/>
          <a:p>
            <a:r>
              <a:rPr lang="en-SG" sz="1200" b="1" u="sng" dirty="0"/>
              <a:t>Purchase Propensity — Offline Policy </a:t>
            </a:r>
            <a:r>
              <a:rPr lang="en-SG" sz="1200" b="1" u="sng" dirty="0" err="1"/>
              <a:t>Backtest</a:t>
            </a:r>
            <a:r>
              <a:rPr lang="en-SG" sz="1200" b="1" u="sng" dirty="0"/>
              <a:t> Results</a:t>
            </a:r>
          </a:p>
          <a:p>
            <a:endParaRPr lang="en-SG" sz="1200" b="1" dirty="0"/>
          </a:p>
          <a:p>
            <a:r>
              <a:rPr lang="en-SG" sz="1200" b="1" dirty="0"/>
              <a:t>Executive Takeaway</a:t>
            </a:r>
          </a:p>
          <a:p>
            <a:r>
              <a:rPr lang="en-SG" sz="1200" dirty="0">
                <a:solidFill>
                  <a:srgbClr val="FF0000"/>
                </a:solidFill>
              </a:rPr>
              <a:t>TBC</a:t>
            </a:r>
          </a:p>
          <a:p>
            <a:endParaRPr lang="en-SG" sz="1200" b="1" dirty="0"/>
          </a:p>
          <a:p>
            <a:endParaRPr lang="en-SG" sz="1200" b="1" dirty="0"/>
          </a:p>
          <a:p>
            <a:r>
              <a:rPr lang="en-SG" sz="1200" b="1" dirty="0"/>
              <a:t>Model Quality (Validation)</a:t>
            </a:r>
          </a:p>
          <a:p>
            <a:r>
              <a:rPr lang="en-SG" sz="1200" dirty="0">
                <a:solidFill>
                  <a:srgbClr val="FF0000"/>
                </a:solidFill>
              </a:rPr>
              <a:t>TBC</a:t>
            </a:r>
          </a:p>
          <a:p>
            <a:endParaRPr lang="en-SG" sz="1200" b="1" dirty="0"/>
          </a:p>
          <a:p>
            <a:endParaRPr lang="en-SG" sz="1200" b="1" dirty="0"/>
          </a:p>
          <a:p>
            <a:r>
              <a:rPr lang="en-SG" sz="1200" b="1" dirty="0"/>
              <a:t>Policy Impact</a:t>
            </a:r>
          </a:p>
          <a:p>
            <a:r>
              <a:rPr lang="en-SG" sz="1200" dirty="0">
                <a:solidFill>
                  <a:srgbClr val="FF0000"/>
                </a:solidFill>
              </a:rPr>
              <a:t>TBC</a:t>
            </a:r>
          </a:p>
          <a:p>
            <a:endParaRPr lang="en-SG" sz="1200" b="1" dirty="0"/>
          </a:p>
          <a:p>
            <a:endParaRPr lang="en-SG" sz="1200" b="1" dirty="0"/>
          </a:p>
          <a:p>
            <a:endParaRPr lang="en-SG" sz="1200" b="1" dirty="0"/>
          </a:p>
          <a:p>
            <a:r>
              <a:rPr lang="en-SG" sz="1200" b="1" dirty="0"/>
              <a:t>Structural Discipline</a:t>
            </a:r>
          </a:p>
          <a:p>
            <a:r>
              <a:rPr lang="en-SG" sz="1200" dirty="0">
                <a:solidFill>
                  <a:srgbClr val="FF0000"/>
                </a:solidFill>
              </a:rPr>
              <a:t>TBC</a:t>
            </a:r>
          </a:p>
          <a:p>
            <a:endParaRPr lang="en-SG" sz="1200" b="1" dirty="0"/>
          </a:p>
          <a:p>
            <a:endParaRPr lang="en-SG" sz="1200" b="1" dirty="0"/>
          </a:p>
          <a:p>
            <a:endParaRPr lang="en-SG" sz="1200" b="1" dirty="0"/>
          </a:p>
        </p:txBody>
      </p:sp>
    </p:spTree>
    <p:extLst>
      <p:ext uri="{BB962C8B-B14F-4D97-AF65-F5344CB8AC3E}">
        <p14:creationId xmlns:p14="http://schemas.microsoft.com/office/powerpoint/2010/main" val="35673530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76822-04DE-BD0E-22EF-73A4E5F5EB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1F5C934-9F6A-DF02-4196-746E32B3ECB0}"/>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&amp; Evaluation Design)</a:t>
            </a:r>
          </a:p>
        </p:txBody>
      </p:sp>
      <p:sp>
        <p:nvSpPr>
          <p:cNvPr id="6" name="TextBox 5">
            <a:extLst>
              <a:ext uri="{FF2B5EF4-FFF2-40B4-BE49-F238E27FC236}">
                <a16:creationId xmlns:a16="http://schemas.microsoft.com/office/drawing/2014/main" id="{20F85F21-580C-9983-2A05-499B457290EF}"/>
              </a:ext>
            </a:extLst>
          </p:cNvPr>
          <p:cNvSpPr txBox="1"/>
          <p:nvPr/>
        </p:nvSpPr>
        <p:spPr>
          <a:xfrm>
            <a:off x="130951" y="1715928"/>
            <a:ext cx="2408082" cy="246221"/>
          </a:xfrm>
          <a:prstGeom prst="rect">
            <a:avLst/>
          </a:prstGeom>
          <a:noFill/>
        </p:spPr>
        <p:txBody>
          <a:bodyPr wrap="square">
            <a:spAutoFit/>
          </a:bodyPr>
          <a:lstStyle/>
          <a:p>
            <a:r>
              <a:rPr lang="en-SG" sz="1000" b="1" u="sng" dirty="0"/>
              <a:t>Experiments Setup</a:t>
            </a:r>
          </a:p>
        </p:txBody>
      </p:sp>
      <p:graphicFrame>
        <p:nvGraphicFramePr>
          <p:cNvPr id="15" name="Table 14">
            <a:extLst>
              <a:ext uri="{FF2B5EF4-FFF2-40B4-BE49-F238E27FC236}">
                <a16:creationId xmlns:a16="http://schemas.microsoft.com/office/drawing/2014/main" id="{B4D11709-B9C4-9586-9A18-2639A9DA59F9}"/>
              </a:ext>
            </a:extLst>
          </p:cNvPr>
          <p:cNvGraphicFramePr>
            <a:graphicFrameLocks noGrp="1"/>
          </p:cNvGraphicFramePr>
          <p:nvPr>
            <p:extLst>
              <p:ext uri="{D42A27DB-BD31-4B8C-83A1-F6EECF244321}">
                <p14:modId xmlns:p14="http://schemas.microsoft.com/office/powerpoint/2010/main" val="2647371340"/>
              </p:ext>
            </p:extLst>
          </p:nvPr>
        </p:nvGraphicFramePr>
        <p:xfrm>
          <a:off x="4955292" y="1943227"/>
          <a:ext cx="7135149" cy="1188720"/>
        </p:xfrm>
        <a:graphic>
          <a:graphicData uri="http://schemas.openxmlformats.org/drawingml/2006/table">
            <a:tbl>
              <a:tblPr firstRow="1" bandRow="1">
                <a:tableStyleId>{5C22544A-7EE6-4342-B048-85BDC9FD1C3A}</a:tableStyleId>
              </a:tblPr>
              <a:tblGrid>
                <a:gridCol w="2378383">
                  <a:extLst>
                    <a:ext uri="{9D8B030D-6E8A-4147-A177-3AD203B41FA5}">
                      <a16:colId xmlns:a16="http://schemas.microsoft.com/office/drawing/2014/main" val="2179503555"/>
                    </a:ext>
                  </a:extLst>
                </a:gridCol>
                <a:gridCol w="2378383">
                  <a:extLst>
                    <a:ext uri="{9D8B030D-6E8A-4147-A177-3AD203B41FA5}">
                      <a16:colId xmlns:a16="http://schemas.microsoft.com/office/drawing/2014/main" val="269056205"/>
                    </a:ext>
                  </a:extLst>
                </a:gridCol>
                <a:gridCol w="2378383">
                  <a:extLst>
                    <a:ext uri="{9D8B030D-6E8A-4147-A177-3AD203B41FA5}">
                      <a16:colId xmlns:a16="http://schemas.microsoft.com/office/drawing/2014/main" val="1475438144"/>
                    </a:ext>
                  </a:extLst>
                </a:gridCol>
              </a:tblGrid>
              <a:tr h="0">
                <a:tc>
                  <a:txBody>
                    <a:bodyPr/>
                    <a:lstStyle/>
                    <a:p>
                      <a:r>
                        <a:rPr lang="en-SG" sz="800" dirty="0">
                          <a:latin typeface="+mj-lt"/>
                        </a:rPr>
                        <a:t>Model Baseline</a:t>
                      </a:r>
                    </a:p>
                  </a:txBody>
                  <a:tcPr/>
                </a:tc>
                <a:tc>
                  <a:txBody>
                    <a:bodyPr/>
                    <a:lstStyle/>
                    <a:p>
                      <a:r>
                        <a:rPr lang="en-SG" sz="800" dirty="0">
                          <a:latin typeface="+mj-lt"/>
                        </a:rPr>
                        <a:t>Type</a:t>
                      </a:r>
                    </a:p>
                  </a:txBody>
                  <a:tcPr/>
                </a:tc>
                <a:tc>
                  <a:txBody>
                    <a:bodyPr/>
                    <a:lstStyle/>
                    <a:p>
                      <a:r>
                        <a:rPr lang="en-SG" sz="800" dirty="0">
                          <a:latin typeface="+mj-lt"/>
                        </a:rPr>
                        <a:t>Why included</a:t>
                      </a:r>
                    </a:p>
                  </a:txBody>
                  <a:tcPr/>
                </a:tc>
                <a:extLst>
                  <a:ext uri="{0D108BD9-81ED-4DB2-BD59-A6C34878D82A}">
                    <a16:rowId xmlns:a16="http://schemas.microsoft.com/office/drawing/2014/main" val="366376605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r>
                        <a:rPr lang="en-SG" sz="800" dirty="0">
                          <a:latin typeface="+mj-lt"/>
                        </a:rPr>
                        <a:t>Statistical (Null Model)</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Theoretical Floor</a:t>
                      </a:r>
                      <a:endParaRPr lang="en-SG" sz="800" dirty="0">
                        <a:latin typeface="+mj-lt"/>
                      </a:endParaRPr>
                    </a:p>
                  </a:txBody>
                  <a:tcPr/>
                </a:tc>
                <a:extLst>
                  <a:ext uri="{0D108BD9-81ED-4DB2-BD59-A6C34878D82A}">
                    <a16:rowId xmlns:a16="http://schemas.microsoft.com/office/drawing/2014/main" val="369958352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a:t>
                      </a:r>
                      <a:endParaRPr lang="en-SG" sz="800" dirty="0">
                        <a:latin typeface="+mj-lt"/>
                      </a:endParaRP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 Baseline</a:t>
                      </a:r>
                      <a:endParaRPr lang="en-SG" sz="800" dirty="0">
                        <a:latin typeface="+mj-lt"/>
                      </a:endParaRPr>
                    </a:p>
                  </a:txBody>
                  <a:tcPr/>
                </a:tc>
                <a:extLst>
                  <a:ext uri="{0D108BD9-81ED-4DB2-BD59-A6C34878D82A}">
                    <a16:rowId xmlns:a16="http://schemas.microsoft.com/office/drawing/2014/main" val="2904777083"/>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r>
                        <a:rPr lang="en-SG" sz="800" dirty="0">
                          <a:latin typeface="+mj-lt"/>
                        </a:rPr>
                        <a:t>Classical ML: </a:t>
                      </a:r>
                      <a:r>
                        <a:rPr lang="en-SG" sz="800" kern="1200" dirty="0">
                          <a:solidFill>
                            <a:schemeClr val="dk1"/>
                          </a:solidFill>
                          <a:latin typeface="+mn-lt"/>
                          <a:ea typeface="+mn-ea"/>
                          <a:cs typeface="+mn-cs"/>
                        </a:rPr>
                        <a:t>Collaborative Filtering (CF) </a:t>
                      </a:r>
                      <a:endParaRPr lang="en-SG" sz="800" dirty="0">
                        <a:latin typeface="+mj-lt"/>
                      </a:endParaRPr>
                    </a:p>
                  </a:txBody>
                  <a:tcPr/>
                </a:tc>
                <a:tc>
                  <a:txBody>
                    <a:bodyPr/>
                    <a:lstStyle/>
                    <a:p>
                      <a:r>
                        <a:rPr lang="en-SG" sz="800" dirty="0">
                          <a:latin typeface="+mj-lt"/>
                        </a:rPr>
                        <a:t>Strong benchmark</a:t>
                      </a:r>
                    </a:p>
                  </a:txBody>
                  <a:tcPr/>
                </a:tc>
                <a:extLst>
                  <a:ext uri="{0D108BD9-81ED-4DB2-BD59-A6C34878D82A}">
                    <a16:rowId xmlns:a16="http://schemas.microsoft.com/office/drawing/2014/main" val="3642296864"/>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Neural Retrieval</a:t>
                      </a:r>
                      <a:endParaRPr lang="en-SG" sz="800" dirty="0">
                        <a:latin typeface="+mj-lt"/>
                      </a:endParaRPr>
                    </a:p>
                  </a:txBody>
                  <a:tcPr/>
                </a:tc>
                <a:tc>
                  <a:txBody>
                    <a:bodyPr/>
                    <a:lstStyle/>
                    <a:p>
                      <a:r>
                        <a:rPr lang="en-SG" sz="800" dirty="0">
                          <a:latin typeface="+mj-lt"/>
                        </a:rPr>
                        <a:t>Scalable, extensible</a:t>
                      </a:r>
                    </a:p>
                  </a:txBody>
                  <a:tcPr/>
                </a:tc>
                <a:extLst>
                  <a:ext uri="{0D108BD9-81ED-4DB2-BD59-A6C34878D82A}">
                    <a16:rowId xmlns:a16="http://schemas.microsoft.com/office/drawing/2014/main" val="958386671"/>
                  </a:ext>
                </a:extLst>
              </a:tr>
            </a:tbl>
          </a:graphicData>
        </a:graphic>
      </p:graphicFrame>
      <p:sp>
        <p:nvSpPr>
          <p:cNvPr id="16" name="TextBox 15">
            <a:extLst>
              <a:ext uri="{FF2B5EF4-FFF2-40B4-BE49-F238E27FC236}">
                <a16:creationId xmlns:a16="http://schemas.microsoft.com/office/drawing/2014/main" id="{3FD133D6-D112-CF19-3B45-279C7F1D5343}"/>
              </a:ext>
            </a:extLst>
          </p:cNvPr>
          <p:cNvSpPr txBox="1"/>
          <p:nvPr/>
        </p:nvSpPr>
        <p:spPr>
          <a:xfrm>
            <a:off x="4888617" y="1715214"/>
            <a:ext cx="3181349" cy="246221"/>
          </a:xfrm>
          <a:prstGeom prst="rect">
            <a:avLst/>
          </a:prstGeom>
          <a:noFill/>
        </p:spPr>
        <p:txBody>
          <a:bodyPr wrap="square">
            <a:spAutoFit/>
          </a:bodyPr>
          <a:lstStyle/>
          <a:p>
            <a:r>
              <a:rPr lang="en-SG" sz="1000" b="1" u="sng" dirty="0"/>
              <a:t>Hierarchy of Baselines for Recommenders</a:t>
            </a:r>
          </a:p>
        </p:txBody>
      </p:sp>
      <p:graphicFrame>
        <p:nvGraphicFramePr>
          <p:cNvPr id="17" name="Table 16">
            <a:extLst>
              <a:ext uri="{FF2B5EF4-FFF2-40B4-BE49-F238E27FC236}">
                <a16:creationId xmlns:a16="http://schemas.microsoft.com/office/drawing/2014/main" id="{BC0EC9A6-0C4E-FA84-9042-067543E52BC7}"/>
              </a:ext>
            </a:extLst>
          </p:cNvPr>
          <p:cNvGraphicFramePr>
            <a:graphicFrameLocks noGrp="1"/>
          </p:cNvGraphicFramePr>
          <p:nvPr>
            <p:extLst>
              <p:ext uri="{D42A27DB-BD31-4B8C-83A1-F6EECF244321}">
                <p14:modId xmlns:p14="http://schemas.microsoft.com/office/powerpoint/2010/main" val="817360434"/>
              </p:ext>
            </p:extLst>
          </p:nvPr>
        </p:nvGraphicFramePr>
        <p:xfrm>
          <a:off x="218025" y="1961434"/>
          <a:ext cx="4642017" cy="4896567"/>
        </p:xfrm>
        <a:graphic>
          <a:graphicData uri="http://schemas.openxmlformats.org/drawingml/2006/table">
            <a:tbl>
              <a:tblPr firstRow="1" bandRow="1">
                <a:tableStyleId>{5C22544A-7EE6-4342-B048-85BDC9FD1C3A}</a:tableStyleId>
              </a:tblPr>
              <a:tblGrid>
                <a:gridCol w="1597870">
                  <a:extLst>
                    <a:ext uri="{9D8B030D-6E8A-4147-A177-3AD203B41FA5}">
                      <a16:colId xmlns:a16="http://schemas.microsoft.com/office/drawing/2014/main" val="2179503555"/>
                    </a:ext>
                  </a:extLst>
                </a:gridCol>
                <a:gridCol w="3044147">
                  <a:extLst>
                    <a:ext uri="{9D8B030D-6E8A-4147-A177-3AD203B41FA5}">
                      <a16:colId xmlns:a16="http://schemas.microsoft.com/office/drawing/2014/main" val="269056205"/>
                    </a:ext>
                  </a:extLst>
                </a:gridCol>
              </a:tblGrid>
              <a:tr h="300398">
                <a:tc>
                  <a:txBody>
                    <a:bodyPr/>
                    <a:lstStyle/>
                    <a:p>
                      <a:r>
                        <a:rPr lang="en-SG" sz="800" dirty="0">
                          <a:latin typeface="+mj-lt"/>
                        </a:rPr>
                        <a:t>Experiments Setup</a:t>
                      </a:r>
                    </a:p>
                  </a:txBody>
                  <a:tcPr/>
                </a:tc>
                <a:tc>
                  <a:txBody>
                    <a:bodyPr/>
                    <a:lstStyle/>
                    <a:p>
                      <a:r>
                        <a:rPr lang="en-SG" sz="800" dirty="0">
                          <a:latin typeface="+mj-lt"/>
                        </a:rPr>
                        <a:t>Description</a:t>
                      </a:r>
                    </a:p>
                  </a:txBody>
                  <a:tcPr/>
                </a:tc>
                <a:extLst>
                  <a:ext uri="{0D108BD9-81ED-4DB2-BD59-A6C34878D82A}">
                    <a16:rowId xmlns:a16="http://schemas.microsoft.com/office/drawing/2014/main" val="3663766056"/>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Time-based split (chronological, no leakage)</a:t>
                      </a:r>
                    </a:p>
                  </a:txBody>
                  <a:tcPr/>
                </a:tc>
                <a:tc>
                  <a:txBody>
                    <a:bodyPr/>
                    <a:lstStyle/>
                    <a:p>
                      <a:r>
                        <a:rPr lang="en-SG" sz="800" dirty="0">
                          <a:latin typeface="+mj-lt"/>
                        </a:rPr>
                        <a:t>For each user, use earliest interactions for </a:t>
                      </a:r>
                      <a:r>
                        <a:rPr lang="en-SG" sz="800" b="1" i="1" dirty="0">
                          <a:latin typeface="+mj-lt"/>
                        </a:rPr>
                        <a:t>`train`</a:t>
                      </a:r>
                      <a:r>
                        <a:rPr lang="en-SG" sz="800" dirty="0">
                          <a:latin typeface="+mj-lt"/>
                        </a:rPr>
                        <a:t>, second-latest for </a:t>
                      </a:r>
                      <a:r>
                        <a:rPr lang="en-SG" sz="800" b="1" i="1" dirty="0">
                          <a:latin typeface="+mj-lt"/>
                        </a:rPr>
                        <a:t>`validation`</a:t>
                      </a:r>
                      <a:r>
                        <a:rPr lang="en-SG" sz="800" dirty="0">
                          <a:latin typeface="+mj-lt"/>
                        </a:rPr>
                        <a:t>, latest for </a:t>
                      </a:r>
                      <a:r>
                        <a:rPr lang="en-SG" sz="800" b="1" i="1" dirty="0">
                          <a:latin typeface="+mj-lt"/>
                        </a:rPr>
                        <a:t>`test`</a:t>
                      </a:r>
                      <a:r>
                        <a:rPr lang="en-SG" sz="800" dirty="0">
                          <a:latin typeface="+mj-lt"/>
                        </a:rPr>
                        <a:t>.</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kern="1200" dirty="0">
                          <a:solidFill>
                            <a:schemeClr val="dk1"/>
                          </a:solidFill>
                          <a:latin typeface="+mn-lt"/>
                          <a:ea typeface="+mn-ea"/>
                          <a:cs typeface="+mn-cs"/>
                        </a:rPr>
                        <a:t>Prevent temporal leakage</a:t>
                      </a:r>
                      <a:r>
                        <a:rPr lang="en-SG" sz="800" kern="1200" dirty="0">
                          <a:solidFill>
                            <a:schemeClr val="dk1"/>
                          </a:solidFill>
                          <a:latin typeface="+mj-lt"/>
                          <a:ea typeface="+mn-ea"/>
                          <a:cs typeface="+mn-cs"/>
                        </a:rPr>
                        <a:t>.</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99583526"/>
                  </a:ext>
                </a:extLst>
              </a:tr>
              <a:tr h="151225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Train/Val/Test proportions</a:t>
                      </a:r>
                    </a:p>
                  </a:txBody>
                  <a:tcPr/>
                </a:tc>
                <a:tc>
                  <a:txBody>
                    <a:bodyPr/>
                    <a:lstStyle/>
                    <a:p>
                      <a:r>
                        <a:rPr lang="en-SG" sz="800" dirty="0">
                          <a:latin typeface="+mj-lt"/>
                        </a:rPr>
                        <a:t>User-level chronological holdout:</a:t>
                      </a:r>
                    </a:p>
                    <a:p>
                      <a:pPr marL="171450" indent="-171450">
                        <a:buFont typeface="Wingdings" panose="05000000000000000000" pitchFamily="2" charset="2"/>
                        <a:buChar char="Ø"/>
                      </a:pPr>
                      <a:r>
                        <a:rPr lang="en-SG" sz="800" b="1" i="1" dirty="0">
                          <a:latin typeface="+mj-lt"/>
                        </a:rPr>
                        <a:t>`train:` </a:t>
                      </a:r>
                      <a:r>
                        <a:rPr lang="en-SG" sz="800" dirty="0">
                          <a:latin typeface="+mj-lt"/>
                        </a:rPr>
                        <a:t>all interactions except the latest two</a:t>
                      </a:r>
                    </a:p>
                    <a:p>
                      <a:pPr marL="171450" indent="-171450">
                        <a:buFont typeface="Wingdings" panose="05000000000000000000" pitchFamily="2" charset="2"/>
                        <a:buChar char="Ø"/>
                      </a:pPr>
                      <a:r>
                        <a:rPr lang="en-SG" sz="800" b="1" i="1" dirty="0">
                          <a:latin typeface="+mj-lt"/>
                        </a:rPr>
                        <a:t>`validation:`</a:t>
                      </a:r>
                      <a:r>
                        <a:rPr lang="en-SG" sz="800" dirty="0">
                          <a:latin typeface="+mj-lt"/>
                        </a:rPr>
                        <a:t> the second-latest interaction</a:t>
                      </a:r>
                    </a:p>
                    <a:p>
                      <a:pPr marL="171450" indent="-171450">
                        <a:buFont typeface="Wingdings" panose="05000000000000000000" pitchFamily="2" charset="2"/>
                        <a:buChar char="Ø"/>
                      </a:pPr>
                      <a:r>
                        <a:rPr lang="en-SG" sz="800" b="1" i="1" dirty="0">
                          <a:latin typeface="+mj-lt"/>
                        </a:rPr>
                        <a:t>`test:`</a:t>
                      </a:r>
                      <a:r>
                        <a:rPr lang="en-SG" sz="800" dirty="0">
                          <a:latin typeface="+mj-lt"/>
                        </a:rPr>
                        <a:t> the latest interaction</a:t>
                      </a:r>
                    </a:p>
                    <a:p>
                      <a:pPr marL="171450" indent="-171450">
                        <a:buFont typeface="Wingdings" panose="05000000000000000000" pitchFamily="2" charset="2"/>
                        <a:buChar char="Ø"/>
                      </a:pPr>
                      <a:r>
                        <a:rPr lang="en-SG" sz="800" dirty="0">
                          <a:latin typeface="+mj-lt"/>
                        </a:rPr>
                        <a:t>users with fewer than 3 interactions are excluded from ranking evaluation</a:t>
                      </a:r>
                    </a:p>
                    <a:p>
                      <a:pPr marL="0" indent="0">
                        <a:buFont typeface="Wingdings" panose="05000000000000000000" pitchFamily="2" charset="2"/>
                        <a:buNone/>
                      </a:pPr>
                      <a:endParaRPr lang="en-SG" sz="800" dirty="0">
                        <a:latin typeface="+mj-lt"/>
                      </a:endParaRPr>
                    </a:p>
                    <a:p>
                      <a:pPr marL="0" indent="0">
                        <a:buFont typeface="Wingdings" panose="05000000000000000000" pitchFamily="2" charset="2"/>
                        <a:buNone/>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Next-item prediction protocol.</a:t>
                      </a:r>
                      <a:endParaRPr lang="en-SG" sz="800" dirty="0">
                        <a:latin typeface="+mj-lt"/>
                      </a:endParaRPr>
                    </a:p>
                  </a:txBody>
                  <a:tcPr/>
                </a:tc>
                <a:extLst>
                  <a:ext uri="{0D108BD9-81ED-4DB2-BD59-A6C34878D82A}">
                    <a16:rowId xmlns:a16="http://schemas.microsoft.com/office/drawing/2014/main" val="2904777083"/>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Implicit feedback setting</a:t>
                      </a:r>
                    </a:p>
                  </a:txBody>
                  <a:tcPr/>
                </a:tc>
                <a:tc>
                  <a:txBody>
                    <a:bodyPr/>
                    <a:lstStyle/>
                    <a:p>
                      <a:r>
                        <a:rPr lang="en-SG" sz="800" dirty="0">
                          <a:latin typeface="+mj-lt"/>
                        </a:rPr>
                        <a:t>We model observed transactions as positive interaction signals </a:t>
                      </a:r>
                      <a:r>
                        <a:rPr kumimoji="0" lang="en-SG" sz="800" b="0" i="0" u="none" strike="noStrike" kern="1200" cap="none" spc="0" normalizeH="0" baseline="0" noProof="0" dirty="0">
                          <a:ln>
                            <a:noFill/>
                          </a:ln>
                          <a:solidFill>
                            <a:prstClr val="black"/>
                          </a:solidFill>
                          <a:effectLst/>
                          <a:uLnTx/>
                          <a:uFillTx/>
                          <a:latin typeface="+mn-lt"/>
                          <a:ea typeface="+mn-ea"/>
                          <a:cs typeface="+mn-cs"/>
                        </a:rPr>
                        <a:t>(purchase events)</a:t>
                      </a:r>
                      <a:r>
                        <a:rPr lang="en-SG" sz="800" dirty="0">
                          <a:latin typeface="+mj-lt"/>
                        </a:rPr>
                        <a:t>, with no explicit rating scale (e.g., 1-5).</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No explicit ratings available.</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42296864"/>
                  </a:ext>
                </a:extLst>
              </a:tr>
              <a:tr h="7312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Interaction matrix construction</a:t>
                      </a:r>
                    </a:p>
                  </a:txBody>
                  <a:tcPr/>
                </a:tc>
                <a:tc>
                  <a:txBody>
                    <a:bodyPr/>
                    <a:lstStyle/>
                    <a:p>
                      <a:r>
                        <a:rPr lang="en-SG" sz="800" dirty="0">
                          <a:latin typeface="+mj-lt"/>
                        </a:rPr>
                        <a:t>Build a sparse user-item binary matrix from </a:t>
                      </a:r>
                      <a:r>
                        <a:rPr lang="en-SG" sz="800" b="1" i="1" dirty="0">
                          <a:latin typeface="+mj-lt"/>
                        </a:rPr>
                        <a:t>`train`</a:t>
                      </a:r>
                      <a:r>
                        <a:rPr lang="en-SG" sz="800" dirty="0">
                          <a:latin typeface="+mj-lt"/>
                        </a:rPr>
                        <a:t> interactions only; this becomes the core input for MF/two-tower retrieval.</a:t>
                      </a:r>
                    </a:p>
                    <a:p>
                      <a:endParaRPr lang="en-SG" sz="800" dirty="0">
                        <a:latin typeface="+mj-lt"/>
                      </a:endParaRPr>
                    </a:p>
                  </a:txBody>
                  <a:tcPr/>
                </a:tc>
                <a:extLst>
                  <a:ext uri="{0D108BD9-81ED-4DB2-BD59-A6C34878D82A}">
                    <a16:rowId xmlns:a16="http://schemas.microsoft.com/office/drawing/2014/main" val="958386671"/>
                  </a:ext>
                </a:extLst>
              </a:tr>
              <a:tr h="57227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Evaluation protocol</a:t>
                      </a:r>
                    </a:p>
                  </a:txBody>
                  <a:tcPr/>
                </a:tc>
                <a:tc>
                  <a:txBody>
                    <a:bodyPr/>
                    <a:lstStyle/>
                    <a:p>
                      <a:r>
                        <a:rPr lang="en-SG" sz="800" dirty="0">
                          <a:latin typeface="+mj-lt"/>
                        </a:rPr>
                        <a:t>Compare </a:t>
                      </a:r>
                      <a:r>
                        <a:rPr lang="en-SG" sz="800" b="1" i="1" dirty="0">
                          <a:latin typeface="+mj-lt"/>
                        </a:rPr>
                        <a:t>`popularity`, `MF`, `Two-Tower`</a:t>
                      </a:r>
                      <a:r>
                        <a:rPr lang="en-SG" sz="800" dirty="0">
                          <a:latin typeface="+mj-lt"/>
                        </a:rPr>
                        <a:t>; select by validation </a:t>
                      </a:r>
                      <a:r>
                        <a:rPr lang="en-SG" sz="800" b="1" i="1" dirty="0">
                          <a:latin typeface="+mj-lt"/>
                        </a:rPr>
                        <a:t>`Recall@20`</a:t>
                      </a:r>
                      <a:r>
                        <a:rPr lang="en-SG" sz="800" dirty="0">
                          <a:latin typeface="+mj-lt"/>
                        </a:rPr>
                        <a:t>, report final test metrics at </a:t>
                      </a:r>
                      <a:r>
                        <a:rPr lang="en-SG" sz="800" b="1" i="1" dirty="0">
                          <a:latin typeface="+mj-lt"/>
                        </a:rPr>
                        <a:t>`K={10,20}` candidates</a:t>
                      </a:r>
                    </a:p>
                  </a:txBody>
                  <a:tcPr/>
                </a:tc>
                <a:extLst>
                  <a:ext uri="{0D108BD9-81ED-4DB2-BD59-A6C34878D82A}">
                    <a16:rowId xmlns:a16="http://schemas.microsoft.com/office/drawing/2014/main" val="3672692947"/>
                  </a:ext>
                </a:extLst>
              </a:tr>
            </a:tbl>
          </a:graphicData>
        </a:graphic>
      </p:graphicFrame>
      <p:graphicFrame>
        <p:nvGraphicFramePr>
          <p:cNvPr id="18" name="Table 17">
            <a:extLst>
              <a:ext uri="{FF2B5EF4-FFF2-40B4-BE49-F238E27FC236}">
                <a16:creationId xmlns:a16="http://schemas.microsoft.com/office/drawing/2014/main" id="{25310CFA-6757-94ED-72B4-5D5429256EB0}"/>
              </a:ext>
            </a:extLst>
          </p:cNvPr>
          <p:cNvGraphicFramePr>
            <a:graphicFrameLocks noGrp="1"/>
          </p:cNvGraphicFramePr>
          <p:nvPr>
            <p:extLst>
              <p:ext uri="{D42A27DB-BD31-4B8C-83A1-F6EECF244321}">
                <p14:modId xmlns:p14="http://schemas.microsoft.com/office/powerpoint/2010/main" val="1386332091"/>
              </p:ext>
            </p:extLst>
          </p:nvPr>
        </p:nvGraphicFramePr>
        <p:xfrm>
          <a:off x="4955292" y="3167416"/>
          <a:ext cx="7135150" cy="3662632"/>
        </p:xfrm>
        <a:graphic>
          <a:graphicData uri="http://schemas.openxmlformats.org/drawingml/2006/table">
            <a:tbl>
              <a:tblPr firstRow="1" bandRow="1">
                <a:tableStyleId>{5C22544A-7EE6-4342-B048-85BDC9FD1C3A}</a:tableStyleId>
              </a:tblPr>
              <a:tblGrid>
                <a:gridCol w="931158">
                  <a:extLst>
                    <a:ext uri="{9D8B030D-6E8A-4147-A177-3AD203B41FA5}">
                      <a16:colId xmlns:a16="http://schemas.microsoft.com/office/drawing/2014/main" val="2179503555"/>
                    </a:ext>
                  </a:extLst>
                </a:gridCol>
                <a:gridCol w="6203992">
                  <a:extLst>
                    <a:ext uri="{9D8B030D-6E8A-4147-A177-3AD203B41FA5}">
                      <a16:colId xmlns:a16="http://schemas.microsoft.com/office/drawing/2014/main" val="269056205"/>
                    </a:ext>
                  </a:extLst>
                </a:gridCol>
              </a:tblGrid>
              <a:tr h="362630">
                <a:tc>
                  <a:txBody>
                    <a:bodyPr/>
                    <a:lstStyle/>
                    <a:p>
                      <a:r>
                        <a:rPr lang="en-SG" sz="800" dirty="0">
                          <a:latin typeface="+mj-lt"/>
                        </a:rPr>
                        <a:t>Model Baseline</a:t>
                      </a:r>
                    </a:p>
                  </a:txBody>
                  <a:tcPr/>
                </a:tc>
                <a:tc>
                  <a:txBody>
                    <a:bodyPr/>
                    <a:lstStyle/>
                    <a:p>
                      <a:r>
                        <a:rPr lang="en-SG" sz="800" dirty="0">
                          <a:latin typeface="+mj-lt"/>
                        </a:rPr>
                        <a:t>Model Design &amp; Convergence Policy</a:t>
                      </a:r>
                    </a:p>
                  </a:txBody>
                  <a:tcPr/>
                </a:tc>
                <a:extLst>
                  <a:ext uri="{0D108BD9-81ED-4DB2-BD59-A6C34878D82A}">
                    <a16:rowId xmlns:a16="http://schemas.microsoft.com/office/drawing/2014/main" val="3663766056"/>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Architecture: </a:t>
                      </a:r>
                      <a:r>
                        <a:rPr lang="en-SG" sz="800" dirty="0"/>
                        <a:t>Embedding-only dual encoder (no hidden layers).</a:t>
                      </a:r>
                      <a:endParaRPr lang="en-SG" sz="800" dirty="0">
                        <a:latin typeface="+mj-lt"/>
                      </a:endParaRPr>
                    </a:p>
                    <a:p>
                      <a:r>
                        <a:rPr lang="en-SG" sz="800" b="1" dirty="0">
                          <a:latin typeface="+mj-lt"/>
                        </a:rPr>
                        <a:t>Why: </a:t>
                      </a:r>
                      <a:r>
                        <a:rPr lang="en-SG" sz="800" dirty="0">
                          <a:latin typeface="+mj-lt"/>
                        </a:rPr>
                        <a:t>No justification to increase complexity with hidden layers.</a:t>
                      </a:r>
                    </a:p>
                  </a:txBody>
                  <a:tcPr/>
                </a:tc>
                <a:extLst>
                  <a:ext uri="{0D108BD9-81ED-4DB2-BD59-A6C34878D82A}">
                    <a16:rowId xmlns:a16="http://schemas.microsoft.com/office/drawing/2014/main" val="3699583526"/>
                  </a:ext>
                </a:extLst>
              </a:tr>
              <a:tr h="7582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Scoring Function: </a:t>
                      </a:r>
                      <a:r>
                        <a:rPr lang="en-SG" sz="800" dirty="0"/>
                        <a:t>Dot-product retrieval with L2-normalized embeddings (cosine-style), temperature-scaled logits.</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Stable default with cosine similarity ranking, better optimization control.</a:t>
                      </a:r>
                    </a:p>
                    <a:p>
                      <a:r>
                        <a:rPr lang="en-SG" sz="800" b="1" i="1" kern="1200" dirty="0">
                          <a:solidFill>
                            <a:schemeClr val="dk1"/>
                          </a:solidFill>
                          <a:latin typeface="+mn-lt"/>
                          <a:ea typeface="+mn-ea"/>
                          <a:cs typeface="+mn-cs"/>
                        </a:rPr>
                        <a:t>`temperature` </a:t>
                      </a:r>
                      <a:r>
                        <a:rPr lang="en-SG" sz="800" b="1" i="0" kern="1200" dirty="0">
                          <a:solidFill>
                            <a:schemeClr val="dk1"/>
                          </a:solidFill>
                          <a:latin typeface="+mn-lt"/>
                          <a:ea typeface="+mn-ea"/>
                          <a:cs typeface="+mn-cs"/>
                        </a:rPr>
                        <a:t>(during training)</a:t>
                      </a:r>
                      <a:r>
                        <a:rPr lang="en-SG" sz="800" b="0" kern="1200" dirty="0">
                          <a:solidFill>
                            <a:schemeClr val="dk1"/>
                          </a:solidFill>
                          <a:latin typeface="+mn-lt"/>
                          <a:ea typeface="+mn-ea"/>
                          <a:cs typeface="+mn-cs"/>
                        </a:rPr>
                        <a:t> rescales logits by </a:t>
                      </a:r>
                      <a:r>
                        <a:rPr lang="en-SG" sz="800" b="1" i="1" kern="1200" dirty="0">
                          <a:solidFill>
                            <a:schemeClr val="dk1"/>
                          </a:solidFill>
                          <a:latin typeface="+mn-lt"/>
                          <a:ea typeface="+mn-ea"/>
                          <a:cs typeface="+mn-cs"/>
                        </a:rPr>
                        <a:t>`1/T`</a:t>
                      </a:r>
                      <a:r>
                        <a:rPr lang="en-SG" sz="800" b="0" kern="1200" dirty="0">
                          <a:solidFill>
                            <a:schemeClr val="dk1"/>
                          </a:solidFill>
                          <a:latin typeface="+mn-lt"/>
                          <a:ea typeface="+mn-ea"/>
                          <a:cs typeface="+mn-cs"/>
                        </a:rPr>
                        <a:t> before softmax. Low (high) temperature sharpen (flatten) the softmax probability distribution to amplify (dampen) probability score differences to get stronger (weaker) separation between positives and negatives. There is no temperature control at serving or evaluation.</a:t>
                      </a:r>
                      <a:endParaRPr lang="en-SG" sz="800" b="0" dirty="0">
                        <a:latin typeface="+mj-lt"/>
                      </a:endParaRPr>
                    </a:p>
                  </a:txBody>
                  <a:tcPr/>
                </a:tc>
                <a:extLst>
                  <a:ext uri="{0D108BD9-81ED-4DB2-BD59-A6C34878D82A}">
                    <a16:rowId xmlns:a16="http://schemas.microsoft.com/office/drawing/2014/main" val="2904777083"/>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Negative Strategy: </a:t>
                      </a:r>
                      <a:r>
                        <a:rPr lang="en-SG" sz="800" dirty="0"/>
                        <a:t>In-batch negatives + globally sampled random negative.</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Stronger contrastive signal without heavy complexity.</a:t>
                      </a:r>
                      <a:endParaRPr lang="en-SG" sz="800" b="0" dirty="0">
                        <a:latin typeface="+mj-lt"/>
                      </a:endParaRPr>
                    </a:p>
                  </a:txBody>
                  <a:tcPr/>
                </a:tc>
                <a:extLst>
                  <a:ext uri="{0D108BD9-81ED-4DB2-BD59-A6C34878D82A}">
                    <a16:rowId xmlns:a16="http://schemas.microsoft.com/office/drawing/2014/main" val="3642296864"/>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Loss Function Objectives: </a:t>
                      </a:r>
                      <a:r>
                        <a:rPr lang="en-SG" sz="800" dirty="0"/>
                        <a:t>Cross-entropy over positive item vs in-batch/sampled negatives (maximize separation for retrieval ranking).</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Standard retrieval objective, directly optimizes ranking separation.</a:t>
                      </a:r>
                      <a:endParaRPr lang="en-SG" sz="800" b="0" dirty="0">
                        <a:latin typeface="+mj-lt"/>
                      </a:endParaRPr>
                    </a:p>
                  </a:txBody>
                  <a:tcPr/>
                </a:tc>
                <a:extLst>
                  <a:ext uri="{0D108BD9-81ED-4DB2-BD59-A6C34878D82A}">
                    <a16:rowId xmlns:a16="http://schemas.microsoft.com/office/drawing/2014/main" val="958386671"/>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Convergence Control:</a:t>
                      </a:r>
                      <a:r>
                        <a:rPr lang="en-SG" sz="800" dirty="0"/>
                        <a:t> early stopping on validation </a:t>
                      </a:r>
                      <a:r>
                        <a:rPr lang="en-SG" sz="800" b="1" dirty="0"/>
                        <a:t>1)</a:t>
                      </a:r>
                      <a:r>
                        <a:rPr lang="en-SG" sz="800" b="1" i="1" dirty="0"/>
                        <a:t>`Recall@20` if stop improving on few iterations or 2) maximum iterations.</a:t>
                      </a:r>
                      <a:endParaRPr lang="en-SG" sz="800" b="1" i="1" u="sng" dirty="0"/>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Aligns stopping rule to business-facing retrieval metric (recall).</a:t>
                      </a:r>
                      <a:endParaRPr lang="en-SG" sz="800" b="0" i="1" u="sng" dirty="0"/>
                    </a:p>
                  </a:txBody>
                  <a:tcPr/>
                </a:tc>
                <a:extLst>
                  <a:ext uri="{0D108BD9-81ED-4DB2-BD59-A6C34878D82A}">
                    <a16:rowId xmlns:a16="http://schemas.microsoft.com/office/drawing/2014/main" val="961452546"/>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Popularity</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Rank by global item interaction frequency (log1p transform).</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Fast heuristic floor; sanity check above random. </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1" u="none" dirty="0"/>
                        <a:t>`log1p(c)`</a:t>
                      </a:r>
                      <a:r>
                        <a:rPr lang="en-SG" sz="800" b="0" i="0" u="none" dirty="0"/>
                        <a:t> transforms item count </a:t>
                      </a:r>
                      <a:r>
                        <a:rPr lang="en-SG" sz="800" b="1" i="1" u="none" dirty="0"/>
                        <a:t>`c`</a:t>
                      </a:r>
                      <a:r>
                        <a:rPr lang="en-SG" sz="800" b="0" i="0" u="none" dirty="0"/>
                        <a:t> to </a:t>
                      </a:r>
                      <a:r>
                        <a:rPr lang="en-SG" sz="800" b="1" i="1" u="none" dirty="0"/>
                        <a:t>`log(1 + c)`</a:t>
                      </a:r>
                      <a:r>
                        <a:rPr lang="en-SG" sz="800" b="0" i="0" u="none" dirty="0"/>
                        <a:t>, reducing skew to limit impact of popular items dominating rankings.</a:t>
                      </a:r>
                      <a:endParaRPr lang="en-SG" sz="800" b="1" i="1" u="none" dirty="0"/>
                    </a:p>
                  </a:txBody>
                  <a:tcPr/>
                </a:tc>
                <a:extLst>
                  <a:ext uri="{0D108BD9-81ED-4DB2-BD59-A6C34878D82A}">
                    <a16:rowId xmlns:a16="http://schemas.microsoft.com/office/drawing/2014/main" val="3662575616"/>
                  </a:ext>
                </a:extLst>
              </a:tr>
              <a:tr h="3703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MF</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TruncatedSVD on train-only implicit user-item matrix (TF-IDF weighting) then normalized cosine-similarity style.</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Strong classical collaborative-filtering benchmark. </a:t>
                      </a:r>
                      <a:r>
                        <a:rPr lang="en-SG" sz="800" b="1" i="0" u="none" dirty="0"/>
                        <a:t>TF-IDF </a:t>
                      </a:r>
                      <a:r>
                        <a:rPr lang="en-SG" sz="800" b="0" i="0" u="none" dirty="0"/>
                        <a:t>lets rarer items get higher weights to reduce popularity bias.</a:t>
                      </a:r>
                      <a:r>
                        <a:rPr lang="en-SG" sz="800" b="1" i="0" u="none" dirty="0"/>
                        <a:t> </a:t>
                      </a:r>
                      <a:endParaRPr lang="en-SG" sz="800" b="0" i="0" u="none" dirty="0"/>
                    </a:p>
                  </a:txBody>
                  <a:tcPr/>
                </a:tc>
                <a:extLst>
                  <a:ext uri="{0D108BD9-81ED-4DB2-BD59-A6C34878D82A}">
                    <a16:rowId xmlns:a16="http://schemas.microsoft.com/office/drawing/2014/main" val="136168750"/>
                  </a:ext>
                </a:extLst>
              </a:tr>
            </a:tbl>
          </a:graphicData>
        </a:graphic>
      </p:graphicFrame>
    </p:spTree>
    <p:extLst>
      <p:ext uri="{BB962C8B-B14F-4D97-AF65-F5344CB8AC3E}">
        <p14:creationId xmlns:p14="http://schemas.microsoft.com/office/powerpoint/2010/main" val="39772547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FBC4D-24EF-3B7F-8E95-F6C32159DC0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365481F-DA3D-7105-DDBB-8F93499DC852}"/>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Scoring Mechanics)</a:t>
            </a:r>
          </a:p>
        </p:txBody>
      </p: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1D7EC224-8D80-A7FE-79C2-55BC8616EB70}"/>
                  </a:ext>
                </a:extLst>
              </p:cNvPr>
              <p:cNvSpPr txBox="1"/>
              <p:nvPr/>
            </p:nvSpPr>
            <p:spPr>
              <a:xfrm>
                <a:off x="2739380" y="1844040"/>
                <a:ext cx="1908820" cy="2704908"/>
              </a:xfrm>
              <a:prstGeom prst="rect">
                <a:avLst/>
              </a:prstGeom>
              <a:solidFill>
                <a:schemeClr val="accent6">
                  <a:lumMod val="20000"/>
                  <a:lumOff val="80000"/>
                </a:schemeClr>
              </a:solidFill>
            </p:spPr>
            <p:txBody>
              <a:bodyPr wrap="square">
                <a:spAutoFit/>
              </a:bodyPr>
              <a:lstStyle/>
              <a:p>
                <a:r>
                  <a:rPr lang="en-SG" sz="1000" b="1" u="sng" dirty="0"/>
                  <a:t>Popularity</a:t>
                </a:r>
              </a:p>
              <a:p>
                <a:endParaRPr lang="en-SG" sz="1000" b="1" i="1" u="sng" dirty="0">
                  <a:latin typeface="Cambria Math" panose="02040503050406030204" pitchFamily="18" charset="0"/>
                </a:endParaRPr>
              </a:p>
              <a:p>
                <a:r>
                  <a:rPr lang="en-SG" sz="1000" b="1" dirty="0"/>
                  <a:t>Core Idea</a:t>
                </a:r>
              </a:p>
              <a:p>
                <a:r>
                  <a:rPr lang="en-SG" sz="1000" dirty="0"/>
                  <a:t>Global ranking based on item frequency.</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i="1">
                          <a:latin typeface="Cambria Math" panose="02040503050406030204" pitchFamily="18" charset="0"/>
                        </a:rPr>
                        <m:t>𝑖</m:t>
                      </m:r>
                      <m:r>
                        <a:rPr lang="en-SG" sz="1000" i="1">
                          <a:latin typeface="Cambria Math" panose="02040503050406030204" pitchFamily="18" charset="0"/>
                        </a:rPr>
                        <m:t>)=</m:t>
                      </m:r>
                      <m:r>
                        <a:rPr lang="en-SG" sz="1000" i="1">
                          <a:latin typeface="Cambria Math" panose="02040503050406030204" pitchFamily="18" charset="0"/>
                        </a:rPr>
                        <m:t>𝑙𝑜𝑔</m:t>
                      </m:r>
                      <m:r>
                        <a:rPr lang="en-SG" sz="1000" i="1">
                          <a:latin typeface="Cambria Math" panose="02040503050406030204" pitchFamily="18" charset="0"/>
                        </a:rPr>
                        <m:t>(1+</m:t>
                      </m:r>
                      <m:sSub>
                        <m:sSubPr>
                          <m:ctrlPr>
                            <a:rPr lang="en-SG" sz="1000" i="1">
                              <a:latin typeface="Cambria Math" panose="02040503050406030204" pitchFamily="18" charset="0"/>
                            </a:rPr>
                          </m:ctrlPr>
                        </m:sSubPr>
                        <m:e>
                          <m:r>
                            <a:rPr lang="en-SG" sz="1000" i="1">
                              <a:latin typeface="Cambria Math" panose="02040503050406030204" pitchFamily="18" charset="0"/>
                            </a:rPr>
                            <m:t>𝑖𝑛𝑡𝑒𝑟𝑎𝑐𝑡𝑖𝑜𝑛</m:t>
                          </m:r>
                          <m:r>
                            <a:rPr lang="en-SG" sz="1000" i="1">
                              <a:latin typeface="Cambria Math" panose="02040503050406030204" pitchFamily="18" charset="0"/>
                            </a:rPr>
                            <m:t>_</m:t>
                          </m:r>
                          <m:r>
                            <a:rPr lang="en-SG" sz="1000" i="1">
                              <a:latin typeface="Cambria Math" panose="02040503050406030204" pitchFamily="18" charset="0"/>
                            </a:rPr>
                            <m:t>𝑐𝑜𝑢𝑛𝑡</m:t>
                          </m:r>
                        </m:e>
                        <m:sub>
                          <m:r>
                            <a:rPr lang="en-SG" sz="1000" i="1">
                              <a:latin typeface="Cambria Math" panose="02040503050406030204" pitchFamily="18" charset="0"/>
                            </a:rPr>
                            <m:t>𝑖</m:t>
                          </m:r>
                        </m:sub>
                      </m:sSub>
                      <m:r>
                        <a:rPr lang="en-SG" sz="1000" i="1">
                          <a:latin typeface="Cambria Math" panose="02040503050406030204" pitchFamily="18" charset="0"/>
                        </a:rPr>
                        <m:t>​)</m:t>
                      </m:r>
                    </m:oMath>
                  </m:oMathPara>
                </a14:m>
                <a:endParaRPr lang="en-SG" sz="1000" b="1" dirty="0"/>
              </a:p>
              <a:p>
                <a:pPr/>
                <a:endParaRPr lang="en-SG" sz="1000" dirty="0"/>
              </a:p>
              <a:p>
                <a:pPr/>
                <a:r>
                  <a:rPr lang="en-SG" sz="1000" b="1" dirty="0"/>
                  <a:t>What This Means</a:t>
                </a:r>
              </a:p>
              <a:p>
                <a:pPr/>
                <a:r>
                  <a:rPr lang="en-SG" sz="1000" dirty="0"/>
                  <a:t>Rate item popularity globally.</a:t>
                </a:r>
              </a:p>
              <a:p>
                <a:pPr/>
                <a:endParaRPr lang="en-SG" sz="1000" b="1" dirty="0"/>
              </a:p>
              <a:p>
                <a:pPr/>
                <a:r>
                  <a:rPr lang="en-SG" sz="1000" b="1" dirty="0"/>
                  <a:t>Key Limitation</a:t>
                </a:r>
              </a:p>
              <a:p>
                <a:r>
                  <a:rPr lang="en-SG" sz="1000" dirty="0"/>
                  <a:t>No personalization (global ranking only).</a:t>
                </a:r>
              </a:p>
            </p:txBody>
          </p:sp>
        </mc:Choice>
        <mc:Fallback>
          <p:sp>
            <p:nvSpPr>
              <p:cNvPr id="11" name="TextBox 10">
                <a:extLst>
                  <a:ext uri="{FF2B5EF4-FFF2-40B4-BE49-F238E27FC236}">
                    <a16:creationId xmlns:a16="http://schemas.microsoft.com/office/drawing/2014/main" id="{1D7EC224-8D80-A7FE-79C2-55BC8616EB70}"/>
                  </a:ext>
                </a:extLst>
              </p:cNvPr>
              <p:cNvSpPr txBox="1">
                <a:spLocks noRot="1" noChangeAspect="1" noMove="1" noResize="1" noEditPoints="1" noAdjustHandles="1" noChangeArrowheads="1" noChangeShapeType="1" noTextEdit="1"/>
              </p:cNvSpPr>
              <p:nvPr/>
            </p:nvSpPr>
            <p:spPr>
              <a:xfrm>
                <a:off x="2739380" y="1844040"/>
                <a:ext cx="1908820" cy="2704908"/>
              </a:xfrm>
              <a:prstGeom prst="rect">
                <a:avLst/>
              </a:prstGeom>
              <a:blipFill>
                <a:blip r:embed="rId2"/>
                <a:stretch>
                  <a:fillRect b="-451"/>
                </a:stretch>
              </a:blipFill>
            </p:spPr>
            <p:txBody>
              <a:bodyPr/>
              <a:lstStyle/>
              <a:p>
                <a:r>
                  <a:rPr lang="en-SG">
                    <a:noFill/>
                  </a:rPr>
                  <a:t> </a:t>
                </a:r>
              </a:p>
            </p:txBody>
          </p:sp>
        </mc:Fallback>
      </mc:AlternateContent>
      <p:graphicFrame>
        <p:nvGraphicFramePr>
          <p:cNvPr id="13" name="Table 12">
            <a:extLst>
              <a:ext uri="{FF2B5EF4-FFF2-40B4-BE49-F238E27FC236}">
                <a16:creationId xmlns:a16="http://schemas.microsoft.com/office/drawing/2014/main" id="{DB3F428C-4313-B78F-4545-E859918663BB}"/>
              </a:ext>
            </a:extLst>
          </p:cNvPr>
          <p:cNvGraphicFramePr>
            <a:graphicFrameLocks noGrp="1"/>
          </p:cNvGraphicFramePr>
          <p:nvPr>
            <p:extLst>
              <p:ext uri="{D42A27DB-BD31-4B8C-83A1-F6EECF244321}">
                <p14:modId xmlns:p14="http://schemas.microsoft.com/office/powerpoint/2010/main" val="3003203820"/>
              </p:ext>
            </p:extLst>
          </p:nvPr>
        </p:nvGraphicFramePr>
        <p:xfrm>
          <a:off x="176358" y="4829175"/>
          <a:ext cx="4471842" cy="1798320"/>
        </p:xfrm>
        <a:graphic>
          <a:graphicData uri="http://schemas.openxmlformats.org/drawingml/2006/table">
            <a:tbl>
              <a:tblPr firstRow="1" bandRow="1">
                <a:tableStyleId>{5C22544A-7EE6-4342-B048-85BDC9FD1C3A}</a:tableStyleId>
              </a:tblPr>
              <a:tblGrid>
                <a:gridCol w="1490614">
                  <a:extLst>
                    <a:ext uri="{9D8B030D-6E8A-4147-A177-3AD203B41FA5}">
                      <a16:colId xmlns:a16="http://schemas.microsoft.com/office/drawing/2014/main" val="4060743706"/>
                    </a:ext>
                  </a:extLst>
                </a:gridCol>
                <a:gridCol w="1490614">
                  <a:extLst>
                    <a:ext uri="{9D8B030D-6E8A-4147-A177-3AD203B41FA5}">
                      <a16:colId xmlns:a16="http://schemas.microsoft.com/office/drawing/2014/main" val="515727559"/>
                    </a:ext>
                  </a:extLst>
                </a:gridCol>
                <a:gridCol w="1490614">
                  <a:extLst>
                    <a:ext uri="{9D8B030D-6E8A-4147-A177-3AD203B41FA5}">
                      <a16:colId xmlns:a16="http://schemas.microsoft.com/office/drawing/2014/main" val="3264573054"/>
                    </a:ext>
                  </a:extLst>
                </a:gridCol>
              </a:tblGrid>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Models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Representation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Personalization; User-Level Parameter Learning</a:t>
                      </a:r>
                    </a:p>
                  </a:txBody>
                  <a:tcPr/>
                </a:tc>
                <a:extLst>
                  <a:ext uri="{0D108BD9-81ED-4DB2-BD59-A6C34878D82A}">
                    <a16:rowId xmlns:a16="http://schemas.microsoft.com/office/drawing/2014/main" val="2152344009"/>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Zero-information No-preference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3871482802"/>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Global interaction count ranking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133472287"/>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Low-rank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Matrix factorization</a:t>
                      </a:r>
                    </a:p>
                  </a:txBody>
                  <a:tcPr/>
                </a:tc>
                <a:extLst>
                  <a:ext uri="{0D108BD9-81ED-4DB2-BD59-A6C34878D82A}">
                    <a16:rowId xmlns:a16="http://schemas.microsoft.com/office/drawing/2014/main" val="3699107035"/>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Neural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Supervised contrastive neural training</a:t>
                      </a:r>
                    </a:p>
                  </a:txBody>
                  <a:tcPr/>
                </a:tc>
                <a:extLst>
                  <a:ext uri="{0D108BD9-81ED-4DB2-BD59-A6C34878D82A}">
                    <a16:rowId xmlns:a16="http://schemas.microsoft.com/office/drawing/2014/main" val="786766233"/>
                  </a:ext>
                </a:extLst>
              </a:tr>
            </a:tbl>
          </a:graphicData>
        </a:graphic>
      </p:graphicFrame>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287EB407-9A19-5C20-3542-FAC00F9F2D80}"/>
                  </a:ext>
                </a:extLst>
              </p:cNvPr>
              <p:cNvSpPr txBox="1"/>
              <p:nvPr/>
            </p:nvSpPr>
            <p:spPr>
              <a:xfrm>
                <a:off x="4757647" y="1844040"/>
                <a:ext cx="3406040" cy="4862870"/>
              </a:xfrm>
              <a:prstGeom prst="rect">
                <a:avLst/>
              </a:prstGeom>
              <a:solidFill>
                <a:schemeClr val="accent6">
                  <a:lumMod val="20000"/>
                  <a:lumOff val="80000"/>
                </a:schemeClr>
              </a:solidFill>
            </p:spPr>
            <p:txBody>
              <a:bodyPr wrap="square">
                <a:spAutoFit/>
              </a:bodyPr>
              <a:lstStyle/>
              <a:p>
                <a:r>
                  <a:rPr lang="en-SG" sz="1000" b="1" u="sng" dirty="0"/>
                  <a:t>Matrix Factorization (MF); Latent Collaborative Filtering (CF)</a:t>
                </a:r>
              </a:p>
              <a:p>
                <a:endParaRPr lang="en-SG" sz="1000" b="1" i="1" u="sng" dirty="0">
                  <a:latin typeface="Cambria Math" panose="02040503050406030204" pitchFamily="18" charset="0"/>
                </a:endParaRPr>
              </a:p>
              <a:p>
                <a:r>
                  <a:rPr lang="en-SG" sz="1000" b="1" dirty="0"/>
                  <a:t>Core Idea</a:t>
                </a:r>
              </a:p>
              <a:p>
                <a:r>
                  <a:rPr lang="en-SG" sz="1000" dirty="0"/>
                  <a:t>Factorize sparse interaction matrix:</a:t>
                </a:r>
              </a:p>
              <a:p>
                <a14:m>
                  <m:oMathPara xmlns:m="http://schemas.openxmlformats.org/officeDocument/2006/math">
                    <m:oMathParaPr>
                      <m:jc m:val="centerGroup"/>
                    </m:oMathParaPr>
                    <m:oMath xmlns:m="http://schemas.openxmlformats.org/officeDocument/2006/math">
                      <m:r>
                        <a:rPr lang="en-SG" sz="1000" b="0" i="1" smtClean="0">
                          <a:latin typeface="Cambria Math" panose="02040503050406030204" pitchFamily="18" charset="0"/>
                        </a:rPr>
                        <m:t>𝑅</m:t>
                      </m:r>
                      <m:r>
                        <a:rPr lang="en-SG" sz="1000" i="1" smtClean="0">
                          <a:latin typeface="Cambria Math" panose="02040503050406030204" pitchFamily="18" charset="0"/>
                          <a:ea typeface="Cambria Math" panose="02040503050406030204" pitchFamily="18" charset="0"/>
                        </a:rPr>
                        <m:t>≈</m:t>
                      </m:r>
                      <m:r>
                        <a:rPr lang="en-SG" sz="1000" b="0" i="1" smtClean="0">
                          <a:latin typeface="Cambria Math" panose="02040503050406030204" pitchFamily="18" charset="0"/>
                        </a:rPr>
                        <m:t>𝑈</m:t>
                      </m:r>
                      <m:sSup>
                        <m:sSupPr>
                          <m:ctrlPr>
                            <a:rPr lang="en-SG" sz="1000" b="0" i="1" smtClean="0">
                              <a:latin typeface="Cambria Math" panose="02040503050406030204" pitchFamily="18" charset="0"/>
                            </a:rPr>
                          </m:ctrlPr>
                        </m:sSupPr>
                        <m:e>
                          <m:r>
                            <a:rPr lang="en-SG" sz="1000" b="0" i="1" smtClean="0">
                              <a:latin typeface="Cambria Math" panose="02040503050406030204" pitchFamily="18" charset="0"/>
                            </a:rPr>
                            <m:t>𝑉</m:t>
                          </m:r>
                        </m:e>
                        <m:sup>
                          <m:r>
                            <a:rPr lang="en-SG" sz="1000" b="0" i="1" smtClean="0">
                              <a:latin typeface="Cambria Math" panose="02040503050406030204" pitchFamily="18" charset="0"/>
                            </a:rPr>
                            <m:t>𝑇</m:t>
                          </m:r>
                        </m:sup>
                      </m:sSup>
                    </m:oMath>
                  </m:oMathPara>
                </a14:m>
                <a:endParaRPr lang="en-SG" sz="1000" b="1" dirty="0"/>
              </a:p>
              <a:p>
                <a:pPr/>
                <a14:m>
                  <m:oMath xmlns:m="http://schemas.openxmlformats.org/officeDocument/2006/math">
                    <m:sSub>
                      <m:sSubPr>
                        <m:ctrlPr>
                          <a:rPr lang="en-SG" sz="1000" b="1" i="1" smtClean="0">
                            <a:latin typeface="Cambria Math" panose="02040503050406030204" pitchFamily="18" charset="0"/>
                          </a:rPr>
                        </m:ctrlPr>
                      </m:sSubPr>
                      <m:e>
                        <m:r>
                          <a:rPr lang="en-SG" sz="1000" b="1" i="1" smtClean="0">
                            <a:latin typeface="Cambria Math" panose="02040503050406030204" pitchFamily="18" charset="0"/>
                          </a:rPr>
                          <m:t>𝑼</m:t>
                        </m:r>
                      </m:e>
                      <m:sub>
                        <m:r>
                          <a:rPr lang="en-SG" sz="1000" b="1" i="1" smtClean="0">
                            <a:latin typeface="Cambria Math" panose="02040503050406030204" pitchFamily="18" charset="0"/>
                          </a:rPr>
                          <m:t>𝑼</m:t>
                        </m:r>
                      </m:sub>
                    </m:sSub>
                    <m:r>
                      <a:rPr lang="en-SG" sz="1000" b="1" i="1" smtClean="0">
                        <a:latin typeface="Cambria Math" panose="02040503050406030204" pitchFamily="18" charset="0"/>
                      </a:rPr>
                      <m:t>:</m:t>
                    </m:r>
                    <m:r>
                      <a:rPr lang="en-SG" sz="1000" b="0" i="1" smtClean="0">
                        <a:latin typeface="Cambria Math" panose="02040503050406030204" pitchFamily="18" charset="0"/>
                      </a:rPr>
                      <m:t>𝑢𝑠𝑒𝑟</m:t>
                    </m:r>
                    <m:r>
                      <a:rPr lang="en-SG" sz="1000" b="0" i="1" smtClean="0">
                        <a:latin typeface="Cambria Math" panose="02040503050406030204" pitchFamily="18" charset="0"/>
                      </a:rPr>
                      <m:t> </m:t>
                    </m:r>
                    <m:r>
                      <a:rPr lang="en-SG" sz="1000" b="0" i="1" smtClean="0">
                        <a:latin typeface="Cambria Math" panose="02040503050406030204" pitchFamily="18" charset="0"/>
                      </a:rPr>
                      <m:t>𝑙𝑎𝑡𝑒𝑛𝑡</m:t>
                    </m:r>
                    <m:r>
                      <a:rPr lang="en-SG" sz="1000" b="0" i="1" smtClean="0">
                        <a:latin typeface="Cambria Math" panose="02040503050406030204" pitchFamily="18" charset="0"/>
                      </a:rPr>
                      <m:t> </m:t>
                    </m:r>
                    <m:r>
                      <a:rPr lang="en-SG" sz="1000" b="0" i="1" smtClean="0">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m:t>
                    </m:r>
                  </m:oMath>
                </a14:m>
                <a:r>
                  <a:rPr lang="en-SG" sz="1000" b="0" i="1" dirty="0">
                    <a:latin typeface="Cambria Math" panose="02040503050406030204" pitchFamily="18" charset="0"/>
                  </a:rPr>
                  <a:t>; (users x k) shape</a:t>
                </a:r>
              </a:p>
              <a:p>
                <a:pPr/>
                <a14:m>
                  <m:oMathPara xmlns:m="http://schemas.openxmlformats.org/officeDocument/2006/math">
                    <m:oMathParaPr>
                      <m:jc m:val="left"/>
                    </m:oMathParaPr>
                    <m:oMath xmlns:m="http://schemas.openxmlformats.org/officeDocument/2006/math">
                      <m:sSub>
                        <m:sSubPr>
                          <m:ctrlPr>
                            <a:rPr lang="en-SG" sz="1000" b="1" i="1">
                              <a:latin typeface="Cambria Math" panose="02040503050406030204" pitchFamily="18" charset="0"/>
                            </a:rPr>
                          </m:ctrlPr>
                        </m:sSubPr>
                        <m:e>
                          <m:r>
                            <a:rPr lang="en-SG" sz="1000" b="1" i="1" smtClean="0">
                              <a:latin typeface="Cambria Math" panose="02040503050406030204" pitchFamily="18" charset="0"/>
                            </a:rPr>
                            <m:t>𝑽</m:t>
                          </m:r>
                        </m:e>
                        <m:sub>
                          <m:r>
                            <a:rPr lang="en-SG" sz="1000" b="1" i="1">
                              <a:latin typeface="Cambria Math" panose="02040503050406030204" pitchFamily="18" charset="0"/>
                            </a:rPr>
                            <m:t>𝑼</m:t>
                          </m:r>
                        </m:sub>
                      </m:sSub>
                      <m:r>
                        <a:rPr lang="en-SG" sz="1000" b="1" i="1">
                          <a:latin typeface="Cambria Math" panose="02040503050406030204" pitchFamily="18" charset="0"/>
                        </a:rPr>
                        <m:t>:</m:t>
                      </m:r>
                      <m:r>
                        <a:rPr lang="en-SG" sz="1000" b="0" i="1" smtClean="0">
                          <a:latin typeface="Cambria Math" panose="02040503050406030204" pitchFamily="18" charset="0"/>
                        </a:rPr>
                        <m:t>𝑖𝑡𝑒𝑚</m:t>
                      </m:r>
                      <m:r>
                        <a:rPr lang="en-SG" sz="1000" i="1">
                          <a:latin typeface="Cambria Math" panose="02040503050406030204" pitchFamily="18" charset="0"/>
                        </a:rPr>
                        <m:t> </m:t>
                      </m:r>
                      <m:r>
                        <a:rPr lang="en-SG" sz="1000" i="1">
                          <a:latin typeface="Cambria Math" panose="02040503050406030204" pitchFamily="18" charset="0"/>
                        </a:rPr>
                        <m:t>𝑙𝑎𝑡𝑒𝑛𝑡</m:t>
                      </m:r>
                      <m:r>
                        <a:rPr lang="en-SG" sz="1000" i="1">
                          <a:latin typeface="Cambria Math" panose="02040503050406030204" pitchFamily="18" charset="0"/>
                        </a:rPr>
                        <m:t> </m:t>
                      </m:r>
                      <m:r>
                        <a:rPr lang="en-SG" sz="1000" i="1">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 (</m:t>
                      </m:r>
                      <m:r>
                        <m:rPr>
                          <m:nor/>
                        </m:rPr>
                        <a:rPr lang="en-SG" sz="1000" b="0" i="1" dirty="0" smtClean="0">
                          <a:latin typeface="Cambria Math" panose="02040503050406030204" pitchFamily="18" charset="0"/>
                        </a:rPr>
                        <m:t>items</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x</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k</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shape</m:t>
                      </m:r>
                    </m:oMath>
                  </m:oMathPara>
                </a14:m>
                <a:endParaRPr lang="en-SG" sz="1000" i="1" dirty="0">
                  <a:latin typeface="Cambria Math" panose="02040503050406030204" pitchFamily="18" charset="0"/>
                </a:endParaRPr>
              </a:p>
              <a:p>
                <a:pPr/>
                <a14:m>
                  <m:oMath xmlns:m="http://schemas.openxmlformats.org/officeDocument/2006/math">
                    <m:r>
                      <a:rPr lang="en-SG" sz="1000" b="1" i="1" smtClean="0">
                        <a:latin typeface="Cambria Math" panose="02040503050406030204" pitchFamily="18" charset="0"/>
                      </a:rPr>
                      <m:t>𝑹</m:t>
                    </m:r>
                    <m:r>
                      <a:rPr lang="en-SG" sz="1000" b="1" i="1">
                        <a:latin typeface="Cambria Math" panose="02040503050406030204" pitchFamily="18" charset="0"/>
                      </a:rPr>
                      <m:t>:</m:t>
                    </m:r>
                  </m:oMath>
                </a14:m>
                <a:r>
                  <a:rPr lang="en-SG" sz="1000" i="1" dirty="0">
                    <a:latin typeface="Cambria Math" panose="02040503050406030204" pitchFamily="18" charset="0"/>
                  </a:rPr>
                  <a:t> (users x item) shape</a:t>
                </a: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𝒌</m:t>
                      </m:r>
                      <m:r>
                        <a:rPr lang="en-SG" sz="1000" b="1" i="1">
                          <a:latin typeface="Cambria Math" panose="02040503050406030204" pitchFamily="18" charset="0"/>
                        </a:rPr>
                        <m:t>:</m:t>
                      </m:r>
                      <m:r>
                        <a:rPr lang="en-SG" sz="1000" b="0" i="1" smtClean="0">
                          <a:latin typeface="Cambria Math" panose="02040503050406030204" pitchFamily="18" charset="0"/>
                        </a:rPr>
                        <m:t>𝑒𝑚𝑏𝑒𝑑𝑑𝑖𝑛𝑔</m:t>
                      </m:r>
                      <m:r>
                        <a:rPr lang="en-SG" sz="1000" b="0" i="1" smtClean="0">
                          <a:latin typeface="Cambria Math" panose="02040503050406030204" pitchFamily="18" charset="0"/>
                        </a:rPr>
                        <m:t> </m:t>
                      </m:r>
                      <m:r>
                        <a:rPr lang="en-SG" sz="1000" b="0" i="1" smtClean="0">
                          <a:latin typeface="Cambria Math" panose="02040503050406030204" pitchFamily="18" charset="0"/>
                        </a:rPr>
                        <m:t>𝑠𝑖𝑧𝑒</m:t>
                      </m:r>
                    </m:oMath>
                  </m:oMathPara>
                </a14:m>
                <a:endParaRPr lang="en-SG" sz="1000" dirty="0"/>
              </a:p>
              <a:p>
                <a:pPr/>
                <a:endParaRPr lang="en-SG" sz="1000" dirty="0"/>
              </a:p>
              <a:p>
                <a:pPr/>
                <a:r>
                  <a:rPr lang="en-SG" sz="1000" dirty="0"/>
                  <a:t>Implemented via TruncatedSVD (computes top-k singular vectors for low-rank approximation). Full-rank = min(#users, #items); MF constraints rank to k </a:t>
                </a:r>
                <a14:m>
                  <m:oMath xmlns:m="http://schemas.openxmlformats.org/officeDocument/2006/math">
                    <m:r>
                      <a:rPr lang="en-SG" sz="1000" i="1" smtClean="0">
                        <a:latin typeface="Cambria Math" panose="02040503050406030204" pitchFamily="18" charset="0"/>
                        <a:ea typeface="Cambria Math" panose="02040503050406030204" pitchFamily="18" charset="0"/>
                      </a:rPr>
                      <m:t>≪</m:t>
                    </m:r>
                  </m:oMath>
                </a14:m>
                <a:r>
                  <a:rPr lang="en-SG" sz="1000" dirty="0"/>
                  <a:t> full rank.</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b="0" i="1" smtClean="0">
                          <a:latin typeface="Cambria Math" panose="02040503050406030204" pitchFamily="18" charset="0"/>
                        </a:rPr>
                        <m:t>𝑢</m:t>
                      </m:r>
                      <m:r>
                        <a:rPr lang="en-SG" sz="1000" b="0" i="1" smtClean="0">
                          <a:latin typeface="Cambria Math" panose="02040503050406030204" pitchFamily="18" charset="0"/>
                        </a:rPr>
                        <m:t>, </m:t>
                      </m:r>
                      <m:r>
                        <a:rPr lang="en-SG" sz="1000" i="1">
                          <a:latin typeface="Cambria Math" panose="02040503050406030204" pitchFamily="18" charset="0"/>
                        </a:rPr>
                        <m:t>𝑖</m:t>
                      </m:r>
                      <m:r>
                        <a:rPr lang="en-SG" sz="1000" i="1">
                          <a:latin typeface="Cambria Math" panose="02040503050406030204" pitchFamily="18" charset="0"/>
                        </a:rPr>
                        <m:t>)=</m:t>
                      </m:r>
                      <m:sSub>
                        <m:sSubPr>
                          <m:ctrlPr>
                            <a:rPr lang="en-SG" sz="1000" i="1" smtClean="0">
                              <a:latin typeface="Cambria Math" panose="02040503050406030204" pitchFamily="18" charset="0"/>
                            </a:rPr>
                          </m:ctrlPr>
                        </m:sSubPr>
                        <m:e>
                          <m:r>
                            <a:rPr lang="en-SG" sz="1000" b="0" i="1" smtClean="0">
                              <a:latin typeface="Cambria Math" panose="02040503050406030204" pitchFamily="18" charset="0"/>
                            </a:rPr>
                            <m:t>𝑈</m:t>
                          </m:r>
                        </m:e>
                        <m:sub>
                          <m:r>
                            <a:rPr lang="en-SG" sz="1000" b="0" i="1" smtClean="0">
                              <a:latin typeface="Cambria Math" panose="02040503050406030204" pitchFamily="18" charset="0"/>
                            </a:rPr>
                            <m:t>𝑢</m:t>
                          </m:r>
                        </m:sub>
                      </m:sSub>
                      <m:r>
                        <a:rPr lang="en-SG" sz="1000" i="1" smtClean="0">
                          <a:latin typeface="Cambria Math" panose="02040503050406030204" pitchFamily="18" charset="0"/>
                          <a:ea typeface="Cambria Math" panose="02040503050406030204" pitchFamily="18" charset="0"/>
                        </a:rPr>
                        <m:t>∙</m:t>
                      </m:r>
                      <m:sSub>
                        <m:sSubPr>
                          <m:ctrlPr>
                            <a:rPr lang="en-SG" sz="1000" i="1">
                              <a:latin typeface="Cambria Math" panose="02040503050406030204" pitchFamily="18" charset="0"/>
                            </a:rPr>
                          </m:ctrlPr>
                        </m:sSubPr>
                        <m:e>
                          <m:r>
                            <a:rPr lang="en-SG" sz="1000" b="0" i="1" smtClean="0">
                              <a:latin typeface="Cambria Math" panose="02040503050406030204" pitchFamily="18" charset="0"/>
                            </a:rPr>
                            <m:t>𝑉</m:t>
                          </m:r>
                        </m:e>
                        <m:sub>
                          <m:r>
                            <a:rPr lang="en-SG" sz="1000" b="0" i="1" smtClean="0">
                              <a:latin typeface="Cambria Math" panose="02040503050406030204" pitchFamily="18" charset="0"/>
                            </a:rPr>
                            <m:t>𝑖</m:t>
                          </m:r>
                        </m:sub>
                      </m:sSub>
                    </m:oMath>
                  </m:oMathPara>
                </a14:m>
                <a:endParaRPr lang="en-SG" sz="1000" b="1" dirty="0"/>
              </a:p>
              <a:p>
                <a:pPr/>
                <a:endParaRPr lang="en-SG" sz="1000" dirty="0"/>
              </a:p>
              <a:p>
                <a:pPr/>
                <a:r>
                  <a:rPr lang="en-SG" sz="1000" b="1" dirty="0"/>
                  <a:t>What This Means</a:t>
                </a:r>
              </a:p>
              <a:p>
                <a:pPr marL="171450" indent="-171450">
                  <a:buFont typeface="Wingdings" panose="05000000000000000000" pitchFamily="2" charset="2"/>
                  <a:buChar char="Ø"/>
                </a:pPr>
                <a:r>
                  <a:rPr lang="en-SG" sz="1000" dirty="0"/>
                  <a:t>Personalized ranking</a:t>
                </a:r>
              </a:p>
              <a:p>
                <a:pPr marL="171450" indent="-171450">
                  <a:buFont typeface="Wingdings" panose="05000000000000000000" pitchFamily="2" charset="2"/>
                  <a:buChar char="Ø"/>
                </a:pPr>
                <a:r>
                  <a:rPr lang="en-SG" sz="1000" dirty="0"/>
                  <a:t>Based on shared latent factors</a:t>
                </a:r>
              </a:p>
              <a:p>
                <a:pPr marL="171450" indent="-171450">
                  <a:buFont typeface="Wingdings" panose="05000000000000000000" pitchFamily="2" charset="2"/>
                  <a:buChar char="Ø"/>
                </a:pPr>
                <a:r>
                  <a:rPr lang="en-SG" sz="1000" dirty="0"/>
                  <a:t>Learned from co-interaction</a:t>
                </a:r>
                <a:endParaRPr lang="en-SG" sz="1000" b="1" dirty="0"/>
              </a:p>
              <a:p>
                <a:pPr/>
                <a:endParaRPr lang="en-SG" sz="1000" b="1" dirty="0"/>
              </a:p>
              <a:p>
                <a:pPr/>
                <a:r>
                  <a:rPr lang="en-SG" sz="1000" b="1" dirty="0"/>
                  <a:t>Key Limitation</a:t>
                </a:r>
              </a:p>
              <a:p>
                <a:r>
                  <a:rPr lang="en-SG" sz="1000" dirty="0"/>
                  <a:t>Assumes linear low-rank structure which has limited expressiveness vs neural models </a:t>
                </a:r>
                <a:r>
                  <a:rPr lang="en-SG" sz="1000" b="1" dirty="0"/>
                  <a:t>(but can be a strength because it is a stable low-complexity model with less noise when compared to neural training).</a:t>
                </a:r>
              </a:p>
            </p:txBody>
          </p:sp>
        </mc:Choice>
        <mc:Fallback>
          <p:sp>
            <p:nvSpPr>
              <p:cNvPr id="5" name="TextBox 4">
                <a:extLst>
                  <a:ext uri="{FF2B5EF4-FFF2-40B4-BE49-F238E27FC236}">
                    <a16:creationId xmlns:a16="http://schemas.microsoft.com/office/drawing/2014/main" id="{287EB407-9A19-5C20-3542-FAC00F9F2D80}"/>
                  </a:ext>
                </a:extLst>
              </p:cNvPr>
              <p:cNvSpPr txBox="1">
                <a:spLocks noRot="1" noChangeAspect="1" noMove="1" noResize="1" noEditPoints="1" noAdjustHandles="1" noChangeArrowheads="1" noChangeShapeType="1" noTextEdit="1"/>
              </p:cNvSpPr>
              <p:nvPr/>
            </p:nvSpPr>
            <p:spPr>
              <a:xfrm>
                <a:off x="4757647" y="1844040"/>
                <a:ext cx="3406040" cy="486287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7E46001F-9023-0651-BB03-40CAF7BCAC84}"/>
                  </a:ext>
                </a:extLst>
              </p:cNvPr>
              <p:cNvSpPr txBox="1"/>
              <p:nvPr/>
            </p:nvSpPr>
            <p:spPr>
              <a:xfrm>
                <a:off x="8273133" y="1844040"/>
                <a:ext cx="3833141" cy="4900893"/>
              </a:xfrm>
              <a:prstGeom prst="rect">
                <a:avLst/>
              </a:prstGeom>
              <a:solidFill>
                <a:schemeClr val="accent6">
                  <a:lumMod val="20000"/>
                  <a:lumOff val="80000"/>
                </a:schemeClr>
              </a:solidFill>
            </p:spPr>
            <p:txBody>
              <a:bodyPr wrap="square">
                <a:spAutoFit/>
              </a:bodyPr>
              <a:lstStyle/>
              <a:p>
                <a:r>
                  <a:rPr lang="en-SG" sz="1000" b="1" u="sng" dirty="0"/>
                  <a:t>Two-Tower Neural Retrieval</a:t>
                </a:r>
              </a:p>
              <a:p>
                <a:endParaRPr lang="en-SG" sz="1000" b="1" i="1" u="sng" dirty="0">
                  <a:latin typeface="Cambria Math" panose="02040503050406030204" pitchFamily="18" charset="0"/>
                </a:endParaRPr>
              </a:p>
              <a:p>
                <a:r>
                  <a:rPr lang="en-SG" sz="1000" b="1" dirty="0"/>
                  <a:t>Core Idea</a:t>
                </a:r>
              </a:p>
              <a:p>
                <a:r>
                  <a:rPr lang="en-SG" sz="1000" dirty="0"/>
                  <a:t>Generalizes MF with learned neural parameterization.</a:t>
                </a:r>
              </a:p>
              <a:p>
                <a:endParaRPr lang="en-SG" sz="1000" b="1" dirty="0"/>
              </a:p>
              <a:p>
                <a:r>
                  <a:rPr lang="en-SG" sz="1000" dirty="0"/>
                  <a:t>Learn embeddings via supervised contrastive training (User Tower, Item Tower).</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𝑙𝑜𝑔𝑖𝑡</m:t>
                      </m:r>
                      <m:r>
                        <a:rPr lang="en-SG" sz="1000" i="1">
                          <a:latin typeface="Cambria Math" panose="02040503050406030204" pitchFamily="18" charset="0"/>
                        </a:rPr>
                        <m:t> </m:t>
                      </m:r>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i="1">
                          <a:latin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𝑢</m:t>
                          </m:r>
                        </m:e>
                      </m:acc>
                      <m:r>
                        <a:rPr lang="en-SG" sz="1000" i="1">
                          <a:latin typeface="Cambria Math" panose="02040503050406030204" pitchFamily="18" charset="0"/>
                          <a:ea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𝑣</m:t>
                          </m:r>
                        </m:e>
                      </m:acc>
                    </m:oMath>
                  </m:oMathPara>
                </a14:m>
                <a:endParaRPr lang="en-SG" sz="1000"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m:t>
                      </m:r>
                      <m:r>
                        <a:rPr lang="en-SG" sz="1000" b="1" i="1" smtClean="0">
                          <a:latin typeface="Cambria Math" panose="02040503050406030204" pitchFamily="18" charset="0"/>
                        </a:rPr>
                        <m:t> </m:t>
                      </m:r>
                      <m:r>
                        <a:rPr lang="en-SG" sz="1000" b="1" i="1" smtClean="0">
                          <a:latin typeface="Cambria Math" panose="02040503050406030204" pitchFamily="18" charset="0"/>
                        </a:rPr>
                        <m:t>𝒔𝒄𝒐𝒓𝒆</m:t>
                      </m:r>
                      <m:r>
                        <a:rPr lang="en-SG" sz="1000" b="1" i="1" smtClean="0">
                          <a:latin typeface="Cambria Math" panose="02040503050406030204" pitchFamily="18" charset="0"/>
                        </a:rPr>
                        <m:t>:</m:t>
                      </m:r>
                      <m:r>
                        <a:rPr lang="en-SG" sz="1000" i="1">
                          <a:latin typeface="Cambria Math" panose="02040503050406030204" pitchFamily="18" charset="0"/>
                        </a:rPr>
                        <m:t>𝐿</m:t>
                      </m:r>
                      <m:r>
                        <a:rPr lang="en-SG" sz="1000" i="1">
                          <a:latin typeface="Cambria Math" panose="02040503050406030204" pitchFamily="18" charset="0"/>
                        </a:rPr>
                        <m:t>2−</m:t>
                      </m:r>
                      <m:r>
                        <a:rPr lang="en-SG" sz="1000" i="1">
                          <a:latin typeface="Cambria Math" panose="02040503050406030204" pitchFamily="18" charset="0"/>
                        </a:rPr>
                        <m:t>𝑛𝑜𝑟𝑚𝑎𝑙𝑖𝑧𝑒𝑑</m:t>
                      </m:r>
                      <m:r>
                        <a:rPr lang="en-SG" sz="1000" i="1">
                          <a:latin typeface="Cambria Math" panose="02040503050406030204" pitchFamily="18" charset="0"/>
                        </a:rPr>
                        <m:t> </m:t>
                      </m:r>
                      <m:r>
                        <a:rPr lang="en-SG" sz="1000" i="1">
                          <a:latin typeface="Cambria Math" panose="02040503050406030204" pitchFamily="18" charset="0"/>
                        </a:rPr>
                        <m:t>𝑐𝑜𝑠𝑖𝑛𝑒</m:t>
                      </m:r>
                      <m:r>
                        <a:rPr lang="en-SG" sz="1000" i="1">
                          <a:latin typeface="Cambria Math" panose="02040503050406030204" pitchFamily="18" charset="0"/>
                        </a:rPr>
                        <m:t>−</m:t>
                      </m:r>
                      <m:r>
                        <a:rPr lang="en-SG" sz="1000" i="1">
                          <a:latin typeface="Cambria Math" panose="02040503050406030204" pitchFamily="18" charset="0"/>
                        </a:rPr>
                        <m:t>𝑠𝑡𝑦𝑙𝑒</m:t>
                      </m:r>
                      <m:r>
                        <a:rPr lang="en-SG" sz="1000" i="1">
                          <a:latin typeface="Cambria Math" panose="02040503050406030204" pitchFamily="18" charset="0"/>
                        </a:rPr>
                        <m:t> </m:t>
                      </m:r>
                      <m:r>
                        <a:rPr lang="en-SG" sz="1000" i="1">
                          <a:latin typeface="Cambria Math" panose="02040503050406030204" pitchFamily="18" charset="0"/>
                        </a:rPr>
                        <m:t>𝑑𝑜𝑡</m:t>
                      </m:r>
                      <m:r>
                        <a:rPr lang="en-SG" sz="1000" i="1">
                          <a:latin typeface="Cambria Math" panose="02040503050406030204" pitchFamily="18" charset="0"/>
                        </a:rPr>
                        <m:t> </m:t>
                      </m:r>
                      <m:r>
                        <a:rPr lang="en-SG" sz="1000" i="1">
                          <a:latin typeface="Cambria Math" panose="02040503050406030204" pitchFamily="18" charset="0"/>
                        </a:rPr>
                        <m:t>𝑝𝑟𝑜𝑑𝑢𝑐𝑡</m:t>
                      </m:r>
                    </m:oMath>
                  </m:oMathPara>
                </a14:m>
                <a:endParaRPr lang="en-SG" sz="1000" i="1" dirty="0">
                  <a:latin typeface="Cambria Math" panose="02040503050406030204" pitchFamily="18" charset="0"/>
                </a:endParaRPr>
              </a:p>
              <a:p>
                <a:pPr/>
                <a:endParaRPr lang="en-SG" sz="10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b="1" i="1" smtClean="0">
                          <a:latin typeface="Cambria Math" panose="02040503050406030204" pitchFamily="18" charset="0"/>
                        </a:rPr>
                        <m:t>𝑻𝒓𝒂𝒊𝒏𝒊𝒏𝒈</m:t>
                      </m:r>
                      <m:r>
                        <a:rPr lang="en-SG" sz="1000" b="1" i="1" smtClean="0">
                          <a:latin typeface="Cambria Math" panose="02040503050406030204" pitchFamily="18" charset="0"/>
                        </a:rPr>
                        <m:t> </m:t>
                      </m:r>
                      <m:r>
                        <a:rPr lang="en-SG" sz="1000" b="1" i="1" smtClean="0">
                          <a:latin typeface="Cambria Math" panose="02040503050406030204" pitchFamily="18" charset="0"/>
                        </a:rPr>
                        <m:t>𝒐𝒏𝒍𝒚</m:t>
                      </m:r>
                      <m:r>
                        <a:rPr lang="en-SG" sz="1000" b="1" i="1" smtClean="0">
                          <a:latin typeface="Cambria Math" panose="02040503050406030204" pitchFamily="18" charset="0"/>
                        </a:rPr>
                        <m:t>: </m:t>
                      </m:r>
                      <m:r>
                        <a:rPr lang="en-SG" sz="1000" b="0" i="1" smtClean="0">
                          <a:latin typeface="Cambria Math" panose="02040503050406030204" pitchFamily="18" charset="0"/>
                        </a:rPr>
                        <m:t>𝑠𝑜𝑓𝑡𝑚𝑎𝑥</m:t>
                      </m:r>
                      <m:d>
                        <m:dPr>
                          <m:ctrlPr>
                            <a:rPr lang="en-SG" sz="1000" b="0" i="1" smtClean="0">
                              <a:latin typeface="Cambria Math" panose="02040503050406030204" pitchFamily="18" charset="0"/>
                            </a:rPr>
                          </m:ctrlPr>
                        </m:dPr>
                        <m:e>
                          <m:f>
                            <m:fPr>
                              <m:ctrlPr>
                                <a:rPr lang="en-SG" sz="1000" b="0" i="1" smtClean="0">
                                  <a:latin typeface="Cambria Math" panose="02040503050406030204" pitchFamily="18" charset="0"/>
                                </a:rPr>
                              </m:ctrlPr>
                            </m:fPr>
                            <m:num>
                              <m:r>
                                <a:rPr lang="en-SG" sz="1000" b="0" i="1" smtClean="0">
                                  <a:latin typeface="Cambria Math" panose="02040503050406030204" pitchFamily="18" charset="0"/>
                                </a:rPr>
                                <m:t>𝑙𝑜𝑔𝑖𝑡𝑠</m:t>
                              </m:r>
                            </m:num>
                            <m:den>
                              <m:r>
                                <a:rPr lang="en-SG" sz="1000" b="0" i="1" smtClean="0">
                                  <a:latin typeface="Cambria Math" panose="02040503050406030204" pitchFamily="18" charset="0"/>
                                </a:rPr>
                                <m:t>𝑇</m:t>
                              </m:r>
                            </m:den>
                          </m:f>
                        </m:e>
                      </m:d>
                    </m:oMath>
                  </m:oMathPara>
                </a14:m>
                <a:endParaRPr lang="en-SG" sz="1000" dirty="0"/>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𝒍𝒐𝒈𝒊𝒕𝒔</m:t>
                      </m:r>
                      <m:r>
                        <a:rPr lang="en-SG" sz="1000" b="1" i="1" smtClean="0">
                          <a:latin typeface="Cambria Math" panose="02040503050406030204" pitchFamily="18" charset="0"/>
                        </a:rPr>
                        <m:t>:</m:t>
                      </m:r>
                      <m:r>
                        <a:rPr lang="en-SG" sz="1000" i="1">
                          <a:latin typeface="Cambria Math" panose="02040503050406030204" pitchFamily="18" charset="0"/>
                        </a:rPr>
                        <m:t>𝑝𝑜𝑠𝑖𝑡𝑖𝑣𝑒</m:t>
                      </m:r>
                      <m:r>
                        <a:rPr lang="en-SG" sz="1000" i="1">
                          <a:latin typeface="Cambria Math" panose="02040503050406030204" pitchFamily="18" charset="0"/>
                        </a:rPr>
                        <m:t> </m:t>
                      </m:r>
                      <m:r>
                        <a:rPr lang="en-SG" sz="1000" i="1">
                          <a:latin typeface="Cambria Math" panose="02040503050406030204" pitchFamily="18" charset="0"/>
                        </a:rPr>
                        <m:t>𝑎𝑛𝑑</m:t>
                      </m:r>
                      <m:r>
                        <a:rPr lang="en-SG" sz="1000" i="1">
                          <a:latin typeface="Cambria Math" panose="02040503050406030204" pitchFamily="18" charset="0"/>
                        </a:rPr>
                        <m:t> </m:t>
                      </m:r>
                      <m:r>
                        <a:rPr lang="en-SG" sz="1000" i="1">
                          <a:latin typeface="Cambria Math" panose="02040503050406030204" pitchFamily="18" charset="0"/>
                        </a:rPr>
                        <m:t>𝑛𝑒𝑔𝑎𝑡𝑖𝑣𝑒</m:t>
                      </m:r>
                      <m:r>
                        <a:rPr lang="en-SG" sz="1000" i="1">
                          <a:latin typeface="Cambria Math" panose="02040503050406030204" pitchFamily="18" charset="0"/>
                        </a:rPr>
                        <m:t> </m:t>
                      </m:r>
                      <m:r>
                        <a:rPr lang="en-SG" sz="1000" i="1">
                          <a:latin typeface="Cambria Math" panose="02040503050406030204" pitchFamily="18" charset="0"/>
                        </a:rPr>
                        <m:t>𝑙𝑜𝑔𝑖𝑡𝑠</m:t>
                      </m:r>
                      <m:r>
                        <a:rPr lang="en-SG" sz="1000" i="1">
                          <a:latin typeface="Cambria Math" panose="02040503050406030204" pitchFamily="18" charset="0"/>
                        </a:rPr>
                        <m:t> (</m:t>
                      </m:r>
                      <m:r>
                        <a:rPr lang="en-SG" sz="1000" i="1">
                          <a:latin typeface="Cambria Math" panose="02040503050406030204" pitchFamily="18" charset="0"/>
                        </a:rPr>
                        <m:t>𝑖𝑛</m:t>
                      </m:r>
                      <m:r>
                        <a:rPr lang="en-SG" sz="1000" i="1">
                          <a:latin typeface="Cambria Math" panose="02040503050406030204" pitchFamily="18" charset="0"/>
                        </a:rPr>
                        <m:t>-</m:t>
                      </m:r>
                      <m:r>
                        <a:rPr lang="en-SG" sz="1000" i="1">
                          <a:latin typeface="Cambria Math" panose="02040503050406030204" pitchFamily="18" charset="0"/>
                        </a:rPr>
                        <m:t>𝑏𝑎𝑡𝑐h</m:t>
                      </m:r>
                      <m:r>
                        <a:rPr lang="en-SG" sz="1000" i="1">
                          <a:latin typeface="Cambria Math" panose="02040503050406030204" pitchFamily="18" charset="0"/>
                        </a:rPr>
                        <m:t> + </m:t>
                      </m:r>
                      <m:r>
                        <a:rPr lang="en-SG" sz="1000" i="1">
                          <a:latin typeface="Cambria Math" panose="02040503050406030204" pitchFamily="18" charset="0"/>
                        </a:rPr>
                        <m:t>𝑠𝑎𝑚𝑝𝑙𝑒𝑑</m:t>
                      </m:r>
                      <m:r>
                        <a:rPr lang="en-SG" sz="1000" i="1">
                          <a:latin typeface="Cambria Math" panose="02040503050406030204" pitchFamily="18" charset="0"/>
                        </a:rPr>
                        <m:t>)</m:t>
                      </m:r>
                    </m:oMath>
                  </m:oMathPara>
                </a14:m>
                <a:endParaRPr lang="en-SG" sz="1000" i="1" dirty="0">
                  <a:latin typeface="Cambria Math" panose="02040503050406030204" pitchFamily="18" charset="0"/>
                </a:endParaRPr>
              </a:p>
              <a:p>
                <a:pPr/>
                <a:endParaRPr lang="en-SG" sz="1000" dirty="0"/>
              </a:p>
              <a:p>
                <a:pPr/>
                <a:r>
                  <a:rPr lang="en-SG" sz="1000" b="1" dirty="0"/>
                  <a:t>Optimization during training: </a:t>
                </a:r>
                <a:r>
                  <a:rPr lang="en-SG" sz="1000" dirty="0"/>
                  <a:t>Mini-batch gradient descent on contrastive cross-entropy loss; maximize relative score separation between positive (u, i) pairs and negatives.</a:t>
                </a:r>
              </a:p>
              <a:p>
                <a:pPr/>
                <a:endParaRPr lang="en-SG" sz="1000" dirty="0"/>
              </a:p>
              <a:p>
                <a:pPr/>
                <a:r>
                  <a:rPr lang="en-SG" sz="1000" b="1" dirty="0"/>
                  <a:t>What This Means</a:t>
                </a:r>
                <a:endParaRPr lang="en-SG" sz="1000" dirty="0"/>
              </a:p>
              <a:p>
                <a:pPr marL="171450" indent="-171450">
                  <a:buFont typeface="Wingdings" panose="05000000000000000000" pitchFamily="2" charset="2"/>
                  <a:buChar char="Ø"/>
                </a:pPr>
                <a:r>
                  <a:rPr lang="en-SG" sz="1000" b="1" dirty="0"/>
                  <a:t>Generalizes MF with flexible parameterization and scalable training.</a:t>
                </a:r>
              </a:p>
              <a:p>
                <a:pPr/>
                <a:endParaRPr lang="en-SG" sz="1000" b="1" dirty="0"/>
              </a:p>
              <a:p>
                <a:pPr/>
                <a:r>
                  <a:rPr lang="en-SG" sz="1000" b="1" dirty="0"/>
                  <a:t>Key Limitation</a:t>
                </a:r>
              </a:p>
              <a:p>
                <a:r>
                  <a:rPr lang="en-SG" sz="1000" dirty="0"/>
                  <a:t>May underperform classical MF especially on limited datasets due to higher optimization complexity in neural training.</a:t>
                </a:r>
              </a:p>
              <a:p>
                <a:endParaRPr lang="en-SG" sz="1000" dirty="0"/>
              </a:p>
              <a:p>
                <a:endParaRPr lang="en-SG" sz="1000" dirty="0"/>
              </a:p>
              <a:p>
                <a:endParaRPr lang="en-SG" sz="1000" dirty="0"/>
              </a:p>
            </p:txBody>
          </p:sp>
        </mc:Choice>
        <mc:Fallback>
          <p:sp>
            <p:nvSpPr>
              <p:cNvPr id="6" name="TextBox 5">
                <a:extLst>
                  <a:ext uri="{FF2B5EF4-FFF2-40B4-BE49-F238E27FC236}">
                    <a16:creationId xmlns:a16="http://schemas.microsoft.com/office/drawing/2014/main" id="{7E46001F-9023-0651-BB03-40CAF7BCAC84}"/>
                  </a:ext>
                </a:extLst>
              </p:cNvPr>
              <p:cNvSpPr txBox="1">
                <a:spLocks noRot="1" noChangeAspect="1" noMove="1" noResize="1" noEditPoints="1" noAdjustHandles="1" noChangeArrowheads="1" noChangeShapeType="1" noTextEdit="1"/>
              </p:cNvSpPr>
              <p:nvPr/>
            </p:nvSpPr>
            <p:spPr>
              <a:xfrm>
                <a:off x="8273133" y="1844040"/>
                <a:ext cx="3833141" cy="4900893"/>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FFD39FC1-E7FE-0653-7013-031429C5330E}"/>
                  </a:ext>
                </a:extLst>
              </p:cNvPr>
              <p:cNvSpPr txBox="1"/>
              <p:nvPr/>
            </p:nvSpPr>
            <p:spPr>
              <a:xfrm>
                <a:off x="176360" y="1836420"/>
                <a:ext cx="2453573" cy="2708434"/>
              </a:xfrm>
              <a:prstGeom prst="rect">
                <a:avLst/>
              </a:prstGeom>
              <a:solidFill>
                <a:schemeClr val="accent6">
                  <a:lumMod val="20000"/>
                  <a:lumOff val="80000"/>
                </a:schemeClr>
              </a:solidFill>
            </p:spPr>
            <p:txBody>
              <a:bodyPr wrap="square">
                <a:spAutoFit/>
              </a:bodyPr>
              <a:lstStyle/>
              <a:p>
                <a:r>
                  <a:rPr lang="en-SG" sz="1000" b="1" u="sng" dirty="0"/>
                  <a:t>Random Baseline (Null Model)</a:t>
                </a:r>
              </a:p>
              <a:p>
                <a:endParaRPr lang="en-SG" sz="1000" b="1" i="1" u="sng" dirty="0">
                  <a:latin typeface="Cambria Math" panose="02040503050406030204" pitchFamily="18" charset="0"/>
                </a:endParaRPr>
              </a:p>
              <a:p>
                <a:r>
                  <a:rPr lang="en-SG" sz="1000" b="1" dirty="0"/>
                  <a:t>Core Idea</a:t>
                </a:r>
              </a:p>
              <a:p>
                <a:r>
                  <a:rPr lang="en-SG" sz="1000" dirty="0"/>
                  <a:t>Random uniform scoring for any user-item pairing.</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b="0" i="1" smtClean="0">
                          <a:latin typeface="Cambria Math" panose="02040503050406030204" pitchFamily="18" charset="0"/>
                        </a:rPr>
                        <m:t> ~ </m:t>
                      </m:r>
                      <m:r>
                        <a:rPr lang="en-SG" sz="1000" b="0" i="1" smtClean="0">
                          <a:latin typeface="Cambria Math" panose="02040503050406030204" pitchFamily="18" charset="0"/>
                        </a:rPr>
                        <m:t>𝑈𝑛𝑖𝑓𝑜𝑟𝑚</m:t>
                      </m:r>
                      <m:r>
                        <a:rPr lang="en-SG" sz="1000" b="0" i="1" smtClean="0">
                          <a:latin typeface="Cambria Math" panose="02040503050406030204" pitchFamily="18" charset="0"/>
                        </a:rPr>
                        <m:t>(0.1)</m:t>
                      </m:r>
                    </m:oMath>
                  </m:oMathPara>
                </a14:m>
                <a:endParaRPr lang="en-SG" sz="1000" b="1" dirty="0"/>
              </a:p>
              <a:p>
                <a:pPr/>
                <a:endParaRPr lang="en-SG" sz="1000" dirty="0"/>
              </a:p>
              <a:p>
                <a:pPr/>
                <a:r>
                  <a:rPr lang="en-SG" sz="1000" b="1" dirty="0"/>
                  <a:t>What This Means</a:t>
                </a:r>
              </a:p>
              <a:p>
                <a:pPr marL="171450" indent="-171450">
                  <a:buFont typeface="Wingdings" panose="05000000000000000000" pitchFamily="2" charset="2"/>
                  <a:buChar char="Ø"/>
                </a:pPr>
                <a:r>
                  <a:rPr lang="en-SG" sz="1000" dirty="0"/>
                  <a:t>Zero-information No-preference model</a:t>
                </a:r>
              </a:p>
              <a:p>
                <a:pPr marL="171450" indent="-171450">
                  <a:buFont typeface="Wingdings" panose="05000000000000000000" pitchFamily="2" charset="2"/>
                  <a:buChar char="Ø"/>
                </a:pPr>
                <a:r>
                  <a:rPr lang="en-SG" sz="1000" dirty="0"/>
                  <a:t>Establish theoretical floor</a:t>
                </a:r>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p:txBody>
          </p:sp>
        </mc:Choice>
        <mc:Fallback>
          <p:sp>
            <p:nvSpPr>
              <p:cNvPr id="7" name="TextBox 6">
                <a:extLst>
                  <a:ext uri="{FF2B5EF4-FFF2-40B4-BE49-F238E27FC236}">
                    <a16:creationId xmlns:a16="http://schemas.microsoft.com/office/drawing/2014/main" id="{FFD39FC1-E7FE-0653-7013-031429C5330E}"/>
                  </a:ext>
                </a:extLst>
              </p:cNvPr>
              <p:cNvSpPr txBox="1">
                <a:spLocks noRot="1" noChangeAspect="1" noMove="1" noResize="1" noEditPoints="1" noAdjustHandles="1" noChangeArrowheads="1" noChangeShapeType="1" noTextEdit="1"/>
              </p:cNvSpPr>
              <p:nvPr/>
            </p:nvSpPr>
            <p:spPr>
              <a:xfrm>
                <a:off x="176360" y="1836420"/>
                <a:ext cx="2453573" cy="2708434"/>
              </a:xfrm>
              <a:prstGeom prst="rect">
                <a:avLst/>
              </a:prstGeom>
              <a:blipFill>
                <a:blip r:embed="rId5"/>
                <a:stretch>
                  <a:fillRect/>
                </a:stretch>
              </a:blipFill>
            </p:spPr>
            <p:txBody>
              <a:bodyPr/>
              <a:lstStyle/>
              <a:p>
                <a:r>
                  <a:rPr lang="en-SG">
                    <a:noFill/>
                  </a:rPr>
                  <a:t> </a:t>
                </a:r>
              </a:p>
            </p:txBody>
          </p:sp>
        </mc:Fallback>
      </mc:AlternateContent>
    </p:spTree>
    <p:extLst>
      <p:ext uri="{BB962C8B-B14F-4D97-AF65-F5344CB8AC3E}">
        <p14:creationId xmlns:p14="http://schemas.microsoft.com/office/powerpoint/2010/main" val="1431262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62DE82-B6EB-2B9C-454A-549ADED985BD}"/>
              </a:ext>
            </a:extLst>
          </p:cNvPr>
          <p:cNvSpPr/>
          <p:nvPr/>
        </p:nvSpPr>
        <p:spPr>
          <a:xfrm>
            <a:off x="10566562" y="1"/>
            <a:ext cx="1625438" cy="704850"/>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SG" sz="1000" dirty="0">
                <a:solidFill>
                  <a:srgbClr val="FF0000"/>
                </a:solidFill>
              </a:rPr>
              <a:t>Key results to update</a:t>
            </a:r>
          </a:p>
        </p:txBody>
      </p:sp>
      <p:graphicFrame>
        <p:nvGraphicFramePr>
          <p:cNvPr id="22" name="Table 21">
            <a:extLst>
              <a:ext uri="{FF2B5EF4-FFF2-40B4-BE49-F238E27FC236}">
                <a16:creationId xmlns:a16="http://schemas.microsoft.com/office/drawing/2014/main" id="{0C5D5619-3487-C1DF-CBB8-632BB3EB997C}"/>
              </a:ext>
            </a:extLst>
          </p:cNvPr>
          <p:cNvGraphicFramePr>
            <a:graphicFrameLocks noGrp="1"/>
          </p:cNvGraphicFramePr>
          <p:nvPr>
            <p:extLst>
              <p:ext uri="{D42A27DB-BD31-4B8C-83A1-F6EECF244321}">
                <p14:modId xmlns:p14="http://schemas.microsoft.com/office/powerpoint/2010/main" val="919385594"/>
              </p:ext>
            </p:extLst>
          </p:nvPr>
        </p:nvGraphicFramePr>
        <p:xfrm>
          <a:off x="9124816" y="4446204"/>
          <a:ext cx="2566754" cy="2139486"/>
        </p:xfrm>
        <a:graphic>
          <a:graphicData uri="http://schemas.openxmlformats.org/drawingml/2006/table">
            <a:tbl>
              <a:tblPr/>
              <a:tblGrid>
                <a:gridCol w="1283377">
                  <a:extLst>
                    <a:ext uri="{9D8B030D-6E8A-4147-A177-3AD203B41FA5}">
                      <a16:colId xmlns:a16="http://schemas.microsoft.com/office/drawing/2014/main" val="524007594"/>
                    </a:ext>
                  </a:extLst>
                </a:gridCol>
                <a:gridCol w="1283377">
                  <a:extLst>
                    <a:ext uri="{9D8B030D-6E8A-4147-A177-3AD203B41FA5}">
                      <a16:colId xmlns:a16="http://schemas.microsoft.com/office/drawing/2014/main" val="58004706"/>
                    </a:ext>
                  </a:extLst>
                </a:gridCol>
              </a:tblGrid>
              <a:tr h="277263">
                <a:tc>
                  <a:txBody>
                    <a:bodyPr/>
                    <a:lstStyle/>
                    <a:p>
                      <a:pPr>
                        <a:buNone/>
                      </a:pPr>
                      <a:r>
                        <a:rPr lang="en-SG" sz="1000" b="1" dirty="0"/>
                        <a:t>Scenario</a:t>
                      </a:r>
                    </a:p>
                  </a:txBody>
                  <a:tcPr anchor="ctr">
                    <a:lnL>
                      <a:noFill/>
                    </a:lnL>
                    <a:lnR>
                      <a:noFill/>
                    </a:lnR>
                    <a:lnT>
                      <a:noFill/>
                    </a:lnT>
                    <a:lnB>
                      <a:noFill/>
                    </a:lnB>
                    <a:noFill/>
                  </a:tcPr>
                </a:tc>
                <a:tc>
                  <a:txBody>
                    <a:bodyPr/>
                    <a:lstStyle/>
                    <a:p>
                      <a:pPr>
                        <a:buNone/>
                      </a:pPr>
                      <a:r>
                        <a:rPr lang="en-SG" sz="1000" b="1" dirty="0"/>
                        <a:t>What wins?</a:t>
                      </a:r>
                    </a:p>
                  </a:txBody>
                  <a:tcPr anchor="ctr">
                    <a:lnL>
                      <a:noFill/>
                    </a:lnL>
                    <a:lnR>
                      <a:noFill/>
                    </a:lnR>
                    <a:lnT>
                      <a:noFill/>
                    </a:lnT>
                    <a:lnB>
                      <a:noFill/>
                    </a:lnB>
                    <a:noFill/>
                  </a:tcPr>
                </a:tc>
                <a:extLst>
                  <a:ext uri="{0D108BD9-81ED-4DB2-BD59-A6C34878D82A}">
                    <a16:rowId xmlns:a16="http://schemas.microsoft.com/office/drawing/2014/main" val="2437578527"/>
                  </a:ext>
                </a:extLst>
              </a:tr>
              <a:tr h="277263">
                <a:tc>
                  <a:txBody>
                    <a:bodyPr/>
                    <a:lstStyle/>
                    <a:p>
                      <a:pPr>
                        <a:buNone/>
                      </a:pPr>
                      <a:r>
                        <a:rPr lang="en-SG" sz="1000" dirty="0"/>
                        <a:t>Pure implicit benchmark</a:t>
                      </a:r>
                    </a:p>
                  </a:txBody>
                  <a:tcPr anchor="ctr">
                    <a:lnL>
                      <a:noFill/>
                    </a:lnL>
                    <a:lnR>
                      <a:noFill/>
                    </a:lnR>
                    <a:lnT>
                      <a:noFill/>
                    </a:lnT>
                    <a:lnB>
                      <a:noFill/>
                    </a:lnB>
                    <a:noFill/>
                  </a:tcPr>
                </a:tc>
                <a:tc>
                  <a:txBody>
                    <a:bodyPr/>
                    <a:lstStyle/>
                    <a:p>
                      <a:pPr>
                        <a:buNone/>
                      </a:pPr>
                      <a:r>
                        <a:rPr lang="en-SG" sz="1000" dirty="0"/>
                        <a:t>MF often</a:t>
                      </a:r>
                    </a:p>
                  </a:txBody>
                  <a:tcPr anchor="ctr">
                    <a:lnL>
                      <a:noFill/>
                    </a:lnL>
                    <a:lnR>
                      <a:noFill/>
                    </a:lnR>
                    <a:lnT>
                      <a:noFill/>
                    </a:lnT>
                    <a:lnB>
                      <a:noFill/>
                    </a:lnB>
                    <a:noFill/>
                  </a:tcPr>
                </a:tc>
                <a:extLst>
                  <a:ext uri="{0D108BD9-81ED-4DB2-BD59-A6C34878D82A}">
                    <a16:rowId xmlns:a16="http://schemas.microsoft.com/office/drawing/2014/main" val="206831510"/>
                  </a:ext>
                </a:extLst>
              </a:tr>
              <a:tr h="277263">
                <a:tc>
                  <a:txBody>
                    <a:bodyPr/>
                    <a:lstStyle/>
                    <a:p>
                      <a:pPr>
                        <a:buNone/>
                      </a:pPr>
                      <a:r>
                        <a:rPr lang="en-SG" sz="1000" dirty="0"/>
                        <a:t>Feature-rich environment</a:t>
                      </a:r>
                    </a:p>
                  </a:txBody>
                  <a:tcPr anchor="ctr">
                    <a:lnL>
                      <a:noFill/>
                    </a:lnL>
                    <a:lnR>
                      <a:noFill/>
                    </a:lnR>
                    <a:lnT>
                      <a:noFill/>
                    </a:lnT>
                    <a:lnB>
                      <a:noFill/>
                    </a:lnB>
                    <a:noFill/>
                  </a:tcPr>
                </a:tc>
                <a:tc>
                  <a:txBody>
                    <a:bodyPr/>
                    <a:lstStyle/>
                    <a:p>
                      <a:pPr>
                        <a:buNone/>
                      </a:pPr>
                      <a:r>
                        <a:rPr lang="en-SG" sz="1000" dirty="0"/>
                        <a:t>Two-tower</a:t>
                      </a:r>
                    </a:p>
                  </a:txBody>
                  <a:tcPr anchor="ctr">
                    <a:lnL>
                      <a:noFill/>
                    </a:lnL>
                    <a:lnR>
                      <a:noFill/>
                    </a:lnR>
                    <a:lnT>
                      <a:noFill/>
                    </a:lnT>
                    <a:lnB>
                      <a:noFill/>
                    </a:lnB>
                    <a:noFill/>
                  </a:tcPr>
                </a:tc>
                <a:extLst>
                  <a:ext uri="{0D108BD9-81ED-4DB2-BD59-A6C34878D82A}">
                    <a16:rowId xmlns:a16="http://schemas.microsoft.com/office/drawing/2014/main" val="2419426508"/>
                  </a:ext>
                </a:extLst>
              </a:tr>
              <a:tr h="277263">
                <a:tc>
                  <a:txBody>
                    <a:bodyPr/>
                    <a:lstStyle/>
                    <a:p>
                      <a:pPr>
                        <a:buNone/>
                      </a:pPr>
                      <a:r>
                        <a:rPr lang="en-SG" sz="1000" dirty="0"/>
                        <a:t>Cold-start heavy</a:t>
                      </a:r>
                    </a:p>
                  </a:txBody>
                  <a:tcPr anchor="ctr">
                    <a:lnL>
                      <a:noFill/>
                    </a:lnL>
                    <a:lnR>
                      <a:noFill/>
                    </a:lnR>
                    <a:lnT>
                      <a:noFill/>
                    </a:lnT>
                    <a:lnB>
                      <a:noFill/>
                    </a:lnB>
                    <a:noFill/>
                  </a:tcPr>
                </a:tc>
                <a:tc>
                  <a:txBody>
                    <a:bodyPr/>
                    <a:lstStyle/>
                    <a:p>
                      <a:pPr>
                        <a:buNone/>
                      </a:pPr>
                      <a:r>
                        <a:rPr lang="en-SG" sz="1000" dirty="0"/>
                        <a:t>Two-tower</a:t>
                      </a:r>
                    </a:p>
                  </a:txBody>
                  <a:tcPr anchor="ctr">
                    <a:lnL>
                      <a:noFill/>
                    </a:lnL>
                    <a:lnR>
                      <a:noFill/>
                    </a:lnR>
                    <a:lnT>
                      <a:noFill/>
                    </a:lnT>
                    <a:lnB>
                      <a:noFill/>
                    </a:lnB>
                    <a:noFill/>
                  </a:tcPr>
                </a:tc>
                <a:extLst>
                  <a:ext uri="{0D108BD9-81ED-4DB2-BD59-A6C34878D82A}">
                    <a16:rowId xmlns:a16="http://schemas.microsoft.com/office/drawing/2014/main" val="2308546251"/>
                  </a:ext>
                </a:extLst>
              </a:tr>
              <a:tr h="277263">
                <a:tc>
                  <a:txBody>
                    <a:bodyPr/>
                    <a:lstStyle/>
                    <a:p>
                      <a:pPr>
                        <a:buNone/>
                      </a:pPr>
                      <a:r>
                        <a:rPr lang="en-SG" sz="1000" dirty="0"/>
                        <a:t>Multi-objective systems</a:t>
                      </a:r>
                    </a:p>
                  </a:txBody>
                  <a:tcPr anchor="ctr">
                    <a:lnL>
                      <a:noFill/>
                    </a:lnL>
                    <a:lnR>
                      <a:noFill/>
                    </a:lnR>
                    <a:lnT>
                      <a:noFill/>
                    </a:lnT>
                    <a:lnB>
                      <a:noFill/>
                    </a:lnB>
                    <a:noFill/>
                  </a:tcPr>
                </a:tc>
                <a:tc>
                  <a:txBody>
                    <a:bodyPr/>
                    <a:lstStyle/>
                    <a:p>
                      <a:pPr>
                        <a:buNone/>
                      </a:pPr>
                      <a:r>
                        <a:rPr lang="en-SG" sz="1000" dirty="0"/>
                        <a:t>Two-tower</a:t>
                      </a:r>
                    </a:p>
                  </a:txBody>
                  <a:tcPr anchor="ctr">
                    <a:lnL>
                      <a:noFill/>
                    </a:lnL>
                    <a:lnR>
                      <a:noFill/>
                    </a:lnR>
                    <a:lnT>
                      <a:noFill/>
                    </a:lnT>
                    <a:lnB>
                      <a:noFill/>
                    </a:lnB>
                    <a:noFill/>
                  </a:tcPr>
                </a:tc>
                <a:extLst>
                  <a:ext uri="{0D108BD9-81ED-4DB2-BD59-A6C34878D82A}">
                    <a16:rowId xmlns:a16="http://schemas.microsoft.com/office/drawing/2014/main" val="210559491"/>
                  </a:ext>
                </a:extLst>
              </a:tr>
              <a:tr h="277263">
                <a:tc>
                  <a:txBody>
                    <a:bodyPr/>
                    <a:lstStyle/>
                    <a:p>
                      <a:pPr>
                        <a:buNone/>
                      </a:pPr>
                      <a:r>
                        <a:rPr lang="en-SG" sz="1000" dirty="0"/>
                        <a:t>Simple small dataset</a:t>
                      </a:r>
                    </a:p>
                  </a:txBody>
                  <a:tcPr anchor="ctr">
                    <a:lnL>
                      <a:noFill/>
                    </a:lnL>
                    <a:lnR>
                      <a:noFill/>
                    </a:lnR>
                    <a:lnT>
                      <a:noFill/>
                    </a:lnT>
                    <a:lnB>
                      <a:noFill/>
                    </a:lnB>
                    <a:noFill/>
                  </a:tcPr>
                </a:tc>
                <a:tc>
                  <a:txBody>
                    <a:bodyPr/>
                    <a:lstStyle/>
                    <a:p>
                      <a:pPr>
                        <a:buNone/>
                      </a:pPr>
                      <a:r>
                        <a:rPr lang="en-SG" sz="1000" dirty="0"/>
                        <a:t>MF</a:t>
                      </a:r>
                    </a:p>
                  </a:txBody>
                  <a:tcPr anchor="ctr">
                    <a:lnL>
                      <a:noFill/>
                    </a:lnL>
                    <a:lnR>
                      <a:noFill/>
                    </a:lnR>
                    <a:lnT>
                      <a:noFill/>
                    </a:lnT>
                    <a:lnB>
                      <a:noFill/>
                    </a:lnB>
                    <a:noFill/>
                  </a:tcPr>
                </a:tc>
                <a:extLst>
                  <a:ext uri="{0D108BD9-81ED-4DB2-BD59-A6C34878D82A}">
                    <a16:rowId xmlns:a16="http://schemas.microsoft.com/office/drawing/2014/main" val="3974248036"/>
                  </a:ext>
                </a:extLst>
              </a:tr>
            </a:tbl>
          </a:graphicData>
        </a:graphic>
      </p:graphicFrame>
      <p:sp>
        <p:nvSpPr>
          <p:cNvPr id="24" name="Rectangle 1">
            <a:extLst>
              <a:ext uri="{FF2B5EF4-FFF2-40B4-BE49-F238E27FC236}">
                <a16:creationId xmlns:a16="http://schemas.microsoft.com/office/drawing/2014/main" id="{89A95560-41CD-830F-55F6-6A48833635E2}"/>
              </a:ext>
            </a:extLst>
          </p:cNvPr>
          <p:cNvSpPr>
            <a:spLocks noChangeArrowheads="1"/>
          </p:cNvSpPr>
          <p:nvPr/>
        </p:nvSpPr>
        <p:spPr bwMode="auto">
          <a:xfrm>
            <a:off x="9124817" y="3738318"/>
            <a:ext cx="267152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dirty="0">
                <a:ln>
                  <a:noFill/>
                </a:ln>
                <a:solidFill>
                  <a:schemeClr val="tx1"/>
                </a:solidFill>
                <a:effectLst/>
                <a:latin typeface="Century Gothic (Body)"/>
              </a:rPr>
              <a:t>Industry Reality</a:t>
            </a:r>
          </a:p>
          <a:p>
            <a:pPr marL="0" marR="0" lvl="0" indent="0" algn="l" defTabSz="914400" rtl="0" eaLnBrk="0" fontAlgn="base" latinLnBrk="0" hangingPunct="0">
              <a:lnSpc>
                <a:spcPct val="100000"/>
              </a:lnSpc>
              <a:spcBef>
                <a:spcPct val="0"/>
              </a:spcBef>
              <a:spcAft>
                <a:spcPct val="0"/>
              </a:spcAft>
              <a:buClrTx/>
              <a:buSzTx/>
              <a:buFontTx/>
              <a:buNone/>
              <a:tabLst/>
            </a:pPr>
            <a:r>
              <a:rPr kumimoji="0" lang="en-SG" altLang="en-US" sz="1000" i="0" u="none" strike="noStrike" cap="none" normalizeH="0" baseline="0" dirty="0">
                <a:ln>
                  <a:noFill/>
                </a:ln>
                <a:solidFill>
                  <a:schemeClr val="tx1"/>
                </a:solidFill>
                <a:effectLst/>
                <a:latin typeface="Century Gothic (Body)"/>
              </a:rPr>
              <a:t>Model selection depends on data regime and system requirements.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1" i="0" u="none" strike="noStrike" cap="none" normalizeH="0" baseline="0" dirty="0">
              <a:ln>
                <a:noFill/>
              </a:ln>
              <a:solidFill>
                <a:schemeClr val="tx1"/>
              </a:solidFill>
              <a:effectLst/>
              <a:latin typeface="Century Gothic (Body)"/>
            </a:endParaRPr>
          </a:p>
        </p:txBody>
      </p:sp>
      <p:sp>
        <p:nvSpPr>
          <p:cNvPr id="2" name="Title 1">
            <a:extLst>
              <a:ext uri="{FF2B5EF4-FFF2-40B4-BE49-F238E27FC236}">
                <a16:creationId xmlns:a16="http://schemas.microsoft.com/office/drawing/2014/main" id="{B0ED3EB9-F11A-E1BB-0680-1C5FF818CF77}"/>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Key Results)</a:t>
            </a:r>
          </a:p>
        </p:txBody>
      </p:sp>
      <p:sp>
        <p:nvSpPr>
          <p:cNvPr id="5" name="TextBox 4">
            <a:extLst>
              <a:ext uri="{FF2B5EF4-FFF2-40B4-BE49-F238E27FC236}">
                <a16:creationId xmlns:a16="http://schemas.microsoft.com/office/drawing/2014/main" id="{3B93D838-0147-4FC0-0ED7-9C3FEC136916}"/>
              </a:ext>
            </a:extLst>
          </p:cNvPr>
          <p:cNvSpPr txBox="1"/>
          <p:nvPr/>
        </p:nvSpPr>
        <p:spPr>
          <a:xfrm>
            <a:off x="395656" y="1905000"/>
            <a:ext cx="6100762" cy="3231654"/>
          </a:xfrm>
          <a:prstGeom prst="rect">
            <a:avLst/>
          </a:prstGeom>
          <a:noFill/>
        </p:spPr>
        <p:txBody>
          <a:bodyPr wrap="square">
            <a:spAutoFit/>
          </a:bodyPr>
          <a:lstStyle/>
          <a:p>
            <a:r>
              <a:rPr lang="en-SG" sz="1200" b="1" u="sng" dirty="0"/>
              <a:t>Recommender — Retrieval Model Benchmark</a:t>
            </a:r>
            <a:endParaRPr lang="en-SG" sz="1200" b="1" dirty="0"/>
          </a:p>
          <a:p>
            <a:endParaRPr lang="en-SG" sz="1200" b="1" dirty="0"/>
          </a:p>
          <a:p>
            <a:r>
              <a:rPr lang="en-SG" sz="1200" b="1" dirty="0"/>
              <a:t>Executive Takeaway</a:t>
            </a:r>
          </a:p>
          <a:p>
            <a:r>
              <a:rPr lang="en-SG" sz="1200" dirty="0">
                <a:solidFill>
                  <a:srgbClr val="FF0000"/>
                </a:solidFill>
              </a:rPr>
              <a:t>TBC</a:t>
            </a:r>
          </a:p>
          <a:p>
            <a:endParaRPr lang="en-SG" sz="1200" b="1" dirty="0"/>
          </a:p>
          <a:p>
            <a:endParaRPr lang="en-SG" sz="1200" b="1" dirty="0"/>
          </a:p>
          <a:p>
            <a:r>
              <a:rPr lang="en-SG" sz="1200" b="1" dirty="0"/>
              <a:t>Model Comparison (Recall@20)</a:t>
            </a:r>
          </a:p>
          <a:p>
            <a:r>
              <a:rPr lang="en-SG" sz="1200" dirty="0">
                <a:solidFill>
                  <a:srgbClr val="FF0000"/>
                </a:solidFill>
              </a:rPr>
              <a:t>TBC</a:t>
            </a:r>
          </a:p>
          <a:p>
            <a:endParaRPr lang="en-SG" sz="1200" b="1" dirty="0"/>
          </a:p>
          <a:p>
            <a:endParaRPr lang="en-SG" sz="1200" b="1" dirty="0"/>
          </a:p>
          <a:p>
            <a:r>
              <a:rPr lang="en-SG" sz="1200" b="1" dirty="0"/>
              <a:t>What This Means</a:t>
            </a:r>
          </a:p>
          <a:p>
            <a:r>
              <a:rPr lang="en-SG" sz="1200" dirty="0">
                <a:solidFill>
                  <a:srgbClr val="FF0000"/>
                </a:solidFill>
              </a:rPr>
              <a:t>TBC</a:t>
            </a:r>
          </a:p>
          <a:p>
            <a:endParaRPr lang="en-SG" sz="1200" b="1" dirty="0"/>
          </a:p>
          <a:p>
            <a:endParaRPr lang="en-SG" sz="1200" b="1" dirty="0"/>
          </a:p>
          <a:p>
            <a:r>
              <a:rPr lang="en-SG" sz="1200" b="1" dirty="0"/>
              <a:t>Serving Readiness</a:t>
            </a:r>
          </a:p>
          <a:p>
            <a:r>
              <a:rPr lang="en-SG" sz="1200" dirty="0">
                <a:solidFill>
                  <a:srgbClr val="FF0000"/>
                </a:solidFill>
              </a:rPr>
              <a:t>TBC</a:t>
            </a:r>
          </a:p>
          <a:p>
            <a:endParaRPr lang="en-SG" sz="1200" b="1" dirty="0"/>
          </a:p>
        </p:txBody>
      </p:sp>
    </p:spTree>
    <p:extLst>
      <p:ext uri="{BB962C8B-B14F-4D97-AF65-F5344CB8AC3E}">
        <p14:creationId xmlns:p14="http://schemas.microsoft.com/office/powerpoint/2010/main" val="6687521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398F1F7-8AC8-BE1F-B86B-27FA01348F3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A5D4F45E-B029-0413-5C26-34AE7AE06AC3}"/>
              </a:ext>
            </a:extLst>
          </p:cNvPr>
          <p:cNvSpPr/>
          <p:nvPr/>
        </p:nvSpPr>
        <p:spPr>
          <a:xfrm>
            <a:off x="9914562" y="1"/>
            <a:ext cx="2277438" cy="1058238"/>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dirty="0">
                <a:solidFill>
                  <a:srgbClr val="FF0000"/>
                </a:solidFill>
              </a:rPr>
              <a:t>Consider add appendix for recommenders for more design details like Purchase propensity’s appendix</a:t>
            </a:r>
          </a:p>
        </p:txBody>
      </p:sp>
      <p:sp>
        <p:nvSpPr>
          <p:cNvPr id="2" name="Rectangle 1">
            <a:extLst>
              <a:ext uri="{FF2B5EF4-FFF2-40B4-BE49-F238E27FC236}">
                <a16:creationId xmlns:a16="http://schemas.microsoft.com/office/drawing/2014/main" id="{568B7061-34F3-3B01-D1CE-D22B71C0B823}"/>
              </a:ext>
            </a:extLst>
          </p:cNvPr>
          <p:cNvSpPr/>
          <p:nvPr/>
        </p:nvSpPr>
        <p:spPr>
          <a:xfrm>
            <a:off x="9642227" y="4309079"/>
            <a:ext cx="3953393" cy="2553319"/>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100" b="1" u="sng" dirty="0">
                <a:solidFill>
                  <a:schemeClr val="tx1"/>
                </a:solidFill>
              </a:rPr>
              <a:t>Appendix slide update</a:t>
            </a:r>
            <a:endParaRPr lang="en-SG" sz="1100" dirty="0">
              <a:solidFill>
                <a:schemeClr val="tx1"/>
              </a:solidFill>
            </a:endParaRPr>
          </a:p>
          <a:p>
            <a:r>
              <a:rPr lang="en-SG" sz="1100" dirty="0">
                <a:solidFill>
                  <a:schemeClr val="tx1"/>
                </a:solidFill>
              </a:rPr>
              <a:t>Consider add more details on model training and convergence rules, hyperparameter tuning search and config settings including justifications on why these hyperparameters and mythologies</a:t>
            </a:r>
          </a:p>
          <a:p>
            <a:endParaRPr lang="en-SG" sz="1100" dirty="0">
              <a:solidFill>
                <a:schemeClr val="tx1"/>
              </a:solidFill>
            </a:endParaRPr>
          </a:p>
          <a:p>
            <a:r>
              <a:rPr lang="en-SG" sz="1100" dirty="0">
                <a:solidFill>
                  <a:schemeClr val="tx1"/>
                </a:solidFill>
              </a:rPr>
              <a:t>Also more details on benchmarks used (MF, popularity) and their methodology</a:t>
            </a:r>
          </a:p>
          <a:p>
            <a:endParaRPr lang="en-SG" sz="1100" dirty="0">
              <a:solidFill>
                <a:schemeClr val="tx1"/>
              </a:solidFill>
            </a:endParaRPr>
          </a:p>
          <a:p>
            <a:r>
              <a:rPr lang="en-SG" sz="1100" dirty="0">
                <a:solidFill>
                  <a:schemeClr val="tx1"/>
                </a:solidFill>
              </a:rPr>
              <a:t>Also to justify if val/test results are good, no need to overcomplicate methodology</a:t>
            </a:r>
          </a:p>
          <a:p>
            <a:endParaRPr lang="en-SG" sz="1100" dirty="0">
              <a:solidFill>
                <a:schemeClr val="tx1"/>
              </a:solidFill>
            </a:endParaRPr>
          </a:p>
          <a:p>
            <a:r>
              <a:rPr lang="en-SG" sz="1100" dirty="0">
                <a:solidFill>
                  <a:schemeClr val="tx1"/>
                </a:solidFill>
              </a:rPr>
              <a:t>Also to include training pulls data from shared silver layer?</a:t>
            </a:r>
          </a:p>
        </p:txBody>
      </p:sp>
      <p:sp>
        <p:nvSpPr>
          <p:cNvPr id="3" name="Rectangle 2">
            <a:extLst>
              <a:ext uri="{FF2B5EF4-FFF2-40B4-BE49-F238E27FC236}">
                <a16:creationId xmlns:a16="http://schemas.microsoft.com/office/drawing/2014/main" id="{4CF2EED7-9BB7-C1EB-C066-5FBDEFC0379E}"/>
              </a:ext>
            </a:extLst>
          </p:cNvPr>
          <p:cNvSpPr/>
          <p:nvPr/>
        </p:nvSpPr>
        <p:spPr>
          <a:xfrm>
            <a:off x="68709" y="1987332"/>
            <a:ext cx="4640494" cy="4488022"/>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dirty="0">
                <a:solidFill>
                  <a:srgbClr val="FF0000"/>
                </a:solidFill>
              </a:rPr>
              <a:t>To update methodology with justifications and optimization tips </a:t>
            </a:r>
          </a:p>
          <a:p>
            <a:r>
              <a:rPr lang="en-SG" sz="1000" dirty="0">
                <a:solidFill>
                  <a:schemeClr val="tx1"/>
                </a:solidFill>
              </a:rPr>
              <a:t>(e.g. positive-negative sampling, in-batch negative training, batch training, which loss function, Add temperature scaling to logits, </a:t>
            </a:r>
            <a:r>
              <a:rPr lang="en-SG" sz="1000" dirty="0">
                <a:solidFill>
                  <a:srgbClr val="FF0000"/>
                </a:solidFill>
              </a:rPr>
              <a:t>L2-normalize embeddings before dot product (cosine-style stability)</a:t>
            </a:r>
            <a:r>
              <a:rPr lang="en-SG" sz="1000" dirty="0">
                <a:solidFill>
                  <a:schemeClr val="tx1"/>
                </a:solidFill>
              </a:rPr>
              <a:t>, Track validation Recall@20 per epoch and early-stop on that (not just loss) …etc)</a:t>
            </a:r>
          </a:p>
          <a:p>
            <a:endParaRPr lang="en-SG" sz="1000" dirty="0">
              <a:solidFill>
                <a:srgbClr val="FF0000"/>
              </a:solidFill>
            </a:endParaRPr>
          </a:p>
          <a:p>
            <a:endParaRPr lang="en-SG" sz="1000" dirty="0">
              <a:solidFill>
                <a:srgbClr val="FF0000"/>
              </a:solidFill>
            </a:endParaRPr>
          </a:p>
          <a:p>
            <a:r>
              <a:rPr lang="en-SG" sz="1000" dirty="0">
                <a:solidFill>
                  <a:srgbClr val="FF0000"/>
                </a:solidFill>
              </a:rPr>
              <a:t>To update hypermeters' with justifications</a:t>
            </a:r>
          </a:p>
          <a:p>
            <a:r>
              <a:rPr lang="en-SG" sz="1000" dirty="0">
                <a:solidFill>
                  <a:srgbClr val="FF0000"/>
                </a:solidFill>
              </a:rPr>
              <a:t>To update convergence rules</a:t>
            </a:r>
          </a:p>
          <a:p>
            <a:endParaRPr lang="en-SG" sz="1000" dirty="0">
              <a:solidFill>
                <a:schemeClr val="tx1"/>
              </a:solidFill>
            </a:endParaRPr>
          </a:p>
          <a:p>
            <a:r>
              <a:rPr lang="en-SG" sz="1000" dirty="0">
                <a:solidFill>
                  <a:schemeClr val="tx1"/>
                </a:solidFill>
              </a:rPr>
              <a:t>Current convergence/stop behaviour:</a:t>
            </a:r>
          </a:p>
          <a:p>
            <a:endParaRPr lang="en-SG" sz="1000" dirty="0">
              <a:solidFill>
                <a:schemeClr val="tx1"/>
              </a:solidFill>
            </a:endParaRPr>
          </a:p>
          <a:p>
            <a:r>
              <a:rPr lang="en-SG" sz="1000" b="1" dirty="0">
                <a:solidFill>
                  <a:schemeClr val="tx1"/>
                </a:solidFill>
              </a:rPr>
              <a:t>Popularity:</a:t>
            </a:r>
            <a:endParaRPr lang="en-SG" sz="1000" dirty="0">
              <a:solidFill>
                <a:schemeClr val="tx1"/>
              </a:solidFill>
            </a:endParaRPr>
          </a:p>
          <a:p>
            <a:pPr marL="171450" indent="-171450">
              <a:buFont typeface="Wingdings" panose="05000000000000000000" pitchFamily="2" charset="2"/>
              <a:buChar char="Ø"/>
            </a:pPr>
            <a:r>
              <a:rPr lang="en-SG" sz="1000" dirty="0">
                <a:solidFill>
                  <a:schemeClr val="tx1"/>
                </a:solidFill>
              </a:rPr>
              <a:t>No iterative training.</a:t>
            </a:r>
          </a:p>
          <a:p>
            <a:pPr marL="171450" indent="-171450">
              <a:buFont typeface="Wingdings" panose="05000000000000000000" pitchFamily="2" charset="2"/>
              <a:buChar char="Ø"/>
            </a:pPr>
            <a:r>
              <a:rPr lang="en-SG" sz="1000" dirty="0">
                <a:solidFill>
                  <a:schemeClr val="tx1"/>
                </a:solidFill>
              </a:rPr>
              <a:t>Single pass over train interactions to count item frequency.</a:t>
            </a:r>
          </a:p>
          <a:p>
            <a:pPr marL="171450" indent="-171450">
              <a:buFont typeface="Wingdings" panose="05000000000000000000" pitchFamily="2" charset="2"/>
              <a:buChar char="Ø"/>
            </a:pPr>
            <a:r>
              <a:rPr lang="en-SG" sz="1000" dirty="0">
                <a:solidFill>
                  <a:schemeClr val="tx1"/>
                </a:solidFill>
              </a:rPr>
              <a:t>So no convergence rule.</a:t>
            </a:r>
          </a:p>
          <a:p>
            <a:endParaRPr lang="en-SG" sz="1000" dirty="0">
              <a:solidFill>
                <a:schemeClr val="tx1"/>
              </a:solidFill>
            </a:endParaRPr>
          </a:p>
          <a:p>
            <a:r>
              <a:rPr lang="en-SG" sz="1000" b="1" dirty="0">
                <a:solidFill>
                  <a:schemeClr val="tx1"/>
                </a:solidFill>
              </a:rPr>
              <a:t>MF (TruncatedSVD):</a:t>
            </a:r>
            <a:endParaRPr lang="en-SG" sz="1000" dirty="0">
              <a:solidFill>
                <a:schemeClr val="tx1"/>
              </a:solidFill>
            </a:endParaRPr>
          </a:p>
          <a:p>
            <a:pPr marL="171450" indent="-171450">
              <a:buFont typeface="Wingdings" panose="05000000000000000000" pitchFamily="2" charset="2"/>
              <a:buChar char="Ø"/>
            </a:pPr>
            <a:r>
              <a:rPr lang="en-SG" sz="1000" dirty="0">
                <a:solidFill>
                  <a:schemeClr val="tx1"/>
                </a:solidFill>
              </a:rPr>
              <a:t>Iterative solver internally runs up to mf_n_iter iterations.</a:t>
            </a:r>
          </a:p>
          <a:p>
            <a:pPr marL="171450" indent="-171450">
              <a:buFont typeface="Wingdings" panose="05000000000000000000" pitchFamily="2" charset="2"/>
              <a:buChar char="Ø"/>
            </a:pPr>
            <a:r>
              <a:rPr lang="en-SG" sz="1000" dirty="0">
                <a:solidFill>
                  <a:schemeClr val="tx1"/>
                </a:solidFill>
              </a:rPr>
              <a:t>No explicit early stopping in our code.</a:t>
            </a:r>
          </a:p>
          <a:p>
            <a:pPr marL="171450" indent="-171450">
              <a:buFont typeface="Wingdings" panose="05000000000000000000" pitchFamily="2" charset="2"/>
              <a:buChar char="Ø"/>
            </a:pPr>
            <a:r>
              <a:rPr lang="en-SG" sz="1000" dirty="0">
                <a:solidFill>
                  <a:schemeClr val="tx1"/>
                </a:solidFill>
              </a:rPr>
              <a:t>Practical stop rule is fixed iteration budget (mf_n_iter, default 15).</a:t>
            </a:r>
          </a:p>
          <a:p>
            <a:pPr marL="171450" indent="-171450">
              <a:buFont typeface="Wingdings" panose="05000000000000000000" pitchFamily="2" charset="2"/>
              <a:buChar char="Ø"/>
            </a:pPr>
            <a:endParaRPr lang="en-SG" sz="1000" dirty="0">
              <a:solidFill>
                <a:schemeClr val="tx1"/>
              </a:solidFill>
            </a:endParaRPr>
          </a:p>
          <a:p>
            <a:r>
              <a:rPr lang="en-SG" sz="1000" b="1" dirty="0">
                <a:solidFill>
                  <a:schemeClr val="tx1"/>
                </a:solidFill>
              </a:rPr>
              <a:t>Two-Tower (PyTorch):</a:t>
            </a:r>
            <a:endParaRPr lang="en-SG" sz="1000" dirty="0">
              <a:solidFill>
                <a:schemeClr val="tx1"/>
              </a:solidFill>
            </a:endParaRPr>
          </a:p>
          <a:p>
            <a:pPr marL="171450" indent="-171450">
              <a:buFont typeface="Wingdings" panose="05000000000000000000" pitchFamily="2" charset="2"/>
              <a:buChar char="Ø"/>
            </a:pPr>
            <a:r>
              <a:rPr lang="en-SG" sz="1000" dirty="0">
                <a:solidFill>
                  <a:schemeClr val="tx1"/>
                </a:solidFill>
              </a:rPr>
              <a:t>Fixed number of epochs (epochs).</a:t>
            </a:r>
          </a:p>
          <a:p>
            <a:pPr marL="171450" indent="-171450">
              <a:buFont typeface="Wingdings" panose="05000000000000000000" pitchFamily="2" charset="2"/>
              <a:buChar char="Ø"/>
            </a:pPr>
            <a:r>
              <a:rPr lang="en-SG" sz="1000" dirty="0">
                <a:solidFill>
                  <a:schemeClr val="tx1"/>
                </a:solidFill>
              </a:rPr>
              <a:t>No validation-based early stopping yet.</a:t>
            </a:r>
          </a:p>
          <a:p>
            <a:pPr marL="171450" indent="-171450">
              <a:buFont typeface="Wingdings" panose="05000000000000000000" pitchFamily="2" charset="2"/>
              <a:buChar char="Ø"/>
            </a:pPr>
            <a:r>
              <a:rPr lang="en-SG" sz="1000" dirty="0">
                <a:solidFill>
                  <a:schemeClr val="tx1"/>
                </a:solidFill>
              </a:rPr>
              <a:t>Practical stop rule is fixed epoch budget (default now 10).</a:t>
            </a:r>
          </a:p>
        </p:txBody>
      </p:sp>
      <p:sp>
        <p:nvSpPr>
          <p:cNvPr id="5" name="Title 1">
            <a:extLst>
              <a:ext uri="{FF2B5EF4-FFF2-40B4-BE49-F238E27FC236}">
                <a16:creationId xmlns:a16="http://schemas.microsoft.com/office/drawing/2014/main" id="{EB9B0BCC-F48A-23A3-3F48-E184169386E6}"/>
              </a:ext>
            </a:extLst>
          </p:cNvPr>
          <p:cNvSpPr>
            <a:spLocks noGrp="1"/>
          </p:cNvSpPr>
          <p:nvPr>
            <p:ph type="title"/>
          </p:nvPr>
        </p:nvSpPr>
        <p:spPr>
          <a:xfrm>
            <a:off x="1625438" y="624110"/>
            <a:ext cx="10242712" cy="1280890"/>
          </a:xfrm>
        </p:spPr>
        <p:txBody>
          <a:bodyPr>
            <a:normAutofit/>
          </a:bodyPr>
          <a:lstStyle/>
          <a:p>
            <a:r>
              <a:rPr lang="en-SG" dirty="0"/>
              <a:t>Retrieval &amp; Ranking Engine Flow</a:t>
            </a:r>
            <a:br>
              <a:rPr lang="en-SG" dirty="0"/>
            </a:br>
            <a:r>
              <a:rPr lang="en-SG" dirty="0"/>
              <a:t>(Appendix – Modelling &amp; Evaluation Design)</a:t>
            </a:r>
          </a:p>
        </p:txBody>
      </p:sp>
      <p:graphicFrame>
        <p:nvGraphicFramePr>
          <p:cNvPr id="22" name="Table 21">
            <a:extLst>
              <a:ext uri="{FF2B5EF4-FFF2-40B4-BE49-F238E27FC236}">
                <a16:creationId xmlns:a16="http://schemas.microsoft.com/office/drawing/2014/main" id="{2D154294-15AE-5F46-A5EC-74FAC7ECBD9F}"/>
              </a:ext>
            </a:extLst>
          </p:cNvPr>
          <p:cNvGraphicFramePr>
            <a:graphicFrameLocks noGrp="1"/>
          </p:cNvGraphicFramePr>
          <p:nvPr/>
        </p:nvGraphicFramePr>
        <p:xfrm>
          <a:off x="4933038" y="2283517"/>
          <a:ext cx="3506110" cy="1663578"/>
        </p:xfrm>
        <a:graphic>
          <a:graphicData uri="http://schemas.openxmlformats.org/drawingml/2006/table">
            <a:tbl>
              <a:tblPr/>
              <a:tblGrid>
                <a:gridCol w="1753055">
                  <a:extLst>
                    <a:ext uri="{9D8B030D-6E8A-4147-A177-3AD203B41FA5}">
                      <a16:colId xmlns:a16="http://schemas.microsoft.com/office/drawing/2014/main" val="524007594"/>
                    </a:ext>
                  </a:extLst>
                </a:gridCol>
                <a:gridCol w="1753055">
                  <a:extLst>
                    <a:ext uri="{9D8B030D-6E8A-4147-A177-3AD203B41FA5}">
                      <a16:colId xmlns:a16="http://schemas.microsoft.com/office/drawing/2014/main" val="58004706"/>
                    </a:ext>
                  </a:extLst>
                </a:gridCol>
              </a:tblGrid>
              <a:tr h="277263">
                <a:tc>
                  <a:txBody>
                    <a:bodyPr/>
                    <a:lstStyle/>
                    <a:p>
                      <a:pPr>
                        <a:buNone/>
                      </a:pPr>
                      <a:r>
                        <a:rPr lang="en-SG" sz="1000" b="1" dirty="0"/>
                        <a:t>Scenario</a:t>
                      </a:r>
                    </a:p>
                  </a:txBody>
                  <a:tcPr anchor="ctr">
                    <a:lnL>
                      <a:noFill/>
                    </a:lnL>
                    <a:lnR>
                      <a:noFill/>
                    </a:lnR>
                    <a:lnT>
                      <a:noFill/>
                    </a:lnT>
                    <a:lnB>
                      <a:noFill/>
                    </a:lnB>
                    <a:noFill/>
                  </a:tcPr>
                </a:tc>
                <a:tc>
                  <a:txBody>
                    <a:bodyPr/>
                    <a:lstStyle/>
                    <a:p>
                      <a:pPr>
                        <a:buNone/>
                      </a:pPr>
                      <a:r>
                        <a:rPr lang="en-SG" sz="1000" b="1" dirty="0"/>
                        <a:t>What wins?</a:t>
                      </a:r>
                    </a:p>
                  </a:txBody>
                  <a:tcPr anchor="ctr">
                    <a:lnL>
                      <a:noFill/>
                    </a:lnL>
                    <a:lnR>
                      <a:noFill/>
                    </a:lnR>
                    <a:lnT>
                      <a:noFill/>
                    </a:lnT>
                    <a:lnB>
                      <a:noFill/>
                    </a:lnB>
                    <a:noFill/>
                  </a:tcPr>
                </a:tc>
                <a:extLst>
                  <a:ext uri="{0D108BD9-81ED-4DB2-BD59-A6C34878D82A}">
                    <a16:rowId xmlns:a16="http://schemas.microsoft.com/office/drawing/2014/main" val="2437578527"/>
                  </a:ext>
                </a:extLst>
              </a:tr>
              <a:tr h="277263">
                <a:tc>
                  <a:txBody>
                    <a:bodyPr/>
                    <a:lstStyle/>
                    <a:p>
                      <a:pPr>
                        <a:buNone/>
                      </a:pPr>
                      <a:r>
                        <a:rPr lang="en-SG" sz="1000" dirty="0"/>
                        <a:t>Pure implicit benchmark</a:t>
                      </a:r>
                    </a:p>
                  </a:txBody>
                  <a:tcPr anchor="ctr">
                    <a:lnL>
                      <a:noFill/>
                    </a:lnL>
                    <a:lnR>
                      <a:noFill/>
                    </a:lnR>
                    <a:lnT>
                      <a:noFill/>
                    </a:lnT>
                    <a:lnB>
                      <a:noFill/>
                    </a:lnB>
                    <a:noFill/>
                  </a:tcPr>
                </a:tc>
                <a:tc>
                  <a:txBody>
                    <a:bodyPr/>
                    <a:lstStyle/>
                    <a:p>
                      <a:pPr>
                        <a:buNone/>
                      </a:pPr>
                      <a:r>
                        <a:rPr lang="en-SG" sz="1000" dirty="0"/>
                        <a:t>MF often</a:t>
                      </a:r>
                    </a:p>
                  </a:txBody>
                  <a:tcPr anchor="ctr">
                    <a:lnL>
                      <a:noFill/>
                    </a:lnL>
                    <a:lnR>
                      <a:noFill/>
                    </a:lnR>
                    <a:lnT>
                      <a:noFill/>
                    </a:lnT>
                    <a:lnB>
                      <a:noFill/>
                    </a:lnB>
                    <a:noFill/>
                  </a:tcPr>
                </a:tc>
                <a:extLst>
                  <a:ext uri="{0D108BD9-81ED-4DB2-BD59-A6C34878D82A}">
                    <a16:rowId xmlns:a16="http://schemas.microsoft.com/office/drawing/2014/main" val="206831510"/>
                  </a:ext>
                </a:extLst>
              </a:tr>
              <a:tr h="277263">
                <a:tc>
                  <a:txBody>
                    <a:bodyPr/>
                    <a:lstStyle/>
                    <a:p>
                      <a:pPr>
                        <a:buNone/>
                      </a:pPr>
                      <a:r>
                        <a:rPr lang="en-SG" sz="1000" dirty="0"/>
                        <a:t>Feature-rich environment</a:t>
                      </a:r>
                    </a:p>
                  </a:txBody>
                  <a:tcPr anchor="ctr">
                    <a:lnL>
                      <a:noFill/>
                    </a:lnL>
                    <a:lnR>
                      <a:noFill/>
                    </a:lnR>
                    <a:lnT>
                      <a:noFill/>
                    </a:lnT>
                    <a:lnB>
                      <a:noFill/>
                    </a:lnB>
                    <a:noFill/>
                  </a:tcPr>
                </a:tc>
                <a:tc>
                  <a:txBody>
                    <a:bodyPr/>
                    <a:lstStyle/>
                    <a:p>
                      <a:pPr>
                        <a:buNone/>
                      </a:pPr>
                      <a:r>
                        <a:rPr lang="en-SG" sz="1000" dirty="0"/>
                        <a:t>Two-tower</a:t>
                      </a:r>
                    </a:p>
                  </a:txBody>
                  <a:tcPr anchor="ctr">
                    <a:lnL>
                      <a:noFill/>
                    </a:lnL>
                    <a:lnR>
                      <a:noFill/>
                    </a:lnR>
                    <a:lnT>
                      <a:noFill/>
                    </a:lnT>
                    <a:lnB>
                      <a:noFill/>
                    </a:lnB>
                    <a:noFill/>
                  </a:tcPr>
                </a:tc>
                <a:extLst>
                  <a:ext uri="{0D108BD9-81ED-4DB2-BD59-A6C34878D82A}">
                    <a16:rowId xmlns:a16="http://schemas.microsoft.com/office/drawing/2014/main" val="2419426508"/>
                  </a:ext>
                </a:extLst>
              </a:tr>
              <a:tr h="277263">
                <a:tc>
                  <a:txBody>
                    <a:bodyPr/>
                    <a:lstStyle/>
                    <a:p>
                      <a:pPr>
                        <a:buNone/>
                      </a:pPr>
                      <a:r>
                        <a:rPr lang="en-SG" sz="1000" dirty="0"/>
                        <a:t>Cold-start heavy</a:t>
                      </a:r>
                    </a:p>
                  </a:txBody>
                  <a:tcPr anchor="ctr">
                    <a:lnL>
                      <a:noFill/>
                    </a:lnL>
                    <a:lnR>
                      <a:noFill/>
                    </a:lnR>
                    <a:lnT>
                      <a:noFill/>
                    </a:lnT>
                    <a:lnB>
                      <a:noFill/>
                    </a:lnB>
                    <a:noFill/>
                  </a:tcPr>
                </a:tc>
                <a:tc>
                  <a:txBody>
                    <a:bodyPr/>
                    <a:lstStyle/>
                    <a:p>
                      <a:pPr>
                        <a:buNone/>
                      </a:pPr>
                      <a:r>
                        <a:rPr lang="en-SG" sz="1000" dirty="0"/>
                        <a:t>Two-tower</a:t>
                      </a:r>
                    </a:p>
                  </a:txBody>
                  <a:tcPr anchor="ctr">
                    <a:lnL>
                      <a:noFill/>
                    </a:lnL>
                    <a:lnR>
                      <a:noFill/>
                    </a:lnR>
                    <a:lnT>
                      <a:noFill/>
                    </a:lnT>
                    <a:lnB>
                      <a:noFill/>
                    </a:lnB>
                    <a:noFill/>
                  </a:tcPr>
                </a:tc>
                <a:extLst>
                  <a:ext uri="{0D108BD9-81ED-4DB2-BD59-A6C34878D82A}">
                    <a16:rowId xmlns:a16="http://schemas.microsoft.com/office/drawing/2014/main" val="2308546251"/>
                  </a:ext>
                </a:extLst>
              </a:tr>
              <a:tr h="277263">
                <a:tc>
                  <a:txBody>
                    <a:bodyPr/>
                    <a:lstStyle/>
                    <a:p>
                      <a:pPr>
                        <a:buNone/>
                      </a:pPr>
                      <a:r>
                        <a:rPr lang="en-SG" sz="1000" dirty="0"/>
                        <a:t>Multi-objective systems</a:t>
                      </a:r>
                    </a:p>
                  </a:txBody>
                  <a:tcPr anchor="ctr">
                    <a:lnL>
                      <a:noFill/>
                    </a:lnL>
                    <a:lnR>
                      <a:noFill/>
                    </a:lnR>
                    <a:lnT>
                      <a:noFill/>
                    </a:lnT>
                    <a:lnB>
                      <a:noFill/>
                    </a:lnB>
                    <a:noFill/>
                  </a:tcPr>
                </a:tc>
                <a:tc>
                  <a:txBody>
                    <a:bodyPr/>
                    <a:lstStyle/>
                    <a:p>
                      <a:pPr>
                        <a:buNone/>
                      </a:pPr>
                      <a:r>
                        <a:rPr lang="en-SG" sz="1000" dirty="0"/>
                        <a:t>Two-tower</a:t>
                      </a:r>
                    </a:p>
                  </a:txBody>
                  <a:tcPr anchor="ctr">
                    <a:lnL>
                      <a:noFill/>
                    </a:lnL>
                    <a:lnR>
                      <a:noFill/>
                    </a:lnR>
                    <a:lnT>
                      <a:noFill/>
                    </a:lnT>
                    <a:lnB>
                      <a:noFill/>
                    </a:lnB>
                    <a:noFill/>
                  </a:tcPr>
                </a:tc>
                <a:extLst>
                  <a:ext uri="{0D108BD9-81ED-4DB2-BD59-A6C34878D82A}">
                    <a16:rowId xmlns:a16="http://schemas.microsoft.com/office/drawing/2014/main" val="210559491"/>
                  </a:ext>
                </a:extLst>
              </a:tr>
              <a:tr h="277263">
                <a:tc>
                  <a:txBody>
                    <a:bodyPr/>
                    <a:lstStyle/>
                    <a:p>
                      <a:pPr>
                        <a:buNone/>
                      </a:pPr>
                      <a:r>
                        <a:rPr lang="en-SG" sz="1000" dirty="0"/>
                        <a:t>Simple small dataset</a:t>
                      </a:r>
                    </a:p>
                  </a:txBody>
                  <a:tcPr anchor="ctr">
                    <a:lnL>
                      <a:noFill/>
                    </a:lnL>
                    <a:lnR>
                      <a:noFill/>
                    </a:lnR>
                    <a:lnT>
                      <a:noFill/>
                    </a:lnT>
                    <a:lnB>
                      <a:noFill/>
                    </a:lnB>
                    <a:noFill/>
                  </a:tcPr>
                </a:tc>
                <a:tc>
                  <a:txBody>
                    <a:bodyPr/>
                    <a:lstStyle/>
                    <a:p>
                      <a:pPr>
                        <a:buNone/>
                      </a:pPr>
                      <a:r>
                        <a:rPr lang="en-SG" sz="1000" dirty="0"/>
                        <a:t>MF</a:t>
                      </a:r>
                    </a:p>
                  </a:txBody>
                  <a:tcPr anchor="ctr">
                    <a:lnL>
                      <a:noFill/>
                    </a:lnL>
                    <a:lnR>
                      <a:noFill/>
                    </a:lnR>
                    <a:lnT>
                      <a:noFill/>
                    </a:lnT>
                    <a:lnB>
                      <a:noFill/>
                    </a:lnB>
                    <a:noFill/>
                  </a:tcPr>
                </a:tc>
                <a:extLst>
                  <a:ext uri="{0D108BD9-81ED-4DB2-BD59-A6C34878D82A}">
                    <a16:rowId xmlns:a16="http://schemas.microsoft.com/office/drawing/2014/main" val="3974248036"/>
                  </a:ext>
                </a:extLst>
              </a:tr>
            </a:tbl>
          </a:graphicData>
        </a:graphic>
      </p:graphicFrame>
      <p:sp>
        <p:nvSpPr>
          <p:cNvPr id="24" name="Rectangle 1">
            <a:extLst>
              <a:ext uri="{FF2B5EF4-FFF2-40B4-BE49-F238E27FC236}">
                <a16:creationId xmlns:a16="http://schemas.microsoft.com/office/drawing/2014/main" id="{1BBF2BA8-C944-F253-5323-45C435D56267}"/>
              </a:ext>
            </a:extLst>
          </p:cNvPr>
          <p:cNvSpPr>
            <a:spLocks noChangeArrowheads="1"/>
          </p:cNvSpPr>
          <p:nvPr/>
        </p:nvSpPr>
        <p:spPr bwMode="auto">
          <a:xfrm>
            <a:off x="4890178" y="1987332"/>
            <a:ext cx="190500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1" i="0" u="none" strike="noStrike" cap="none" normalizeH="0" baseline="0" dirty="0">
                <a:ln>
                  <a:noFill/>
                </a:ln>
                <a:solidFill>
                  <a:schemeClr val="tx1"/>
                </a:solidFill>
                <a:effectLst/>
                <a:latin typeface="Arial" panose="020B0604020202020204" pitchFamily="34" charset="0"/>
              </a:rPr>
              <a:t>Industry Reality</a:t>
            </a:r>
          </a:p>
        </p:txBody>
      </p:sp>
      <p:sp>
        <p:nvSpPr>
          <p:cNvPr id="7" name="Rectangle 6">
            <a:extLst>
              <a:ext uri="{FF2B5EF4-FFF2-40B4-BE49-F238E27FC236}">
                <a16:creationId xmlns:a16="http://schemas.microsoft.com/office/drawing/2014/main" id="{6690FB00-D797-4CB8-2E0C-B892150AFB75}"/>
              </a:ext>
            </a:extLst>
          </p:cNvPr>
          <p:cNvSpPr/>
          <p:nvPr/>
        </p:nvSpPr>
        <p:spPr>
          <a:xfrm>
            <a:off x="11618924" y="1777622"/>
            <a:ext cx="2993096" cy="2775929"/>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dirty="0">
                <a:solidFill>
                  <a:schemeClr val="tx1"/>
                </a:solidFill>
              </a:rPr>
              <a:t>What This Means For Your Project</a:t>
            </a:r>
          </a:p>
          <a:p>
            <a:endParaRPr lang="en-SG" sz="1000" dirty="0">
              <a:solidFill>
                <a:schemeClr val="tx1"/>
              </a:solidFill>
            </a:endParaRPr>
          </a:p>
          <a:p>
            <a:r>
              <a:rPr lang="en-SG" sz="1000" dirty="0">
                <a:solidFill>
                  <a:schemeClr val="tx1"/>
                </a:solidFill>
              </a:rPr>
              <a:t>If MF is beating your two-tower:</a:t>
            </a:r>
          </a:p>
          <a:p>
            <a:r>
              <a:rPr lang="en-SG" sz="1000" dirty="0">
                <a:solidFill>
                  <a:schemeClr val="tx1"/>
                </a:solidFill>
              </a:rPr>
              <a:t>It likely means:</a:t>
            </a:r>
          </a:p>
          <a:p>
            <a:r>
              <a:rPr lang="en-SG" sz="1000" dirty="0">
                <a:solidFill>
                  <a:schemeClr val="tx1"/>
                </a:solidFill>
              </a:rPr>
              <a:t>You're only using ID embeddings</a:t>
            </a:r>
          </a:p>
          <a:p>
            <a:endParaRPr lang="en-SG" sz="1000" dirty="0">
              <a:solidFill>
                <a:schemeClr val="tx1"/>
              </a:solidFill>
            </a:endParaRPr>
          </a:p>
          <a:p>
            <a:r>
              <a:rPr lang="en-SG" sz="1000" dirty="0">
                <a:solidFill>
                  <a:schemeClr val="tx1"/>
                </a:solidFill>
              </a:rPr>
              <a:t>Dataset isn’t huge</a:t>
            </a:r>
          </a:p>
          <a:p>
            <a:r>
              <a:rPr lang="en-SG" sz="1000" dirty="0">
                <a:solidFill>
                  <a:schemeClr val="tx1"/>
                </a:solidFill>
              </a:rPr>
              <a:t>No rich side features</a:t>
            </a:r>
          </a:p>
          <a:p>
            <a:r>
              <a:rPr lang="en-SG" sz="1000" dirty="0">
                <a:solidFill>
                  <a:schemeClr val="tx1"/>
                </a:solidFill>
              </a:rPr>
              <a:t>Two-tower isn’t adding extra modeling power</a:t>
            </a:r>
          </a:p>
          <a:p>
            <a:endParaRPr lang="en-SG" sz="1000" dirty="0">
              <a:solidFill>
                <a:schemeClr val="tx1"/>
              </a:solidFill>
            </a:endParaRPr>
          </a:p>
          <a:p>
            <a:r>
              <a:rPr lang="en-SG" sz="1000" dirty="0">
                <a:solidFill>
                  <a:schemeClr val="tx1"/>
                </a:solidFill>
              </a:rPr>
              <a:t>That’s completely normal.</a:t>
            </a:r>
          </a:p>
          <a:p>
            <a:endParaRPr lang="en-SG" sz="1000" dirty="0">
              <a:solidFill>
                <a:schemeClr val="tx1"/>
              </a:solidFill>
            </a:endParaRPr>
          </a:p>
          <a:p>
            <a:r>
              <a:rPr lang="en-SG" sz="1000" dirty="0">
                <a:solidFill>
                  <a:schemeClr val="tx1"/>
                </a:solidFill>
              </a:rPr>
              <a:t>It does NOT mean two-tower is wrong.</a:t>
            </a:r>
          </a:p>
          <a:p>
            <a:endParaRPr lang="en-SG" sz="1000" dirty="0">
              <a:solidFill>
                <a:schemeClr val="tx1"/>
              </a:solidFill>
            </a:endParaRPr>
          </a:p>
          <a:p>
            <a:r>
              <a:rPr lang="en-SG" sz="1000" dirty="0">
                <a:solidFill>
                  <a:schemeClr val="tx1"/>
                </a:solidFill>
              </a:rPr>
              <a:t>It means: Your data regime favors simpler collaborative signal.</a:t>
            </a:r>
          </a:p>
        </p:txBody>
      </p:sp>
      <p:sp>
        <p:nvSpPr>
          <p:cNvPr id="11" name="TextBox 10">
            <a:extLst>
              <a:ext uri="{FF2B5EF4-FFF2-40B4-BE49-F238E27FC236}">
                <a16:creationId xmlns:a16="http://schemas.microsoft.com/office/drawing/2014/main" id="{756A6147-76DE-3E92-8FEE-D572494CDB66}"/>
              </a:ext>
            </a:extLst>
          </p:cNvPr>
          <p:cNvSpPr txBox="1"/>
          <p:nvPr/>
        </p:nvSpPr>
        <p:spPr>
          <a:xfrm>
            <a:off x="7408298" y="1920657"/>
            <a:ext cx="3644983" cy="861774"/>
          </a:xfrm>
          <a:prstGeom prst="rect">
            <a:avLst/>
          </a:prstGeom>
          <a:noFill/>
        </p:spPr>
        <p:txBody>
          <a:bodyPr wrap="square">
            <a:spAutoFit/>
          </a:bodyPr>
          <a:lstStyle/>
          <a:p>
            <a:r>
              <a:rPr lang="en-SG" sz="1000" b="1" u="sng" dirty="0"/>
              <a:t>Hierarchy of Baselines for Recommenders</a:t>
            </a:r>
          </a:p>
          <a:p>
            <a:r>
              <a:rPr lang="en-SG" sz="1000" dirty="0"/>
              <a:t>Level 0 — Random Baseline (Theoretical Floor)</a:t>
            </a:r>
          </a:p>
          <a:p>
            <a:r>
              <a:rPr lang="en-SG" sz="1000" dirty="0"/>
              <a:t>Level 1 — Popularity Baseline (Strong Heuristic Baseline)</a:t>
            </a:r>
          </a:p>
          <a:p>
            <a:r>
              <a:rPr lang="en-SG" sz="1000" dirty="0"/>
              <a:t>Level 2 — Matrix Factorization (Classical ML Baseline)</a:t>
            </a:r>
          </a:p>
          <a:p>
            <a:r>
              <a:rPr lang="en-SG" sz="1000" dirty="0"/>
              <a:t>Level 3 — Two-Tower (Neural Retrieval Baseline)</a:t>
            </a:r>
          </a:p>
        </p:txBody>
      </p:sp>
      <p:sp>
        <p:nvSpPr>
          <p:cNvPr id="12" name="Rectangle 11">
            <a:extLst>
              <a:ext uri="{FF2B5EF4-FFF2-40B4-BE49-F238E27FC236}">
                <a16:creationId xmlns:a16="http://schemas.microsoft.com/office/drawing/2014/main" id="{B3606CE6-CF05-4EFE-2DFB-2D8897442313}"/>
              </a:ext>
            </a:extLst>
          </p:cNvPr>
          <p:cNvSpPr/>
          <p:nvPr/>
        </p:nvSpPr>
        <p:spPr>
          <a:xfrm>
            <a:off x="5986251" y="4947528"/>
            <a:ext cx="2993096" cy="1910472"/>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dirty="0">
                <a:solidFill>
                  <a:schemeClr val="tx1"/>
                </a:solidFill>
              </a:rPr>
              <a:t>Added GPU option (CPU fallback)</a:t>
            </a:r>
          </a:p>
          <a:p>
            <a:endParaRPr lang="en-SG" sz="1000" b="1" u="sng" dirty="0">
              <a:solidFill>
                <a:schemeClr val="tx1"/>
              </a:solidFill>
            </a:endParaRPr>
          </a:p>
          <a:p>
            <a:r>
              <a:rPr lang="en-SG" sz="1000" b="1" u="sng" dirty="0">
                <a:solidFill>
                  <a:schemeClr val="tx1"/>
                </a:solidFill>
              </a:rPr>
              <a:t>Two-tower experimentation</a:t>
            </a:r>
          </a:p>
          <a:p>
            <a:r>
              <a:rPr lang="en-SG" sz="1000" dirty="0">
                <a:solidFill>
                  <a:schemeClr val="tx1"/>
                </a:solidFill>
              </a:rPr>
              <a:t>Model depth was increased experimentally, but empirical gains were not sufficient to justify added complexity.</a:t>
            </a:r>
          </a:p>
          <a:p>
            <a:endParaRPr lang="en-SG" sz="1000" dirty="0">
              <a:solidFill>
                <a:schemeClr val="tx1"/>
              </a:solidFill>
            </a:endParaRPr>
          </a:p>
          <a:p>
            <a:r>
              <a:rPr lang="en-SG" sz="1000" dirty="0">
                <a:solidFill>
                  <a:schemeClr val="tx1"/>
                </a:solidFill>
              </a:rPr>
              <a:t>E.g. </a:t>
            </a:r>
            <a:r>
              <a:rPr lang="en-SG" sz="1000" i="1" dirty="0">
                <a:solidFill>
                  <a:schemeClr val="tx1"/>
                </a:solidFill>
              </a:rPr>
              <a:t>one hidden layer per tower + ReLU + dropout + L2 normalize, then re-evaluate.</a:t>
            </a:r>
          </a:p>
          <a:p>
            <a:endParaRPr lang="en-SG" sz="1000" dirty="0">
              <a:solidFill>
                <a:schemeClr val="tx1"/>
              </a:solidFill>
            </a:endParaRPr>
          </a:p>
        </p:txBody>
      </p:sp>
    </p:spTree>
    <p:extLst>
      <p:ext uri="{BB962C8B-B14F-4D97-AF65-F5344CB8AC3E}">
        <p14:creationId xmlns:p14="http://schemas.microsoft.com/office/powerpoint/2010/main" val="3208056427"/>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1833</TotalTime>
  <Words>2640</Words>
  <Application>Microsoft Office PowerPoint</Application>
  <PresentationFormat>Widescreen</PresentationFormat>
  <Paragraphs>397</Paragraphs>
  <Slides>10</Slides>
  <Notes>3</Notes>
  <HiddenSlides>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Century Gothic (Body)</vt:lpstr>
      <vt:lpstr>Aptos</vt:lpstr>
      <vt:lpstr>Arial</vt:lpstr>
      <vt:lpstr>Cambria Math</vt:lpstr>
      <vt:lpstr>Century Gothic</vt:lpstr>
      <vt:lpstr>Wingdings</vt:lpstr>
      <vt:lpstr>Wingdings 3</vt:lpstr>
      <vt:lpstr>Wisp</vt:lpstr>
      <vt:lpstr>Architecture</vt:lpstr>
      <vt:lpstr>Overall Platform Architecture</vt:lpstr>
      <vt:lpstr>Purchase Propensity Engine</vt:lpstr>
      <vt:lpstr>Recommender Engine</vt:lpstr>
      <vt:lpstr>Purchase Propensity Engine (Appendix – Model &amp; Evaluation Design)</vt:lpstr>
      <vt:lpstr>Purchase Propensity Engine (Appendix – Key Results)</vt:lpstr>
      <vt:lpstr>Recommender Engine (Appendix – Model &amp; Evaluation Design)</vt:lpstr>
      <vt:lpstr>Recommender Engine (Appendix – Model Scoring Mechanics)</vt:lpstr>
      <vt:lpstr>Recommender Engine (Appendix – Key Results)</vt:lpstr>
      <vt:lpstr>Retrieval &amp; Ranking Engine Flow (Appendix – Modelling &amp; Evaluation Design)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Humphrey Tan</dc:creator>
  <cp:lastModifiedBy>Humphrey Tan</cp:lastModifiedBy>
  <cp:revision>839</cp:revision>
  <dcterms:created xsi:type="dcterms:W3CDTF">2026-02-22T04:36:36Z</dcterms:created>
  <dcterms:modified xsi:type="dcterms:W3CDTF">2026-03-01T09:31:23Z</dcterms:modified>
</cp:coreProperties>
</file>